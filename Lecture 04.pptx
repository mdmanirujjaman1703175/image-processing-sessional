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9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4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2" r:id="rId23"/>
    <p:sldId id="293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47" autoAdjust="0"/>
  </p:normalViewPr>
  <p:slideViewPr>
    <p:cSldViewPr>
      <p:cViewPr varScale="1">
        <p:scale>
          <a:sx n="64" d="100"/>
          <a:sy n="64" d="100"/>
        </p:scale>
        <p:origin x="1397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98BC-EFFC-40C3-A7A2-E1DAD218C0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05A03-C979-4831-838A-9C2836EC4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8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digital image processing, a </a:t>
            </a:r>
            <a:r>
              <a:rPr lang="en-US" b="1" dirty="0"/>
              <a:t>distance measure</a:t>
            </a:r>
            <a:r>
              <a:rPr lang="en-US" dirty="0"/>
              <a:t> is used to calculate how far one pixel is from another pixel (or one region from another).</a:t>
            </a:r>
            <a:br>
              <a:rPr lang="en-US" dirty="0"/>
            </a:br>
            <a:r>
              <a:rPr lang="en-US" dirty="0"/>
              <a:t>It helps in comparing positions, detecting similarity, and grouping pixels based on closeness.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5A03-C979-4831-838A-9C2836EC41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77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8532" y="4343400"/>
            <a:ext cx="9876155" cy="0"/>
          </a:xfrm>
          <a:custGeom>
            <a:avLst/>
            <a:gdLst/>
            <a:ahLst/>
            <a:cxnLst/>
            <a:rect l="l" t="t" r="r" b="b"/>
            <a:pathLst>
              <a:path w="9876155">
                <a:moveTo>
                  <a:pt x="0" y="0"/>
                </a:moveTo>
                <a:lnTo>
                  <a:pt x="9875774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8883"/>
            <a:ext cx="9966325" cy="0"/>
          </a:xfrm>
          <a:custGeom>
            <a:avLst/>
            <a:gdLst/>
            <a:ahLst/>
            <a:cxnLst/>
            <a:rect l="l" t="t" r="r" b="b"/>
            <a:pathLst>
              <a:path w="9966325">
                <a:moveTo>
                  <a:pt x="0" y="0"/>
                </a:moveTo>
                <a:lnTo>
                  <a:pt x="996632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5715" y="876122"/>
            <a:ext cx="5597525" cy="8066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7776" y="2701925"/>
            <a:ext cx="8216900" cy="319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5715" y="6565661"/>
            <a:ext cx="513714" cy="158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21377" y="6565661"/>
            <a:ext cx="2351404" cy="158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81181" y="6558904"/>
            <a:ext cx="19177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874" y="1564937"/>
            <a:ext cx="10742525" cy="213904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r>
              <a:rPr lang="en-US" sz="4400" i="1" spc="-25" dirty="0">
                <a:solidFill>
                  <a:srgbClr val="252525"/>
                </a:solidFill>
                <a:latin typeface="Times New Roman"/>
                <a:cs typeface="Times New Roman"/>
              </a:rPr>
              <a:t>Chapter</a:t>
            </a:r>
            <a:r>
              <a:rPr lang="en-US" sz="4400" i="1" spc="-200" dirty="0">
                <a:solidFill>
                  <a:srgbClr val="252525"/>
                </a:solidFill>
                <a:latin typeface="Times New Roman"/>
                <a:cs typeface="Times New Roman"/>
              </a:rPr>
              <a:t> 2</a:t>
            </a:r>
            <a:r>
              <a:rPr lang="en-US" sz="4400" i="1" spc="-18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dirty="0">
                <a:solidFill>
                  <a:srgbClr val="252525"/>
                </a:solidFill>
                <a:latin typeface="Times New Roman"/>
                <a:cs typeface="Times New Roman"/>
              </a:rPr>
              <a:t>~</a:t>
            </a:r>
            <a:r>
              <a:rPr lang="en-US" sz="4400" i="1" spc="-1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4400" i="1" spc="-60" dirty="0">
                <a:latin typeface="Times New Roman"/>
                <a:cs typeface="Times New Roman"/>
              </a:rPr>
              <a:t>BASIC RELATIONSHIP BETWEEN PIXELS</a:t>
            </a:r>
          </a:p>
          <a:p>
            <a:pPr marL="3720465" marR="5080" indent="-3708400">
              <a:lnSpc>
                <a:spcPts val="4900"/>
              </a:lnSpc>
              <a:spcBef>
                <a:spcPts val="980"/>
              </a:spcBef>
            </a:pP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7200" y="2963629"/>
            <a:ext cx="36576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2310" algn="l">
              <a:spcBef>
                <a:spcPts val="100"/>
              </a:spcBef>
            </a:pPr>
            <a:r>
              <a:rPr lang="en-US" sz="2000" b="1" i="1" dirty="0">
                <a:latin typeface="Times New Roman"/>
                <a:cs typeface="Times New Roman"/>
              </a:rPr>
              <a:t>        Created By</a:t>
            </a:r>
          </a:p>
          <a:p>
            <a:pPr marL="12700" marR="5080" indent="702310" algn="l">
              <a:spcBef>
                <a:spcPts val="100"/>
              </a:spcBef>
            </a:pPr>
            <a:r>
              <a:rPr sz="2000" b="1" i="1" dirty="0">
                <a:latin typeface="Times New Roman"/>
                <a:cs typeface="Times New Roman"/>
              </a:rPr>
              <a:t>S.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M.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Mahedy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Hasan </a:t>
            </a:r>
            <a:r>
              <a:rPr sz="2000" i="1" dirty="0">
                <a:latin typeface="Times New Roman"/>
                <a:cs typeface="Times New Roman"/>
              </a:rPr>
              <a:t>Assistant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Professor,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Dept.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CSE </a:t>
            </a:r>
            <a:r>
              <a:rPr sz="2000" i="1" spc="-10" dirty="0">
                <a:latin typeface="Times New Roman"/>
                <a:cs typeface="Times New Roman"/>
              </a:rPr>
              <a:t>RUET,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Rajshahi-</a:t>
            </a:r>
            <a:r>
              <a:rPr sz="2000" i="1" dirty="0">
                <a:latin typeface="Times New Roman"/>
                <a:cs typeface="Times New Roman"/>
              </a:rPr>
              <a:t>6204,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Bangladesh.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86DCF-6AF3-867F-E1AB-83DBF3F76FBF}"/>
              </a:ext>
            </a:extLst>
          </p:cNvPr>
          <p:cNvSpPr txBox="1"/>
          <p:nvPr/>
        </p:nvSpPr>
        <p:spPr>
          <a:xfrm>
            <a:off x="4471997" y="4361379"/>
            <a:ext cx="32480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by </a:t>
            </a:r>
          </a:p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Manirujjaman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Dept. of CSE</a:t>
            </a: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Satarkul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Badda, Dhaka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D3B348-3B74-9514-55D4-C1104B33D07C}"/>
              </a:ext>
            </a:extLst>
          </p:cNvPr>
          <p:cNvCxnSpPr>
            <a:cxnSpLocks/>
          </p:cNvCxnSpPr>
          <p:nvPr/>
        </p:nvCxnSpPr>
        <p:spPr>
          <a:xfrm>
            <a:off x="1220875" y="1599777"/>
            <a:ext cx="944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F2B834-8331-0306-4C57-5805F75B9F52}"/>
              </a:ext>
            </a:extLst>
          </p:cNvPr>
          <p:cNvCxnSpPr>
            <a:cxnSpLocks/>
          </p:cNvCxnSpPr>
          <p:nvPr/>
        </p:nvCxnSpPr>
        <p:spPr>
          <a:xfrm>
            <a:off x="3581400" y="2960396"/>
            <a:ext cx="4724400" cy="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IU Logo">
            <a:extLst>
              <a:ext uri="{FF2B5EF4-FFF2-40B4-BE49-F238E27FC236}">
                <a16:creationId xmlns:a16="http://schemas.microsoft.com/office/drawing/2014/main" id="{5FD7247E-B3C0-280A-34B4-0A9709A88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413"/>
            <a:ext cx="7948982" cy="157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649" y="1912518"/>
            <a:ext cx="9449145" cy="150343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173601" y="4589373"/>
            <a:ext cx="859155" cy="640715"/>
          </a:xfrm>
          <a:custGeom>
            <a:avLst/>
            <a:gdLst/>
            <a:ahLst/>
            <a:cxnLst/>
            <a:rect l="l" t="t" r="r" b="b"/>
            <a:pathLst>
              <a:path w="859154" h="640714">
                <a:moveTo>
                  <a:pt x="859154" y="0"/>
                </a:moveTo>
                <a:lnTo>
                  <a:pt x="0" y="0"/>
                </a:lnTo>
                <a:lnTo>
                  <a:pt x="0" y="640232"/>
                </a:lnTo>
                <a:lnTo>
                  <a:pt x="859154" y="640232"/>
                </a:lnTo>
                <a:lnTo>
                  <a:pt x="8591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78454"/>
              </p:ext>
            </p:extLst>
          </p:nvPr>
        </p:nvGraphicFramePr>
        <p:xfrm>
          <a:off x="4167251" y="3851275"/>
          <a:ext cx="5586347" cy="2400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9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(x,y-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p(x,y)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(x+1,y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(x,y+1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9644" y="3610330"/>
            <a:ext cx="4753356" cy="30482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66388" y="3686809"/>
            <a:ext cx="4728210" cy="2696210"/>
            <a:chOff x="3866388" y="3686809"/>
            <a:chExt cx="4728210" cy="2696210"/>
          </a:xfrm>
        </p:grpSpPr>
        <p:sp>
          <p:nvSpPr>
            <p:cNvPr id="7" name="object 7"/>
            <p:cNvSpPr/>
            <p:nvPr/>
          </p:nvSpPr>
          <p:spPr>
            <a:xfrm>
              <a:off x="4031742" y="3686809"/>
              <a:ext cx="4562475" cy="120650"/>
            </a:xfrm>
            <a:custGeom>
              <a:avLst/>
              <a:gdLst/>
              <a:ahLst/>
              <a:cxnLst/>
              <a:rect l="l" t="t" r="r" b="b"/>
              <a:pathLst>
                <a:path w="4562475" h="120650">
                  <a:moveTo>
                    <a:pt x="4530344" y="49021"/>
                  </a:moveTo>
                  <a:lnTo>
                    <a:pt x="4446270" y="97789"/>
                  </a:lnTo>
                  <a:lnTo>
                    <a:pt x="4444238" y="105790"/>
                  </a:lnTo>
                  <a:lnTo>
                    <a:pt x="4447794" y="112013"/>
                  </a:lnTo>
                  <a:lnTo>
                    <a:pt x="4451350" y="118109"/>
                  </a:lnTo>
                  <a:lnTo>
                    <a:pt x="4459351" y="120268"/>
                  </a:lnTo>
                  <a:lnTo>
                    <a:pt x="4540189" y="73278"/>
                  </a:lnTo>
                  <a:lnTo>
                    <a:pt x="4536948" y="73278"/>
                  </a:lnTo>
                  <a:lnTo>
                    <a:pt x="4536948" y="71500"/>
                  </a:lnTo>
                  <a:lnTo>
                    <a:pt x="4530217" y="71500"/>
                  </a:lnTo>
                  <a:lnTo>
                    <a:pt x="4511196" y="60325"/>
                  </a:lnTo>
                  <a:lnTo>
                    <a:pt x="4530280" y="60325"/>
                  </a:lnTo>
                  <a:lnTo>
                    <a:pt x="4530344" y="49021"/>
                  </a:lnTo>
                  <a:close/>
                </a:path>
                <a:path w="4562475" h="120650">
                  <a:moveTo>
                    <a:pt x="0" y="37845"/>
                  </a:moveTo>
                  <a:lnTo>
                    <a:pt x="0" y="63753"/>
                  </a:lnTo>
                  <a:lnTo>
                    <a:pt x="4536947" y="73278"/>
                  </a:lnTo>
                  <a:lnTo>
                    <a:pt x="4488575" y="73278"/>
                  </a:lnTo>
                  <a:lnTo>
                    <a:pt x="4510881" y="60325"/>
                  </a:lnTo>
                  <a:lnTo>
                    <a:pt x="4511196" y="60325"/>
                  </a:lnTo>
                  <a:lnTo>
                    <a:pt x="4489148" y="47370"/>
                  </a:lnTo>
                  <a:lnTo>
                    <a:pt x="4536948" y="47370"/>
                  </a:lnTo>
                  <a:lnTo>
                    <a:pt x="0" y="37845"/>
                  </a:lnTo>
                  <a:close/>
                </a:path>
                <a:path w="4562475" h="120650">
                  <a:moveTo>
                    <a:pt x="4540392" y="47370"/>
                  </a:moveTo>
                  <a:lnTo>
                    <a:pt x="4536948" y="47370"/>
                  </a:lnTo>
                  <a:lnTo>
                    <a:pt x="4536948" y="73278"/>
                  </a:lnTo>
                  <a:lnTo>
                    <a:pt x="4540189" y="73278"/>
                  </a:lnTo>
                  <a:lnTo>
                    <a:pt x="4562475" y="60325"/>
                  </a:lnTo>
                  <a:lnTo>
                    <a:pt x="4540392" y="47370"/>
                  </a:lnTo>
                  <a:close/>
                </a:path>
                <a:path w="4562475" h="120650">
                  <a:moveTo>
                    <a:pt x="4530280" y="60325"/>
                  </a:moveTo>
                  <a:lnTo>
                    <a:pt x="4511196" y="60325"/>
                  </a:lnTo>
                  <a:lnTo>
                    <a:pt x="4530217" y="71500"/>
                  </a:lnTo>
                  <a:lnTo>
                    <a:pt x="4530280" y="60325"/>
                  </a:lnTo>
                  <a:close/>
                </a:path>
                <a:path w="4562475" h="120650">
                  <a:moveTo>
                    <a:pt x="4536948" y="49021"/>
                  </a:moveTo>
                  <a:lnTo>
                    <a:pt x="4530344" y="49021"/>
                  </a:lnTo>
                  <a:lnTo>
                    <a:pt x="4530217" y="71500"/>
                  </a:lnTo>
                  <a:lnTo>
                    <a:pt x="4536948" y="71500"/>
                  </a:lnTo>
                  <a:lnTo>
                    <a:pt x="4536948" y="49021"/>
                  </a:lnTo>
                  <a:close/>
                </a:path>
                <a:path w="4562475" h="120650">
                  <a:moveTo>
                    <a:pt x="4459605" y="0"/>
                  </a:moveTo>
                  <a:lnTo>
                    <a:pt x="4451604" y="2031"/>
                  </a:lnTo>
                  <a:lnTo>
                    <a:pt x="4448048" y="8254"/>
                  </a:lnTo>
                  <a:lnTo>
                    <a:pt x="4444365" y="14350"/>
                  </a:lnTo>
                  <a:lnTo>
                    <a:pt x="4446524" y="22351"/>
                  </a:lnTo>
                  <a:lnTo>
                    <a:pt x="4511196" y="60325"/>
                  </a:lnTo>
                  <a:lnTo>
                    <a:pt x="4510881" y="60325"/>
                  </a:lnTo>
                  <a:lnTo>
                    <a:pt x="4530344" y="49021"/>
                  </a:lnTo>
                  <a:lnTo>
                    <a:pt x="4536948" y="49021"/>
                  </a:lnTo>
                  <a:lnTo>
                    <a:pt x="4536948" y="47370"/>
                  </a:lnTo>
                  <a:lnTo>
                    <a:pt x="4540392" y="47370"/>
                  </a:lnTo>
                  <a:lnTo>
                    <a:pt x="4459605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6388" y="3791711"/>
              <a:ext cx="304825" cy="25908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43858" y="3813682"/>
              <a:ext cx="120650" cy="2400935"/>
            </a:xfrm>
            <a:custGeom>
              <a:avLst/>
              <a:gdLst/>
              <a:ahLst/>
              <a:cxnLst/>
              <a:rect l="l" t="t" r="r" b="b"/>
              <a:pathLst>
                <a:path w="120650" h="2400935">
                  <a:moveTo>
                    <a:pt x="14604" y="2281720"/>
                  </a:moveTo>
                  <a:lnTo>
                    <a:pt x="2158" y="2288781"/>
                  </a:lnTo>
                  <a:lnTo>
                    <a:pt x="0" y="2296693"/>
                  </a:lnTo>
                  <a:lnTo>
                    <a:pt x="3555" y="2302916"/>
                  </a:lnTo>
                  <a:lnTo>
                    <a:pt x="58927" y="2400490"/>
                  </a:lnTo>
                  <a:lnTo>
                    <a:pt x="74230" y="2374950"/>
                  </a:lnTo>
                  <a:lnTo>
                    <a:pt x="72136" y="2374950"/>
                  </a:lnTo>
                  <a:lnTo>
                    <a:pt x="46227" y="2374646"/>
                  </a:lnTo>
                  <a:lnTo>
                    <a:pt x="46795" y="2327099"/>
                  </a:lnTo>
                  <a:lnTo>
                    <a:pt x="46799" y="2326685"/>
                  </a:lnTo>
                  <a:lnTo>
                    <a:pt x="26056" y="2290165"/>
                  </a:lnTo>
                  <a:lnTo>
                    <a:pt x="22605" y="2283904"/>
                  </a:lnTo>
                  <a:lnTo>
                    <a:pt x="14604" y="2281720"/>
                  </a:lnTo>
                  <a:close/>
                </a:path>
                <a:path w="120650" h="2400935">
                  <a:moveTo>
                    <a:pt x="46799" y="2326685"/>
                  </a:moveTo>
                  <a:lnTo>
                    <a:pt x="46305" y="2368118"/>
                  </a:lnTo>
                  <a:lnTo>
                    <a:pt x="46227" y="2374646"/>
                  </a:lnTo>
                  <a:lnTo>
                    <a:pt x="72136" y="2374950"/>
                  </a:lnTo>
                  <a:lnTo>
                    <a:pt x="72214" y="2368384"/>
                  </a:lnTo>
                  <a:lnTo>
                    <a:pt x="70484" y="2368384"/>
                  </a:lnTo>
                  <a:lnTo>
                    <a:pt x="48132" y="2368118"/>
                  </a:lnTo>
                  <a:lnTo>
                    <a:pt x="59528" y="2349095"/>
                  </a:lnTo>
                  <a:lnTo>
                    <a:pt x="46799" y="2326685"/>
                  </a:lnTo>
                  <a:close/>
                </a:path>
                <a:path w="120650" h="2400935">
                  <a:moveTo>
                    <a:pt x="106044" y="2282812"/>
                  </a:moveTo>
                  <a:lnTo>
                    <a:pt x="98043" y="2284806"/>
                  </a:lnTo>
                  <a:lnTo>
                    <a:pt x="72706" y="2327099"/>
                  </a:lnTo>
                  <a:lnTo>
                    <a:pt x="72217" y="2368118"/>
                  </a:lnTo>
                  <a:lnTo>
                    <a:pt x="72136" y="2374950"/>
                  </a:lnTo>
                  <a:lnTo>
                    <a:pt x="74230" y="2374950"/>
                  </a:lnTo>
                  <a:lnTo>
                    <a:pt x="120268" y="2298128"/>
                  </a:lnTo>
                  <a:lnTo>
                    <a:pt x="118237" y="2290165"/>
                  </a:lnTo>
                  <a:lnTo>
                    <a:pt x="106044" y="2282812"/>
                  </a:lnTo>
                  <a:close/>
                </a:path>
                <a:path w="120650" h="2400935">
                  <a:moveTo>
                    <a:pt x="59528" y="2349095"/>
                  </a:moveTo>
                  <a:lnTo>
                    <a:pt x="48132" y="2368118"/>
                  </a:lnTo>
                  <a:lnTo>
                    <a:pt x="70484" y="2368384"/>
                  </a:lnTo>
                  <a:lnTo>
                    <a:pt x="59528" y="2349095"/>
                  </a:lnTo>
                  <a:close/>
                </a:path>
                <a:path w="120650" h="2400935">
                  <a:moveTo>
                    <a:pt x="72706" y="2327099"/>
                  </a:moveTo>
                  <a:lnTo>
                    <a:pt x="59528" y="2349095"/>
                  </a:lnTo>
                  <a:lnTo>
                    <a:pt x="70484" y="2368384"/>
                  </a:lnTo>
                  <a:lnTo>
                    <a:pt x="72214" y="2368384"/>
                  </a:lnTo>
                  <a:lnTo>
                    <a:pt x="72706" y="2327099"/>
                  </a:lnTo>
                  <a:close/>
                </a:path>
                <a:path w="120650" h="2400935">
                  <a:moveTo>
                    <a:pt x="74549" y="0"/>
                  </a:moveTo>
                  <a:lnTo>
                    <a:pt x="46799" y="2326685"/>
                  </a:lnTo>
                  <a:lnTo>
                    <a:pt x="59528" y="2349095"/>
                  </a:lnTo>
                  <a:lnTo>
                    <a:pt x="72706" y="2327099"/>
                  </a:lnTo>
                  <a:lnTo>
                    <a:pt x="100456" y="254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28715" y="343458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26307" y="4833366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51066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Neighbors</a:t>
            </a:r>
            <a:r>
              <a:rPr spc="-17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10" dirty="0"/>
              <a:t>pixel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14318"/>
              </p:ext>
            </p:extLst>
          </p:nvPr>
        </p:nvGraphicFramePr>
        <p:xfrm>
          <a:off x="4254500" y="3136900"/>
          <a:ext cx="4248150" cy="2102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(x+1,y-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p(x,y)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(x-1,y+1)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(x+1,y+1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3973067" y="2869666"/>
            <a:ext cx="4886325" cy="2696210"/>
            <a:chOff x="3973067" y="2869666"/>
            <a:chExt cx="4886325" cy="2696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5655" y="2869666"/>
              <a:ext cx="4753356" cy="304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27753" y="2946145"/>
              <a:ext cx="4562475" cy="120650"/>
            </a:xfrm>
            <a:custGeom>
              <a:avLst/>
              <a:gdLst/>
              <a:ahLst/>
              <a:cxnLst/>
              <a:rect l="l" t="t" r="r" b="b"/>
              <a:pathLst>
                <a:path w="4562475" h="120650">
                  <a:moveTo>
                    <a:pt x="4530344" y="49021"/>
                  </a:moveTo>
                  <a:lnTo>
                    <a:pt x="4446270" y="97789"/>
                  </a:lnTo>
                  <a:lnTo>
                    <a:pt x="4444238" y="105790"/>
                  </a:lnTo>
                  <a:lnTo>
                    <a:pt x="4447794" y="112013"/>
                  </a:lnTo>
                  <a:lnTo>
                    <a:pt x="4451350" y="118109"/>
                  </a:lnTo>
                  <a:lnTo>
                    <a:pt x="4459351" y="120268"/>
                  </a:lnTo>
                  <a:lnTo>
                    <a:pt x="4540189" y="73278"/>
                  </a:lnTo>
                  <a:lnTo>
                    <a:pt x="4536948" y="73278"/>
                  </a:lnTo>
                  <a:lnTo>
                    <a:pt x="4536948" y="71500"/>
                  </a:lnTo>
                  <a:lnTo>
                    <a:pt x="4530217" y="71500"/>
                  </a:lnTo>
                  <a:lnTo>
                    <a:pt x="4511196" y="60325"/>
                  </a:lnTo>
                  <a:lnTo>
                    <a:pt x="4530280" y="60325"/>
                  </a:lnTo>
                  <a:lnTo>
                    <a:pt x="4530344" y="49021"/>
                  </a:lnTo>
                  <a:close/>
                </a:path>
                <a:path w="4562475" h="120650">
                  <a:moveTo>
                    <a:pt x="0" y="37845"/>
                  </a:moveTo>
                  <a:lnTo>
                    <a:pt x="0" y="63753"/>
                  </a:lnTo>
                  <a:lnTo>
                    <a:pt x="4536947" y="73278"/>
                  </a:lnTo>
                  <a:lnTo>
                    <a:pt x="4488575" y="73278"/>
                  </a:lnTo>
                  <a:lnTo>
                    <a:pt x="4510881" y="60325"/>
                  </a:lnTo>
                  <a:lnTo>
                    <a:pt x="4511196" y="60325"/>
                  </a:lnTo>
                  <a:lnTo>
                    <a:pt x="4489148" y="47370"/>
                  </a:lnTo>
                  <a:lnTo>
                    <a:pt x="4536947" y="47370"/>
                  </a:lnTo>
                  <a:lnTo>
                    <a:pt x="0" y="37845"/>
                  </a:lnTo>
                  <a:close/>
                </a:path>
                <a:path w="4562475" h="120650">
                  <a:moveTo>
                    <a:pt x="4540392" y="47370"/>
                  </a:moveTo>
                  <a:lnTo>
                    <a:pt x="4536948" y="47370"/>
                  </a:lnTo>
                  <a:lnTo>
                    <a:pt x="4536948" y="73278"/>
                  </a:lnTo>
                  <a:lnTo>
                    <a:pt x="4540189" y="73278"/>
                  </a:lnTo>
                  <a:lnTo>
                    <a:pt x="4562475" y="60325"/>
                  </a:lnTo>
                  <a:lnTo>
                    <a:pt x="4540392" y="47370"/>
                  </a:lnTo>
                  <a:close/>
                </a:path>
                <a:path w="4562475" h="120650">
                  <a:moveTo>
                    <a:pt x="4530280" y="60325"/>
                  </a:moveTo>
                  <a:lnTo>
                    <a:pt x="4511196" y="60325"/>
                  </a:lnTo>
                  <a:lnTo>
                    <a:pt x="4530217" y="71500"/>
                  </a:lnTo>
                  <a:lnTo>
                    <a:pt x="4530280" y="60325"/>
                  </a:lnTo>
                  <a:close/>
                </a:path>
                <a:path w="4562475" h="120650">
                  <a:moveTo>
                    <a:pt x="4536948" y="49021"/>
                  </a:moveTo>
                  <a:lnTo>
                    <a:pt x="4530344" y="49021"/>
                  </a:lnTo>
                  <a:lnTo>
                    <a:pt x="4530217" y="71500"/>
                  </a:lnTo>
                  <a:lnTo>
                    <a:pt x="4536948" y="71500"/>
                  </a:lnTo>
                  <a:lnTo>
                    <a:pt x="4536948" y="49021"/>
                  </a:lnTo>
                  <a:close/>
                </a:path>
                <a:path w="4562475" h="120650">
                  <a:moveTo>
                    <a:pt x="4459605" y="0"/>
                  </a:moveTo>
                  <a:lnTo>
                    <a:pt x="4451604" y="2031"/>
                  </a:lnTo>
                  <a:lnTo>
                    <a:pt x="4448048" y="8254"/>
                  </a:lnTo>
                  <a:lnTo>
                    <a:pt x="4444365" y="14350"/>
                  </a:lnTo>
                  <a:lnTo>
                    <a:pt x="4446524" y="22351"/>
                  </a:lnTo>
                  <a:lnTo>
                    <a:pt x="4511196" y="60325"/>
                  </a:lnTo>
                  <a:lnTo>
                    <a:pt x="4510881" y="60325"/>
                  </a:lnTo>
                  <a:lnTo>
                    <a:pt x="4530344" y="49021"/>
                  </a:lnTo>
                  <a:lnTo>
                    <a:pt x="4536948" y="49021"/>
                  </a:lnTo>
                  <a:lnTo>
                    <a:pt x="4536948" y="47370"/>
                  </a:lnTo>
                  <a:lnTo>
                    <a:pt x="4540392" y="47370"/>
                  </a:lnTo>
                  <a:lnTo>
                    <a:pt x="4459605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3067" y="2974847"/>
              <a:ext cx="304825" cy="2590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50537" y="2996818"/>
              <a:ext cx="120650" cy="2400935"/>
            </a:xfrm>
            <a:custGeom>
              <a:avLst/>
              <a:gdLst/>
              <a:ahLst/>
              <a:cxnLst/>
              <a:rect l="l" t="t" r="r" b="b"/>
              <a:pathLst>
                <a:path w="120650" h="2400935">
                  <a:moveTo>
                    <a:pt x="14604" y="2281681"/>
                  </a:moveTo>
                  <a:lnTo>
                    <a:pt x="2159" y="2288793"/>
                  </a:lnTo>
                  <a:lnTo>
                    <a:pt x="0" y="2296667"/>
                  </a:lnTo>
                  <a:lnTo>
                    <a:pt x="3556" y="2302891"/>
                  </a:lnTo>
                  <a:lnTo>
                    <a:pt x="58927" y="2400427"/>
                  </a:lnTo>
                  <a:lnTo>
                    <a:pt x="74237" y="2374899"/>
                  </a:lnTo>
                  <a:lnTo>
                    <a:pt x="72136" y="2374899"/>
                  </a:lnTo>
                  <a:lnTo>
                    <a:pt x="46227" y="2374645"/>
                  </a:lnTo>
                  <a:lnTo>
                    <a:pt x="46794" y="2327124"/>
                  </a:lnTo>
                  <a:lnTo>
                    <a:pt x="46800" y="2326670"/>
                  </a:lnTo>
                  <a:lnTo>
                    <a:pt x="26107" y="2290191"/>
                  </a:lnTo>
                  <a:lnTo>
                    <a:pt x="22606" y="2283841"/>
                  </a:lnTo>
                  <a:lnTo>
                    <a:pt x="14604" y="2281681"/>
                  </a:lnTo>
                  <a:close/>
                </a:path>
                <a:path w="120650" h="2400935">
                  <a:moveTo>
                    <a:pt x="46800" y="2326670"/>
                  </a:moveTo>
                  <a:lnTo>
                    <a:pt x="46305" y="2368168"/>
                  </a:lnTo>
                  <a:lnTo>
                    <a:pt x="46227" y="2374645"/>
                  </a:lnTo>
                  <a:lnTo>
                    <a:pt x="72136" y="2374899"/>
                  </a:lnTo>
                  <a:lnTo>
                    <a:pt x="72213" y="2368422"/>
                  </a:lnTo>
                  <a:lnTo>
                    <a:pt x="70485" y="2368422"/>
                  </a:lnTo>
                  <a:lnTo>
                    <a:pt x="48133" y="2368168"/>
                  </a:lnTo>
                  <a:lnTo>
                    <a:pt x="59536" y="2349121"/>
                  </a:lnTo>
                  <a:lnTo>
                    <a:pt x="46800" y="2326670"/>
                  </a:lnTo>
                  <a:close/>
                </a:path>
                <a:path w="120650" h="2400935">
                  <a:moveTo>
                    <a:pt x="106045" y="2282824"/>
                  </a:moveTo>
                  <a:lnTo>
                    <a:pt x="98044" y="2284856"/>
                  </a:lnTo>
                  <a:lnTo>
                    <a:pt x="94361" y="2290953"/>
                  </a:lnTo>
                  <a:lnTo>
                    <a:pt x="72705" y="2327124"/>
                  </a:lnTo>
                  <a:lnTo>
                    <a:pt x="72216" y="2368168"/>
                  </a:lnTo>
                  <a:lnTo>
                    <a:pt x="72136" y="2374899"/>
                  </a:lnTo>
                  <a:lnTo>
                    <a:pt x="74237" y="2374899"/>
                  </a:lnTo>
                  <a:lnTo>
                    <a:pt x="116586" y="2304287"/>
                  </a:lnTo>
                  <a:lnTo>
                    <a:pt x="120269" y="2298065"/>
                  </a:lnTo>
                  <a:lnTo>
                    <a:pt x="118237" y="2290191"/>
                  </a:lnTo>
                  <a:lnTo>
                    <a:pt x="106045" y="2282824"/>
                  </a:lnTo>
                  <a:close/>
                </a:path>
                <a:path w="120650" h="2400935">
                  <a:moveTo>
                    <a:pt x="59536" y="2349121"/>
                  </a:moveTo>
                  <a:lnTo>
                    <a:pt x="48133" y="2368168"/>
                  </a:lnTo>
                  <a:lnTo>
                    <a:pt x="70485" y="2368422"/>
                  </a:lnTo>
                  <a:lnTo>
                    <a:pt x="59536" y="2349121"/>
                  </a:lnTo>
                  <a:close/>
                </a:path>
                <a:path w="120650" h="2400935">
                  <a:moveTo>
                    <a:pt x="72705" y="2327124"/>
                  </a:moveTo>
                  <a:lnTo>
                    <a:pt x="59536" y="2349121"/>
                  </a:lnTo>
                  <a:lnTo>
                    <a:pt x="70485" y="2368422"/>
                  </a:lnTo>
                  <a:lnTo>
                    <a:pt x="72213" y="2368422"/>
                  </a:lnTo>
                  <a:lnTo>
                    <a:pt x="72705" y="2327124"/>
                  </a:lnTo>
                  <a:close/>
                </a:path>
                <a:path w="120650" h="2400935">
                  <a:moveTo>
                    <a:pt x="74549" y="0"/>
                  </a:moveTo>
                  <a:lnTo>
                    <a:pt x="46800" y="2326670"/>
                  </a:lnTo>
                  <a:lnTo>
                    <a:pt x="59536" y="2349121"/>
                  </a:lnTo>
                  <a:lnTo>
                    <a:pt x="72705" y="2327124"/>
                  </a:lnTo>
                  <a:lnTo>
                    <a:pt x="100457" y="253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37615" y="1880108"/>
            <a:ext cx="7350759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four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diagonal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neighbors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(x,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denoted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 </a:t>
            </a:r>
            <a:r>
              <a:rPr sz="1800" b="1" spc="-10" dirty="0">
                <a:latin typeface="Times New Roman"/>
                <a:cs typeface="Times New Roman"/>
              </a:rPr>
              <a:t>N</a:t>
            </a:r>
            <a:r>
              <a:rPr sz="1800" b="1" spc="-15" baseline="-20833" dirty="0">
                <a:latin typeface="Times New Roman"/>
                <a:cs typeface="Times New Roman"/>
              </a:rPr>
              <a:t>D</a:t>
            </a:r>
            <a:r>
              <a:rPr sz="1800" b="1" spc="-10" dirty="0">
                <a:latin typeface="Times New Roman"/>
                <a:cs typeface="Times New Roman"/>
              </a:rPr>
              <a:t>(p).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800">
              <a:latin typeface="Times New Roman"/>
              <a:cs typeface="Times New Roman"/>
            </a:endParaRPr>
          </a:p>
          <a:p>
            <a:pPr marR="1733550" algn="r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42384" y="4041140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5140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Neighbors</a:t>
            </a:r>
            <a:r>
              <a:rPr spc="-17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10" dirty="0"/>
              <a:t>Pixel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5140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Neighbors</a:t>
            </a:r>
            <a:r>
              <a:rPr spc="-17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10" dirty="0"/>
              <a:t>Pixel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70375" y="3121025"/>
          <a:ext cx="4829175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(x,y-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(x+1,y-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1,y)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p(x,y)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(x+1,y)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(x-1,y+1)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(x,y+1)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(x+1,y+1)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988308" y="2852902"/>
            <a:ext cx="4887595" cy="2696210"/>
            <a:chOff x="3988308" y="2852902"/>
            <a:chExt cx="4887595" cy="26962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2420" y="2852902"/>
              <a:ext cx="4753356" cy="3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44518" y="2929382"/>
              <a:ext cx="4562475" cy="120650"/>
            </a:xfrm>
            <a:custGeom>
              <a:avLst/>
              <a:gdLst/>
              <a:ahLst/>
              <a:cxnLst/>
              <a:rect l="l" t="t" r="r" b="b"/>
              <a:pathLst>
                <a:path w="4562475" h="120650">
                  <a:moveTo>
                    <a:pt x="4530344" y="49021"/>
                  </a:moveTo>
                  <a:lnTo>
                    <a:pt x="4446270" y="97789"/>
                  </a:lnTo>
                  <a:lnTo>
                    <a:pt x="4444238" y="105790"/>
                  </a:lnTo>
                  <a:lnTo>
                    <a:pt x="4447794" y="112013"/>
                  </a:lnTo>
                  <a:lnTo>
                    <a:pt x="4451350" y="118109"/>
                  </a:lnTo>
                  <a:lnTo>
                    <a:pt x="4459351" y="120268"/>
                  </a:lnTo>
                  <a:lnTo>
                    <a:pt x="4540189" y="73278"/>
                  </a:lnTo>
                  <a:lnTo>
                    <a:pt x="4536821" y="73278"/>
                  </a:lnTo>
                  <a:lnTo>
                    <a:pt x="4536829" y="71500"/>
                  </a:lnTo>
                  <a:lnTo>
                    <a:pt x="4530217" y="71500"/>
                  </a:lnTo>
                  <a:lnTo>
                    <a:pt x="4511196" y="60325"/>
                  </a:lnTo>
                  <a:lnTo>
                    <a:pt x="4530280" y="60325"/>
                  </a:lnTo>
                  <a:lnTo>
                    <a:pt x="4530344" y="49021"/>
                  </a:lnTo>
                  <a:close/>
                </a:path>
                <a:path w="4562475" h="120650">
                  <a:moveTo>
                    <a:pt x="0" y="37845"/>
                  </a:moveTo>
                  <a:lnTo>
                    <a:pt x="0" y="63753"/>
                  </a:lnTo>
                  <a:lnTo>
                    <a:pt x="4536820" y="73278"/>
                  </a:lnTo>
                  <a:lnTo>
                    <a:pt x="4488575" y="73278"/>
                  </a:lnTo>
                  <a:lnTo>
                    <a:pt x="4510881" y="60325"/>
                  </a:lnTo>
                  <a:lnTo>
                    <a:pt x="4511196" y="60325"/>
                  </a:lnTo>
                  <a:lnTo>
                    <a:pt x="4489148" y="47370"/>
                  </a:lnTo>
                  <a:lnTo>
                    <a:pt x="4536947" y="47370"/>
                  </a:lnTo>
                  <a:lnTo>
                    <a:pt x="0" y="37845"/>
                  </a:lnTo>
                  <a:close/>
                </a:path>
                <a:path w="4562475" h="120650">
                  <a:moveTo>
                    <a:pt x="4540392" y="47370"/>
                  </a:moveTo>
                  <a:lnTo>
                    <a:pt x="4536948" y="47370"/>
                  </a:lnTo>
                  <a:lnTo>
                    <a:pt x="4536821" y="73278"/>
                  </a:lnTo>
                  <a:lnTo>
                    <a:pt x="4540189" y="73278"/>
                  </a:lnTo>
                  <a:lnTo>
                    <a:pt x="4562475" y="60325"/>
                  </a:lnTo>
                  <a:lnTo>
                    <a:pt x="4540392" y="47370"/>
                  </a:lnTo>
                  <a:close/>
                </a:path>
                <a:path w="4562475" h="120650">
                  <a:moveTo>
                    <a:pt x="4530280" y="60325"/>
                  </a:moveTo>
                  <a:lnTo>
                    <a:pt x="4511196" y="60325"/>
                  </a:lnTo>
                  <a:lnTo>
                    <a:pt x="4530217" y="71500"/>
                  </a:lnTo>
                  <a:lnTo>
                    <a:pt x="4530280" y="60325"/>
                  </a:lnTo>
                  <a:close/>
                </a:path>
                <a:path w="4562475" h="120650">
                  <a:moveTo>
                    <a:pt x="4536939" y="49021"/>
                  </a:moveTo>
                  <a:lnTo>
                    <a:pt x="4530344" y="49021"/>
                  </a:lnTo>
                  <a:lnTo>
                    <a:pt x="4530217" y="71500"/>
                  </a:lnTo>
                  <a:lnTo>
                    <a:pt x="4536829" y="71500"/>
                  </a:lnTo>
                  <a:lnTo>
                    <a:pt x="4536939" y="49021"/>
                  </a:lnTo>
                  <a:close/>
                </a:path>
                <a:path w="4562475" h="120650">
                  <a:moveTo>
                    <a:pt x="4459605" y="0"/>
                  </a:moveTo>
                  <a:lnTo>
                    <a:pt x="4451604" y="2031"/>
                  </a:lnTo>
                  <a:lnTo>
                    <a:pt x="4448048" y="8254"/>
                  </a:lnTo>
                  <a:lnTo>
                    <a:pt x="4444365" y="14350"/>
                  </a:lnTo>
                  <a:lnTo>
                    <a:pt x="4446524" y="22351"/>
                  </a:lnTo>
                  <a:lnTo>
                    <a:pt x="4511196" y="60325"/>
                  </a:lnTo>
                  <a:lnTo>
                    <a:pt x="4510881" y="60325"/>
                  </a:lnTo>
                  <a:lnTo>
                    <a:pt x="4530344" y="49021"/>
                  </a:lnTo>
                  <a:lnTo>
                    <a:pt x="4536939" y="49021"/>
                  </a:lnTo>
                  <a:lnTo>
                    <a:pt x="4536948" y="47370"/>
                  </a:lnTo>
                  <a:lnTo>
                    <a:pt x="4540392" y="47370"/>
                  </a:lnTo>
                  <a:lnTo>
                    <a:pt x="4459605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8308" y="2958084"/>
              <a:ext cx="304825" cy="2590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5778" y="2980055"/>
              <a:ext cx="120650" cy="2400935"/>
            </a:xfrm>
            <a:custGeom>
              <a:avLst/>
              <a:gdLst/>
              <a:ahLst/>
              <a:cxnLst/>
              <a:rect l="l" t="t" r="r" b="b"/>
              <a:pathLst>
                <a:path w="120650" h="2400935">
                  <a:moveTo>
                    <a:pt x="14605" y="2281682"/>
                  </a:moveTo>
                  <a:lnTo>
                    <a:pt x="2159" y="2288794"/>
                  </a:lnTo>
                  <a:lnTo>
                    <a:pt x="0" y="2296668"/>
                  </a:lnTo>
                  <a:lnTo>
                    <a:pt x="3556" y="2302891"/>
                  </a:lnTo>
                  <a:lnTo>
                    <a:pt x="58927" y="2400427"/>
                  </a:lnTo>
                  <a:lnTo>
                    <a:pt x="74237" y="2374900"/>
                  </a:lnTo>
                  <a:lnTo>
                    <a:pt x="72136" y="2374900"/>
                  </a:lnTo>
                  <a:lnTo>
                    <a:pt x="46227" y="2374646"/>
                  </a:lnTo>
                  <a:lnTo>
                    <a:pt x="46794" y="2327124"/>
                  </a:lnTo>
                  <a:lnTo>
                    <a:pt x="46800" y="2326670"/>
                  </a:lnTo>
                  <a:lnTo>
                    <a:pt x="26107" y="2290191"/>
                  </a:lnTo>
                  <a:lnTo>
                    <a:pt x="22606" y="2283841"/>
                  </a:lnTo>
                  <a:lnTo>
                    <a:pt x="14605" y="2281682"/>
                  </a:lnTo>
                  <a:close/>
                </a:path>
                <a:path w="120650" h="2400935">
                  <a:moveTo>
                    <a:pt x="46800" y="2326670"/>
                  </a:moveTo>
                  <a:lnTo>
                    <a:pt x="46305" y="2368169"/>
                  </a:lnTo>
                  <a:lnTo>
                    <a:pt x="46227" y="2374646"/>
                  </a:lnTo>
                  <a:lnTo>
                    <a:pt x="72136" y="2374900"/>
                  </a:lnTo>
                  <a:lnTo>
                    <a:pt x="72213" y="2368423"/>
                  </a:lnTo>
                  <a:lnTo>
                    <a:pt x="70485" y="2368423"/>
                  </a:lnTo>
                  <a:lnTo>
                    <a:pt x="48133" y="2368169"/>
                  </a:lnTo>
                  <a:lnTo>
                    <a:pt x="59536" y="2349121"/>
                  </a:lnTo>
                  <a:lnTo>
                    <a:pt x="46800" y="2326670"/>
                  </a:lnTo>
                  <a:close/>
                </a:path>
                <a:path w="120650" h="2400935">
                  <a:moveTo>
                    <a:pt x="106045" y="2282825"/>
                  </a:moveTo>
                  <a:lnTo>
                    <a:pt x="98044" y="2284857"/>
                  </a:lnTo>
                  <a:lnTo>
                    <a:pt x="94361" y="2290953"/>
                  </a:lnTo>
                  <a:lnTo>
                    <a:pt x="72705" y="2327124"/>
                  </a:lnTo>
                  <a:lnTo>
                    <a:pt x="72216" y="2368169"/>
                  </a:lnTo>
                  <a:lnTo>
                    <a:pt x="72136" y="2374900"/>
                  </a:lnTo>
                  <a:lnTo>
                    <a:pt x="74237" y="2374900"/>
                  </a:lnTo>
                  <a:lnTo>
                    <a:pt x="116586" y="2304288"/>
                  </a:lnTo>
                  <a:lnTo>
                    <a:pt x="120269" y="2298065"/>
                  </a:lnTo>
                  <a:lnTo>
                    <a:pt x="118237" y="2290191"/>
                  </a:lnTo>
                  <a:lnTo>
                    <a:pt x="106045" y="2282825"/>
                  </a:lnTo>
                  <a:close/>
                </a:path>
                <a:path w="120650" h="2400935">
                  <a:moveTo>
                    <a:pt x="59536" y="2349121"/>
                  </a:moveTo>
                  <a:lnTo>
                    <a:pt x="48133" y="2368169"/>
                  </a:lnTo>
                  <a:lnTo>
                    <a:pt x="70485" y="2368423"/>
                  </a:lnTo>
                  <a:lnTo>
                    <a:pt x="59536" y="2349121"/>
                  </a:lnTo>
                  <a:close/>
                </a:path>
                <a:path w="120650" h="2400935">
                  <a:moveTo>
                    <a:pt x="72705" y="2327124"/>
                  </a:moveTo>
                  <a:lnTo>
                    <a:pt x="59536" y="2349121"/>
                  </a:lnTo>
                  <a:lnTo>
                    <a:pt x="70485" y="2368423"/>
                  </a:lnTo>
                  <a:lnTo>
                    <a:pt x="72213" y="2368423"/>
                  </a:lnTo>
                  <a:lnTo>
                    <a:pt x="72705" y="2327124"/>
                  </a:lnTo>
                  <a:close/>
                </a:path>
                <a:path w="120650" h="2400935">
                  <a:moveTo>
                    <a:pt x="74549" y="0"/>
                  </a:moveTo>
                  <a:lnTo>
                    <a:pt x="46800" y="2326670"/>
                  </a:lnTo>
                  <a:lnTo>
                    <a:pt x="59536" y="2349121"/>
                  </a:lnTo>
                  <a:lnTo>
                    <a:pt x="72705" y="2327124"/>
                  </a:lnTo>
                  <a:lnTo>
                    <a:pt x="72978" y="2304288"/>
                  </a:lnTo>
                  <a:lnTo>
                    <a:pt x="73069" y="2296668"/>
                  </a:lnTo>
                  <a:lnTo>
                    <a:pt x="73146" y="2290191"/>
                  </a:lnTo>
                  <a:lnTo>
                    <a:pt x="94821" y="2290191"/>
                  </a:lnTo>
                  <a:lnTo>
                    <a:pt x="94898" y="2290064"/>
                  </a:lnTo>
                  <a:lnTo>
                    <a:pt x="73147" y="2290064"/>
                  </a:lnTo>
                  <a:lnTo>
                    <a:pt x="100457" y="254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939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50315" y="1870024"/>
            <a:ext cx="5991225" cy="99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7782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8-</a:t>
            </a:r>
            <a:r>
              <a:rPr sz="1800" b="1" dirty="0">
                <a:latin typeface="Times New Roman"/>
                <a:cs typeface="Times New Roman"/>
              </a:rPr>
              <a:t>neighbors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 at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(x,y),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denoted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</a:t>
            </a:r>
            <a:r>
              <a:rPr sz="1800" b="1" spc="-15" baseline="-20833" dirty="0">
                <a:latin typeface="Times New Roman"/>
                <a:cs typeface="Times New Roman"/>
              </a:rPr>
              <a:t>8</a:t>
            </a:r>
            <a:r>
              <a:rPr sz="1800" b="1" spc="-10" dirty="0">
                <a:latin typeface="Times New Roman"/>
                <a:cs typeface="Times New Roman"/>
              </a:rPr>
              <a:t>(p).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800">
              <a:latin typeface="Times New Roman"/>
              <a:cs typeface="Times New Roman"/>
            </a:endParaRPr>
          </a:p>
          <a:p>
            <a:pPr marR="383540" algn="r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15283" y="385851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1816455"/>
            <a:ext cx="9975215" cy="364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179705" indent="-93345">
              <a:lnSpc>
                <a:spcPct val="150000"/>
              </a:lnSpc>
              <a:spcBef>
                <a:spcPts val="10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103505" algn="l"/>
                <a:tab pos="211454" algn="l"/>
              </a:tabLst>
            </a:pP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	Two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neighbors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‘V’</a:t>
            </a:r>
            <a:r>
              <a:rPr sz="2000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satisfy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specific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criteria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similarity.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E38312"/>
              </a:buClr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marL="212090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Let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define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adjacency.</a:t>
            </a:r>
            <a:endParaRPr sz="2000">
              <a:latin typeface="Times New Roman"/>
              <a:cs typeface="Times New Roman"/>
            </a:endParaRPr>
          </a:p>
          <a:p>
            <a:pPr marL="394335" lvl="1" indent="-182245">
              <a:lnSpc>
                <a:spcPct val="100000"/>
              </a:lnSpc>
              <a:spcBef>
                <a:spcPts val="1535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39433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1800" spc="-10" dirty="0">
                <a:solidFill>
                  <a:srgbClr val="404040"/>
                </a:solidFill>
                <a:latin typeface="Cambria Math"/>
                <a:cs typeface="Cambria Math"/>
              </a:rPr>
              <a:t>⊂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{0,1}</a:t>
            </a:r>
            <a:endParaRPr sz="1800">
              <a:latin typeface="Times New Roman"/>
              <a:cs typeface="Times New Roman"/>
            </a:endParaRPr>
          </a:p>
          <a:p>
            <a:pPr marL="394335" lvl="1" indent="-182245">
              <a:lnSpc>
                <a:spcPct val="100000"/>
              </a:lnSpc>
              <a:spcBef>
                <a:spcPts val="1680"/>
              </a:spcBef>
              <a:buClr>
                <a:srgbClr val="E38312"/>
              </a:buClr>
              <a:buSzPct val="94444"/>
              <a:buFont typeface="Wingdings"/>
              <a:buChar char=""/>
              <a:tabLst>
                <a:tab pos="39433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Cambria Math"/>
                <a:cs typeface="Cambria Math"/>
              </a:rPr>
              <a:t>⊂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{0,1,2,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…,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255}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70"/>
              </a:spcBef>
              <a:buClr>
                <a:srgbClr val="E38312"/>
              </a:buClr>
              <a:buFont typeface="Wingdings"/>
              <a:buChar char=""/>
            </a:pPr>
            <a:endParaRPr sz="1800">
              <a:latin typeface="Times New Roman"/>
              <a:cs typeface="Times New Roman"/>
            </a:endParaRPr>
          </a:p>
          <a:p>
            <a:pPr marL="212090" indent="-201930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images,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neighbors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intensity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either</a:t>
            </a:r>
            <a:endParaRPr sz="20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1833524"/>
            <a:ext cx="10086340" cy="15316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19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19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9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adjacency:</a:t>
            </a:r>
            <a:endParaRPr sz="1900">
              <a:latin typeface="Times New Roman"/>
              <a:cs typeface="Times New Roman"/>
            </a:endParaRPr>
          </a:p>
          <a:p>
            <a:pPr marL="103505" marR="5080" indent="-94615">
              <a:lnSpc>
                <a:spcPct val="130000"/>
              </a:lnSpc>
              <a:buSzPct val="94736"/>
              <a:buFont typeface="Wingdings"/>
              <a:buChar char=""/>
              <a:tabLst>
                <a:tab pos="103505" algn="l"/>
                <a:tab pos="200660" algn="l"/>
              </a:tabLst>
            </a:pPr>
            <a:r>
              <a:rPr sz="1900" b="1" spc="-10" dirty="0">
                <a:latin typeface="Times New Roman"/>
                <a:cs typeface="Times New Roman"/>
              </a:rPr>
              <a:t>	4-</a:t>
            </a:r>
            <a:r>
              <a:rPr sz="1900" b="1" dirty="0">
                <a:latin typeface="Times New Roman"/>
                <a:cs typeface="Times New Roman"/>
              </a:rPr>
              <a:t>adjacency:</a:t>
            </a:r>
            <a:r>
              <a:rPr sz="1900" b="1" spc="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Two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pixels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q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values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set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‘V’</a:t>
            </a:r>
            <a:r>
              <a:rPr sz="1900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4-</a:t>
            </a:r>
            <a:r>
              <a:rPr sz="1900" dirty="0">
                <a:latin typeface="Times New Roman"/>
                <a:cs typeface="Times New Roman"/>
              </a:rPr>
              <a:t>adjacent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q</a:t>
            </a:r>
            <a:r>
              <a:rPr sz="1900" spc="2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25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2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set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spc="-10" dirty="0">
                <a:latin typeface="Times New Roman"/>
                <a:cs typeface="Times New Roman"/>
              </a:rPr>
              <a:t>N4(p).</a:t>
            </a:r>
            <a:endParaRPr sz="1900">
              <a:latin typeface="Times New Roman"/>
              <a:cs typeface="Times New Roman"/>
            </a:endParaRPr>
          </a:p>
          <a:p>
            <a:pPr marL="201295" indent="-192405">
              <a:lnSpc>
                <a:spcPct val="100000"/>
              </a:lnSpc>
              <a:spcBef>
                <a:spcPts val="680"/>
              </a:spcBef>
              <a:buSzPct val="94736"/>
              <a:buFont typeface="Wingdings"/>
              <a:buChar char=""/>
              <a:tabLst>
                <a:tab pos="201295" algn="l"/>
              </a:tabLst>
            </a:pP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example,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{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1}</a:t>
            </a:r>
            <a:endParaRPr sz="19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94685" y="3842315"/>
          <a:ext cx="1027430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9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70"/>
                        </a:lnSpc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1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1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84275" y="5309361"/>
            <a:ext cx="59162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91770">
              <a:lnSpc>
                <a:spcPct val="100000"/>
              </a:lnSpc>
              <a:spcBef>
                <a:spcPts val="95"/>
              </a:spcBef>
              <a:buSzPct val="94736"/>
              <a:buFont typeface="Wingdings"/>
              <a:buChar char=""/>
              <a:tabLst>
                <a:tab pos="201295" algn="l"/>
              </a:tabLst>
            </a:pPr>
            <a:r>
              <a:rPr sz="1900" dirty="0">
                <a:latin typeface="Times New Roman"/>
                <a:cs typeface="Times New Roman"/>
              </a:rPr>
              <a:t>Here,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sz="19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color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q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value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AF50"/>
                </a:solidFill>
                <a:latin typeface="Times New Roman"/>
                <a:cs typeface="Times New Roman"/>
              </a:rPr>
              <a:t>GREEN</a:t>
            </a:r>
            <a:r>
              <a:rPr sz="19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color.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175" y="1968245"/>
            <a:ext cx="9961245" cy="190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Three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adjacency: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000">
              <a:latin typeface="Times New Roman"/>
              <a:cs typeface="Times New Roman"/>
            </a:endParaRPr>
          </a:p>
          <a:p>
            <a:pPr marL="250190" indent="-201295">
              <a:lnSpc>
                <a:spcPct val="100000"/>
              </a:lnSpc>
              <a:buClr>
                <a:srgbClr val="E38312"/>
              </a:buClr>
              <a:buSzPct val="95000"/>
              <a:buFont typeface="Wingdings"/>
              <a:buChar char=""/>
              <a:tabLst>
                <a:tab pos="250190" algn="l"/>
              </a:tabLst>
            </a:pP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8-adjacency:</a:t>
            </a:r>
            <a:r>
              <a:rPr sz="20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‘V’</a:t>
            </a:r>
            <a:r>
              <a:rPr sz="2000" spc="-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8-adjacent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14160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950" spc="-15" baseline="-21367" dirty="0">
                <a:solidFill>
                  <a:srgbClr val="404040"/>
                </a:solidFill>
                <a:latin typeface="Times New Roman"/>
                <a:cs typeface="Times New Roman"/>
              </a:rPr>
              <a:t>8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(p).</a:t>
            </a:r>
            <a:endParaRPr sz="2000">
              <a:latin typeface="Times New Roman"/>
              <a:cs typeface="Times New Roman"/>
            </a:endParaRPr>
          </a:p>
          <a:p>
            <a:pPr marL="313690" indent="-26289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3136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{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1,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2}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80029" y="4040404"/>
          <a:ext cx="1080769" cy="1195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31750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2335"/>
                        </a:lnSpc>
                        <a:spcBef>
                          <a:spcPts val="475"/>
                        </a:spcBef>
                      </a:pPr>
                      <a:r>
                        <a:rPr sz="2000" spc="-5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84275" y="5371896"/>
            <a:ext cx="60490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indent="-20129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5000"/>
              <a:buFont typeface="Wingdings"/>
              <a:buChar char=""/>
              <a:tabLst>
                <a:tab pos="21209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RED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color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GREEN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color.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464" y="1930878"/>
            <a:ext cx="8724162" cy="37294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475" y="1690877"/>
            <a:ext cx="9815195" cy="154686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15"/>
              </a:spcBef>
            </a:pPr>
            <a:r>
              <a:rPr sz="2400" b="1" i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m-</a:t>
            </a:r>
            <a:r>
              <a:rPr sz="2400" b="1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adjacency:</a:t>
            </a:r>
            <a:r>
              <a:rPr sz="2400" b="1" i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pixels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‘V’</a:t>
            </a:r>
            <a:r>
              <a:rPr sz="2400" spc="-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endParaRPr sz="24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115"/>
              </a:spcBef>
              <a:tabLst>
                <a:tab pos="578485" algn="l"/>
              </a:tabLst>
            </a:pPr>
            <a:r>
              <a:rPr sz="2400" spc="-25" dirty="0">
                <a:solidFill>
                  <a:srgbClr val="E38312"/>
                </a:solidFill>
                <a:latin typeface="Times New Roman"/>
                <a:cs typeface="Times New Roman"/>
              </a:rPr>
              <a:t>(i)</a:t>
            </a:r>
            <a:r>
              <a:rPr sz="2400" dirty="0">
                <a:solidFill>
                  <a:srgbClr val="E38312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spc="-15" baseline="-20833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(p)</a:t>
            </a:r>
            <a:endParaRPr sz="24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{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38170" y="3399704"/>
          <a:ext cx="3306445" cy="1350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(i)</a:t>
                      </a:r>
                      <a:r>
                        <a:rPr sz="2400" spc="-1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spc="-1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R="191135" algn="r">
                        <a:lnSpc>
                          <a:spcPts val="2595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2595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95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R="173990" algn="r">
                        <a:lnSpc>
                          <a:spcPts val="2490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490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2490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73990" algn="r">
                        <a:lnSpc>
                          <a:spcPts val="2525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2525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2525"/>
                        </a:lnSpc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75715" y="5025897"/>
            <a:ext cx="3919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Solution: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adjacent.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3475" y="1693011"/>
            <a:ext cx="8259445" cy="183515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260"/>
              </a:spcBef>
            </a:pPr>
            <a:r>
              <a:rPr sz="2000" b="1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m-adjacency:</a:t>
            </a:r>
            <a:r>
              <a:rPr sz="2000" b="1" i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values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‘V’</a:t>
            </a:r>
            <a:r>
              <a:rPr sz="2000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endParaRPr sz="2000">
              <a:latin typeface="Times New Roman"/>
              <a:cs typeface="Times New Roman"/>
            </a:endParaRPr>
          </a:p>
          <a:p>
            <a:pPr marL="578485" indent="-514984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AutoNum type="romanLcParenBoth"/>
              <a:tabLst>
                <a:tab pos="5784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1950" spc="-30" baseline="-21367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(p)</a:t>
            </a: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example,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{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2176145" indent="-370840">
              <a:lnSpc>
                <a:spcPct val="100000"/>
              </a:lnSpc>
              <a:spcBef>
                <a:spcPts val="1165"/>
              </a:spcBef>
              <a:buAutoNum type="romanLcParenBoth" startAt="2"/>
              <a:tabLst>
                <a:tab pos="217614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 &amp;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71470" y="3689884"/>
          <a:ext cx="1558924" cy="1184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L="31750">
                        <a:lnSpc>
                          <a:spcPts val="218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2185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8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spc="-1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  <a:spcBef>
                          <a:spcPts val="459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2335"/>
                        </a:lnSpc>
                        <a:spcBef>
                          <a:spcPts val="459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2335"/>
                        </a:lnSpc>
                        <a:spcBef>
                          <a:spcPts val="459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75715" y="5006085"/>
            <a:ext cx="32124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Solution: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adjacent.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464" y="1930778"/>
            <a:ext cx="8724140" cy="33964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4771" y="2046958"/>
            <a:ext cx="8731621" cy="38995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2720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Adjacency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Connectivity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1960626"/>
            <a:ext cx="10083165" cy="3201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5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find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between two pixels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whether they belong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region or 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image.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helps in:</a:t>
            </a:r>
          </a:p>
          <a:p>
            <a:pPr marL="285750" lvl="3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objects or regions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(grouping pixels with similar properties).</a:t>
            </a:r>
          </a:p>
          <a:p>
            <a:pPr marL="285750" lvl="3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boundaries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separating 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background.</a:t>
            </a:r>
          </a:p>
          <a:p>
            <a:pPr marL="285750" lvl="3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region-based operations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labeling, segmentation, and counting objects.</a:t>
            </a:r>
          </a:p>
          <a:p>
            <a:pPr marL="103505">
              <a:lnSpc>
                <a:spcPct val="150000"/>
              </a:lnSpc>
              <a:spcBef>
                <a:spcPts val="10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A2E69-ADC4-9508-17B9-1B0197ED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805445-8DAF-1937-D0FD-7B53404931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Connectivity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AFC122-2A69-2E3B-A338-3519F6CE70E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B6E8171-DA82-9308-8C5D-CF3988D79E7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3136606-1214-25CC-AF7F-87B3A866F1E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8B7737C-81AB-2F89-02D7-55DA9896B503}"/>
              </a:ext>
            </a:extLst>
          </p:cNvPr>
          <p:cNvSpPr txBox="1"/>
          <p:nvPr/>
        </p:nvSpPr>
        <p:spPr>
          <a:xfrm>
            <a:off x="1084275" y="1960626"/>
            <a:ext cx="10083165" cy="383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said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connected: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91770" indent="-182245">
              <a:lnSpc>
                <a:spcPct val="100000"/>
              </a:lnSpc>
              <a:buClr>
                <a:srgbClr val="E38312"/>
              </a:buClr>
              <a:buSzPct val="94444"/>
              <a:buFont typeface="Wingdings"/>
              <a:buChar char=""/>
              <a:tabLst>
                <a:tab pos="19177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sense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(neighbor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pixels,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4/8/m-adjacency)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E38312"/>
              </a:buClr>
              <a:buFont typeface="Wingdings"/>
              <a:buChar char=""/>
            </a:pPr>
            <a:endParaRPr sz="1800" dirty="0">
              <a:latin typeface="Times New Roman"/>
              <a:cs typeface="Times New Roman"/>
            </a:endParaRPr>
          </a:p>
          <a:p>
            <a:pPr marL="192405" indent="-182880">
              <a:lnSpc>
                <a:spcPct val="100000"/>
              </a:lnSpc>
              <a:buClr>
                <a:srgbClr val="E38312"/>
              </a:buClr>
              <a:buSzPct val="94444"/>
              <a:buFont typeface="Wingdings"/>
              <a:buChar char=""/>
              <a:tabLst>
                <a:tab pos="19240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gray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levels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satisfy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specified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criterion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similarity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(equal intensity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level)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types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connectivity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basis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adjacency: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4-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connectivity: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said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4-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4-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others.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E38312"/>
              </a:buClr>
              <a:buFont typeface="Times New Roman"/>
              <a:buAutoNum type="romanLcPeriod"/>
            </a:pP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8-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connectivity: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said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8-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8-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others.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E38312"/>
              </a:buClr>
              <a:buFont typeface="Times New Roman"/>
              <a:buAutoNum type="romanLcPeriod"/>
            </a:pP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E38312"/>
              </a:buClr>
              <a:buAutoNum type="romanLcPeriod"/>
              <a:tabLst>
                <a:tab pos="527685" algn="l"/>
              </a:tabLst>
            </a:pP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connectivity: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said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m-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others.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992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715" y="1816455"/>
            <a:ext cx="96107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000" b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#</a:t>
            </a:r>
            <a:r>
              <a:rPr sz="20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Consider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segment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figure.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Compute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length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shortest-</a:t>
            </a:r>
            <a:r>
              <a:rPr sz="2000" b="1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4, </a:t>
            </a:r>
            <a:r>
              <a:rPr sz="20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shortest-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8</a:t>
            </a:r>
            <a:r>
              <a:rPr sz="2000" b="1" i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 shortest-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000" b="1" i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Times New Roman"/>
                <a:cs typeface="Times New Roman"/>
              </a:rPr>
              <a:t>paths</a:t>
            </a:r>
            <a:r>
              <a:rPr sz="2000" b="1" i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sz="20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where,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= {1,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2}.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52470" y="3421660"/>
          <a:ext cx="1967864" cy="1729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marR="150495" algn="r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18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000" spc="-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R="150495" algn="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23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R="150495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R="150495" algn="r">
                        <a:lnSpc>
                          <a:spcPts val="2335"/>
                        </a:lnSpc>
                        <a:spcBef>
                          <a:spcPts val="580"/>
                        </a:spcBef>
                        <a:tabLst>
                          <a:tab pos="254000" algn="l"/>
                        </a:tabLst>
                      </a:pPr>
                      <a:r>
                        <a:rPr sz="2000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00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58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  <a:spcBef>
                          <a:spcPts val="58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335"/>
                        </a:lnSpc>
                        <a:spcBef>
                          <a:spcPts val="580"/>
                        </a:spcBef>
                      </a:pPr>
                      <a:r>
                        <a:rPr sz="2000" spc="-5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1457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Paths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1457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844" y="1776425"/>
            <a:ext cx="45929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Example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# 1: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4-Path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exist.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55876" y="2701925"/>
          <a:ext cx="8128000" cy="319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288791" y="5259323"/>
            <a:ext cx="1541780" cy="76200"/>
          </a:xfrm>
          <a:custGeom>
            <a:avLst/>
            <a:gdLst/>
            <a:ahLst/>
            <a:cxnLst/>
            <a:rect l="l" t="t" r="r" b="b"/>
            <a:pathLst>
              <a:path w="1541779" h="76200">
                <a:moveTo>
                  <a:pt x="1465199" y="0"/>
                </a:moveTo>
                <a:lnTo>
                  <a:pt x="1465199" y="76200"/>
                </a:lnTo>
                <a:lnTo>
                  <a:pt x="1528699" y="44450"/>
                </a:lnTo>
                <a:lnTo>
                  <a:pt x="1477899" y="44450"/>
                </a:lnTo>
                <a:lnTo>
                  <a:pt x="1477899" y="31750"/>
                </a:lnTo>
                <a:lnTo>
                  <a:pt x="1528699" y="31750"/>
                </a:lnTo>
                <a:lnTo>
                  <a:pt x="1465199" y="0"/>
                </a:lnTo>
                <a:close/>
              </a:path>
              <a:path w="1541779" h="76200">
                <a:moveTo>
                  <a:pt x="146519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65199" y="44450"/>
                </a:lnTo>
                <a:lnTo>
                  <a:pt x="1465199" y="31750"/>
                </a:lnTo>
                <a:close/>
              </a:path>
              <a:path w="1541779" h="76200">
                <a:moveTo>
                  <a:pt x="1528699" y="31750"/>
                </a:moveTo>
                <a:lnTo>
                  <a:pt x="1477899" y="31750"/>
                </a:lnTo>
                <a:lnTo>
                  <a:pt x="1477899" y="44450"/>
                </a:lnTo>
                <a:lnTo>
                  <a:pt x="1528699" y="44450"/>
                </a:lnTo>
                <a:lnTo>
                  <a:pt x="1541399" y="38100"/>
                </a:lnTo>
                <a:lnTo>
                  <a:pt x="1528699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26379" y="5259323"/>
            <a:ext cx="1539875" cy="76200"/>
          </a:xfrm>
          <a:custGeom>
            <a:avLst/>
            <a:gdLst/>
            <a:ahLst/>
            <a:cxnLst/>
            <a:rect l="l" t="t" r="r" b="b"/>
            <a:pathLst>
              <a:path w="1539875" h="76200">
                <a:moveTo>
                  <a:pt x="1463675" y="0"/>
                </a:moveTo>
                <a:lnTo>
                  <a:pt x="1463675" y="76200"/>
                </a:lnTo>
                <a:lnTo>
                  <a:pt x="1527175" y="44450"/>
                </a:lnTo>
                <a:lnTo>
                  <a:pt x="1476375" y="44450"/>
                </a:lnTo>
                <a:lnTo>
                  <a:pt x="1476375" y="31750"/>
                </a:lnTo>
                <a:lnTo>
                  <a:pt x="1527175" y="31750"/>
                </a:lnTo>
                <a:lnTo>
                  <a:pt x="1463675" y="0"/>
                </a:lnTo>
                <a:close/>
              </a:path>
              <a:path w="1539875" h="76200">
                <a:moveTo>
                  <a:pt x="146367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63675" y="44450"/>
                </a:lnTo>
                <a:lnTo>
                  <a:pt x="1463675" y="31750"/>
                </a:lnTo>
                <a:close/>
              </a:path>
              <a:path w="1539875" h="76200">
                <a:moveTo>
                  <a:pt x="1527175" y="31750"/>
                </a:moveTo>
                <a:lnTo>
                  <a:pt x="1476375" y="31750"/>
                </a:lnTo>
                <a:lnTo>
                  <a:pt x="1476375" y="44450"/>
                </a:lnTo>
                <a:lnTo>
                  <a:pt x="1527175" y="44450"/>
                </a:lnTo>
                <a:lnTo>
                  <a:pt x="1539875" y="38100"/>
                </a:lnTo>
                <a:lnTo>
                  <a:pt x="1527175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9459" y="4660391"/>
            <a:ext cx="76200" cy="487680"/>
          </a:xfrm>
          <a:custGeom>
            <a:avLst/>
            <a:gdLst/>
            <a:ahLst/>
            <a:cxnLst/>
            <a:rect l="l" t="t" r="r" b="b"/>
            <a:pathLst>
              <a:path w="76200" h="487679">
                <a:moveTo>
                  <a:pt x="44450" y="63499"/>
                </a:moveTo>
                <a:lnTo>
                  <a:pt x="31750" y="63499"/>
                </a:lnTo>
                <a:lnTo>
                  <a:pt x="31750" y="487425"/>
                </a:lnTo>
                <a:lnTo>
                  <a:pt x="44450" y="487425"/>
                </a:lnTo>
                <a:lnTo>
                  <a:pt x="44450" y="63499"/>
                </a:lnTo>
                <a:close/>
              </a:path>
              <a:path w="76200" h="487679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487679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0316" y="3852671"/>
            <a:ext cx="76200" cy="487680"/>
          </a:xfrm>
          <a:custGeom>
            <a:avLst/>
            <a:gdLst/>
            <a:ahLst/>
            <a:cxnLst/>
            <a:rect l="l" t="t" r="r" b="b"/>
            <a:pathLst>
              <a:path w="76200" h="487679">
                <a:moveTo>
                  <a:pt x="44450" y="63500"/>
                </a:moveTo>
                <a:lnTo>
                  <a:pt x="31750" y="63500"/>
                </a:lnTo>
                <a:lnTo>
                  <a:pt x="31750" y="487298"/>
                </a:lnTo>
                <a:lnTo>
                  <a:pt x="44450" y="487298"/>
                </a:lnTo>
                <a:lnTo>
                  <a:pt x="44450" y="63500"/>
                </a:lnTo>
                <a:close/>
              </a:path>
              <a:path w="76200" h="487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7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810754" y="2878201"/>
            <a:ext cx="679450" cy="565150"/>
            <a:chOff x="7810754" y="2878201"/>
            <a:chExt cx="679450" cy="565150"/>
          </a:xfrm>
        </p:grpSpPr>
        <p:sp>
          <p:nvSpPr>
            <p:cNvPr id="10" name="object 10"/>
            <p:cNvSpPr/>
            <p:nvPr/>
          </p:nvSpPr>
          <p:spPr>
            <a:xfrm>
              <a:off x="7818374" y="2885821"/>
              <a:ext cx="664210" cy="549910"/>
            </a:xfrm>
            <a:custGeom>
              <a:avLst/>
              <a:gdLst/>
              <a:ahLst/>
              <a:cxnLst/>
              <a:rect l="l" t="t" r="r" b="b"/>
              <a:pathLst>
                <a:path w="664209" h="549910">
                  <a:moveTo>
                    <a:pt x="557529" y="0"/>
                  </a:moveTo>
                  <a:lnTo>
                    <a:pt x="331977" y="162687"/>
                  </a:lnTo>
                  <a:lnTo>
                    <a:pt x="106425" y="0"/>
                  </a:lnTo>
                  <a:lnTo>
                    <a:pt x="0" y="147574"/>
                  </a:lnTo>
                  <a:lnTo>
                    <a:pt x="176402" y="274954"/>
                  </a:lnTo>
                  <a:lnTo>
                    <a:pt x="0" y="402336"/>
                  </a:lnTo>
                  <a:lnTo>
                    <a:pt x="106425" y="549909"/>
                  </a:lnTo>
                  <a:lnTo>
                    <a:pt x="331977" y="387223"/>
                  </a:lnTo>
                  <a:lnTo>
                    <a:pt x="557529" y="549909"/>
                  </a:lnTo>
                  <a:lnTo>
                    <a:pt x="663955" y="402336"/>
                  </a:lnTo>
                  <a:lnTo>
                    <a:pt x="487552" y="274954"/>
                  </a:lnTo>
                  <a:lnTo>
                    <a:pt x="663955" y="147574"/>
                  </a:lnTo>
                  <a:lnTo>
                    <a:pt x="557529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18374" y="2885821"/>
              <a:ext cx="664210" cy="549910"/>
            </a:xfrm>
            <a:custGeom>
              <a:avLst/>
              <a:gdLst/>
              <a:ahLst/>
              <a:cxnLst/>
              <a:rect l="l" t="t" r="r" b="b"/>
              <a:pathLst>
                <a:path w="664209" h="549910">
                  <a:moveTo>
                    <a:pt x="0" y="147574"/>
                  </a:moveTo>
                  <a:lnTo>
                    <a:pt x="106425" y="0"/>
                  </a:lnTo>
                  <a:lnTo>
                    <a:pt x="331977" y="162687"/>
                  </a:lnTo>
                  <a:lnTo>
                    <a:pt x="557529" y="0"/>
                  </a:lnTo>
                  <a:lnTo>
                    <a:pt x="663955" y="147574"/>
                  </a:lnTo>
                  <a:lnTo>
                    <a:pt x="487552" y="274954"/>
                  </a:lnTo>
                  <a:lnTo>
                    <a:pt x="663955" y="402336"/>
                  </a:lnTo>
                  <a:lnTo>
                    <a:pt x="557529" y="549909"/>
                  </a:lnTo>
                  <a:lnTo>
                    <a:pt x="331977" y="387223"/>
                  </a:lnTo>
                  <a:lnTo>
                    <a:pt x="106425" y="549909"/>
                  </a:lnTo>
                  <a:lnTo>
                    <a:pt x="0" y="402336"/>
                  </a:lnTo>
                  <a:lnTo>
                    <a:pt x="176402" y="274954"/>
                  </a:lnTo>
                  <a:lnTo>
                    <a:pt x="0" y="147574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1457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844" y="1776425"/>
            <a:ext cx="3529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Example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#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8-Path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4.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55876" y="2701925"/>
          <a:ext cx="8128000" cy="319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288791" y="5259323"/>
            <a:ext cx="1541780" cy="76200"/>
          </a:xfrm>
          <a:custGeom>
            <a:avLst/>
            <a:gdLst/>
            <a:ahLst/>
            <a:cxnLst/>
            <a:rect l="l" t="t" r="r" b="b"/>
            <a:pathLst>
              <a:path w="1541779" h="76200">
                <a:moveTo>
                  <a:pt x="1465199" y="0"/>
                </a:moveTo>
                <a:lnTo>
                  <a:pt x="1465199" y="76200"/>
                </a:lnTo>
                <a:lnTo>
                  <a:pt x="1528699" y="44450"/>
                </a:lnTo>
                <a:lnTo>
                  <a:pt x="1477899" y="44450"/>
                </a:lnTo>
                <a:lnTo>
                  <a:pt x="1477899" y="31750"/>
                </a:lnTo>
                <a:lnTo>
                  <a:pt x="1528699" y="31750"/>
                </a:lnTo>
                <a:lnTo>
                  <a:pt x="1465199" y="0"/>
                </a:lnTo>
                <a:close/>
              </a:path>
              <a:path w="1541779" h="76200">
                <a:moveTo>
                  <a:pt x="146519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65199" y="44450"/>
                </a:lnTo>
                <a:lnTo>
                  <a:pt x="1465199" y="31750"/>
                </a:lnTo>
                <a:close/>
              </a:path>
              <a:path w="1541779" h="76200">
                <a:moveTo>
                  <a:pt x="1528699" y="31750"/>
                </a:moveTo>
                <a:lnTo>
                  <a:pt x="1477899" y="31750"/>
                </a:lnTo>
                <a:lnTo>
                  <a:pt x="1477899" y="44450"/>
                </a:lnTo>
                <a:lnTo>
                  <a:pt x="1528699" y="44450"/>
                </a:lnTo>
                <a:lnTo>
                  <a:pt x="1541399" y="38100"/>
                </a:lnTo>
                <a:lnTo>
                  <a:pt x="1528699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0316" y="3852671"/>
            <a:ext cx="76200" cy="487680"/>
          </a:xfrm>
          <a:custGeom>
            <a:avLst/>
            <a:gdLst/>
            <a:ahLst/>
            <a:cxnLst/>
            <a:rect l="l" t="t" r="r" b="b"/>
            <a:pathLst>
              <a:path w="76200" h="487679">
                <a:moveTo>
                  <a:pt x="44450" y="63500"/>
                </a:moveTo>
                <a:lnTo>
                  <a:pt x="31750" y="63500"/>
                </a:lnTo>
                <a:lnTo>
                  <a:pt x="31750" y="487298"/>
                </a:lnTo>
                <a:lnTo>
                  <a:pt x="44450" y="487298"/>
                </a:lnTo>
                <a:lnTo>
                  <a:pt x="44450" y="63500"/>
                </a:lnTo>
                <a:close/>
              </a:path>
              <a:path w="76200" h="487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7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98185" y="4555616"/>
            <a:ext cx="1653539" cy="669290"/>
          </a:xfrm>
          <a:custGeom>
            <a:avLst/>
            <a:gdLst/>
            <a:ahLst/>
            <a:cxnLst/>
            <a:rect l="l" t="t" r="r" b="b"/>
            <a:pathLst>
              <a:path w="1653540" h="669289">
                <a:moveTo>
                  <a:pt x="1580136" y="29454"/>
                </a:moveTo>
                <a:lnTo>
                  <a:pt x="0" y="656970"/>
                </a:lnTo>
                <a:lnTo>
                  <a:pt x="4572" y="668781"/>
                </a:lnTo>
                <a:lnTo>
                  <a:pt x="1584824" y="41269"/>
                </a:lnTo>
                <a:lnTo>
                  <a:pt x="1580136" y="29454"/>
                </a:lnTo>
                <a:close/>
              </a:path>
              <a:path w="1653540" h="669289">
                <a:moveTo>
                  <a:pt x="1637617" y="24764"/>
                </a:moveTo>
                <a:lnTo>
                  <a:pt x="1591944" y="24764"/>
                </a:lnTo>
                <a:lnTo>
                  <a:pt x="1596643" y="36575"/>
                </a:lnTo>
                <a:lnTo>
                  <a:pt x="1584824" y="41269"/>
                </a:lnTo>
                <a:lnTo>
                  <a:pt x="1596516" y="70738"/>
                </a:lnTo>
                <a:lnTo>
                  <a:pt x="1637617" y="24764"/>
                </a:lnTo>
                <a:close/>
              </a:path>
              <a:path w="1653540" h="669289">
                <a:moveTo>
                  <a:pt x="1591944" y="24764"/>
                </a:moveTo>
                <a:lnTo>
                  <a:pt x="1580136" y="29454"/>
                </a:lnTo>
                <a:lnTo>
                  <a:pt x="1584824" y="41269"/>
                </a:lnTo>
                <a:lnTo>
                  <a:pt x="1596643" y="36575"/>
                </a:lnTo>
                <a:lnTo>
                  <a:pt x="1591944" y="24764"/>
                </a:lnTo>
                <a:close/>
              </a:path>
              <a:path w="1653540" h="669289">
                <a:moveTo>
                  <a:pt x="1568449" y="0"/>
                </a:moveTo>
                <a:lnTo>
                  <a:pt x="1580136" y="29454"/>
                </a:lnTo>
                <a:lnTo>
                  <a:pt x="1591944" y="24764"/>
                </a:lnTo>
                <a:lnTo>
                  <a:pt x="1637617" y="24764"/>
                </a:lnTo>
                <a:lnTo>
                  <a:pt x="1653286" y="7238"/>
                </a:lnTo>
                <a:lnTo>
                  <a:pt x="1568449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52081" y="2962529"/>
            <a:ext cx="1692910" cy="640715"/>
          </a:xfrm>
          <a:custGeom>
            <a:avLst/>
            <a:gdLst/>
            <a:ahLst/>
            <a:cxnLst/>
            <a:rect l="l" t="t" r="r" b="b"/>
            <a:pathLst>
              <a:path w="1692909" h="640714">
                <a:moveTo>
                  <a:pt x="1619205" y="29785"/>
                </a:moveTo>
                <a:lnTo>
                  <a:pt x="0" y="628776"/>
                </a:lnTo>
                <a:lnTo>
                  <a:pt x="4318" y="640715"/>
                </a:lnTo>
                <a:lnTo>
                  <a:pt x="1623578" y="41623"/>
                </a:lnTo>
                <a:lnTo>
                  <a:pt x="1619205" y="29785"/>
                </a:lnTo>
                <a:close/>
              </a:path>
              <a:path w="1692909" h="640714">
                <a:moveTo>
                  <a:pt x="1677707" y="25400"/>
                </a:moveTo>
                <a:lnTo>
                  <a:pt x="1631061" y="25400"/>
                </a:lnTo>
                <a:lnTo>
                  <a:pt x="1635505" y="37211"/>
                </a:lnTo>
                <a:lnTo>
                  <a:pt x="1623578" y="41623"/>
                </a:lnTo>
                <a:lnTo>
                  <a:pt x="1634617" y="71500"/>
                </a:lnTo>
                <a:lnTo>
                  <a:pt x="1677707" y="25400"/>
                </a:lnTo>
                <a:close/>
              </a:path>
              <a:path w="1692909" h="640714">
                <a:moveTo>
                  <a:pt x="1631061" y="25400"/>
                </a:moveTo>
                <a:lnTo>
                  <a:pt x="1619205" y="29785"/>
                </a:lnTo>
                <a:lnTo>
                  <a:pt x="1623578" y="41623"/>
                </a:lnTo>
                <a:lnTo>
                  <a:pt x="1635505" y="37211"/>
                </a:lnTo>
                <a:lnTo>
                  <a:pt x="1631061" y="25400"/>
                </a:lnTo>
                <a:close/>
              </a:path>
              <a:path w="1692909" h="640714">
                <a:moveTo>
                  <a:pt x="1608201" y="0"/>
                </a:moveTo>
                <a:lnTo>
                  <a:pt x="1619205" y="29785"/>
                </a:lnTo>
                <a:lnTo>
                  <a:pt x="1631061" y="25400"/>
                </a:lnTo>
                <a:lnTo>
                  <a:pt x="1677707" y="25400"/>
                </a:lnTo>
                <a:lnTo>
                  <a:pt x="1692783" y="9271"/>
                </a:lnTo>
                <a:lnTo>
                  <a:pt x="1608201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715" y="925829"/>
            <a:ext cx="1457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844" y="1776425"/>
            <a:ext cx="36004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Example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# 1: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m-</a:t>
            </a:r>
            <a:r>
              <a:rPr sz="2000" dirty="0">
                <a:latin typeface="Times New Roman"/>
                <a:cs typeface="Times New Roman"/>
              </a:rPr>
              <a:t>Path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</a:t>
            </a:r>
            <a:r>
              <a:rPr sz="2000" spc="-25" dirty="0">
                <a:latin typeface="Times New Roman"/>
                <a:cs typeface="Times New Roman"/>
              </a:rPr>
              <a:t>5.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55876" y="2701925"/>
          <a:ext cx="8128000" cy="319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92D05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288791" y="5259323"/>
            <a:ext cx="1541780" cy="76200"/>
          </a:xfrm>
          <a:custGeom>
            <a:avLst/>
            <a:gdLst/>
            <a:ahLst/>
            <a:cxnLst/>
            <a:rect l="l" t="t" r="r" b="b"/>
            <a:pathLst>
              <a:path w="1541779" h="76200">
                <a:moveTo>
                  <a:pt x="1465199" y="0"/>
                </a:moveTo>
                <a:lnTo>
                  <a:pt x="1465199" y="76200"/>
                </a:lnTo>
                <a:lnTo>
                  <a:pt x="1528699" y="44450"/>
                </a:lnTo>
                <a:lnTo>
                  <a:pt x="1477899" y="44450"/>
                </a:lnTo>
                <a:lnTo>
                  <a:pt x="1477899" y="31750"/>
                </a:lnTo>
                <a:lnTo>
                  <a:pt x="1528699" y="31750"/>
                </a:lnTo>
                <a:lnTo>
                  <a:pt x="1465199" y="0"/>
                </a:lnTo>
                <a:close/>
              </a:path>
              <a:path w="1541779" h="76200">
                <a:moveTo>
                  <a:pt x="146519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65199" y="44450"/>
                </a:lnTo>
                <a:lnTo>
                  <a:pt x="1465199" y="31750"/>
                </a:lnTo>
                <a:close/>
              </a:path>
              <a:path w="1541779" h="76200">
                <a:moveTo>
                  <a:pt x="1528699" y="31750"/>
                </a:moveTo>
                <a:lnTo>
                  <a:pt x="1477899" y="31750"/>
                </a:lnTo>
                <a:lnTo>
                  <a:pt x="1477899" y="44450"/>
                </a:lnTo>
                <a:lnTo>
                  <a:pt x="1528699" y="44450"/>
                </a:lnTo>
                <a:lnTo>
                  <a:pt x="1541399" y="38100"/>
                </a:lnTo>
                <a:lnTo>
                  <a:pt x="1528699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0316" y="3852671"/>
            <a:ext cx="76200" cy="487680"/>
          </a:xfrm>
          <a:custGeom>
            <a:avLst/>
            <a:gdLst/>
            <a:ahLst/>
            <a:cxnLst/>
            <a:rect l="l" t="t" r="r" b="b"/>
            <a:pathLst>
              <a:path w="76200" h="487679">
                <a:moveTo>
                  <a:pt x="44450" y="63500"/>
                </a:moveTo>
                <a:lnTo>
                  <a:pt x="31750" y="63500"/>
                </a:lnTo>
                <a:lnTo>
                  <a:pt x="31750" y="487298"/>
                </a:lnTo>
                <a:lnTo>
                  <a:pt x="44450" y="487298"/>
                </a:lnTo>
                <a:lnTo>
                  <a:pt x="44450" y="63500"/>
                </a:lnTo>
                <a:close/>
              </a:path>
              <a:path w="76200" h="487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7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06567" y="5259323"/>
            <a:ext cx="1660525" cy="76200"/>
          </a:xfrm>
          <a:custGeom>
            <a:avLst/>
            <a:gdLst/>
            <a:ahLst/>
            <a:cxnLst/>
            <a:rect l="l" t="t" r="r" b="b"/>
            <a:pathLst>
              <a:path w="1660525" h="76200">
                <a:moveTo>
                  <a:pt x="1584325" y="0"/>
                </a:moveTo>
                <a:lnTo>
                  <a:pt x="1584325" y="76200"/>
                </a:lnTo>
                <a:lnTo>
                  <a:pt x="1647825" y="44450"/>
                </a:lnTo>
                <a:lnTo>
                  <a:pt x="1597025" y="44450"/>
                </a:lnTo>
                <a:lnTo>
                  <a:pt x="1597025" y="31750"/>
                </a:lnTo>
                <a:lnTo>
                  <a:pt x="1647825" y="31750"/>
                </a:lnTo>
                <a:lnTo>
                  <a:pt x="1584325" y="0"/>
                </a:lnTo>
                <a:close/>
              </a:path>
              <a:path w="1660525" h="76200">
                <a:moveTo>
                  <a:pt x="158432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84325" y="44450"/>
                </a:lnTo>
                <a:lnTo>
                  <a:pt x="1584325" y="31750"/>
                </a:lnTo>
                <a:close/>
              </a:path>
              <a:path w="1660525" h="76200">
                <a:moveTo>
                  <a:pt x="1647825" y="31750"/>
                </a:moveTo>
                <a:lnTo>
                  <a:pt x="1597025" y="31750"/>
                </a:lnTo>
                <a:lnTo>
                  <a:pt x="1597025" y="44450"/>
                </a:lnTo>
                <a:lnTo>
                  <a:pt x="1647825" y="44450"/>
                </a:lnTo>
                <a:lnTo>
                  <a:pt x="1660525" y="38100"/>
                </a:lnTo>
                <a:lnTo>
                  <a:pt x="1647825" y="3175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52081" y="2962529"/>
            <a:ext cx="1692910" cy="640715"/>
          </a:xfrm>
          <a:custGeom>
            <a:avLst/>
            <a:gdLst/>
            <a:ahLst/>
            <a:cxnLst/>
            <a:rect l="l" t="t" r="r" b="b"/>
            <a:pathLst>
              <a:path w="1692909" h="640714">
                <a:moveTo>
                  <a:pt x="1619205" y="29785"/>
                </a:moveTo>
                <a:lnTo>
                  <a:pt x="0" y="628776"/>
                </a:lnTo>
                <a:lnTo>
                  <a:pt x="4318" y="640715"/>
                </a:lnTo>
                <a:lnTo>
                  <a:pt x="1623578" y="41623"/>
                </a:lnTo>
                <a:lnTo>
                  <a:pt x="1619205" y="29785"/>
                </a:lnTo>
                <a:close/>
              </a:path>
              <a:path w="1692909" h="640714">
                <a:moveTo>
                  <a:pt x="1677707" y="25400"/>
                </a:moveTo>
                <a:lnTo>
                  <a:pt x="1631061" y="25400"/>
                </a:lnTo>
                <a:lnTo>
                  <a:pt x="1635505" y="37211"/>
                </a:lnTo>
                <a:lnTo>
                  <a:pt x="1623578" y="41623"/>
                </a:lnTo>
                <a:lnTo>
                  <a:pt x="1634617" y="71500"/>
                </a:lnTo>
                <a:lnTo>
                  <a:pt x="1677707" y="25400"/>
                </a:lnTo>
                <a:close/>
              </a:path>
              <a:path w="1692909" h="640714">
                <a:moveTo>
                  <a:pt x="1631061" y="25400"/>
                </a:moveTo>
                <a:lnTo>
                  <a:pt x="1619205" y="29785"/>
                </a:lnTo>
                <a:lnTo>
                  <a:pt x="1623578" y="41623"/>
                </a:lnTo>
                <a:lnTo>
                  <a:pt x="1635505" y="37211"/>
                </a:lnTo>
                <a:lnTo>
                  <a:pt x="1631061" y="25400"/>
                </a:lnTo>
                <a:close/>
              </a:path>
              <a:path w="1692909" h="640714">
                <a:moveTo>
                  <a:pt x="1608201" y="0"/>
                </a:moveTo>
                <a:lnTo>
                  <a:pt x="1619205" y="29785"/>
                </a:lnTo>
                <a:lnTo>
                  <a:pt x="1631061" y="25400"/>
                </a:lnTo>
                <a:lnTo>
                  <a:pt x="1677707" y="25400"/>
                </a:lnTo>
                <a:lnTo>
                  <a:pt x="1692783" y="9271"/>
                </a:lnTo>
                <a:lnTo>
                  <a:pt x="1608201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00316" y="4672584"/>
            <a:ext cx="76200" cy="485775"/>
          </a:xfrm>
          <a:custGeom>
            <a:avLst/>
            <a:gdLst/>
            <a:ahLst/>
            <a:cxnLst/>
            <a:rect l="l" t="t" r="r" b="b"/>
            <a:pathLst>
              <a:path w="76200" h="485775">
                <a:moveTo>
                  <a:pt x="44450" y="63500"/>
                </a:moveTo>
                <a:lnTo>
                  <a:pt x="31750" y="63500"/>
                </a:lnTo>
                <a:lnTo>
                  <a:pt x="31750" y="485775"/>
                </a:lnTo>
                <a:lnTo>
                  <a:pt x="44450" y="485775"/>
                </a:lnTo>
                <a:lnTo>
                  <a:pt x="44450" y="63500"/>
                </a:lnTo>
                <a:close/>
              </a:path>
              <a:path w="76200" h="4857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57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275" y="1693011"/>
            <a:ext cx="9996805" cy="138176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group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similar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properties.</a:t>
            </a:r>
            <a:endParaRPr sz="2000" dirty="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Let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subset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image.</a:t>
            </a:r>
            <a:r>
              <a:rPr sz="20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call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image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20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39395" indent="-227329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Regions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20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20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said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disjoint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3694" y="5820867"/>
            <a:ext cx="5528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Two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regions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1s)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adjacent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8-</a:t>
            </a:r>
            <a:r>
              <a:rPr sz="1800" b="1" dirty="0">
                <a:latin typeface="Times New Roman"/>
                <a:cs typeface="Times New Roman"/>
              </a:rPr>
              <a:t>adjecency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Regions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220" y="3885819"/>
            <a:ext cx="1124621" cy="16954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275" y="1960626"/>
            <a:ext cx="10086340" cy="230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20447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214629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neighbors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R.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"/>
            </a:pPr>
            <a:endParaRPr sz="1800" dirty="0">
              <a:latin typeface="Times New Roman"/>
              <a:cs typeface="Times New Roman"/>
            </a:endParaRPr>
          </a:p>
          <a:p>
            <a:pPr marL="214629" indent="-204470">
              <a:lnSpc>
                <a:spcPct val="100000"/>
              </a:lnSpc>
              <a:buClr>
                <a:srgbClr val="E38312"/>
              </a:buClr>
              <a:buSzPct val="94444"/>
              <a:buFont typeface="Wingdings"/>
              <a:buChar char=""/>
              <a:tabLst>
                <a:tab pos="214629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boundary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(also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border</a:t>
            </a:r>
            <a:r>
              <a:rPr sz="1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contour)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sz="1800" spc="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adjacent</a:t>
            </a:r>
            <a:r>
              <a:rPr sz="18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endParaRPr sz="1800" dirty="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complement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R.</a:t>
            </a:r>
            <a:endParaRPr sz="1800" dirty="0">
              <a:latin typeface="Times New Roman"/>
              <a:cs typeface="Times New Roman"/>
            </a:endParaRPr>
          </a:p>
          <a:p>
            <a:pPr marL="103505" marR="5715" indent="-93980">
              <a:lnSpc>
                <a:spcPct val="150000"/>
              </a:lnSpc>
              <a:spcBef>
                <a:spcPts val="1405"/>
              </a:spcBef>
              <a:buClr>
                <a:srgbClr val="E38312"/>
              </a:buClr>
              <a:buSzPct val="94444"/>
              <a:buFont typeface="Wingdings"/>
              <a:buChar char=""/>
              <a:tabLst>
                <a:tab pos="103505" algn="l"/>
                <a:tab pos="21399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	Stated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another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way,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border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set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pixels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region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1800" spc="40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1800" spc="4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least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one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background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neighbor.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Boundary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2C26B-2786-8374-A17B-B19D3648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32" y="4212705"/>
            <a:ext cx="1369646" cy="19594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4E5242-396C-B514-B8AA-092239D62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45" y="4212704"/>
            <a:ext cx="1306329" cy="19594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1142" y="1840737"/>
            <a:ext cx="986536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happens 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entire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image </a:t>
            </a:r>
            <a:r>
              <a:rPr sz="1800" dirty="0">
                <a:latin typeface="Times New Roman"/>
                <a:cs typeface="Times New Roman"/>
              </a:rPr>
              <a:t>(which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 recall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rectangular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pixels),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its boundary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	</a:t>
            </a:r>
            <a:r>
              <a:rPr sz="1800" dirty="0">
                <a:latin typeface="Times New Roman"/>
                <a:cs typeface="Times New Roman"/>
              </a:rPr>
              <a:t>defined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pixels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first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last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rows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columns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0" dirty="0">
                <a:latin typeface="Times New Roman"/>
                <a:cs typeface="Times New Roman"/>
              </a:rPr>
              <a:t> image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definition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neighbors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beyond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border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48911" y="3296411"/>
            <a:ext cx="4276725" cy="2714625"/>
          </a:xfrm>
          <a:custGeom>
            <a:avLst/>
            <a:gdLst/>
            <a:ahLst/>
            <a:cxnLst/>
            <a:rect l="l" t="t" r="r" b="b"/>
            <a:pathLst>
              <a:path w="4276725" h="2714625">
                <a:moveTo>
                  <a:pt x="0" y="284734"/>
                </a:moveTo>
                <a:lnTo>
                  <a:pt x="5258" y="258758"/>
                </a:lnTo>
                <a:lnTo>
                  <a:pt x="19589" y="237521"/>
                </a:lnTo>
                <a:lnTo>
                  <a:pt x="40826" y="223190"/>
                </a:lnTo>
                <a:lnTo>
                  <a:pt x="66801" y="217932"/>
                </a:lnTo>
                <a:lnTo>
                  <a:pt x="4162297" y="217932"/>
                </a:lnTo>
                <a:lnTo>
                  <a:pt x="4188273" y="223190"/>
                </a:lnTo>
                <a:lnTo>
                  <a:pt x="4209510" y="237521"/>
                </a:lnTo>
                <a:lnTo>
                  <a:pt x="4223841" y="258758"/>
                </a:lnTo>
                <a:lnTo>
                  <a:pt x="4229099" y="284734"/>
                </a:lnTo>
                <a:lnTo>
                  <a:pt x="4229099" y="551942"/>
                </a:lnTo>
                <a:lnTo>
                  <a:pt x="4223841" y="577917"/>
                </a:lnTo>
                <a:lnTo>
                  <a:pt x="4209510" y="599154"/>
                </a:lnTo>
                <a:lnTo>
                  <a:pt x="4188273" y="613485"/>
                </a:lnTo>
                <a:lnTo>
                  <a:pt x="4162297" y="618744"/>
                </a:lnTo>
                <a:lnTo>
                  <a:pt x="66801" y="618744"/>
                </a:lnTo>
                <a:lnTo>
                  <a:pt x="40826" y="613485"/>
                </a:lnTo>
                <a:lnTo>
                  <a:pt x="19589" y="599154"/>
                </a:lnTo>
                <a:lnTo>
                  <a:pt x="5258" y="577917"/>
                </a:lnTo>
                <a:lnTo>
                  <a:pt x="0" y="551942"/>
                </a:lnTo>
                <a:lnTo>
                  <a:pt x="0" y="284734"/>
                </a:lnTo>
                <a:close/>
              </a:path>
              <a:path w="4276725" h="2714625">
                <a:moveTo>
                  <a:pt x="47243" y="2104390"/>
                </a:moveTo>
                <a:lnTo>
                  <a:pt x="52502" y="2078414"/>
                </a:lnTo>
                <a:lnTo>
                  <a:pt x="66833" y="2057177"/>
                </a:lnTo>
                <a:lnTo>
                  <a:pt x="88070" y="2042846"/>
                </a:lnTo>
                <a:lnTo>
                  <a:pt x="114046" y="2037588"/>
                </a:lnTo>
                <a:lnTo>
                  <a:pt x="4209542" y="2037588"/>
                </a:lnTo>
                <a:lnTo>
                  <a:pt x="4235517" y="2042846"/>
                </a:lnTo>
                <a:lnTo>
                  <a:pt x="4256754" y="2057177"/>
                </a:lnTo>
                <a:lnTo>
                  <a:pt x="4271085" y="2078414"/>
                </a:lnTo>
                <a:lnTo>
                  <a:pt x="4276344" y="2104390"/>
                </a:lnTo>
                <a:lnTo>
                  <a:pt x="4276344" y="2371598"/>
                </a:lnTo>
                <a:lnTo>
                  <a:pt x="4271085" y="2397600"/>
                </a:lnTo>
                <a:lnTo>
                  <a:pt x="4256754" y="2418834"/>
                </a:lnTo>
                <a:lnTo>
                  <a:pt x="4235517" y="2433150"/>
                </a:lnTo>
                <a:lnTo>
                  <a:pt x="4209542" y="2438400"/>
                </a:lnTo>
                <a:lnTo>
                  <a:pt x="114046" y="2438400"/>
                </a:lnTo>
                <a:lnTo>
                  <a:pt x="88070" y="2433150"/>
                </a:lnTo>
                <a:lnTo>
                  <a:pt x="66833" y="2418834"/>
                </a:lnTo>
                <a:lnTo>
                  <a:pt x="52502" y="2397600"/>
                </a:lnTo>
                <a:lnTo>
                  <a:pt x="47243" y="2371598"/>
                </a:lnTo>
                <a:lnTo>
                  <a:pt x="47243" y="2104390"/>
                </a:lnTo>
                <a:close/>
              </a:path>
              <a:path w="4276725" h="2714625">
                <a:moveTo>
                  <a:pt x="495300" y="76200"/>
                </a:moveTo>
                <a:lnTo>
                  <a:pt x="501294" y="46559"/>
                </a:lnTo>
                <a:lnTo>
                  <a:pt x="517636" y="22336"/>
                </a:lnTo>
                <a:lnTo>
                  <a:pt x="541859" y="5994"/>
                </a:lnTo>
                <a:lnTo>
                  <a:pt x="571500" y="0"/>
                </a:lnTo>
                <a:lnTo>
                  <a:pt x="876300" y="0"/>
                </a:lnTo>
                <a:lnTo>
                  <a:pt x="905940" y="5994"/>
                </a:lnTo>
                <a:lnTo>
                  <a:pt x="930163" y="22336"/>
                </a:lnTo>
                <a:lnTo>
                  <a:pt x="946505" y="46559"/>
                </a:lnTo>
                <a:lnTo>
                  <a:pt x="952500" y="76200"/>
                </a:lnTo>
                <a:lnTo>
                  <a:pt x="952500" y="2638044"/>
                </a:lnTo>
                <a:lnTo>
                  <a:pt x="946505" y="2667706"/>
                </a:lnTo>
                <a:lnTo>
                  <a:pt x="930163" y="2691926"/>
                </a:lnTo>
                <a:lnTo>
                  <a:pt x="905940" y="2708256"/>
                </a:lnTo>
                <a:lnTo>
                  <a:pt x="876300" y="2714244"/>
                </a:lnTo>
                <a:lnTo>
                  <a:pt x="571500" y="2714244"/>
                </a:lnTo>
                <a:lnTo>
                  <a:pt x="541859" y="2708256"/>
                </a:lnTo>
                <a:lnTo>
                  <a:pt x="517636" y="2691926"/>
                </a:lnTo>
                <a:lnTo>
                  <a:pt x="501294" y="2667706"/>
                </a:lnTo>
                <a:lnTo>
                  <a:pt x="495300" y="2638044"/>
                </a:lnTo>
                <a:lnTo>
                  <a:pt x="495300" y="76200"/>
                </a:lnTo>
                <a:close/>
              </a:path>
            </a:pathLst>
          </a:custGeom>
          <a:ln w="15240">
            <a:solidFill>
              <a:srgbClr val="A7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0" y="3394983"/>
          <a:ext cx="3476623" cy="271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240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A75F09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3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R w="28575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75F09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Boundary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8D77-878A-84E8-31DB-28C3CB56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CCF67A-CFF4-96A6-FB56-2B82E3CF2DC6}"/>
              </a:ext>
            </a:extLst>
          </p:cNvPr>
          <p:cNvSpPr txBox="1"/>
          <p:nvPr/>
        </p:nvSpPr>
        <p:spPr>
          <a:xfrm>
            <a:off x="1175715" y="1840737"/>
            <a:ext cx="9960787" cy="1804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/>
                <a:cs typeface="Times New Roman"/>
              </a:rPr>
              <a:t>In digital image processing, boundaries of a region can be further classified as:</a:t>
            </a:r>
          </a:p>
          <a:p>
            <a:pPr indent="-285750">
              <a:lnSpc>
                <a:spcPct val="150000"/>
              </a:lnSpc>
              <a:buFont typeface="Wingdings"/>
              <a:buChar char=""/>
            </a:pPr>
            <a:r>
              <a:rPr lang="en-US" sz="2000" b="1" dirty="0">
                <a:latin typeface="Times New Roman"/>
                <a:cs typeface="Times New Roman"/>
              </a:rPr>
              <a:t>Inner Boundary: </a:t>
            </a:r>
            <a:r>
              <a:rPr lang="en-US" sz="2000" dirty="0">
                <a:latin typeface="Times New Roman"/>
                <a:cs typeface="Times New Roman"/>
              </a:rPr>
              <a:t>Pixels inside the region that are adjacent to at least one background pixel.</a:t>
            </a:r>
          </a:p>
          <a:p>
            <a:pPr indent="-285750">
              <a:lnSpc>
                <a:spcPct val="150000"/>
              </a:lnSpc>
              <a:buFont typeface="Wingdings"/>
              <a:buChar char=""/>
            </a:pPr>
            <a:r>
              <a:rPr lang="en-US" sz="2000" b="1" dirty="0">
                <a:latin typeface="Times New Roman"/>
                <a:cs typeface="Times New Roman"/>
              </a:rPr>
              <a:t>Outer Boundary: </a:t>
            </a:r>
            <a:r>
              <a:rPr lang="en-US" sz="2000" dirty="0">
                <a:latin typeface="Times New Roman"/>
                <a:cs typeface="Times New Roman"/>
              </a:rPr>
              <a:t>Pixels outside the region (background pixels) that are adjacent to at least one pixel of the region.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18B8B0C-4A92-7A95-FD7C-2F2E7A19FC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8281374-1CFC-285D-A237-60426ECDCF4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1DD962A-27DC-B111-E22C-86587307D94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82E47C-FB9C-F9AD-51F6-09B914ED5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457200"/>
            <a:ext cx="5597525" cy="806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Boundary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A7C6DD-2753-4983-632F-0294828F0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429000"/>
            <a:ext cx="2165930" cy="2391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4612E4-C5A8-7B45-973D-CC62571F6BEC}"/>
              </a:ext>
            </a:extLst>
          </p:cNvPr>
          <p:cNvSpPr txBox="1"/>
          <p:nvPr/>
        </p:nvSpPr>
        <p:spPr>
          <a:xfrm>
            <a:off x="2234222" y="5820697"/>
            <a:ext cx="5038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region</a:t>
            </a:r>
            <a:r>
              <a:rPr lang="en-US" dirty="0"/>
              <a:t> is the 3×3 block of 1’s in the center.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DB0158-6C34-D73F-D2C2-43AC3E79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782" y="3465446"/>
            <a:ext cx="1573997" cy="235525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923A79-9BD1-311D-CE28-699D8CE91A3D}"/>
              </a:ext>
            </a:extLst>
          </p:cNvPr>
          <p:cNvCxnSpPr>
            <a:cxnSpLocks/>
          </p:cNvCxnSpPr>
          <p:nvPr/>
        </p:nvCxnSpPr>
        <p:spPr>
          <a:xfrm flipV="1">
            <a:off x="7508571" y="3465446"/>
            <a:ext cx="1102416" cy="420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8CF67F-EA25-D4FC-C784-1682CD4BB4BE}"/>
              </a:ext>
            </a:extLst>
          </p:cNvPr>
          <p:cNvSpPr txBox="1"/>
          <p:nvPr/>
        </p:nvSpPr>
        <p:spPr>
          <a:xfrm>
            <a:off x="8610987" y="327555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Inner boundary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8E21C1-C476-AB6F-D99F-993F6162F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815" y="3705320"/>
            <a:ext cx="1828655" cy="245072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507D28-40D5-62A3-472D-41647F2CFCE8}"/>
              </a:ext>
            </a:extLst>
          </p:cNvPr>
          <p:cNvCxnSpPr>
            <a:cxnSpLocks/>
          </p:cNvCxnSpPr>
          <p:nvPr/>
        </p:nvCxnSpPr>
        <p:spPr>
          <a:xfrm>
            <a:off x="9906000" y="5257800"/>
            <a:ext cx="1075181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24502E-F3EF-4C2C-9854-C6F3C1DC9F14}"/>
              </a:ext>
            </a:extLst>
          </p:cNvPr>
          <p:cNvSpPr txBox="1"/>
          <p:nvPr/>
        </p:nvSpPr>
        <p:spPr>
          <a:xfrm>
            <a:off x="10443590" y="5881920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Outer boundary</a:t>
            </a:r>
          </a:p>
        </p:txBody>
      </p:sp>
    </p:spTree>
    <p:extLst>
      <p:ext uri="{BB962C8B-B14F-4D97-AF65-F5344CB8AC3E}">
        <p14:creationId xmlns:p14="http://schemas.microsoft.com/office/powerpoint/2010/main" val="1546146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9D40-225C-F035-348E-E8607416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715" y="876122"/>
            <a:ext cx="9568485" cy="738664"/>
          </a:xfrm>
        </p:spPr>
        <p:txBody>
          <a:bodyPr/>
          <a:lstStyle/>
          <a:p>
            <a:r>
              <a:rPr lang="en-US" dirty="0"/>
              <a:t>Applications of Finding Boundary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06DC8-94A4-5678-0AC6-D2CA79B2BCAD}"/>
              </a:ext>
            </a:extLst>
          </p:cNvPr>
          <p:cNvSpPr txBox="1"/>
          <p:nvPr/>
        </p:nvSpPr>
        <p:spPr>
          <a:xfrm>
            <a:off x="1371600" y="1784319"/>
            <a:ext cx="9851162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detect and recognize objects in an image based on their outer shape.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to separate an object from the background or divide an image into meaningful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 Analysis: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the area, perimeter, and structure of objects for further study.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Boundaries are used in edge detection algorithms like Sobel or Canny to highlight object outlines.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Navigation: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robots or autonomous vehicles identify obstacles and pathways.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67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715" y="1687804"/>
            <a:ext cx="7383780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pixels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p(x,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y),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q(s,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z(u,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v),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distance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metric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if</a:t>
            </a:r>
            <a:endParaRPr sz="20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27685" algn="l"/>
              </a:tabLst>
            </a:pPr>
            <a:r>
              <a:rPr sz="2000" dirty="0">
                <a:latin typeface="Times New Roman"/>
                <a:cs typeface="Times New Roman"/>
              </a:rPr>
              <a:t>D(p,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≥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27685" algn="l"/>
              </a:tabLst>
            </a:pPr>
            <a:r>
              <a:rPr sz="2000" dirty="0">
                <a:latin typeface="Times New Roman"/>
                <a:cs typeface="Times New Roman"/>
              </a:rPr>
              <a:t>(D(p,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 0,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q)</a:t>
            </a:r>
            <a:endParaRPr sz="20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27685" algn="l"/>
              </a:tabLst>
            </a:pPr>
            <a:r>
              <a:rPr sz="2000" dirty="0">
                <a:latin typeface="Times New Roman"/>
                <a:cs typeface="Times New Roman"/>
              </a:rPr>
              <a:t>D(p,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D(q,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p)</a:t>
            </a:r>
            <a:endParaRPr sz="20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527685" algn="l"/>
              </a:tabLst>
            </a:pPr>
            <a:r>
              <a:rPr sz="2000" dirty="0">
                <a:latin typeface="Times New Roman"/>
                <a:cs typeface="Times New Roman"/>
              </a:rPr>
              <a:t>D(p,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z) ≤ D(p,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D(q,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z)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1650" y="4175125"/>
          <a:ext cx="6096000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p(x,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z(u,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v)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q(s,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Distance</a:t>
            </a:r>
            <a:r>
              <a:rPr spc="-245" dirty="0"/>
              <a:t> </a:t>
            </a:r>
            <a:r>
              <a:rPr spc="-40" dirty="0"/>
              <a:t>Measures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Euclidean</a:t>
            </a:r>
            <a:r>
              <a:rPr spc="-245" dirty="0"/>
              <a:t> </a:t>
            </a:r>
            <a:r>
              <a:rPr spc="-25" dirty="0"/>
              <a:t>Distance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649" y="1924692"/>
            <a:ext cx="8285496" cy="12112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767201" y="3775036"/>
            <a:ext cx="4657725" cy="1464310"/>
          </a:xfrm>
          <a:custGeom>
            <a:avLst/>
            <a:gdLst/>
            <a:ahLst/>
            <a:cxnLst/>
            <a:rect l="l" t="t" r="r" b="b"/>
            <a:pathLst>
              <a:path w="4657725" h="1464310">
                <a:moveTo>
                  <a:pt x="2328761" y="731901"/>
                </a:moveTo>
                <a:lnTo>
                  <a:pt x="1164424" y="731901"/>
                </a:lnTo>
                <a:lnTo>
                  <a:pt x="0" y="731901"/>
                </a:lnTo>
                <a:lnTo>
                  <a:pt x="0" y="1097800"/>
                </a:lnTo>
                <a:lnTo>
                  <a:pt x="0" y="1463713"/>
                </a:lnTo>
                <a:lnTo>
                  <a:pt x="1164336" y="1463713"/>
                </a:lnTo>
                <a:lnTo>
                  <a:pt x="2328761" y="1463713"/>
                </a:lnTo>
                <a:lnTo>
                  <a:pt x="2328761" y="1097826"/>
                </a:lnTo>
                <a:lnTo>
                  <a:pt x="2328761" y="731901"/>
                </a:lnTo>
                <a:close/>
              </a:path>
              <a:path w="4657725" h="1464310">
                <a:moveTo>
                  <a:pt x="2328761" y="0"/>
                </a:moveTo>
                <a:lnTo>
                  <a:pt x="1164424" y="0"/>
                </a:lnTo>
                <a:lnTo>
                  <a:pt x="0" y="0"/>
                </a:lnTo>
                <a:lnTo>
                  <a:pt x="0" y="365899"/>
                </a:lnTo>
                <a:lnTo>
                  <a:pt x="0" y="731812"/>
                </a:lnTo>
                <a:lnTo>
                  <a:pt x="1164336" y="731812"/>
                </a:lnTo>
                <a:lnTo>
                  <a:pt x="2328761" y="731812"/>
                </a:lnTo>
                <a:lnTo>
                  <a:pt x="2328761" y="365925"/>
                </a:lnTo>
                <a:lnTo>
                  <a:pt x="2328761" y="0"/>
                </a:lnTo>
                <a:close/>
              </a:path>
              <a:path w="4657725" h="1464310">
                <a:moveTo>
                  <a:pt x="3493224" y="731901"/>
                </a:moveTo>
                <a:lnTo>
                  <a:pt x="2328799" y="731901"/>
                </a:lnTo>
                <a:lnTo>
                  <a:pt x="2328799" y="1097800"/>
                </a:lnTo>
                <a:lnTo>
                  <a:pt x="2328799" y="1463713"/>
                </a:lnTo>
                <a:lnTo>
                  <a:pt x="3493224" y="1463713"/>
                </a:lnTo>
                <a:lnTo>
                  <a:pt x="3493224" y="1097826"/>
                </a:lnTo>
                <a:lnTo>
                  <a:pt x="3493224" y="731901"/>
                </a:lnTo>
                <a:close/>
              </a:path>
              <a:path w="4657725" h="1464310">
                <a:moveTo>
                  <a:pt x="3493224" y="0"/>
                </a:moveTo>
                <a:lnTo>
                  <a:pt x="2328799" y="0"/>
                </a:lnTo>
                <a:lnTo>
                  <a:pt x="2328799" y="365899"/>
                </a:lnTo>
                <a:lnTo>
                  <a:pt x="2328799" y="731812"/>
                </a:lnTo>
                <a:lnTo>
                  <a:pt x="3493224" y="731812"/>
                </a:lnTo>
                <a:lnTo>
                  <a:pt x="3493224" y="365925"/>
                </a:lnTo>
                <a:lnTo>
                  <a:pt x="3493224" y="0"/>
                </a:lnTo>
                <a:close/>
              </a:path>
              <a:path w="4657725" h="1464310">
                <a:moveTo>
                  <a:pt x="4657699" y="731901"/>
                </a:moveTo>
                <a:lnTo>
                  <a:pt x="3493262" y="731901"/>
                </a:lnTo>
                <a:lnTo>
                  <a:pt x="3493262" y="1097800"/>
                </a:lnTo>
                <a:lnTo>
                  <a:pt x="3493262" y="1463713"/>
                </a:lnTo>
                <a:lnTo>
                  <a:pt x="4657699" y="1463713"/>
                </a:lnTo>
                <a:lnTo>
                  <a:pt x="4657699" y="1097826"/>
                </a:lnTo>
                <a:lnTo>
                  <a:pt x="4657699" y="731901"/>
                </a:lnTo>
                <a:close/>
              </a:path>
              <a:path w="4657725" h="1464310">
                <a:moveTo>
                  <a:pt x="4657699" y="0"/>
                </a:moveTo>
                <a:lnTo>
                  <a:pt x="3493262" y="0"/>
                </a:lnTo>
                <a:lnTo>
                  <a:pt x="3493262" y="365899"/>
                </a:lnTo>
                <a:lnTo>
                  <a:pt x="3493262" y="731812"/>
                </a:lnTo>
                <a:lnTo>
                  <a:pt x="4657699" y="731812"/>
                </a:lnTo>
                <a:lnTo>
                  <a:pt x="4657699" y="365925"/>
                </a:lnTo>
                <a:lnTo>
                  <a:pt x="4657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60851" y="3768725"/>
          <a:ext cx="46583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P(x,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q(s,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</a:t>
            </a:r>
            <a:r>
              <a:rPr spc="-290" dirty="0"/>
              <a:t> </a:t>
            </a:r>
            <a:r>
              <a:rPr spc="-10" dirty="0"/>
              <a:t>Block</a:t>
            </a:r>
            <a:r>
              <a:rPr spc="-275" dirty="0"/>
              <a:t> </a:t>
            </a:r>
            <a:r>
              <a:rPr spc="-30" dirty="0"/>
              <a:t>Distance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60851" y="3651250"/>
          <a:ext cx="46583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P(x,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q(s,</a:t>
                      </a:r>
                      <a:r>
                        <a:rPr sz="1800" spc="-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1845564"/>
            <a:ext cx="10058349" cy="40233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60851" y="2965450"/>
          <a:ext cx="4657721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=??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</a:t>
            </a:r>
            <a:r>
              <a:rPr spc="-290" dirty="0"/>
              <a:t> </a:t>
            </a:r>
            <a:r>
              <a:rPr spc="-10" dirty="0"/>
              <a:t>Block</a:t>
            </a:r>
            <a:r>
              <a:rPr spc="-275" dirty="0"/>
              <a:t> </a:t>
            </a:r>
            <a:r>
              <a:rPr spc="-30" dirty="0"/>
              <a:t>Distance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02126" y="2647950"/>
          <a:ext cx="4657721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City</a:t>
            </a:r>
            <a:r>
              <a:rPr spc="-290" dirty="0"/>
              <a:t> </a:t>
            </a:r>
            <a:r>
              <a:rPr spc="-10" dirty="0"/>
              <a:t>Block</a:t>
            </a:r>
            <a:r>
              <a:rPr spc="-275" dirty="0"/>
              <a:t> </a:t>
            </a:r>
            <a:r>
              <a:rPr spc="-30" dirty="0"/>
              <a:t>Distance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Chess</a:t>
            </a:r>
            <a:r>
              <a:rPr spc="-270" dirty="0"/>
              <a:t> </a:t>
            </a:r>
            <a:r>
              <a:rPr spc="-10" dirty="0"/>
              <a:t>Board</a:t>
            </a:r>
            <a:r>
              <a:rPr spc="-254" dirty="0"/>
              <a:t> </a:t>
            </a:r>
            <a:r>
              <a:rPr spc="-30" dirty="0"/>
              <a:t>Distance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60851" y="3768725"/>
          <a:ext cx="465835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P(x,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q(s,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1845564"/>
            <a:ext cx="10058349" cy="40233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253" y="2760283"/>
            <a:ext cx="2791968" cy="20635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Chess</a:t>
            </a:r>
            <a:r>
              <a:rPr spc="-270" dirty="0"/>
              <a:t> </a:t>
            </a:r>
            <a:r>
              <a:rPr spc="-10" dirty="0"/>
              <a:t>Board</a:t>
            </a:r>
            <a:r>
              <a:rPr spc="-254" dirty="0"/>
              <a:t> </a:t>
            </a:r>
            <a:r>
              <a:rPr spc="-30" dirty="0"/>
              <a:t>Distance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98975" y="2480564"/>
            <a:ext cx="2533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sz="3600" b="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3600" b="0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50" dirty="0">
                <a:solidFill>
                  <a:srgbClr val="000000"/>
                </a:solidFill>
                <a:latin typeface="Wingdings"/>
                <a:cs typeface="Wingdings"/>
              </a:rPr>
              <a:t></a:t>
            </a:r>
            <a:endParaRPr sz="3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35" dirty="0"/>
              <a:t>04-</a:t>
            </a:r>
            <a:r>
              <a:rPr spc="-20" dirty="0"/>
              <a:t>Oct-</a:t>
            </a:r>
            <a:r>
              <a:rPr spc="-25" dirty="0"/>
              <a:t>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10" dirty="0"/>
              <a:t>SOME</a:t>
            </a:r>
            <a:r>
              <a:rPr spc="45" dirty="0"/>
              <a:t> </a:t>
            </a:r>
            <a:r>
              <a:rPr spc="10" dirty="0"/>
              <a:t>BASIC</a:t>
            </a:r>
            <a:r>
              <a:rPr spc="95" dirty="0"/>
              <a:t> </a:t>
            </a:r>
            <a:r>
              <a:rPr spc="10" dirty="0"/>
              <a:t>RELATIONSHIP</a:t>
            </a:r>
            <a:r>
              <a:rPr spc="20" dirty="0"/>
              <a:t> </a:t>
            </a:r>
            <a:r>
              <a:rPr spc="10" dirty="0"/>
              <a:t>BETWEEN</a:t>
            </a:r>
            <a:r>
              <a:rPr spc="50" dirty="0"/>
              <a:t> </a:t>
            </a:r>
            <a:r>
              <a:rPr spc="-10" dirty="0"/>
              <a:t>PIXELS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1732</Words>
  <Application>Microsoft Office PowerPoint</Application>
  <PresentationFormat>Widescreen</PresentationFormat>
  <Paragraphs>413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Cambria Math</vt:lpstr>
      <vt:lpstr>Times New Roman</vt:lpstr>
      <vt:lpstr>Trebuchet MS</vt:lpstr>
      <vt:lpstr>Wingdings</vt:lpstr>
      <vt:lpstr>Office Theme</vt:lpstr>
      <vt:lpstr>PowerPoint Presentation</vt:lpstr>
      <vt:lpstr>Neighbors of a pixel</vt:lpstr>
      <vt:lpstr>Neighbors of a Pixel</vt:lpstr>
      <vt:lpstr>Neighbors of a Pixel</vt:lpstr>
      <vt:lpstr>Adjacency</vt:lpstr>
      <vt:lpstr>Adjacency</vt:lpstr>
      <vt:lpstr>Adjacency</vt:lpstr>
      <vt:lpstr>Adjacency</vt:lpstr>
      <vt:lpstr>Adjacency</vt:lpstr>
      <vt:lpstr>Adjacency</vt:lpstr>
      <vt:lpstr>Adjacency</vt:lpstr>
      <vt:lpstr>Adjacency</vt:lpstr>
      <vt:lpstr>Connectivity</vt:lpstr>
      <vt:lpstr>Connectivity</vt:lpstr>
      <vt:lpstr>Paths</vt:lpstr>
      <vt:lpstr>Paths</vt:lpstr>
      <vt:lpstr>Paths</vt:lpstr>
      <vt:lpstr>Paths</vt:lpstr>
      <vt:lpstr>Regions</vt:lpstr>
      <vt:lpstr>Boundary</vt:lpstr>
      <vt:lpstr>Boundary</vt:lpstr>
      <vt:lpstr>Boundary</vt:lpstr>
      <vt:lpstr>Applications of Finding Boundary</vt:lpstr>
      <vt:lpstr>Distance Measures</vt:lpstr>
      <vt:lpstr>Euclidean Distance</vt:lpstr>
      <vt:lpstr>City Block Distance</vt:lpstr>
      <vt:lpstr>City Block Distance</vt:lpstr>
      <vt:lpstr>City Block Distance</vt:lpstr>
      <vt:lpstr>Chess Board Distance</vt:lpstr>
      <vt:lpstr>Chess Board Distance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Optics and Human Vision</dc:title>
  <dc:subject>Art of Image Processing</dc:subject>
  <dc:creator>Kenny Hunt</dc:creator>
  <cp:lastModifiedBy>Md Manirujjaman</cp:lastModifiedBy>
  <cp:revision>6</cp:revision>
  <dcterms:created xsi:type="dcterms:W3CDTF">2025-09-29T02:16:07Z</dcterms:created>
  <dcterms:modified xsi:type="dcterms:W3CDTF">2025-10-16T00:33:49Z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2025-09-29T00:00:00Z</vt:filetime>
  </property>
  <property fmtid="{D5CDD505-2E9C-101B-9397-08002B2CF9AE}" pid="5" name="Producer">
    <vt:lpwstr>Microsoft® PowerPoint® 2016</vt:lpwstr>
  </property>
</Properties>
</file>