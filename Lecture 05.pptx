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1"/>
  </p:notesMasterIdLst>
  <p:sldIdLst>
    <p:sldId id="302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4" r:id="rId17"/>
    <p:sldId id="276" r:id="rId18"/>
    <p:sldId id="277" r:id="rId19"/>
    <p:sldId id="278" r:id="rId20"/>
    <p:sldId id="279" r:id="rId21"/>
    <p:sldId id="280" r:id="rId22"/>
    <p:sldId id="281" r:id="rId23"/>
    <p:sldId id="282" r:id="rId24"/>
    <p:sldId id="283" r:id="rId25"/>
    <p:sldId id="284" r:id="rId26"/>
    <p:sldId id="285" r:id="rId27"/>
    <p:sldId id="286" r:id="rId28"/>
    <p:sldId id="287" r:id="rId29"/>
    <p:sldId id="288" r:id="rId30"/>
    <p:sldId id="289" r:id="rId31"/>
    <p:sldId id="290" r:id="rId32"/>
    <p:sldId id="291" r:id="rId33"/>
    <p:sldId id="292" r:id="rId34"/>
    <p:sldId id="293" r:id="rId35"/>
    <p:sldId id="294" r:id="rId36"/>
    <p:sldId id="295" r:id="rId37"/>
    <p:sldId id="296" r:id="rId38"/>
    <p:sldId id="297" r:id="rId39"/>
    <p:sldId id="301" r:id="rId40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5359" autoAdjust="0"/>
  </p:normalViewPr>
  <p:slideViewPr>
    <p:cSldViewPr>
      <p:cViewPr varScale="1">
        <p:scale>
          <a:sx n="70" d="100"/>
          <a:sy n="70" d="100"/>
        </p:scale>
        <p:origin x="1138" y="5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86D42C-C238-4C3E-BC4F-8A301C3ACB52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DBBD37-71E6-4ED7-BF70-CC616BD2F3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72883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digital image processing, </a:t>
            </a:r>
            <a:r>
              <a:rPr lang="en-US" b="1" dirty="0"/>
              <a:t>shading</a:t>
            </a:r>
            <a:r>
              <a:rPr lang="en-US" dirty="0"/>
              <a:t> refers to </a:t>
            </a:r>
            <a:r>
              <a:rPr lang="en-US" b="1" dirty="0"/>
              <a:t>uneven brightness or intensity</a:t>
            </a:r>
            <a:r>
              <a:rPr lang="en-US" dirty="0"/>
              <a:t> across an image that is </a:t>
            </a:r>
            <a:r>
              <a:rPr lang="en-US" b="1" dirty="0"/>
              <a:t>not part of the actual scene</a:t>
            </a:r>
            <a:r>
              <a:rPr lang="en-US" dirty="0"/>
              <a:t>.</a:t>
            </a:r>
          </a:p>
          <a:p>
            <a:r>
              <a:rPr lang="en-US" dirty="0"/>
              <a:t>It is usually caused by:</a:t>
            </a:r>
          </a:p>
          <a:p>
            <a:pPr lvl="1"/>
            <a:r>
              <a:rPr lang="en-US" b="1" dirty="0"/>
              <a:t>Non-uniform illumination</a:t>
            </a:r>
            <a:r>
              <a:rPr lang="en-US" dirty="0"/>
              <a:t> (lighting is brighter in some areas and darker in others).</a:t>
            </a:r>
          </a:p>
          <a:p>
            <a:pPr lvl="1"/>
            <a:r>
              <a:rPr lang="en-US" b="1" dirty="0"/>
              <a:t>Sensor imperfections</a:t>
            </a:r>
            <a:r>
              <a:rPr lang="en-US" dirty="0"/>
              <a:t> (camera or scanner may respond differently in different regions).</a:t>
            </a:r>
          </a:p>
          <a:p>
            <a:pPr lvl="1"/>
            <a:r>
              <a:rPr lang="en-US" b="1" dirty="0"/>
              <a:t>Lens or optical effects</a:t>
            </a:r>
            <a:r>
              <a:rPr lang="en-US" dirty="0"/>
              <a:t> (vignetting in cameras).</a:t>
            </a:r>
          </a:p>
          <a:p>
            <a:r>
              <a:rPr lang="en-US" dirty="0"/>
              <a:t>If you take a photo of a white sheet of paper, ideally all pixels should have the same brightness.</a:t>
            </a:r>
          </a:p>
          <a:p>
            <a:r>
              <a:rPr lang="en-US" dirty="0"/>
              <a:t>But due to lighting or camera issues, some areas appear </a:t>
            </a:r>
            <a:r>
              <a:rPr lang="en-US" b="1" dirty="0"/>
              <a:t>darker</a:t>
            </a:r>
            <a:r>
              <a:rPr lang="en-US" dirty="0"/>
              <a:t> and some </a:t>
            </a:r>
            <a:r>
              <a:rPr lang="en-US" b="1" dirty="0"/>
              <a:t>brighter</a:t>
            </a:r>
            <a:r>
              <a:rPr lang="en-US" dirty="0"/>
              <a:t>.</a:t>
            </a:r>
          </a:p>
          <a:p>
            <a:r>
              <a:rPr lang="en-US" dirty="0"/>
              <a:t>This uneven brightness is called </a:t>
            </a:r>
            <a:r>
              <a:rPr lang="en-US" b="1" dirty="0"/>
              <a:t>shading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DBBD37-71E6-4ED7-BF70-CC616BD2F361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3541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DBBD37-71E6-4ED7-BF70-CC616BD2F361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5432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176019" y="926033"/>
            <a:ext cx="8969375" cy="75755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800" b="1" i="0">
                <a:solidFill>
                  <a:srgbClr val="404040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ct val="100000"/>
              </a:lnSpc>
            </a:pPr>
            <a:r>
              <a:rPr dirty="0"/>
              <a:t>23</a:t>
            </a:r>
            <a:r>
              <a:rPr spc="-5" dirty="0"/>
              <a:t> </a:t>
            </a:r>
            <a:r>
              <a:rPr dirty="0"/>
              <a:t>May</a:t>
            </a:r>
            <a:r>
              <a:rPr spc="-5" dirty="0"/>
              <a:t> </a:t>
            </a:r>
            <a:r>
              <a:rPr spc="-20" dirty="0"/>
              <a:t>2024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ct val="100000"/>
              </a:lnSpc>
            </a:pPr>
            <a:r>
              <a:rPr spc="-10" dirty="0"/>
              <a:t>MATHEMATICAL</a:t>
            </a:r>
            <a:r>
              <a:rPr spc="10" dirty="0"/>
              <a:t> </a:t>
            </a:r>
            <a:r>
              <a:rPr dirty="0"/>
              <a:t>TOOLS</a:t>
            </a:r>
            <a:r>
              <a:rPr spc="-15" dirty="0"/>
              <a:t> </a:t>
            </a:r>
            <a:r>
              <a:rPr dirty="0"/>
              <a:t>USED</a:t>
            </a:r>
            <a:r>
              <a:rPr spc="-30" dirty="0"/>
              <a:t> </a:t>
            </a:r>
            <a:r>
              <a:rPr dirty="0"/>
              <a:t>IN</a:t>
            </a:r>
            <a:r>
              <a:rPr spc="-30" dirty="0"/>
              <a:t> </a:t>
            </a:r>
            <a:r>
              <a:rPr dirty="0"/>
              <a:t>DIGITAL</a:t>
            </a:r>
            <a:r>
              <a:rPr spc="5" dirty="0"/>
              <a:t> </a:t>
            </a:r>
            <a:r>
              <a:rPr dirty="0"/>
              <a:t>IMAGE</a:t>
            </a:r>
            <a:r>
              <a:rPr spc="-5" dirty="0"/>
              <a:t> </a:t>
            </a:r>
            <a:r>
              <a:rPr spc="-10" dirty="0"/>
              <a:t>PROCESSING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50" b="0" i="0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255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800" b="1" i="0">
                <a:solidFill>
                  <a:srgbClr val="404040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ct val="100000"/>
              </a:lnSpc>
            </a:pPr>
            <a:r>
              <a:rPr dirty="0"/>
              <a:t>23</a:t>
            </a:r>
            <a:r>
              <a:rPr spc="-5" dirty="0"/>
              <a:t> </a:t>
            </a:r>
            <a:r>
              <a:rPr dirty="0"/>
              <a:t>May</a:t>
            </a:r>
            <a:r>
              <a:rPr spc="-5" dirty="0"/>
              <a:t> </a:t>
            </a:r>
            <a:r>
              <a:rPr spc="-20" dirty="0"/>
              <a:t>2024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ct val="100000"/>
              </a:lnSpc>
            </a:pPr>
            <a:r>
              <a:rPr spc="-10" dirty="0"/>
              <a:t>MATHEMATICAL</a:t>
            </a:r>
            <a:r>
              <a:rPr spc="10" dirty="0"/>
              <a:t> </a:t>
            </a:r>
            <a:r>
              <a:rPr dirty="0"/>
              <a:t>TOOLS</a:t>
            </a:r>
            <a:r>
              <a:rPr spc="-15" dirty="0"/>
              <a:t> </a:t>
            </a:r>
            <a:r>
              <a:rPr dirty="0"/>
              <a:t>USED</a:t>
            </a:r>
            <a:r>
              <a:rPr spc="-30" dirty="0"/>
              <a:t> </a:t>
            </a:r>
            <a:r>
              <a:rPr dirty="0"/>
              <a:t>IN</a:t>
            </a:r>
            <a:r>
              <a:rPr spc="-30" dirty="0"/>
              <a:t> </a:t>
            </a:r>
            <a:r>
              <a:rPr dirty="0"/>
              <a:t>DIGITAL</a:t>
            </a:r>
            <a:r>
              <a:rPr spc="5" dirty="0"/>
              <a:t> </a:t>
            </a:r>
            <a:r>
              <a:rPr dirty="0"/>
              <a:t>IMAGE</a:t>
            </a:r>
            <a:r>
              <a:rPr spc="-5" dirty="0"/>
              <a:t> </a:t>
            </a:r>
            <a:r>
              <a:rPr spc="-10" dirty="0"/>
              <a:t>PROCESSING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50" b="0" i="0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255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800" b="1" i="0">
                <a:solidFill>
                  <a:srgbClr val="404040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ct val="100000"/>
              </a:lnSpc>
            </a:pPr>
            <a:r>
              <a:rPr dirty="0"/>
              <a:t>23</a:t>
            </a:r>
            <a:r>
              <a:rPr spc="-5" dirty="0"/>
              <a:t> </a:t>
            </a:r>
            <a:r>
              <a:rPr dirty="0"/>
              <a:t>May</a:t>
            </a:r>
            <a:r>
              <a:rPr spc="-5" dirty="0"/>
              <a:t> </a:t>
            </a:r>
            <a:r>
              <a:rPr spc="-20" dirty="0"/>
              <a:t>2024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ct val="100000"/>
              </a:lnSpc>
            </a:pPr>
            <a:r>
              <a:rPr spc="-10" dirty="0"/>
              <a:t>MATHEMATICAL</a:t>
            </a:r>
            <a:r>
              <a:rPr spc="10" dirty="0"/>
              <a:t> </a:t>
            </a:r>
            <a:r>
              <a:rPr dirty="0"/>
              <a:t>TOOLS</a:t>
            </a:r>
            <a:r>
              <a:rPr spc="-15" dirty="0"/>
              <a:t> </a:t>
            </a:r>
            <a:r>
              <a:rPr dirty="0"/>
              <a:t>USED</a:t>
            </a:r>
            <a:r>
              <a:rPr spc="-30" dirty="0"/>
              <a:t> </a:t>
            </a:r>
            <a:r>
              <a:rPr dirty="0"/>
              <a:t>IN</a:t>
            </a:r>
            <a:r>
              <a:rPr spc="-30" dirty="0"/>
              <a:t> </a:t>
            </a:r>
            <a:r>
              <a:rPr dirty="0"/>
              <a:t>DIGITAL</a:t>
            </a:r>
            <a:r>
              <a:rPr spc="5" dirty="0"/>
              <a:t> </a:t>
            </a:r>
            <a:r>
              <a:rPr dirty="0"/>
              <a:t>IMAGE</a:t>
            </a:r>
            <a:r>
              <a:rPr spc="-5" dirty="0"/>
              <a:t> </a:t>
            </a:r>
            <a:r>
              <a:rPr spc="-10" dirty="0"/>
              <a:t>PROCESSING</a:t>
            </a: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50" b="0" i="0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255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800" b="1" i="0">
                <a:solidFill>
                  <a:srgbClr val="404040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ct val="100000"/>
              </a:lnSpc>
            </a:pPr>
            <a:r>
              <a:rPr dirty="0"/>
              <a:t>23</a:t>
            </a:r>
            <a:r>
              <a:rPr spc="-5" dirty="0"/>
              <a:t> </a:t>
            </a:r>
            <a:r>
              <a:rPr dirty="0"/>
              <a:t>May</a:t>
            </a:r>
            <a:r>
              <a:rPr spc="-5" dirty="0"/>
              <a:t> </a:t>
            </a:r>
            <a:r>
              <a:rPr spc="-20" dirty="0"/>
              <a:t>2024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ct val="100000"/>
              </a:lnSpc>
            </a:pPr>
            <a:r>
              <a:rPr spc="-10" dirty="0"/>
              <a:t>MATHEMATICAL</a:t>
            </a:r>
            <a:r>
              <a:rPr spc="10" dirty="0"/>
              <a:t> </a:t>
            </a:r>
            <a:r>
              <a:rPr dirty="0"/>
              <a:t>TOOLS</a:t>
            </a:r>
            <a:r>
              <a:rPr spc="-15" dirty="0"/>
              <a:t> </a:t>
            </a:r>
            <a:r>
              <a:rPr dirty="0"/>
              <a:t>USED</a:t>
            </a:r>
            <a:r>
              <a:rPr spc="-30" dirty="0"/>
              <a:t> </a:t>
            </a:r>
            <a:r>
              <a:rPr dirty="0"/>
              <a:t>IN</a:t>
            </a:r>
            <a:r>
              <a:rPr spc="-30" dirty="0"/>
              <a:t> </a:t>
            </a:r>
            <a:r>
              <a:rPr dirty="0"/>
              <a:t>DIGITAL</a:t>
            </a:r>
            <a:r>
              <a:rPr spc="5" dirty="0"/>
              <a:t> </a:t>
            </a:r>
            <a:r>
              <a:rPr dirty="0"/>
              <a:t>IMAGE</a:t>
            </a:r>
            <a:r>
              <a:rPr spc="-5" dirty="0"/>
              <a:t> </a:t>
            </a:r>
            <a:r>
              <a:rPr spc="-10" dirty="0"/>
              <a:t>PROCESSING</a:t>
            </a: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50" b="0" i="0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255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3047" y="6400799"/>
            <a:ext cx="12189460" cy="457200"/>
          </a:xfrm>
          <a:custGeom>
            <a:avLst/>
            <a:gdLst/>
            <a:ahLst/>
            <a:cxnLst/>
            <a:rect l="l" t="t" r="r" b="b"/>
            <a:pathLst>
              <a:path w="12189460" h="457200">
                <a:moveTo>
                  <a:pt x="12188952" y="0"/>
                </a:moveTo>
                <a:lnTo>
                  <a:pt x="0" y="0"/>
                </a:lnTo>
                <a:lnTo>
                  <a:pt x="0" y="457199"/>
                </a:lnTo>
                <a:lnTo>
                  <a:pt x="12188952" y="457199"/>
                </a:lnTo>
                <a:lnTo>
                  <a:pt x="12188952" y="0"/>
                </a:lnTo>
                <a:close/>
              </a:path>
            </a:pathLst>
          </a:custGeom>
          <a:solidFill>
            <a:srgbClr val="BC5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6333744"/>
            <a:ext cx="12189460" cy="64135"/>
          </a:xfrm>
          <a:custGeom>
            <a:avLst/>
            <a:gdLst/>
            <a:ahLst/>
            <a:cxnLst/>
            <a:rect l="l" t="t" r="r" b="b"/>
            <a:pathLst>
              <a:path w="12189460" h="64135">
                <a:moveTo>
                  <a:pt x="12188952" y="0"/>
                </a:moveTo>
                <a:lnTo>
                  <a:pt x="0" y="0"/>
                </a:lnTo>
                <a:lnTo>
                  <a:pt x="0" y="64007"/>
                </a:lnTo>
                <a:lnTo>
                  <a:pt x="12188952" y="64007"/>
                </a:lnTo>
                <a:lnTo>
                  <a:pt x="12188952" y="0"/>
                </a:lnTo>
                <a:close/>
              </a:path>
            </a:pathLst>
          </a:custGeom>
          <a:solidFill>
            <a:srgbClr val="E3831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1207008" y="4343400"/>
            <a:ext cx="9875520" cy="0"/>
          </a:xfrm>
          <a:custGeom>
            <a:avLst/>
            <a:gdLst/>
            <a:ahLst/>
            <a:cxnLst/>
            <a:rect l="l" t="t" r="r" b="b"/>
            <a:pathLst>
              <a:path w="9875520">
                <a:moveTo>
                  <a:pt x="0" y="0"/>
                </a:moveTo>
                <a:lnTo>
                  <a:pt x="9875520" y="0"/>
                </a:lnTo>
              </a:path>
            </a:pathLst>
          </a:custGeom>
          <a:ln w="6096">
            <a:solidFill>
              <a:srgbClr val="7E7E7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ct val="100000"/>
              </a:lnSpc>
            </a:pPr>
            <a:r>
              <a:rPr dirty="0"/>
              <a:t>23</a:t>
            </a:r>
            <a:r>
              <a:rPr spc="-5" dirty="0"/>
              <a:t> </a:t>
            </a:r>
            <a:r>
              <a:rPr dirty="0"/>
              <a:t>May</a:t>
            </a:r>
            <a:r>
              <a:rPr spc="-5" dirty="0"/>
              <a:t> </a:t>
            </a:r>
            <a:r>
              <a:rPr spc="-20" dirty="0"/>
              <a:t>2024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ct val="100000"/>
              </a:lnSpc>
            </a:pPr>
            <a:r>
              <a:rPr spc="-10" dirty="0"/>
              <a:t>MATHEMATICAL</a:t>
            </a:r>
            <a:r>
              <a:rPr spc="10" dirty="0"/>
              <a:t> </a:t>
            </a:r>
            <a:r>
              <a:rPr dirty="0"/>
              <a:t>TOOLS</a:t>
            </a:r>
            <a:r>
              <a:rPr spc="-15" dirty="0"/>
              <a:t> </a:t>
            </a:r>
            <a:r>
              <a:rPr dirty="0"/>
              <a:t>USED</a:t>
            </a:r>
            <a:r>
              <a:rPr spc="-30" dirty="0"/>
              <a:t> </a:t>
            </a:r>
            <a:r>
              <a:rPr dirty="0"/>
              <a:t>IN</a:t>
            </a:r>
            <a:r>
              <a:rPr spc="-30" dirty="0"/>
              <a:t> </a:t>
            </a:r>
            <a:r>
              <a:rPr dirty="0"/>
              <a:t>DIGITAL</a:t>
            </a:r>
            <a:r>
              <a:rPr spc="5" dirty="0"/>
              <a:t> </a:t>
            </a:r>
            <a:r>
              <a:rPr dirty="0"/>
              <a:t>IMAGE</a:t>
            </a:r>
            <a:r>
              <a:rPr spc="-5" dirty="0"/>
              <a:t> </a:t>
            </a:r>
            <a:r>
              <a:rPr spc="-10" dirty="0"/>
              <a:t>PROCESSING</a:t>
            </a: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50" b="0" i="0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255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6400799"/>
            <a:ext cx="12192000" cy="457200"/>
          </a:xfrm>
          <a:custGeom>
            <a:avLst/>
            <a:gdLst/>
            <a:ahLst/>
            <a:cxnLst/>
            <a:rect l="l" t="t" r="r" b="b"/>
            <a:pathLst>
              <a:path w="12192000" h="457200">
                <a:moveTo>
                  <a:pt x="12192000" y="0"/>
                </a:moveTo>
                <a:lnTo>
                  <a:pt x="0" y="0"/>
                </a:lnTo>
                <a:lnTo>
                  <a:pt x="0" y="457199"/>
                </a:lnTo>
                <a:lnTo>
                  <a:pt x="12192000" y="457199"/>
                </a:lnTo>
                <a:lnTo>
                  <a:pt x="12192000" y="0"/>
                </a:lnTo>
                <a:close/>
              </a:path>
            </a:pathLst>
          </a:custGeom>
          <a:solidFill>
            <a:srgbClr val="BC5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6333744"/>
            <a:ext cx="12192000" cy="67310"/>
          </a:xfrm>
          <a:custGeom>
            <a:avLst/>
            <a:gdLst/>
            <a:ahLst/>
            <a:cxnLst/>
            <a:rect l="l" t="t" r="r" b="b"/>
            <a:pathLst>
              <a:path w="12192000" h="67310">
                <a:moveTo>
                  <a:pt x="12192000" y="0"/>
                </a:moveTo>
                <a:lnTo>
                  <a:pt x="0" y="0"/>
                </a:lnTo>
                <a:lnTo>
                  <a:pt x="0" y="67055"/>
                </a:lnTo>
                <a:lnTo>
                  <a:pt x="12192000" y="67055"/>
                </a:lnTo>
                <a:lnTo>
                  <a:pt x="12192000" y="0"/>
                </a:lnTo>
                <a:close/>
              </a:path>
            </a:pathLst>
          </a:custGeom>
          <a:solidFill>
            <a:srgbClr val="E3831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1193291" y="1737360"/>
            <a:ext cx="9966960" cy="0"/>
          </a:xfrm>
          <a:custGeom>
            <a:avLst/>
            <a:gdLst/>
            <a:ahLst/>
            <a:cxnLst/>
            <a:rect l="l" t="t" r="r" b="b"/>
            <a:pathLst>
              <a:path w="9966960">
                <a:moveTo>
                  <a:pt x="0" y="0"/>
                </a:moveTo>
                <a:lnTo>
                  <a:pt x="9966960" y="0"/>
                </a:lnTo>
              </a:path>
            </a:pathLst>
          </a:custGeom>
          <a:ln w="6096">
            <a:solidFill>
              <a:srgbClr val="7E7E7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176019" y="926033"/>
            <a:ext cx="9749790" cy="76365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800" b="1" i="0">
                <a:solidFill>
                  <a:srgbClr val="404040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092450" y="3043301"/>
            <a:ext cx="6007734" cy="304672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176019" y="6570624"/>
            <a:ext cx="637539" cy="1524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ct val="100000"/>
              </a:lnSpc>
            </a:pPr>
            <a:r>
              <a:rPr dirty="0"/>
              <a:t>23</a:t>
            </a:r>
            <a:r>
              <a:rPr spc="-5" dirty="0"/>
              <a:t> </a:t>
            </a:r>
            <a:r>
              <a:rPr dirty="0"/>
              <a:t>May</a:t>
            </a:r>
            <a:r>
              <a:rPr spc="-5" dirty="0"/>
              <a:t> </a:t>
            </a:r>
            <a:r>
              <a:rPr spc="-20" dirty="0"/>
              <a:t>2024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372736" y="6570624"/>
            <a:ext cx="3451225" cy="1524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ct val="100000"/>
              </a:lnSpc>
            </a:pPr>
            <a:r>
              <a:rPr spc="-10" dirty="0"/>
              <a:t>MATHEMATICAL</a:t>
            </a:r>
            <a:r>
              <a:rPr spc="10" dirty="0"/>
              <a:t> </a:t>
            </a:r>
            <a:r>
              <a:rPr dirty="0"/>
              <a:t>TOOLS</a:t>
            </a:r>
            <a:r>
              <a:rPr spc="-15" dirty="0"/>
              <a:t> </a:t>
            </a:r>
            <a:r>
              <a:rPr dirty="0"/>
              <a:t>USED</a:t>
            </a:r>
            <a:r>
              <a:rPr spc="-30" dirty="0"/>
              <a:t> </a:t>
            </a:r>
            <a:r>
              <a:rPr dirty="0"/>
              <a:t>IN</a:t>
            </a:r>
            <a:r>
              <a:rPr spc="-30" dirty="0"/>
              <a:t> </a:t>
            </a:r>
            <a:r>
              <a:rPr dirty="0"/>
              <a:t>DIGITAL</a:t>
            </a:r>
            <a:r>
              <a:rPr spc="5" dirty="0"/>
              <a:t> </a:t>
            </a:r>
            <a:r>
              <a:rPr dirty="0"/>
              <a:t>IMAGE</a:t>
            </a:r>
            <a:r>
              <a:rPr spc="-5" dirty="0"/>
              <a:t> </a:t>
            </a:r>
            <a:r>
              <a:rPr spc="-10" dirty="0"/>
              <a:t>PROCESSING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0975593" y="6560927"/>
            <a:ext cx="198120" cy="1746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50" b="0" i="0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255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220874" y="1564937"/>
            <a:ext cx="10742525" cy="1382430"/>
          </a:xfrm>
          <a:prstGeom prst="rect">
            <a:avLst/>
          </a:prstGeom>
        </p:spPr>
        <p:txBody>
          <a:bodyPr vert="horz" wrap="square" lIns="0" tIns="124460" rIns="0" bIns="0" rtlCol="0">
            <a:spAutoFit/>
          </a:bodyPr>
          <a:lstStyle/>
          <a:p>
            <a:pPr marL="3720465" marR="5080" indent="-3708400">
              <a:lnSpc>
                <a:spcPts val="4900"/>
              </a:lnSpc>
              <a:spcBef>
                <a:spcPts val="980"/>
              </a:spcBef>
            </a:pPr>
            <a:r>
              <a:rPr lang="en-US" sz="4400" i="1" spc="-25" dirty="0">
                <a:solidFill>
                  <a:srgbClr val="252525"/>
                </a:solidFill>
                <a:latin typeface="Times New Roman"/>
                <a:cs typeface="Times New Roman"/>
              </a:rPr>
              <a:t>Chapter</a:t>
            </a:r>
            <a:r>
              <a:rPr lang="en-US" sz="4400" i="1" spc="-200" dirty="0">
                <a:solidFill>
                  <a:srgbClr val="252525"/>
                </a:solidFill>
                <a:latin typeface="Times New Roman"/>
                <a:cs typeface="Times New Roman"/>
              </a:rPr>
              <a:t> 2</a:t>
            </a:r>
            <a:r>
              <a:rPr lang="en-US" sz="4400" i="1" spc="-180" dirty="0">
                <a:solidFill>
                  <a:srgbClr val="252525"/>
                </a:solidFill>
                <a:latin typeface="Times New Roman"/>
                <a:cs typeface="Times New Roman"/>
              </a:rPr>
              <a:t> </a:t>
            </a:r>
            <a:r>
              <a:rPr lang="en-US" sz="4400" i="1" dirty="0">
                <a:solidFill>
                  <a:srgbClr val="252525"/>
                </a:solidFill>
                <a:latin typeface="Times New Roman"/>
                <a:cs typeface="Times New Roman"/>
              </a:rPr>
              <a:t>~</a:t>
            </a:r>
            <a:r>
              <a:rPr lang="en-US" sz="4400" i="1" spc="-170" dirty="0">
                <a:solidFill>
                  <a:srgbClr val="252525"/>
                </a:solidFill>
                <a:latin typeface="Times New Roman"/>
                <a:cs typeface="Times New Roman"/>
              </a:rPr>
              <a:t> </a:t>
            </a:r>
            <a:r>
              <a:rPr lang="en-US" sz="4400" i="1" spc="-60" dirty="0">
                <a:latin typeface="Times New Roman"/>
                <a:cs typeface="Times New Roman"/>
              </a:rPr>
              <a:t>Mathematical</a:t>
            </a:r>
            <a:r>
              <a:rPr lang="en-US" sz="4400" i="1" spc="-165" dirty="0">
                <a:latin typeface="Times New Roman"/>
                <a:cs typeface="Times New Roman"/>
              </a:rPr>
              <a:t> </a:t>
            </a:r>
            <a:r>
              <a:rPr lang="en-US" sz="4400" i="1" spc="-130" dirty="0">
                <a:latin typeface="Times New Roman"/>
                <a:cs typeface="Times New Roman"/>
              </a:rPr>
              <a:t>Tools</a:t>
            </a:r>
            <a:r>
              <a:rPr lang="en-US" sz="4400" i="1" spc="-120" dirty="0">
                <a:latin typeface="Times New Roman"/>
                <a:cs typeface="Times New Roman"/>
              </a:rPr>
              <a:t> </a:t>
            </a:r>
            <a:r>
              <a:rPr lang="en-US" sz="4400" i="1" dirty="0">
                <a:latin typeface="Times New Roman"/>
                <a:cs typeface="Times New Roman"/>
              </a:rPr>
              <a:t>in</a:t>
            </a:r>
            <a:r>
              <a:rPr lang="en-US" sz="4400" i="1" spc="-140" dirty="0">
                <a:latin typeface="Times New Roman"/>
                <a:cs typeface="Times New Roman"/>
              </a:rPr>
              <a:t> </a:t>
            </a:r>
            <a:r>
              <a:rPr lang="en-US" sz="4400" i="1" spc="-10" dirty="0">
                <a:latin typeface="Times New Roman"/>
                <a:cs typeface="Times New Roman"/>
              </a:rPr>
              <a:t>Digital </a:t>
            </a:r>
            <a:r>
              <a:rPr lang="en-US" sz="4400" i="1" spc="-40" dirty="0">
                <a:latin typeface="Times New Roman"/>
                <a:cs typeface="Times New Roman"/>
              </a:rPr>
              <a:t>Image</a:t>
            </a:r>
            <a:r>
              <a:rPr lang="en-US" sz="4400" i="1" spc="-210" dirty="0">
                <a:latin typeface="Times New Roman"/>
                <a:cs typeface="Times New Roman"/>
              </a:rPr>
              <a:t> </a:t>
            </a:r>
            <a:r>
              <a:rPr lang="en-US" sz="4400" i="1" spc="-10" dirty="0">
                <a:latin typeface="Times New Roman"/>
                <a:cs typeface="Times New Roman"/>
              </a:rPr>
              <a:t>Processing</a:t>
            </a:r>
            <a:endParaRPr sz="4400" dirty="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4267200" y="2963629"/>
            <a:ext cx="3657600" cy="126957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702310" algn="l">
              <a:spcBef>
                <a:spcPts val="100"/>
              </a:spcBef>
            </a:pPr>
            <a:r>
              <a:rPr lang="en-US" sz="2000" b="1" i="1" dirty="0">
                <a:latin typeface="Times New Roman"/>
                <a:cs typeface="Times New Roman"/>
              </a:rPr>
              <a:t>        Created By</a:t>
            </a:r>
          </a:p>
          <a:p>
            <a:pPr marL="12700" marR="5080" indent="702310" algn="l">
              <a:spcBef>
                <a:spcPts val="100"/>
              </a:spcBef>
            </a:pPr>
            <a:r>
              <a:rPr lang="en-US" sz="2000" b="1" i="1" dirty="0">
                <a:latin typeface="Times New Roman"/>
                <a:cs typeface="Times New Roman"/>
              </a:rPr>
              <a:t>            </a:t>
            </a:r>
            <a:r>
              <a:rPr lang="en-US" sz="2000" b="1" i="1" dirty="0" err="1">
                <a:latin typeface="Times New Roman"/>
                <a:cs typeface="Times New Roman"/>
              </a:rPr>
              <a:t>Utsha</a:t>
            </a:r>
            <a:r>
              <a:rPr lang="en-US" sz="2000" b="1" i="1" dirty="0">
                <a:latin typeface="Times New Roman"/>
                <a:cs typeface="Times New Roman"/>
              </a:rPr>
              <a:t> Das</a:t>
            </a:r>
          </a:p>
          <a:p>
            <a:pPr marL="12700" marR="5080" indent="702310" algn="l">
              <a:spcBef>
                <a:spcPts val="100"/>
              </a:spcBef>
            </a:pPr>
            <a:r>
              <a:rPr lang="en-US" sz="2000" b="1" i="1" dirty="0">
                <a:latin typeface="Times New Roman"/>
                <a:cs typeface="Times New Roman"/>
              </a:rPr>
              <a:t>Lecturer, Dept. of CSE </a:t>
            </a:r>
            <a:r>
              <a:rPr sz="2000" i="1" spc="-10" dirty="0">
                <a:latin typeface="Times New Roman"/>
                <a:cs typeface="Times New Roman"/>
              </a:rPr>
              <a:t>RUET,</a:t>
            </a:r>
            <a:r>
              <a:rPr sz="2000" i="1" spc="-30" dirty="0">
                <a:latin typeface="Times New Roman"/>
                <a:cs typeface="Times New Roman"/>
              </a:rPr>
              <a:t> </a:t>
            </a:r>
            <a:r>
              <a:rPr sz="2000" i="1" spc="-10" dirty="0">
                <a:latin typeface="Times New Roman"/>
                <a:cs typeface="Times New Roman"/>
              </a:rPr>
              <a:t>Rajshahi-</a:t>
            </a:r>
            <a:r>
              <a:rPr sz="2000" i="1" dirty="0">
                <a:latin typeface="Times New Roman"/>
                <a:cs typeface="Times New Roman"/>
              </a:rPr>
              <a:t>6204,</a:t>
            </a:r>
            <a:r>
              <a:rPr sz="2000" i="1" spc="-60" dirty="0">
                <a:latin typeface="Times New Roman"/>
                <a:cs typeface="Times New Roman"/>
              </a:rPr>
              <a:t> </a:t>
            </a:r>
            <a:r>
              <a:rPr sz="2000" i="1" spc="-10" dirty="0">
                <a:latin typeface="Times New Roman"/>
                <a:cs typeface="Times New Roman"/>
              </a:rPr>
              <a:t>Bangladesh.</a:t>
            </a:r>
            <a:endParaRPr sz="2000" dirty="0">
              <a:latin typeface="Times New Roman"/>
              <a:cs typeface="Times New Roman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AB86DCF-6AF3-867F-E1AB-83DBF3F76FBF}"/>
              </a:ext>
            </a:extLst>
          </p:cNvPr>
          <p:cNvSpPr txBox="1"/>
          <p:nvPr/>
        </p:nvSpPr>
        <p:spPr>
          <a:xfrm>
            <a:off x="4471997" y="4361379"/>
            <a:ext cx="3248005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Modified by </a:t>
            </a:r>
          </a:p>
          <a:p>
            <a:pPr algn="ctr"/>
            <a:r>
              <a:rPr lang="en-US" sz="20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Md. Manirujjaman</a:t>
            </a:r>
          </a:p>
          <a:p>
            <a:pPr algn="ctr"/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Lecturer, Dept. of CSE</a:t>
            </a:r>
          </a:p>
          <a:p>
            <a:pPr algn="ctr"/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DIU, </a:t>
            </a:r>
            <a:r>
              <a:rPr lang="en-US" sz="20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Satarkul</a:t>
            </a: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Badda, Dhaka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CD3B348-3B74-9514-55D4-C1104B33D07C}"/>
              </a:ext>
            </a:extLst>
          </p:cNvPr>
          <p:cNvCxnSpPr>
            <a:cxnSpLocks/>
          </p:cNvCxnSpPr>
          <p:nvPr/>
        </p:nvCxnSpPr>
        <p:spPr>
          <a:xfrm>
            <a:off x="1220875" y="1599777"/>
            <a:ext cx="94488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2F2B834-8331-0306-4C57-5805F75B9F52}"/>
              </a:ext>
            </a:extLst>
          </p:cNvPr>
          <p:cNvCxnSpPr>
            <a:cxnSpLocks/>
          </p:cNvCxnSpPr>
          <p:nvPr/>
        </p:nvCxnSpPr>
        <p:spPr>
          <a:xfrm>
            <a:off x="3581400" y="2960396"/>
            <a:ext cx="4724400" cy="323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026" name="Picture 2" descr="DIU Logo">
            <a:extLst>
              <a:ext uri="{FF2B5EF4-FFF2-40B4-BE49-F238E27FC236}">
                <a16:creationId xmlns:a16="http://schemas.microsoft.com/office/drawing/2014/main" id="{5FD7247E-B3C0-280A-34B4-0A9709A88E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4600" y="34413"/>
            <a:ext cx="7948982" cy="15763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Array</a:t>
            </a:r>
            <a:r>
              <a:rPr spc="-270" dirty="0"/>
              <a:t> </a:t>
            </a:r>
            <a:r>
              <a:rPr spc="-25" dirty="0"/>
              <a:t>versus</a:t>
            </a:r>
            <a:r>
              <a:rPr spc="-260" dirty="0"/>
              <a:t> </a:t>
            </a:r>
            <a:r>
              <a:rPr spc="-20" dirty="0"/>
              <a:t>Matrix</a:t>
            </a:r>
            <a:r>
              <a:rPr spc="-260" dirty="0"/>
              <a:t> </a:t>
            </a:r>
            <a:r>
              <a:rPr spc="-30" dirty="0"/>
              <a:t>Operation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dirty="0"/>
              <a:t>23</a:t>
            </a:r>
            <a:r>
              <a:rPr spc="-5" dirty="0"/>
              <a:t> </a:t>
            </a:r>
            <a:r>
              <a:rPr dirty="0"/>
              <a:t>May</a:t>
            </a:r>
            <a:r>
              <a:rPr spc="-5" dirty="0"/>
              <a:t> </a:t>
            </a:r>
            <a:r>
              <a:rPr spc="-20" dirty="0"/>
              <a:t>2024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pc="-10" dirty="0"/>
              <a:t>MATHEMATICAL</a:t>
            </a:r>
            <a:r>
              <a:rPr spc="10" dirty="0"/>
              <a:t> </a:t>
            </a:r>
            <a:r>
              <a:rPr dirty="0"/>
              <a:t>TOOLS</a:t>
            </a:r>
            <a:r>
              <a:rPr spc="-15" dirty="0"/>
              <a:t> </a:t>
            </a:r>
            <a:r>
              <a:rPr dirty="0"/>
              <a:t>USED</a:t>
            </a:r>
            <a:r>
              <a:rPr spc="-30" dirty="0"/>
              <a:t> </a:t>
            </a:r>
            <a:r>
              <a:rPr dirty="0"/>
              <a:t>IN</a:t>
            </a:r>
            <a:r>
              <a:rPr spc="-30" dirty="0"/>
              <a:t> </a:t>
            </a:r>
            <a:r>
              <a:rPr dirty="0"/>
              <a:t>DIGITAL</a:t>
            </a:r>
            <a:r>
              <a:rPr spc="5" dirty="0"/>
              <a:t> </a:t>
            </a:r>
            <a:r>
              <a:rPr dirty="0"/>
              <a:t>IMAGE</a:t>
            </a:r>
            <a:r>
              <a:rPr spc="-5" dirty="0"/>
              <a:t> </a:t>
            </a:r>
            <a:r>
              <a:rPr spc="-10" dirty="0"/>
              <a:t>PROCESSING</a:t>
            </a:r>
          </a:p>
        </p:txBody>
      </p:sp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55"/>
              </a:lnSpc>
            </a:pPr>
            <a:fld id="{81D60167-4931-47E6-BA6A-407CBD079E47}" type="slidenum">
              <a:rPr spc="-25" dirty="0"/>
              <a:t>2</a:t>
            </a:fld>
            <a:endParaRPr spc="-25" dirty="0"/>
          </a:p>
        </p:txBody>
      </p:sp>
      <p:sp>
        <p:nvSpPr>
          <p:cNvPr id="3" name="object 3"/>
          <p:cNvSpPr txBox="1"/>
          <p:nvPr/>
        </p:nvSpPr>
        <p:spPr>
          <a:xfrm>
            <a:off x="1084580" y="1967306"/>
            <a:ext cx="10086340" cy="269430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39395" indent="-226695">
              <a:lnSpc>
                <a:spcPct val="100000"/>
              </a:lnSpc>
              <a:spcBef>
                <a:spcPts val="105"/>
              </a:spcBef>
              <a:buClr>
                <a:srgbClr val="E38312"/>
              </a:buClr>
              <a:buSzPct val="95000"/>
              <a:buFont typeface="Wingdings"/>
              <a:buChar char=""/>
              <a:tabLst>
                <a:tab pos="239395" algn="l"/>
              </a:tabLst>
            </a:pP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Images</a:t>
            </a:r>
            <a:r>
              <a:rPr sz="2000" spc="-2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can</a:t>
            </a:r>
            <a:r>
              <a:rPr sz="2000" spc="-1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be</a:t>
            </a:r>
            <a:r>
              <a:rPr sz="2000" spc="-2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viewed</a:t>
            </a:r>
            <a:r>
              <a:rPr sz="2000" spc="-2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as</a:t>
            </a:r>
            <a:r>
              <a:rPr sz="2000" spc="-1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array</a:t>
            </a:r>
            <a:r>
              <a:rPr sz="2000" spc="-3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of</a:t>
            </a:r>
            <a:r>
              <a:rPr sz="2000" spc="-2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spc="-10" dirty="0">
                <a:solidFill>
                  <a:srgbClr val="404040"/>
                </a:solidFill>
                <a:latin typeface="Times New Roman"/>
                <a:cs typeface="Times New Roman"/>
              </a:rPr>
              <a:t>pixels.</a:t>
            </a:r>
            <a:endParaRPr sz="20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305"/>
              </a:spcBef>
              <a:buClr>
                <a:srgbClr val="E38312"/>
              </a:buClr>
              <a:buFont typeface="Wingdings"/>
              <a:buChar char=""/>
            </a:pPr>
            <a:endParaRPr sz="2000">
              <a:latin typeface="Times New Roman"/>
              <a:cs typeface="Times New Roman"/>
            </a:endParaRPr>
          </a:p>
          <a:p>
            <a:pPr marL="239395" indent="-227329">
              <a:lnSpc>
                <a:spcPct val="100000"/>
              </a:lnSpc>
              <a:buClr>
                <a:srgbClr val="E38312"/>
              </a:buClr>
              <a:buSzPct val="95000"/>
              <a:buFont typeface="Wingdings"/>
              <a:buChar char=""/>
              <a:tabLst>
                <a:tab pos="239395" algn="l"/>
              </a:tabLst>
            </a:pP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An</a:t>
            </a:r>
            <a:r>
              <a:rPr sz="2000" spc="-1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array</a:t>
            </a:r>
            <a:r>
              <a:rPr sz="2000" spc="-3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operation</a:t>
            </a:r>
            <a:r>
              <a:rPr sz="2000" spc="-3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involves</a:t>
            </a:r>
            <a:r>
              <a:rPr sz="2000" spc="-4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one</a:t>
            </a:r>
            <a:r>
              <a:rPr sz="2000" spc="-3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or</a:t>
            </a:r>
            <a:r>
              <a:rPr sz="2000" spc="-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more</a:t>
            </a:r>
            <a:r>
              <a:rPr sz="2000" spc="-1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images is</a:t>
            </a:r>
            <a:r>
              <a:rPr sz="2000" spc="-1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carried</a:t>
            </a:r>
            <a:r>
              <a:rPr sz="2000" spc="-3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out</a:t>
            </a:r>
            <a:r>
              <a:rPr sz="2000" spc="-2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on</a:t>
            </a:r>
            <a:r>
              <a:rPr sz="2000" spc="-2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a pixel</a:t>
            </a:r>
            <a:r>
              <a:rPr sz="2000" spc="-3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by</a:t>
            </a:r>
            <a:r>
              <a:rPr sz="2000" spc="-1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pixel</a:t>
            </a:r>
            <a:r>
              <a:rPr sz="2000" spc="-2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spc="-10" dirty="0">
                <a:solidFill>
                  <a:srgbClr val="404040"/>
                </a:solidFill>
                <a:latin typeface="Times New Roman"/>
                <a:cs typeface="Times New Roman"/>
              </a:rPr>
              <a:t>basis.</a:t>
            </a:r>
            <a:endParaRPr sz="20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90"/>
              </a:spcBef>
              <a:buClr>
                <a:srgbClr val="E38312"/>
              </a:buClr>
              <a:buFont typeface="Wingdings"/>
              <a:buChar char=""/>
            </a:pPr>
            <a:endParaRPr sz="2000">
              <a:latin typeface="Times New Roman"/>
              <a:cs typeface="Times New Roman"/>
            </a:endParaRPr>
          </a:p>
          <a:p>
            <a:pPr marL="239395" indent="-226695">
              <a:lnSpc>
                <a:spcPct val="100000"/>
              </a:lnSpc>
              <a:spcBef>
                <a:spcPts val="5"/>
              </a:spcBef>
              <a:buClr>
                <a:srgbClr val="E38312"/>
              </a:buClr>
              <a:buSzPct val="95000"/>
              <a:buFont typeface="Wingdings"/>
              <a:buChar char=""/>
              <a:tabLst>
                <a:tab pos="239395" algn="l"/>
              </a:tabLst>
            </a:pP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Images</a:t>
            </a:r>
            <a:r>
              <a:rPr sz="2000" spc="-3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can</a:t>
            </a:r>
            <a:r>
              <a:rPr sz="2000" spc="-1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also</a:t>
            </a:r>
            <a:r>
              <a:rPr sz="2000" spc="-3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be</a:t>
            </a:r>
            <a:r>
              <a:rPr sz="2000" spc="-2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viewed</a:t>
            </a:r>
            <a:r>
              <a:rPr sz="2000" spc="-2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equivalently</a:t>
            </a:r>
            <a:r>
              <a:rPr sz="2000" spc="-4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as</a:t>
            </a:r>
            <a:r>
              <a:rPr sz="2000" spc="-2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spc="-10" dirty="0">
                <a:solidFill>
                  <a:srgbClr val="404040"/>
                </a:solidFill>
                <a:latin typeface="Times New Roman"/>
                <a:cs typeface="Times New Roman"/>
              </a:rPr>
              <a:t>matrices.</a:t>
            </a:r>
            <a:endParaRPr sz="2000">
              <a:latin typeface="Times New Roman"/>
              <a:cs typeface="Times New Roman"/>
            </a:endParaRPr>
          </a:p>
          <a:p>
            <a:pPr marL="103505" marR="5080" indent="-92075">
              <a:lnSpc>
                <a:spcPct val="150000"/>
              </a:lnSpc>
              <a:spcBef>
                <a:spcPts val="1405"/>
              </a:spcBef>
              <a:buClr>
                <a:srgbClr val="E38312"/>
              </a:buClr>
              <a:buSzPct val="95000"/>
              <a:buFont typeface="Wingdings"/>
              <a:buChar char=""/>
              <a:tabLst>
                <a:tab pos="103505" algn="l"/>
                <a:tab pos="238760" algn="l"/>
              </a:tabLst>
            </a:pP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	There</a:t>
            </a:r>
            <a:r>
              <a:rPr sz="2000" spc="33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are</a:t>
            </a:r>
            <a:r>
              <a:rPr sz="2000" spc="33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many</a:t>
            </a:r>
            <a:r>
              <a:rPr sz="2000" spc="34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situations</a:t>
            </a:r>
            <a:r>
              <a:rPr sz="2000" spc="33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in</a:t>
            </a:r>
            <a:r>
              <a:rPr sz="2000" spc="33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which</a:t>
            </a:r>
            <a:r>
              <a:rPr sz="2000" spc="32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operations</a:t>
            </a:r>
            <a:r>
              <a:rPr sz="2000" spc="33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between</a:t>
            </a:r>
            <a:r>
              <a:rPr sz="2000" spc="33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images</a:t>
            </a:r>
            <a:r>
              <a:rPr sz="2000" spc="35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are</a:t>
            </a:r>
            <a:r>
              <a:rPr sz="2000" spc="34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carried</a:t>
            </a:r>
            <a:r>
              <a:rPr sz="2000" spc="34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out</a:t>
            </a:r>
            <a:r>
              <a:rPr sz="2000" spc="32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using</a:t>
            </a:r>
            <a:r>
              <a:rPr sz="2000" spc="33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spc="-10" dirty="0">
                <a:solidFill>
                  <a:srgbClr val="404040"/>
                </a:solidFill>
                <a:latin typeface="Times New Roman"/>
                <a:cs typeface="Times New Roman"/>
              </a:rPr>
              <a:t>matrix theory.</a:t>
            </a:r>
            <a:endParaRPr sz="20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176019" y="1861184"/>
            <a:ext cx="46475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Times New Roman"/>
                <a:cs typeface="Times New Roman"/>
              </a:rPr>
              <a:t>-</a:t>
            </a:r>
            <a:r>
              <a:rPr sz="1800" spc="-3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For</a:t>
            </a:r>
            <a:r>
              <a:rPr sz="1800" spc="-2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example,</a:t>
            </a:r>
            <a:r>
              <a:rPr sz="1800" spc="-2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consider</a:t>
            </a:r>
            <a:r>
              <a:rPr sz="1800" spc="-2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the</a:t>
            </a:r>
            <a:r>
              <a:rPr sz="1800" spc="-4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following</a:t>
            </a:r>
            <a:r>
              <a:rPr sz="1800" spc="-3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2x2</a:t>
            </a:r>
            <a:r>
              <a:rPr sz="1800" spc="-20" dirty="0">
                <a:latin typeface="Times New Roman"/>
                <a:cs typeface="Times New Roman"/>
              </a:rPr>
              <a:t> </a:t>
            </a:r>
            <a:r>
              <a:rPr sz="1800" spc="-10" dirty="0">
                <a:latin typeface="Times New Roman"/>
                <a:cs typeface="Times New Roman"/>
              </a:rPr>
              <a:t>images:</a:t>
            </a:r>
            <a:endParaRPr sz="1800">
              <a:latin typeface="Times New Roman"/>
              <a:cs typeface="Times New Roman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904257" y="2665860"/>
            <a:ext cx="4380265" cy="1502179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883999" y="4729825"/>
            <a:ext cx="4826029" cy="785945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Array</a:t>
            </a:r>
            <a:r>
              <a:rPr spc="-270" dirty="0"/>
              <a:t> </a:t>
            </a:r>
            <a:r>
              <a:rPr spc="-25" dirty="0"/>
              <a:t>versus</a:t>
            </a:r>
            <a:r>
              <a:rPr spc="-260" dirty="0"/>
              <a:t> </a:t>
            </a:r>
            <a:r>
              <a:rPr spc="-20" dirty="0"/>
              <a:t>Matrix</a:t>
            </a:r>
            <a:r>
              <a:rPr spc="-260" dirty="0"/>
              <a:t> </a:t>
            </a:r>
            <a:r>
              <a:rPr spc="-30" dirty="0"/>
              <a:t>Operation</a:t>
            </a:r>
          </a:p>
        </p:txBody>
      </p:sp>
      <p:sp>
        <p:nvSpPr>
          <p:cNvPr id="6" name="object 6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dirty="0"/>
              <a:t>23</a:t>
            </a:r>
            <a:r>
              <a:rPr spc="-5" dirty="0"/>
              <a:t> </a:t>
            </a:r>
            <a:r>
              <a:rPr dirty="0"/>
              <a:t>May</a:t>
            </a:r>
            <a:r>
              <a:rPr spc="-5" dirty="0"/>
              <a:t> </a:t>
            </a:r>
            <a:r>
              <a:rPr spc="-20" dirty="0"/>
              <a:t>2024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pc="-10" dirty="0"/>
              <a:t>MATHEMATICAL</a:t>
            </a:r>
            <a:r>
              <a:rPr spc="10" dirty="0"/>
              <a:t> </a:t>
            </a:r>
            <a:r>
              <a:rPr dirty="0"/>
              <a:t>TOOLS</a:t>
            </a:r>
            <a:r>
              <a:rPr spc="-15" dirty="0"/>
              <a:t> </a:t>
            </a:r>
            <a:r>
              <a:rPr dirty="0"/>
              <a:t>USED</a:t>
            </a:r>
            <a:r>
              <a:rPr spc="-30" dirty="0"/>
              <a:t> </a:t>
            </a:r>
            <a:r>
              <a:rPr dirty="0"/>
              <a:t>IN</a:t>
            </a:r>
            <a:r>
              <a:rPr spc="-30" dirty="0"/>
              <a:t> </a:t>
            </a:r>
            <a:r>
              <a:rPr dirty="0"/>
              <a:t>DIGITAL</a:t>
            </a:r>
            <a:r>
              <a:rPr spc="5" dirty="0"/>
              <a:t> </a:t>
            </a:r>
            <a:r>
              <a:rPr dirty="0"/>
              <a:t>IMAGE</a:t>
            </a:r>
            <a:r>
              <a:rPr spc="-5" dirty="0"/>
              <a:t> </a:t>
            </a:r>
            <a:r>
              <a:rPr spc="-10" dirty="0"/>
              <a:t>PROCESSING</a:t>
            </a:r>
          </a:p>
        </p:txBody>
      </p:sp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55"/>
              </a:lnSpc>
            </a:pPr>
            <a:fld id="{81D60167-4931-47E6-BA6A-407CBD079E47}" type="slidenum">
              <a:rPr spc="-25" dirty="0"/>
              <a:t>3</a:t>
            </a:fld>
            <a:endParaRPr spc="-2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Array</a:t>
            </a:r>
            <a:r>
              <a:rPr spc="-270" dirty="0"/>
              <a:t> </a:t>
            </a:r>
            <a:r>
              <a:rPr spc="-25" dirty="0"/>
              <a:t>versus</a:t>
            </a:r>
            <a:r>
              <a:rPr spc="-260" dirty="0"/>
              <a:t> </a:t>
            </a:r>
            <a:r>
              <a:rPr spc="-20" dirty="0"/>
              <a:t>Matrix</a:t>
            </a:r>
            <a:r>
              <a:rPr spc="-260" dirty="0"/>
              <a:t> </a:t>
            </a:r>
            <a:r>
              <a:rPr spc="-30" dirty="0"/>
              <a:t>Operation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084580" y="1953590"/>
            <a:ext cx="4966335" cy="315150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04470" indent="-193675" algn="just">
              <a:lnSpc>
                <a:spcPct val="100000"/>
              </a:lnSpc>
              <a:spcBef>
                <a:spcPts val="105"/>
              </a:spcBef>
              <a:buClr>
                <a:srgbClr val="E38312"/>
              </a:buClr>
              <a:buSzPct val="94117"/>
              <a:buFont typeface="Wingdings"/>
              <a:buChar char=""/>
              <a:tabLst>
                <a:tab pos="204470" algn="l"/>
              </a:tabLst>
            </a:pPr>
            <a:r>
              <a:rPr sz="1700" spc="-50" dirty="0">
                <a:solidFill>
                  <a:srgbClr val="404040"/>
                </a:solidFill>
                <a:latin typeface="Times New Roman"/>
                <a:cs typeface="Times New Roman"/>
              </a:rPr>
              <a:t>We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assume</a:t>
            </a:r>
            <a:r>
              <a:rPr sz="1700" spc="-3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b="1" dirty="0">
                <a:solidFill>
                  <a:srgbClr val="404040"/>
                </a:solidFill>
                <a:latin typeface="Times New Roman"/>
                <a:cs typeface="Times New Roman"/>
              </a:rPr>
              <a:t>array</a:t>
            </a:r>
            <a:r>
              <a:rPr sz="1700" b="1" spc="-4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b="1" dirty="0">
                <a:solidFill>
                  <a:srgbClr val="404040"/>
                </a:solidFill>
                <a:latin typeface="Times New Roman"/>
                <a:cs typeface="Times New Roman"/>
              </a:rPr>
              <a:t>operations</a:t>
            </a:r>
            <a:r>
              <a:rPr sz="1700" b="1" spc="-3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throughout</a:t>
            </a:r>
            <a:r>
              <a:rPr sz="1700" spc="-4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the</a:t>
            </a:r>
            <a:r>
              <a:rPr sz="1700" spc="-3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spc="-10" dirty="0">
                <a:solidFill>
                  <a:srgbClr val="404040"/>
                </a:solidFill>
                <a:latin typeface="Times New Roman"/>
                <a:cs typeface="Times New Roman"/>
              </a:rPr>
              <a:t>course:</a:t>
            </a:r>
            <a:endParaRPr sz="17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470"/>
              </a:spcBef>
              <a:buClr>
                <a:srgbClr val="E38312"/>
              </a:buClr>
              <a:buFont typeface="Wingdings"/>
              <a:buChar char=""/>
            </a:pPr>
            <a:endParaRPr sz="1700">
              <a:latin typeface="Times New Roman"/>
              <a:cs typeface="Times New Roman"/>
            </a:endParaRPr>
          </a:p>
          <a:p>
            <a:pPr marL="12700" algn="just">
              <a:lnSpc>
                <a:spcPct val="100000"/>
              </a:lnSpc>
            </a:pP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For</a:t>
            </a:r>
            <a:r>
              <a:rPr sz="1700" spc="-1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spc="-10" dirty="0">
                <a:solidFill>
                  <a:srgbClr val="404040"/>
                </a:solidFill>
                <a:latin typeface="Times New Roman"/>
                <a:cs typeface="Times New Roman"/>
              </a:rPr>
              <a:t>example,</a:t>
            </a:r>
            <a:endParaRPr sz="1700">
              <a:latin typeface="Times New Roman"/>
              <a:cs typeface="Times New Roman"/>
            </a:endParaRPr>
          </a:p>
          <a:p>
            <a:pPr marL="103505" marR="5080" indent="-91440" algn="just">
              <a:lnSpc>
                <a:spcPct val="150100"/>
              </a:lnSpc>
              <a:spcBef>
                <a:spcPts val="1405"/>
              </a:spcBef>
              <a:buClr>
                <a:srgbClr val="E38312"/>
              </a:buClr>
              <a:buSzPct val="94117"/>
              <a:buFont typeface="Wingdings"/>
              <a:buChar char=""/>
              <a:tabLst>
                <a:tab pos="103505" algn="l"/>
                <a:tab pos="254000" algn="l"/>
              </a:tabLst>
            </a:pP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	When</a:t>
            </a:r>
            <a:r>
              <a:rPr sz="1700" spc="28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we</a:t>
            </a:r>
            <a:r>
              <a:rPr sz="1700" spc="28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refer</a:t>
            </a:r>
            <a:r>
              <a:rPr sz="1700" spc="28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to</a:t>
            </a:r>
            <a:r>
              <a:rPr sz="1700" spc="29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raising</a:t>
            </a:r>
            <a:r>
              <a:rPr sz="1700" spc="30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an</a:t>
            </a:r>
            <a:r>
              <a:rPr sz="1700" spc="29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image</a:t>
            </a:r>
            <a:r>
              <a:rPr sz="1700" spc="29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to</a:t>
            </a:r>
            <a:r>
              <a:rPr sz="1700" spc="28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a</a:t>
            </a:r>
            <a:r>
              <a:rPr sz="1700" spc="29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power,</a:t>
            </a:r>
            <a:r>
              <a:rPr sz="1700" spc="28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spc="-25" dirty="0">
                <a:solidFill>
                  <a:srgbClr val="404040"/>
                </a:solidFill>
                <a:latin typeface="Times New Roman"/>
                <a:cs typeface="Times New Roman"/>
              </a:rPr>
              <a:t>we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mean</a:t>
            </a:r>
            <a:r>
              <a:rPr sz="1700" spc="-2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that</a:t>
            </a:r>
            <a:r>
              <a:rPr sz="1700" spc="-2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each</a:t>
            </a:r>
            <a:r>
              <a:rPr sz="1700" spc="-4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individual</a:t>
            </a:r>
            <a:r>
              <a:rPr sz="1700" spc="-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pixel</a:t>
            </a:r>
            <a:r>
              <a:rPr sz="1700" spc="-2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is</a:t>
            </a:r>
            <a:r>
              <a:rPr sz="1700" spc="-1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raised</a:t>
            </a:r>
            <a:r>
              <a:rPr sz="1700" spc="-2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to</a:t>
            </a:r>
            <a:r>
              <a:rPr sz="1700" spc="-2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that</a:t>
            </a:r>
            <a:r>
              <a:rPr sz="1700" spc="-1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spc="-10" dirty="0">
                <a:solidFill>
                  <a:srgbClr val="404040"/>
                </a:solidFill>
                <a:latin typeface="Times New Roman"/>
                <a:cs typeface="Times New Roman"/>
              </a:rPr>
              <a:t>power;</a:t>
            </a:r>
            <a:endParaRPr sz="1700">
              <a:latin typeface="Times New Roman"/>
              <a:cs typeface="Times New Roman"/>
            </a:endParaRPr>
          </a:p>
          <a:p>
            <a:pPr marL="103505" marR="6350" indent="-91440" algn="just">
              <a:lnSpc>
                <a:spcPct val="150000"/>
              </a:lnSpc>
              <a:spcBef>
                <a:spcPts val="1390"/>
              </a:spcBef>
              <a:buClr>
                <a:srgbClr val="E38312"/>
              </a:buClr>
              <a:buSzPct val="94117"/>
              <a:buFont typeface="Wingdings"/>
              <a:buChar char=""/>
              <a:tabLst>
                <a:tab pos="103505" algn="l"/>
                <a:tab pos="254000" algn="l"/>
              </a:tabLst>
            </a:pP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	When</a:t>
            </a:r>
            <a:r>
              <a:rPr sz="1700" spc="19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we</a:t>
            </a:r>
            <a:r>
              <a:rPr sz="1700" spc="204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refer</a:t>
            </a:r>
            <a:r>
              <a:rPr sz="1700" spc="19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to</a:t>
            </a:r>
            <a:r>
              <a:rPr sz="1700" spc="21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dividing</a:t>
            </a:r>
            <a:r>
              <a:rPr sz="1700" spc="204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an</a:t>
            </a:r>
            <a:r>
              <a:rPr sz="1700" spc="21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image</a:t>
            </a:r>
            <a:r>
              <a:rPr sz="1700" spc="20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by</a:t>
            </a:r>
            <a:r>
              <a:rPr sz="1700" spc="19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another,</a:t>
            </a:r>
            <a:r>
              <a:rPr sz="1700" spc="21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spc="-25" dirty="0">
                <a:solidFill>
                  <a:srgbClr val="404040"/>
                </a:solidFill>
                <a:latin typeface="Times New Roman"/>
                <a:cs typeface="Times New Roman"/>
              </a:rPr>
              <a:t>we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mean</a:t>
            </a:r>
            <a:r>
              <a:rPr sz="1700" spc="18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that</a:t>
            </a:r>
            <a:r>
              <a:rPr sz="1700" spc="19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the</a:t>
            </a:r>
            <a:r>
              <a:rPr sz="1700" spc="18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division</a:t>
            </a:r>
            <a:r>
              <a:rPr sz="1700" spc="19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is</a:t>
            </a:r>
            <a:r>
              <a:rPr sz="1700" spc="19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between</a:t>
            </a:r>
            <a:r>
              <a:rPr sz="1700" spc="19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corresponding</a:t>
            </a:r>
            <a:r>
              <a:rPr sz="1700" spc="19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spc="-10" dirty="0">
                <a:solidFill>
                  <a:srgbClr val="404040"/>
                </a:solidFill>
                <a:latin typeface="Times New Roman"/>
                <a:cs typeface="Times New Roman"/>
              </a:rPr>
              <a:t>pixel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pairs,</a:t>
            </a:r>
            <a:r>
              <a:rPr sz="1700" spc="-1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and</a:t>
            </a:r>
            <a:r>
              <a:rPr sz="1700" spc="-3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so </a:t>
            </a:r>
            <a:r>
              <a:rPr sz="1700" spc="-25" dirty="0">
                <a:solidFill>
                  <a:srgbClr val="404040"/>
                </a:solidFill>
                <a:latin typeface="Times New Roman"/>
                <a:cs typeface="Times New Roman"/>
              </a:rPr>
              <a:t>on.</a:t>
            </a:r>
            <a:endParaRPr sz="1700">
              <a:latin typeface="Times New Roman"/>
              <a:cs typeface="Times New Roman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217920" y="1845564"/>
            <a:ext cx="4937760" cy="4023360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dirty="0"/>
              <a:t>23</a:t>
            </a:r>
            <a:r>
              <a:rPr spc="-5" dirty="0"/>
              <a:t> </a:t>
            </a:r>
            <a:r>
              <a:rPr dirty="0"/>
              <a:t>May</a:t>
            </a:r>
            <a:r>
              <a:rPr spc="-5" dirty="0"/>
              <a:t> </a:t>
            </a:r>
            <a:r>
              <a:rPr spc="-20" dirty="0"/>
              <a:t>2024</a:t>
            </a:r>
          </a:p>
        </p:txBody>
      </p:sp>
      <p:sp>
        <p:nvSpPr>
          <p:cNvPr id="6" name="object 6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pc="-10" dirty="0"/>
              <a:t>MATHEMATICAL</a:t>
            </a:r>
            <a:r>
              <a:rPr spc="10" dirty="0"/>
              <a:t> </a:t>
            </a:r>
            <a:r>
              <a:rPr dirty="0"/>
              <a:t>TOOLS</a:t>
            </a:r>
            <a:r>
              <a:rPr spc="-15" dirty="0"/>
              <a:t> </a:t>
            </a:r>
            <a:r>
              <a:rPr dirty="0"/>
              <a:t>USED</a:t>
            </a:r>
            <a:r>
              <a:rPr spc="-30" dirty="0"/>
              <a:t> </a:t>
            </a:r>
            <a:r>
              <a:rPr dirty="0"/>
              <a:t>IN</a:t>
            </a:r>
            <a:r>
              <a:rPr spc="-30" dirty="0"/>
              <a:t> </a:t>
            </a:r>
            <a:r>
              <a:rPr dirty="0"/>
              <a:t>DIGITAL</a:t>
            </a:r>
            <a:r>
              <a:rPr spc="5" dirty="0"/>
              <a:t> </a:t>
            </a:r>
            <a:r>
              <a:rPr dirty="0"/>
              <a:t>IMAGE</a:t>
            </a:r>
            <a:r>
              <a:rPr spc="-5" dirty="0"/>
              <a:t> </a:t>
            </a:r>
            <a:r>
              <a:rPr spc="-10" dirty="0"/>
              <a:t>PROCESSING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55"/>
              </a:lnSpc>
            </a:pPr>
            <a:fld id="{81D60167-4931-47E6-BA6A-407CBD079E47}" type="slidenum">
              <a:rPr spc="-25" dirty="0"/>
              <a:t>4</a:t>
            </a:fld>
            <a:endParaRPr spc="-2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176019" y="1883155"/>
            <a:ext cx="957008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8450" indent="-285750">
              <a:lnSpc>
                <a:spcPct val="100000"/>
              </a:lnSpc>
              <a:spcBef>
                <a:spcPts val="100"/>
              </a:spcBef>
              <a:buFont typeface="Wingdings"/>
              <a:buChar char=""/>
              <a:tabLst>
                <a:tab pos="298450" algn="l"/>
              </a:tabLst>
            </a:pPr>
            <a:r>
              <a:rPr sz="1800" dirty="0">
                <a:latin typeface="Times New Roman"/>
                <a:cs typeface="Times New Roman"/>
              </a:rPr>
              <a:t>Consider</a:t>
            </a:r>
            <a:r>
              <a:rPr sz="1800" spc="-2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a</a:t>
            </a:r>
            <a:r>
              <a:rPr sz="1800" spc="-2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general</a:t>
            </a:r>
            <a:r>
              <a:rPr sz="1800" spc="-25" dirty="0">
                <a:latin typeface="Times New Roman"/>
                <a:cs typeface="Times New Roman"/>
              </a:rPr>
              <a:t> </a:t>
            </a:r>
            <a:r>
              <a:rPr sz="1800" spc="-10" dirty="0">
                <a:latin typeface="Times New Roman"/>
                <a:cs typeface="Times New Roman"/>
              </a:rPr>
              <a:t>operator,</a:t>
            </a:r>
            <a:r>
              <a:rPr sz="1800" spc="-4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H,</a:t>
            </a:r>
            <a:r>
              <a:rPr sz="1800" spc="-2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that</a:t>
            </a:r>
            <a:r>
              <a:rPr sz="1800" spc="-3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produces</a:t>
            </a:r>
            <a:r>
              <a:rPr sz="1800" spc="-2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an</a:t>
            </a:r>
            <a:r>
              <a:rPr sz="1800" spc="-2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output</a:t>
            </a:r>
            <a:r>
              <a:rPr sz="1800" spc="-3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image,</a:t>
            </a:r>
            <a:r>
              <a:rPr sz="1800" spc="-10" dirty="0">
                <a:latin typeface="Times New Roman"/>
                <a:cs typeface="Times New Roman"/>
              </a:rPr>
              <a:t> </a:t>
            </a:r>
            <a:r>
              <a:rPr sz="1800" b="1" i="1" dirty="0">
                <a:latin typeface="Times New Roman"/>
                <a:cs typeface="Times New Roman"/>
              </a:rPr>
              <a:t>g(x,y</a:t>
            </a:r>
            <a:r>
              <a:rPr sz="1800" dirty="0">
                <a:latin typeface="Times New Roman"/>
                <a:cs typeface="Times New Roman"/>
              </a:rPr>
              <a:t>),</a:t>
            </a:r>
            <a:r>
              <a:rPr sz="1800" spc="-3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for</a:t>
            </a:r>
            <a:r>
              <a:rPr sz="1800" spc="-2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a</a:t>
            </a:r>
            <a:r>
              <a:rPr sz="1800" spc="-2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given</a:t>
            </a:r>
            <a:r>
              <a:rPr sz="1800" spc="-3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input</a:t>
            </a:r>
            <a:r>
              <a:rPr sz="1800" spc="-2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image,</a:t>
            </a:r>
            <a:r>
              <a:rPr sz="1800" spc="-25" dirty="0">
                <a:latin typeface="Times New Roman"/>
                <a:cs typeface="Times New Roman"/>
              </a:rPr>
              <a:t> </a:t>
            </a:r>
            <a:r>
              <a:rPr sz="1800" b="1" i="1" spc="-10" dirty="0">
                <a:latin typeface="Times New Roman"/>
                <a:cs typeface="Times New Roman"/>
              </a:rPr>
              <a:t>f(x,y)</a:t>
            </a:r>
            <a:r>
              <a:rPr sz="1800" spc="-10" dirty="0">
                <a:latin typeface="Times New Roman"/>
                <a:cs typeface="Times New Roman"/>
              </a:rPr>
              <a:t>:</a:t>
            </a:r>
            <a:endParaRPr sz="18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176019" y="3394075"/>
            <a:ext cx="34417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8450" indent="-285750">
              <a:lnSpc>
                <a:spcPct val="100000"/>
              </a:lnSpc>
              <a:spcBef>
                <a:spcPts val="100"/>
              </a:spcBef>
              <a:buFont typeface="Wingdings"/>
              <a:buChar char=""/>
              <a:tabLst>
                <a:tab pos="298450" algn="l"/>
              </a:tabLst>
            </a:pPr>
            <a:r>
              <a:rPr sz="1800" b="1" i="1" dirty="0">
                <a:latin typeface="Times New Roman"/>
                <a:cs typeface="Times New Roman"/>
              </a:rPr>
              <a:t>H</a:t>
            </a:r>
            <a:r>
              <a:rPr sz="1800" b="1" i="1" spc="-2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is</a:t>
            </a:r>
            <a:r>
              <a:rPr sz="1800" spc="-1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said</a:t>
            </a:r>
            <a:r>
              <a:rPr sz="1800" spc="-1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to</a:t>
            </a:r>
            <a:r>
              <a:rPr sz="1800" spc="-1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be</a:t>
            </a:r>
            <a:r>
              <a:rPr sz="1800" spc="-2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a</a:t>
            </a:r>
            <a:r>
              <a:rPr sz="1800" spc="-1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linear</a:t>
            </a:r>
            <a:r>
              <a:rPr sz="1800" spc="-1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operator</a:t>
            </a:r>
            <a:r>
              <a:rPr sz="1800" spc="-35" dirty="0">
                <a:latin typeface="Times New Roman"/>
                <a:cs typeface="Times New Roman"/>
              </a:rPr>
              <a:t> </a:t>
            </a:r>
            <a:r>
              <a:rPr sz="1800" spc="-25" dirty="0">
                <a:latin typeface="Times New Roman"/>
                <a:cs typeface="Times New Roman"/>
              </a:rPr>
              <a:t>if,</a:t>
            </a:r>
            <a:endParaRPr sz="1800">
              <a:latin typeface="Times New Roman"/>
              <a:cs typeface="Times New Roman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930352" y="4043560"/>
            <a:ext cx="5275557" cy="746597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102151" y="2688019"/>
            <a:ext cx="1941876" cy="308825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1150619" y="5277053"/>
            <a:ext cx="8363584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Times New Roman"/>
                <a:cs typeface="Times New Roman"/>
              </a:rPr>
              <a:t>Where,</a:t>
            </a:r>
            <a:r>
              <a:rPr sz="1800" spc="-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a</a:t>
            </a:r>
            <a:r>
              <a:rPr sz="1800" baseline="-20833" dirty="0">
                <a:latin typeface="Times New Roman"/>
                <a:cs typeface="Times New Roman"/>
              </a:rPr>
              <a:t>i</a:t>
            </a:r>
            <a:r>
              <a:rPr sz="1800" spc="209" baseline="-20833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and</a:t>
            </a:r>
            <a:r>
              <a:rPr sz="1800" spc="-1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a</a:t>
            </a:r>
            <a:r>
              <a:rPr sz="1800" baseline="-20833" dirty="0">
                <a:latin typeface="Times New Roman"/>
                <a:cs typeface="Times New Roman"/>
              </a:rPr>
              <a:t>j</a:t>
            </a:r>
            <a:r>
              <a:rPr sz="1800" spc="225" baseline="-20833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are</a:t>
            </a:r>
            <a:r>
              <a:rPr sz="1800" spc="-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arbitrary</a:t>
            </a:r>
            <a:r>
              <a:rPr sz="1800" spc="-2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constant</a:t>
            </a:r>
            <a:r>
              <a:rPr sz="1800" spc="-2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and </a:t>
            </a:r>
            <a:r>
              <a:rPr sz="1800" i="1" dirty="0">
                <a:latin typeface="Times New Roman"/>
                <a:cs typeface="Times New Roman"/>
              </a:rPr>
              <a:t>f</a:t>
            </a:r>
            <a:r>
              <a:rPr sz="1800" i="1" baseline="-20833" dirty="0">
                <a:latin typeface="Times New Roman"/>
                <a:cs typeface="Times New Roman"/>
              </a:rPr>
              <a:t>i</a:t>
            </a:r>
            <a:r>
              <a:rPr sz="1800" i="1" dirty="0">
                <a:latin typeface="Times New Roman"/>
                <a:cs typeface="Times New Roman"/>
              </a:rPr>
              <a:t>(x,</a:t>
            </a:r>
            <a:r>
              <a:rPr sz="1800" i="1" spc="5" dirty="0">
                <a:latin typeface="Times New Roman"/>
                <a:cs typeface="Times New Roman"/>
              </a:rPr>
              <a:t> </a:t>
            </a:r>
            <a:r>
              <a:rPr sz="1800" i="1" dirty="0">
                <a:latin typeface="Times New Roman"/>
                <a:cs typeface="Times New Roman"/>
              </a:rPr>
              <a:t>y)</a:t>
            </a:r>
            <a:r>
              <a:rPr sz="1800" i="1" spc="-20" dirty="0">
                <a:latin typeface="Times New Roman"/>
                <a:cs typeface="Times New Roman"/>
              </a:rPr>
              <a:t> </a:t>
            </a:r>
            <a:r>
              <a:rPr sz="1800" i="1" dirty="0">
                <a:latin typeface="Times New Roman"/>
                <a:cs typeface="Times New Roman"/>
              </a:rPr>
              <a:t>and f</a:t>
            </a:r>
            <a:r>
              <a:rPr sz="1800" i="1" baseline="-20833" dirty="0">
                <a:latin typeface="Times New Roman"/>
                <a:cs typeface="Times New Roman"/>
              </a:rPr>
              <a:t>j</a:t>
            </a:r>
            <a:r>
              <a:rPr sz="1800" i="1" dirty="0">
                <a:latin typeface="Times New Roman"/>
                <a:cs typeface="Times New Roman"/>
              </a:rPr>
              <a:t>(x,</a:t>
            </a:r>
            <a:r>
              <a:rPr sz="1800" i="1" spc="-5" dirty="0">
                <a:latin typeface="Times New Roman"/>
                <a:cs typeface="Times New Roman"/>
              </a:rPr>
              <a:t> </a:t>
            </a:r>
            <a:r>
              <a:rPr sz="1800" i="1" dirty="0">
                <a:latin typeface="Times New Roman"/>
                <a:cs typeface="Times New Roman"/>
              </a:rPr>
              <a:t>y)</a:t>
            </a:r>
            <a:r>
              <a:rPr sz="1800" i="1" spc="-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are</a:t>
            </a:r>
            <a:r>
              <a:rPr sz="1800" spc="-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two</a:t>
            </a:r>
            <a:r>
              <a:rPr sz="1800" spc="-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images</a:t>
            </a:r>
            <a:r>
              <a:rPr sz="1800" spc="-2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of</a:t>
            </a:r>
            <a:r>
              <a:rPr sz="1800" spc="-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same</a:t>
            </a:r>
            <a:r>
              <a:rPr sz="1800" spc="-5" dirty="0">
                <a:latin typeface="Times New Roman"/>
                <a:cs typeface="Times New Roman"/>
              </a:rPr>
              <a:t> </a:t>
            </a:r>
            <a:r>
              <a:rPr sz="1800" spc="-10" dirty="0">
                <a:latin typeface="Times New Roman"/>
                <a:cs typeface="Times New Roman"/>
              </a:rPr>
              <a:t>sizes.</a:t>
            </a:r>
            <a:endParaRPr sz="1800">
              <a:latin typeface="Times New Roman"/>
              <a:cs typeface="Times New Roman"/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dirty="0"/>
              <a:t>23</a:t>
            </a:r>
            <a:r>
              <a:rPr spc="-5" dirty="0"/>
              <a:t> </a:t>
            </a:r>
            <a:r>
              <a:rPr dirty="0"/>
              <a:t>May</a:t>
            </a:r>
            <a:r>
              <a:rPr spc="-5" dirty="0"/>
              <a:t> </a:t>
            </a:r>
            <a:r>
              <a:rPr spc="-20" dirty="0"/>
              <a:t>2024</a:t>
            </a:r>
          </a:p>
        </p:txBody>
      </p:sp>
      <p:sp>
        <p:nvSpPr>
          <p:cNvPr id="9" name="object 9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pc="-10" dirty="0"/>
              <a:t>MATHEMATICAL</a:t>
            </a:r>
            <a:r>
              <a:rPr spc="10" dirty="0"/>
              <a:t> </a:t>
            </a:r>
            <a:r>
              <a:rPr dirty="0"/>
              <a:t>TOOLS</a:t>
            </a:r>
            <a:r>
              <a:rPr spc="-15" dirty="0"/>
              <a:t> </a:t>
            </a:r>
            <a:r>
              <a:rPr dirty="0"/>
              <a:t>USED</a:t>
            </a:r>
            <a:r>
              <a:rPr spc="-30" dirty="0"/>
              <a:t> </a:t>
            </a:r>
            <a:r>
              <a:rPr dirty="0"/>
              <a:t>IN</a:t>
            </a:r>
            <a:r>
              <a:rPr spc="-30" dirty="0"/>
              <a:t> </a:t>
            </a:r>
            <a:r>
              <a:rPr dirty="0"/>
              <a:t>DIGITAL</a:t>
            </a:r>
            <a:r>
              <a:rPr spc="5" dirty="0"/>
              <a:t> </a:t>
            </a:r>
            <a:r>
              <a:rPr dirty="0"/>
              <a:t>IMAGE</a:t>
            </a:r>
            <a:r>
              <a:rPr spc="-5" dirty="0"/>
              <a:t> </a:t>
            </a:r>
            <a:r>
              <a:rPr spc="-10" dirty="0"/>
              <a:t>PROCESSING</a:t>
            </a: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55"/>
              </a:lnSpc>
            </a:pPr>
            <a:fld id="{81D60167-4931-47E6-BA6A-407CBD079E47}" type="slidenum">
              <a:rPr spc="-25" dirty="0"/>
              <a:t>5</a:t>
            </a:fld>
            <a:endParaRPr spc="-25" dirty="0"/>
          </a:p>
        </p:txBody>
      </p: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40" dirty="0"/>
              <a:t>Linear</a:t>
            </a:r>
            <a:r>
              <a:rPr spc="-260" dirty="0"/>
              <a:t> </a:t>
            </a:r>
            <a:r>
              <a:rPr spc="-25" dirty="0"/>
              <a:t>versus</a:t>
            </a:r>
            <a:r>
              <a:rPr spc="-204" dirty="0"/>
              <a:t> </a:t>
            </a:r>
            <a:r>
              <a:rPr spc="-50" dirty="0"/>
              <a:t>Nonlinear</a:t>
            </a:r>
            <a:r>
              <a:rPr spc="-250" dirty="0"/>
              <a:t> </a:t>
            </a:r>
            <a:r>
              <a:rPr spc="-20" dirty="0"/>
              <a:t>Operation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277492" y="1951736"/>
            <a:ext cx="6215380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800" spc="-10" dirty="0">
                <a:latin typeface="Times New Roman"/>
                <a:cs typeface="Times New Roman"/>
              </a:rPr>
              <a:t>Let’s</a:t>
            </a:r>
            <a:r>
              <a:rPr sz="1800" spc="-8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consider</a:t>
            </a:r>
            <a:r>
              <a:rPr sz="1800" spc="-5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the</a:t>
            </a:r>
            <a:r>
              <a:rPr sz="1800" spc="-3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general</a:t>
            </a:r>
            <a:r>
              <a:rPr sz="1800" spc="-5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operator</a:t>
            </a:r>
            <a:r>
              <a:rPr sz="1800" spc="-40" dirty="0">
                <a:latin typeface="Times New Roman"/>
                <a:cs typeface="Times New Roman"/>
              </a:rPr>
              <a:t> </a:t>
            </a:r>
            <a:r>
              <a:rPr sz="1800" spc="-20" dirty="0">
                <a:latin typeface="Times New Roman"/>
                <a:cs typeface="Times New Roman"/>
              </a:rPr>
              <a:t>‘H’</a:t>
            </a:r>
            <a:r>
              <a:rPr sz="1800" spc="-13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as</a:t>
            </a:r>
            <a:r>
              <a:rPr sz="1800" spc="-4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a</a:t>
            </a:r>
            <a:r>
              <a:rPr sz="1800" spc="-3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summation</a:t>
            </a:r>
            <a:r>
              <a:rPr sz="1800" spc="-3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operator</a:t>
            </a:r>
            <a:r>
              <a:rPr sz="1800" spc="-35" dirty="0">
                <a:latin typeface="Times New Roman"/>
                <a:cs typeface="Times New Roman"/>
              </a:rPr>
              <a:t> </a:t>
            </a:r>
            <a:r>
              <a:rPr sz="1800" spc="-25" dirty="0">
                <a:latin typeface="Times New Roman"/>
                <a:cs typeface="Times New Roman"/>
              </a:rPr>
              <a:t>‘</a:t>
            </a:r>
            <a:r>
              <a:rPr sz="2000" spc="-25" dirty="0">
                <a:latin typeface="Times New Roman"/>
                <a:cs typeface="Times New Roman"/>
              </a:rPr>
              <a:t>Σ</a:t>
            </a:r>
            <a:r>
              <a:rPr sz="1800" spc="-25" dirty="0">
                <a:latin typeface="Times New Roman"/>
                <a:cs typeface="Times New Roman"/>
              </a:rPr>
              <a:t>’</a:t>
            </a:r>
            <a:endParaRPr sz="1800">
              <a:latin typeface="Times New Roman"/>
              <a:cs typeface="Times New Roman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236382" y="2730971"/>
            <a:ext cx="5736120" cy="1527488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40" dirty="0"/>
              <a:t>Linear</a:t>
            </a:r>
            <a:r>
              <a:rPr spc="-260" dirty="0"/>
              <a:t> </a:t>
            </a:r>
            <a:r>
              <a:rPr spc="-25" dirty="0"/>
              <a:t>versus</a:t>
            </a:r>
            <a:r>
              <a:rPr spc="-204" dirty="0"/>
              <a:t> </a:t>
            </a:r>
            <a:r>
              <a:rPr spc="-50" dirty="0"/>
              <a:t>Nonlinear</a:t>
            </a:r>
            <a:r>
              <a:rPr spc="-250" dirty="0"/>
              <a:t> </a:t>
            </a:r>
            <a:r>
              <a:rPr spc="-20" dirty="0"/>
              <a:t>Operation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dirty="0"/>
              <a:t>23</a:t>
            </a:r>
            <a:r>
              <a:rPr spc="-5" dirty="0"/>
              <a:t> </a:t>
            </a:r>
            <a:r>
              <a:rPr dirty="0"/>
              <a:t>May</a:t>
            </a:r>
            <a:r>
              <a:rPr spc="-5" dirty="0"/>
              <a:t> </a:t>
            </a:r>
            <a:r>
              <a:rPr spc="-20" dirty="0"/>
              <a:t>2024</a:t>
            </a:r>
          </a:p>
        </p:txBody>
      </p:sp>
      <p:sp>
        <p:nvSpPr>
          <p:cNvPr id="6" name="object 6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pc="-10" dirty="0"/>
              <a:t>MATHEMATICAL</a:t>
            </a:r>
            <a:r>
              <a:rPr spc="10" dirty="0"/>
              <a:t> </a:t>
            </a:r>
            <a:r>
              <a:rPr dirty="0"/>
              <a:t>TOOLS</a:t>
            </a:r>
            <a:r>
              <a:rPr spc="-15" dirty="0"/>
              <a:t> </a:t>
            </a:r>
            <a:r>
              <a:rPr dirty="0"/>
              <a:t>USED</a:t>
            </a:r>
            <a:r>
              <a:rPr spc="-30" dirty="0"/>
              <a:t> </a:t>
            </a:r>
            <a:r>
              <a:rPr dirty="0"/>
              <a:t>IN</a:t>
            </a:r>
            <a:r>
              <a:rPr spc="-30" dirty="0"/>
              <a:t> </a:t>
            </a:r>
            <a:r>
              <a:rPr dirty="0"/>
              <a:t>DIGITAL</a:t>
            </a:r>
            <a:r>
              <a:rPr spc="5" dirty="0"/>
              <a:t> </a:t>
            </a:r>
            <a:r>
              <a:rPr dirty="0"/>
              <a:t>IMAGE</a:t>
            </a:r>
            <a:r>
              <a:rPr spc="-5" dirty="0"/>
              <a:t> </a:t>
            </a:r>
            <a:r>
              <a:rPr spc="-10" dirty="0"/>
              <a:t>PROCESSING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55"/>
              </a:lnSpc>
            </a:pPr>
            <a:fld id="{81D60167-4931-47E6-BA6A-407CBD079E47}" type="slidenum">
              <a:rPr spc="-25" dirty="0"/>
              <a:t>6</a:t>
            </a:fld>
            <a:endParaRPr spc="-2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40" dirty="0"/>
              <a:t>Linear</a:t>
            </a:r>
            <a:r>
              <a:rPr spc="-260" dirty="0"/>
              <a:t> </a:t>
            </a:r>
            <a:r>
              <a:rPr spc="-25" dirty="0"/>
              <a:t>versus</a:t>
            </a:r>
            <a:r>
              <a:rPr spc="-204" dirty="0"/>
              <a:t> </a:t>
            </a:r>
            <a:r>
              <a:rPr spc="-50" dirty="0"/>
              <a:t>Nonlinear</a:t>
            </a:r>
            <a:r>
              <a:rPr spc="-250" dirty="0"/>
              <a:t> </a:t>
            </a:r>
            <a:r>
              <a:rPr spc="-20" dirty="0"/>
              <a:t>Operation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50619" y="1917319"/>
            <a:ext cx="1243330" cy="2393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solidFill>
                  <a:srgbClr val="404040"/>
                </a:solidFill>
                <a:latin typeface="Times New Roman"/>
                <a:cs typeface="Times New Roman"/>
              </a:rPr>
              <a:t>Given</a:t>
            </a:r>
            <a:r>
              <a:rPr sz="1400" spc="-5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400" dirty="0">
                <a:solidFill>
                  <a:srgbClr val="404040"/>
                </a:solidFill>
                <a:latin typeface="Times New Roman"/>
                <a:cs typeface="Times New Roman"/>
              </a:rPr>
              <a:t>that,</a:t>
            </a:r>
            <a:r>
              <a:rPr sz="1400" spc="-7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400" spc="-40" dirty="0">
                <a:solidFill>
                  <a:srgbClr val="404040"/>
                </a:solidFill>
                <a:latin typeface="Cambria Math"/>
                <a:cs typeface="Cambria Math"/>
              </a:rPr>
              <a:t>𝑓</a:t>
            </a:r>
            <a:r>
              <a:rPr sz="1500" spc="-60" baseline="-16666" dirty="0">
                <a:solidFill>
                  <a:srgbClr val="404040"/>
                </a:solidFill>
                <a:latin typeface="Cambria Math"/>
                <a:cs typeface="Cambria Math"/>
              </a:rPr>
              <a:t>1</a:t>
            </a:r>
            <a:r>
              <a:rPr sz="1500" spc="270" baseline="-16666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1400" spc="-50" dirty="0">
                <a:solidFill>
                  <a:srgbClr val="404040"/>
                </a:solidFill>
                <a:latin typeface="Cambria Math"/>
                <a:cs typeface="Cambria Math"/>
              </a:rPr>
              <a:t>=</a:t>
            </a:r>
            <a:endParaRPr sz="1400">
              <a:latin typeface="Cambria Math"/>
              <a:cs typeface="Cambria Math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849245" y="1910079"/>
            <a:ext cx="41910" cy="293370"/>
          </a:xfrm>
          <a:custGeom>
            <a:avLst/>
            <a:gdLst/>
            <a:ahLst/>
            <a:cxnLst/>
            <a:rect l="l" t="t" r="r" b="b"/>
            <a:pathLst>
              <a:path w="41910" h="293369">
                <a:moveTo>
                  <a:pt x="41402" y="0"/>
                </a:moveTo>
                <a:lnTo>
                  <a:pt x="0" y="0"/>
                </a:lnTo>
                <a:lnTo>
                  <a:pt x="0" y="7620"/>
                </a:lnTo>
                <a:lnTo>
                  <a:pt x="25273" y="7620"/>
                </a:lnTo>
                <a:lnTo>
                  <a:pt x="25273" y="285750"/>
                </a:lnTo>
                <a:lnTo>
                  <a:pt x="0" y="285750"/>
                </a:lnTo>
                <a:lnTo>
                  <a:pt x="0" y="293370"/>
                </a:lnTo>
                <a:lnTo>
                  <a:pt x="41402" y="293370"/>
                </a:lnTo>
                <a:lnTo>
                  <a:pt x="41402" y="285750"/>
                </a:lnTo>
                <a:lnTo>
                  <a:pt x="41402" y="7620"/>
                </a:lnTo>
                <a:lnTo>
                  <a:pt x="41402" y="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2424684" y="1910079"/>
            <a:ext cx="41910" cy="293370"/>
          </a:xfrm>
          <a:custGeom>
            <a:avLst/>
            <a:gdLst/>
            <a:ahLst/>
            <a:cxnLst/>
            <a:rect l="l" t="t" r="r" b="b"/>
            <a:pathLst>
              <a:path w="41910" h="293369">
                <a:moveTo>
                  <a:pt x="41402" y="0"/>
                </a:moveTo>
                <a:lnTo>
                  <a:pt x="0" y="0"/>
                </a:lnTo>
                <a:lnTo>
                  <a:pt x="0" y="7620"/>
                </a:lnTo>
                <a:lnTo>
                  <a:pt x="0" y="285750"/>
                </a:lnTo>
                <a:lnTo>
                  <a:pt x="0" y="293370"/>
                </a:lnTo>
                <a:lnTo>
                  <a:pt x="41402" y="293370"/>
                </a:lnTo>
                <a:lnTo>
                  <a:pt x="41402" y="285750"/>
                </a:lnTo>
                <a:lnTo>
                  <a:pt x="16002" y="285750"/>
                </a:lnTo>
                <a:lnTo>
                  <a:pt x="16002" y="7620"/>
                </a:lnTo>
                <a:lnTo>
                  <a:pt x="41402" y="7620"/>
                </a:lnTo>
                <a:lnTo>
                  <a:pt x="41402" y="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2456433" y="1821307"/>
            <a:ext cx="401955" cy="4483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ts val="1660"/>
              </a:lnSpc>
              <a:spcBef>
                <a:spcPts val="105"/>
              </a:spcBef>
              <a:tabLst>
                <a:tab pos="289560" algn="l"/>
              </a:tabLst>
            </a:pPr>
            <a:r>
              <a:rPr sz="1400" spc="-50" dirty="0">
                <a:solidFill>
                  <a:srgbClr val="404040"/>
                </a:solidFill>
                <a:latin typeface="Cambria Math"/>
                <a:cs typeface="Cambria Math"/>
              </a:rPr>
              <a:t>0</a:t>
            </a:r>
            <a:r>
              <a:rPr sz="1400" dirty="0">
                <a:solidFill>
                  <a:srgbClr val="404040"/>
                </a:solidFill>
                <a:latin typeface="Cambria Math"/>
                <a:cs typeface="Cambria Math"/>
              </a:rPr>
              <a:t>	</a:t>
            </a:r>
            <a:r>
              <a:rPr sz="1400" spc="-50" dirty="0">
                <a:solidFill>
                  <a:srgbClr val="404040"/>
                </a:solidFill>
                <a:latin typeface="Cambria Math"/>
                <a:cs typeface="Cambria Math"/>
              </a:rPr>
              <a:t>2</a:t>
            </a:r>
            <a:endParaRPr sz="1400">
              <a:latin typeface="Cambria Math"/>
              <a:cs typeface="Cambria Math"/>
            </a:endParaRPr>
          </a:p>
          <a:p>
            <a:pPr marL="12700">
              <a:lnSpc>
                <a:spcPts val="1660"/>
              </a:lnSpc>
              <a:tabLst>
                <a:tab pos="289560" algn="l"/>
              </a:tabLst>
            </a:pPr>
            <a:r>
              <a:rPr sz="1400" spc="-50" dirty="0">
                <a:solidFill>
                  <a:srgbClr val="404040"/>
                </a:solidFill>
                <a:latin typeface="Cambria Math"/>
                <a:cs typeface="Cambria Math"/>
              </a:rPr>
              <a:t>2</a:t>
            </a:r>
            <a:r>
              <a:rPr sz="1400" dirty="0">
                <a:solidFill>
                  <a:srgbClr val="404040"/>
                </a:solidFill>
                <a:latin typeface="Cambria Math"/>
                <a:cs typeface="Cambria Math"/>
              </a:rPr>
              <a:t>	</a:t>
            </a:r>
            <a:r>
              <a:rPr sz="1400" spc="-50" dirty="0">
                <a:solidFill>
                  <a:srgbClr val="404040"/>
                </a:solidFill>
                <a:latin typeface="Cambria Math"/>
                <a:cs typeface="Cambria Math"/>
              </a:rPr>
              <a:t>3</a:t>
            </a:r>
            <a:endParaRPr sz="1400">
              <a:latin typeface="Cambria Math"/>
              <a:cs typeface="Cambria Math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911094" y="1917319"/>
            <a:ext cx="712470" cy="2393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solidFill>
                  <a:srgbClr val="404040"/>
                </a:solidFill>
                <a:latin typeface="Times New Roman"/>
                <a:cs typeface="Times New Roman"/>
              </a:rPr>
              <a:t>and</a:t>
            </a:r>
            <a:r>
              <a:rPr sz="1400" spc="-7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400" spc="-25" dirty="0">
                <a:solidFill>
                  <a:srgbClr val="404040"/>
                </a:solidFill>
                <a:latin typeface="Cambria Math"/>
                <a:cs typeface="Cambria Math"/>
              </a:rPr>
              <a:t>𝑓</a:t>
            </a:r>
            <a:r>
              <a:rPr sz="1500" spc="-37" baseline="-16666" dirty="0">
                <a:solidFill>
                  <a:srgbClr val="404040"/>
                </a:solidFill>
                <a:latin typeface="Cambria Math"/>
                <a:cs typeface="Cambria Math"/>
              </a:rPr>
              <a:t>2</a:t>
            </a:r>
            <a:r>
              <a:rPr sz="1500" spc="225" baseline="-16666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1400" spc="-50" dirty="0">
                <a:solidFill>
                  <a:srgbClr val="404040"/>
                </a:solidFill>
                <a:latin typeface="Cambria Math"/>
                <a:cs typeface="Cambria Math"/>
              </a:rPr>
              <a:t>=</a:t>
            </a:r>
            <a:endParaRPr sz="1400">
              <a:latin typeface="Cambria Math"/>
              <a:cs typeface="Cambria Math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4079113" y="1910079"/>
            <a:ext cx="41910" cy="293370"/>
          </a:xfrm>
          <a:custGeom>
            <a:avLst/>
            <a:gdLst/>
            <a:ahLst/>
            <a:cxnLst/>
            <a:rect l="l" t="t" r="r" b="b"/>
            <a:pathLst>
              <a:path w="41910" h="293369">
                <a:moveTo>
                  <a:pt x="41402" y="0"/>
                </a:moveTo>
                <a:lnTo>
                  <a:pt x="0" y="0"/>
                </a:lnTo>
                <a:lnTo>
                  <a:pt x="0" y="7620"/>
                </a:lnTo>
                <a:lnTo>
                  <a:pt x="25273" y="7620"/>
                </a:lnTo>
                <a:lnTo>
                  <a:pt x="25273" y="285750"/>
                </a:lnTo>
                <a:lnTo>
                  <a:pt x="0" y="285750"/>
                </a:lnTo>
                <a:lnTo>
                  <a:pt x="0" y="293370"/>
                </a:lnTo>
                <a:lnTo>
                  <a:pt x="41402" y="293370"/>
                </a:lnTo>
                <a:lnTo>
                  <a:pt x="41402" y="285750"/>
                </a:lnTo>
                <a:lnTo>
                  <a:pt x="41402" y="7620"/>
                </a:lnTo>
                <a:lnTo>
                  <a:pt x="41402" y="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3654552" y="1910079"/>
            <a:ext cx="41910" cy="293370"/>
          </a:xfrm>
          <a:custGeom>
            <a:avLst/>
            <a:gdLst/>
            <a:ahLst/>
            <a:cxnLst/>
            <a:rect l="l" t="t" r="r" b="b"/>
            <a:pathLst>
              <a:path w="41910" h="293369">
                <a:moveTo>
                  <a:pt x="41402" y="0"/>
                </a:moveTo>
                <a:lnTo>
                  <a:pt x="0" y="0"/>
                </a:lnTo>
                <a:lnTo>
                  <a:pt x="0" y="7620"/>
                </a:lnTo>
                <a:lnTo>
                  <a:pt x="0" y="285750"/>
                </a:lnTo>
                <a:lnTo>
                  <a:pt x="0" y="293370"/>
                </a:lnTo>
                <a:lnTo>
                  <a:pt x="41402" y="293370"/>
                </a:lnTo>
                <a:lnTo>
                  <a:pt x="41402" y="285750"/>
                </a:lnTo>
                <a:lnTo>
                  <a:pt x="16002" y="285750"/>
                </a:lnTo>
                <a:lnTo>
                  <a:pt x="16002" y="7620"/>
                </a:lnTo>
                <a:lnTo>
                  <a:pt x="41402" y="7620"/>
                </a:lnTo>
                <a:lnTo>
                  <a:pt x="41402" y="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3687826" y="1824355"/>
            <a:ext cx="400685" cy="4483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ts val="1660"/>
              </a:lnSpc>
              <a:spcBef>
                <a:spcPts val="105"/>
              </a:spcBef>
              <a:tabLst>
                <a:tab pos="288290" algn="l"/>
              </a:tabLst>
            </a:pPr>
            <a:r>
              <a:rPr sz="1400" spc="-50" dirty="0">
                <a:solidFill>
                  <a:srgbClr val="404040"/>
                </a:solidFill>
                <a:latin typeface="Cambria Math"/>
                <a:cs typeface="Cambria Math"/>
              </a:rPr>
              <a:t>6</a:t>
            </a:r>
            <a:r>
              <a:rPr sz="1400" dirty="0">
                <a:solidFill>
                  <a:srgbClr val="404040"/>
                </a:solidFill>
                <a:latin typeface="Cambria Math"/>
                <a:cs typeface="Cambria Math"/>
              </a:rPr>
              <a:t>	</a:t>
            </a:r>
            <a:r>
              <a:rPr sz="1400" spc="-50" dirty="0">
                <a:solidFill>
                  <a:srgbClr val="404040"/>
                </a:solidFill>
                <a:latin typeface="Cambria Math"/>
                <a:cs typeface="Cambria Math"/>
              </a:rPr>
              <a:t>5</a:t>
            </a:r>
            <a:endParaRPr sz="1400">
              <a:latin typeface="Cambria Math"/>
              <a:cs typeface="Cambria Math"/>
            </a:endParaRPr>
          </a:p>
          <a:p>
            <a:pPr marL="12700">
              <a:lnSpc>
                <a:spcPts val="1660"/>
              </a:lnSpc>
              <a:tabLst>
                <a:tab pos="288290" algn="l"/>
              </a:tabLst>
            </a:pPr>
            <a:r>
              <a:rPr sz="1400" spc="-50" dirty="0">
                <a:solidFill>
                  <a:srgbClr val="404040"/>
                </a:solidFill>
                <a:latin typeface="Cambria Math"/>
                <a:cs typeface="Cambria Math"/>
              </a:rPr>
              <a:t>4</a:t>
            </a:r>
            <a:r>
              <a:rPr sz="1400" dirty="0">
                <a:solidFill>
                  <a:srgbClr val="404040"/>
                </a:solidFill>
                <a:latin typeface="Cambria Math"/>
                <a:cs typeface="Cambria Math"/>
              </a:rPr>
              <a:t>	</a:t>
            </a:r>
            <a:r>
              <a:rPr sz="1400" spc="-50" dirty="0">
                <a:solidFill>
                  <a:srgbClr val="404040"/>
                </a:solidFill>
                <a:latin typeface="Cambria Math"/>
                <a:cs typeface="Cambria Math"/>
              </a:rPr>
              <a:t>7</a:t>
            </a:r>
            <a:endParaRPr sz="1400">
              <a:latin typeface="Cambria Math"/>
              <a:cs typeface="Cambria Math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4147439" y="1917319"/>
            <a:ext cx="1818005" cy="2393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solidFill>
                  <a:srgbClr val="404040"/>
                </a:solidFill>
                <a:latin typeface="Times New Roman"/>
                <a:cs typeface="Times New Roman"/>
              </a:rPr>
              <a:t>where,</a:t>
            </a:r>
            <a:r>
              <a:rPr sz="1400" spc="-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400" dirty="0">
                <a:solidFill>
                  <a:srgbClr val="404040"/>
                </a:solidFill>
                <a:latin typeface="Cambria Math"/>
                <a:cs typeface="Cambria Math"/>
              </a:rPr>
              <a:t>𝑎</a:t>
            </a:r>
            <a:r>
              <a:rPr sz="1500" baseline="-16666" dirty="0">
                <a:solidFill>
                  <a:srgbClr val="404040"/>
                </a:solidFill>
                <a:latin typeface="Cambria Math"/>
                <a:cs typeface="Cambria Math"/>
              </a:rPr>
              <a:t>1</a:t>
            </a:r>
            <a:r>
              <a:rPr sz="1500" spc="337" baseline="-16666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1400" dirty="0">
                <a:solidFill>
                  <a:srgbClr val="404040"/>
                </a:solidFill>
                <a:latin typeface="Cambria Math"/>
                <a:cs typeface="Cambria Math"/>
              </a:rPr>
              <a:t>=</a:t>
            </a:r>
            <a:r>
              <a:rPr sz="1400" spc="80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1400" dirty="0">
                <a:solidFill>
                  <a:srgbClr val="404040"/>
                </a:solidFill>
                <a:latin typeface="Cambria Math"/>
                <a:cs typeface="Cambria Math"/>
              </a:rPr>
              <a:t>1,</a:t>
            </a:r>
            <a:r>
              <a:rPr sz="1400" spc="-85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1400" dirty="0">
                <a:solidFill>
                  <a:srgbClr val="404040"/>
                </a:solidFill>
                <a:latin typeface="Cambria Math"/>
                <a:cs typeface="Cambria Math"/>
              </a:rPr>
              <a:t>𝑎</a:t>
            </a:r>
            <a:r>
              <a:rPr sz="1500" baseline="-16666" dirty="0">
                <a:solidFill>
                  <a:srgbClr val="404040"/>
                </a:solidFill>
                <a:latin typeface="Cambria Math"/>
                <a:cs typeface="Cambria Math"/>
              </a:rPr>
              <a:t>2</a:t>
            </a:r>
            <a:r>
              <a:rPr sz="1500" spc="337" baseline="-16666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1400" dirty="0">
                <a:solidFill>
                  <a:srgbClr val="404040"/>
                </a:solidFill>
                <a:latin typeface="Cambria Math"/>
                <a:cs typeface="Cambria Math"/>
              </a:rPr>
              <a:t>=</a:t>
            </a:r>
            <a:r>
              <a:rPr sz="1400" spc="80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1400" spc="-35" dirty="0">
                <a:solidFill>
                  <a:srgbClr val="404040"/>
                </a:solidFill>
                <a:latin typeface="Cambria Math"/>
                <a:cs typeface="Cambria Math"/>
              </a:rPr>
              <a:t>−1</a:t>
            </a:r>
            <a:endParaRPr sz="1400">
              <a:latin typeface="Cambria Math"/>
              <a:cs typeface="Cambria Math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5863717" y="2383789"/>
            <a:ext cx="110489" cy="449580"/>
          </a:xfrm>
          <a:custGeom>
            <a:avLst/>
            <a:gdLst/>
            <a:ahLst/>
            <a:cxnLst/>
            <a:rect l="l" t="t" r="r" b="b"/>
            <a:pathLst>
              <a:path w="110489" h="449580">
                <a:moveTo>
                  <a:pt x="41402" y="77470"/>
                </a:moveTo>
                <a:lnTo>
                  <a:pt x="0" y="77470"/>
                </a:lnTo>
                <a:lnTo>
                  <a:pt x="0" y="85090"/>
                </a:lnTo>
                <a:lnTo>
                  <a:pt x="25273" y="85090"/>
                </a:lnTo>
                <a:lnTo>
                  <a:pt x="25273" y="361950"/>
                </a:lnTo>
                <a:lnTo>
                  <a:pt x="0" y="361950"/>
                </a:lnTo>
                <a:lnTo>
                  <a:pt x="0" y="369570"/>
                </a:lnTo>
                <a:lnTo>
                  <a:pt x="41402" y="369570"/>
                </a:lnTo>
                <a:lnTo>
                  <a:pt x="41402" y="361950"/>
                </a:lnTo>
                <a:lnTo>
                  <a:pt x="41402" y="85090"/>
                </a:lnTo>
                <a:lnTo>
                  <a:pt x="41402" y="77470"/>
                </a:lnTo>
                <a:close/>
              </a:path>
              <a:path w="110489" h="449580">
                <a:moveTo>
                  <a:pt x="110236" y="0"/>
                </a:moveTo>
                <a:lnTo>
                  <a:pt x="65532" y="0"/>
                </a:lnTo>
                <a:lnTo>
                  <a:pt x="65532" y="7620"/>
                </a:lnTo>
                <a:lnTo>
                  <a:pt x="93345" y="7620"/>
                </a:lnTo>
                <a:lnTo>
                  <a:pt x="93345" y="441960"/>
                </a:lnTo>
                <a:lnTo>
                  <a:pt x="65532" y="441960"/>
                </a:lnTo>
                <a:lnTo>
                  <a:pt x="65532" y="449580"/>
                </a:lnTo>
                <a:lnTo>
                  <a:pt x="110236" y="449580"/>
                </a:lnTo>
                <a:lnTo>
                  <a:pt x="110236" y="441960"/>
                </a:lnTo>
                <a:lnTo>
                  <a:pt x="110236" y="7620"/>
                </a:lnTo>
                <a:lnTo>
                  <a:pt x="110236" y="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3848100" y="2383789"/>
            <a:ext cx="45085" cy="449580"/>
          </a:xfrm>
          <a:custGeom>
            <a:avLst/>
            <a:gdLst/>
            <a:ahLst/>
            <a:cxnLst/>
            <a:rect l="l" t="t" r="r" b="b"/>
            <a:pathLst>
              <a:path w="45085" h="449580">
                <a:moveTo>
                  <a:pt x="44704" y="0"/>
                </a:moveTo>
                <a:lnTo>
                  <a:pt x="0" y="0"/>
                </a:lnTo>
                <a:lnTo>
                  <a:pt x="0" y="7620"/>
                </a:lnTo>
                <a:lnTo>
                  <a:pt x="0" y="441960"/>
                </a:lnTo>
                <a:lnTo>
                  <a:pt x="0" y="449580"/>
                </a:lnTo>
                <a:lnTo>
                  <a:pt x="44704" y="449580"/>
                </a:lnTo>
                <a:lnTo>
                  <a:pt x="44704" y="441960"/>
                </a:lnTo>
                <a:lnTo>
                  <a:pt x="16891" y="441960"/>
                </a:lnTo>
                <a:lnTo>
                  <a:pt x="16891" y="7620"/>
                </a:lnTo>
                <a:lnTo>
                  <a:pt x="44704" y="7620"/>
                </a:lnTo>
                <a:lnTo>
                  <a:pt x="44704" y="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1150619" y="2467737"/>
            <a:ext cx="3008630" cy="2393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5"/>
              </a:spcBef>
            </a:pPr>
            <a:r>
              <a:rPr sz="1400" spc="-10" dirty="0">
                <a:solidFill>
                  <a:srgbClr val="404040"/>
                </a:solidFill>
                <a:latin typeface="Times New Roman"/>
                <a:cs typeface="Times New Roman"/>
              </a:rPr>
              <a:t>Now,</a:t>
            </a:r>
            <a:r>
              <a:rPr sz="1400" spc="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100" baseline="1984" dirty="0">
                <a:solidFill>
                  <a:srgbClr val="404040"/>
                </a:solidFill>
                <a:latin typeface="Cambria Math"/>
                <a:cs typeface="Cambria Math"/>
              </a:rPr>
              <a:t>∑</a:t>
            </a:r>
            <a:r>
              <a:rPr sz="1400" dirty="0">
                <a:solidFill>
                  <a:srgbClr val="404040"/>
                </a:solidFill>
                <a:latin typeface="Cambria Math"/>
                <a:cs typeface="Cambria Math"/>
              </a:rPr>
              <a:t>[𝑎</a:t>
            </a:r>
            <a:r>
              <a:rPr sz="1500" baseline="-16666" dirty="0">
                <a:solidFill>
                  <a:srgbClr val="404040"/>
                </a:solidFill>
                <a:latin typeface="Cambria Math"/>
                <a:cs typeface="Cambria Math"/>
              </a:rPr>
              <a:t>𝑖</a:t>
            </a:r>
            <a:r>
              <a:rPr sz="1400" dirty="0">
                <a:solidFill>
                  <a:srgbClr val="404040"/>
                </a:solidFill>
                <a:latin typeface="Cambria Math"/>
                <a:cs typeface="Cambria Math"/>
              </a:rPr>
              <a:t>𝑓</a:t>
            </a:r>
            <a:r>
              <a:rPr sz="1500" baseline="-16666" dirty="0">
                <a:solidFill>
                  <a:srgbClr val="404040"/>
                </a:solidFill>
                <a:latin typeface="Cambria Math"/>
                <a:cs typeface="Cambria Math"/>
              </a:rPr>
              <a:t>𝑖</a:t>
            </a:r>
            <a:r>
              <a:rPr sz="1400" dirty="0">
                <a:solidFill>
                  <a:srgbClr val="404040"/>
                </a:solidFill>
                <a:latin typeface="Cambria Math"/>
                <a:cs typeface="Cambria Math"/>
              </a:rPr>
              <a:t>(𝑥,</a:t>
            </a:r>
            <a:r>
              <a:rPr sz="1400" spc="-80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1400" dirty="0">
                <a:solidFill>
                  <a:srgbClr val="404040"/>
                </a:solidFill>
                <a:latin typeface="Cambria Math"/>
                <a:cs typeface="Cambria Math"/>
              </a:rPr>
              <a:t>𝑦)</a:t>
            </a:r>
            <a:r>
              <a:rPr sz="1400" spc="5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1400" dirty="0">
                <a:solidFill>
                  <a:srgbClr val="404040"/>
                </a:solidFill>
                <a:latin typeface="Cambria Math"/>
                <a:cs typeface="Cambria Math"/>
              </a:rPr>
              <a:t>+</a:t>
            </a:r>
            <a:r>
              <a:rPr sz="1400" spc="5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1400" dirty="0">
                <a:solidFill>
                  <a:srgbClr val="404040"/>
                </a:solidFill>
                <a:latin typeface="Cambria Math"/>
                <a:cs typeface="Cambria Math"/>
              </a:rPr>
              <a:t>𝑎</a:t>
            </a:r>
            <a:r>
              <a:rPr sz="1500" baseline="-16666" dirty="0">
                <a:solidFill>
                  <a:srgbClr val="404040"/>
                </a:solidFill>
                <a:latin typeface="Cambria Math"/>
                <a:cs typeface="Cambria Math"/>
              </a:rPr>
              <a:t>𝑗</a:t>
            </a:r>
            <a:r>
              <a:rPr sz="1400" dirty="0">
                <a:solidFill>
                  <a:srgbClr val="404040"/>
                </a:solidFill>
                <a:latin typeface="Cambria Math"/>
                <a:cs typeface="Cambria Math"/>
              </a:rPr>
              <a:t>𝑓</a:t>
            </a:r>
            <a:r>
              <a:rPr sz="1500" baseline="-16666" dirty="0">
                <a:solidFill>
                  <a:srgbClr val="404040"/>
                </a:solidFill>
                <a:latin typeface="Cambria Math"/>
                <a:cs typeface="Cambria Math"/>
              </a:rPr>
              <a:t>𝑗</a:t>
            </a:r>
            <a:r>
              <a:rPr sz="1400" dirty="0">
                <a:solidFill>
                  <a:srgbClr val="404040"/>
                </a:solidFill>
                <a:latin typeface="Cambria Math"/>
                <a:cs typeface="Cambria Math"/>
              </a:rPr>
              <a:t>(𝑥,</a:t>
            </a:r>
            <a:r>
              <a:rPr sz="1400" spc="-80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1400" dirty="0">
                <a:solidFill>
                  <a:srgbClr val="404040"/>
                </a:solidFill>
                <a:latin typeface="Cambria Math"/>
                <a:cs typeface="Cambria Math"/>
              </a:rPr>
              <a:t>𝑦)]</a:t>
            </a:r>
            <a:r>
              <a:rPr sz="1400" spc="30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1400" dirty="0">
                <a:solidFill>
                  <a:srgbClr val="404040"/>
                </a:solidFill>
                <a:latin typeface="Times New Roman"/>
                <a:cs typeface="Times New Roman"/>
              </a:rPr>
              <a:t>=</a:t>
            </a:r>
            <a:r>
              <a:rPr sz="1400" spc="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100" baseline="1984" dirty="0">
                <a:solidFill>
                  <a:srgbClr val="404040"/>
                </a:solidFill>
                <a:latin typeface="Cambria Math"/>
                <a:cs typeface="Cambria Math"/>
              </a:rPr>
              <a:t>∑</a:t>
            </a:r>
            <a:r>
              <a:rPr sz="2100" spc="142" baseline="1984" dirty="0">
                <a:solidFill>
                  <a:srgbClr val="404040"/>
                </a:solidFill>
                <a:latin typeface="Cambria Math"/>
                <a:cs typeface="Cambria Math"/>
              </a:rPr>
              <a:t>  </a:t>
            </a:r>
            <a:r>
              <a:rPr sz="1400" dirty="0">
                <a:solidFill>
                  <a:srgbClr val="404040"/>
                </a:solidFill>
                <a:latin typeface="Cambria Math"/>
                <a:cs typeface="Cambria Math"/>
              </a:rPr>
              <a:t>1</a:t>
            </a:r>
            <a:r>
              <a:rPr sz="1400" spc="-5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1400" spc="-50" dirty="0">
                <a:solidFill>
                  <a:srgbClr val="404040"/>
                </a:solidFill>
                <a:latin typeface="Cambria Math"/>
                <a:cs typeface="Cambria Math"/>
              </a:rPr>
              <a:t>∗</a:t>
            </a:r>
            <a:endParaRPr sz="1400">
              <a:latin typeface="Cambria Math"/>
              <a:cs typeface="Cambria Math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4603369" y="2461259"/>
            <a:ext cx="41910" cy="292100"/>
          </a:xfrm>
          <a:custGeom>
            <a:avLst/>
            <a:gdLst/>
            <a:ahLst/>
            <a:cxnLst/>
            <a:rect l="l" t="t" r="r" b="b"/>
            <a:pathLst>
              <a:path w="41910" h="292100">
                <a:moveTo>
                  <a:pt x="41402" y="0"/>
                </a:moveTo>
                <a:lnTo>
                  <a:pt x="0" y="0"/>
                </a:lnTo>
                <a:lnTo>
                  <a:pt x="0" y="7620"/>
                </a:lnTo>
                <a:lnTo>
                  <a:pt x="25273" y="7620"/>
                </a:lnTo>
                <a:lnTo>
                  <a:pt x="25273" y="284480"/>
                </a:lnTo>
                <a:lnTo>
                  <a:pt x="0" y="284480"/>
                </a:lnTo>
                <a:lnTo>
                  <a:pt x="0" y="292100"/>
                </a:lnTo>
                <a:lnTo>
                  <a:pt x="41402" y="292100"/>
                </a:lnTo>
                <a:lnTo>
                  <a:pt x="41402" y="284480"/>
                </a:lnTo>
                <a:lnTo>
                  <a:pt x="41402" y="7620"/>
                </a:lnTo>
                <a:lnTo>
                  <a:pt x="41402" y="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4178808" y="2461259"/>
            <a:ext cx="41910" cy="292100"/>
          </a:xfrm>
          <a:custGeom>
            <a:avLst/>
            <a:gdLst/>
            <a:ahLst/>
            <a:cxnLst/>
            <a:rect l="l" t="t" r="r" b="b"/>
            <a:pathLst>
              <a:path w="41910" h="292100">
                <a:moveTo>
                  <a:pt x="41402" y="0"/>
                </a:moveTo>
                <a:lnTo>
                  <a:pt x="0" y="0"/>
                </a:lnTo>
                <a:lnTo>
                  <a:pt x="0" y="7620"/>
                </a:lnTo>
                <a:lnTo>
                  <a:pt x="0" y="284480"/>
                </a:lnTo>
                <a:lnTo>
                  <a:pt x="0" y="292100"/>
                </a:lnTo>
                <a:lnTo>
                  <a:pt x="41402" y="292100"/>
                </a:lnTo>
                <a:lnTo>
                  <a:pt x="41402" y="284480"/>
                </a:lnTo>
                <a:lnTo>
                  <a:pt x="16002" y="284480"/>
                </a:lnTo>
                <a:lnTo>
                  <a:pt x="16002" y="7620"/>
                </a:lnTo>
                <a:lnTo>
                  <a:pt x="41402" y="7620"/>
                </a:lnTo>
                <a:lnTo>
                  <a:pt x="41402" y="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4212463" y="2371725"/>
            <a:ext cx="400050" cy="4483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ts val="1660"/>
              </a:lnSpc>
              <a:spcBef>
                <a:spcPts val="105"/>
              </a:spcBef>
              <a:tabLst>
                <a:tab pos="288290" algn="l"/>
              </a:tabLst>
            </a:pPr>
            <a:r>
              <a:rPr sz="1400" spc="-50" dirty="0">
                <a:solidFill>
                  <a:srgbClr val="404040"/>
                </a:solidFill>
                <a:latin typeface="Cambria Math"/>
                <a:cs typeface="Cambria Math"/>
              </a:rPr>
              <a:t>0</a:t>
            </a:r>
            <a:r>
              <a:rPr sz="1400" dirty="0">
                <a:solidFill>
                  <a:srgbClr val="404040"/>
                </a:solidFill>
                <a:latin typeface="Cambria Math"/>
                <a:cs typeface="Cambria Math"/>
              </a:rPr>
              <a:t>	</a:t>
            </a:r>
            <a:r>
              <a:rPr sz="1400" spc="-50" dirty="0">
                <a:solidFill>
                  <a:srgbClr val="404040"/>
                </a:solidFill>
                <a:latin typeface="Cambria Math"/>
                <a:cs typeface="Cambria Math"/>
              </a:rPr>
              <a:t>2</a:t>
            </a:r>
            <a:endParaRPr sz="1400">
              <a:latin typeface="Cambria Math"/>
              <a:cs typeface="Cambria Math"/>
            </a:endParaRPr>
          </a:p>
          <a:p>
            <a:pPr marL="12700">
              <a:lnSpc>
                <a:spcPts val="1660"/>
              </a:lnSpc>
              <a:tabLst>
                <a:tab pos="288290" algn="l"/>
              </a:tabLst>
            </a:pPr>
            <a:r>
              <a:rPr sz="1400" spc="-50" dirty="0">
                <a:solidFill>
                  <a:srgbClr val="404040"/>
                </a:solidFill>
                <a:latin typeface="Cambria Math"/>
                <a:cs typeface="Cambria Math"/>
              </a:rPr>
              <a:t>2</a:t>
            </a:r>
            <a:r>
              <a:rPr sz="1400" dirty="0">
                <a:solidFill>
                  <a:srgbClr val="404040"/>
                </a:solidFill>
                <a:latin typeface="Cambria Math"/>
                <a:cs typeface="Cambria Math"/>
              </a:rPr>
              <a:t>	</a:t>
            </a:r>
            <a:r>
              <a:rPr sz="1400" spc="-50" dirty="0">
                <a:solidFill>
                  <a:srgbClr val="404040"/>
                </a:solidFill>
                <a:latin typeface="Cambria Math"/>
                <a:cs typeface="Cambria Math"/>
              </a:rPr>
              <a:t>3</a:t>
            </a:r>
            <a:endParaRPr sz="1400">
              <a:latin typeface="Cambria Math"/>
              <a:cs typeface="Cambria Math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4890896" y="2526157"/>
            <a:ext cx="349250" cy="165100"/>
          </a:xfrm>
          <a:custGeom>
            <a:avLst/>
            <a:gdLst/>
            <a:ahLst/>
            <a:cxnLst/>
            <a:rect l="l" t="t" r="r" b="b"/>
            <a:pathLst>
              <a:path w="349250" h="165100">
                <a:moveTo>
                  <a:pt x="296417" y="0"/>
                </a:moveTo>
                <a:lnTo>
                  <a:pt x="294004" y="6603"/>
                </a:lnTo>
                <a:lnTo>
                  <a:pt x="303549" y="10800"/>
                </a:lnTo>
                <a:lnTo>
                  <a:pt x="311785" y="16557"/>
                </a:lnTo>
                <a:lnTo>
                  <a:pt x="331549" y="54800"/>
                </a:lnTo>
                <a:lnTo>
                  <a:pt x="333363" y="67407"/>
                </a:lnTo>
                <a:lnTo>
                  <a:pt x="333392" y="67611"/>
                </a:lnTo>
                <a:lnTo>
                  <a:pt x="334010" y="81660"/>
                </a:lnTo>
                <a:lnTo>
                  <a:pt x="333392" y="96234"/>
                </a:lnTo>
                <a:lnTo>
                  <a:pt x="331549" y="109473"/>
                </a:lnTo>
                <a:lnTo>
                  <a:pt x="311816" y="148447"/>
                </a:lnTo>
                <a:lnTo>
                  <a:pt x="294258" y="158368"/>
                </a:lnTo>
                <a:lnTo>
                  <a:pt x="296417" y="165100"/>
                </a:lnTo>
                <a:lnTo>
                  <a:pt x="335406" y="136270"/>
                </a:lnTo>
                <a:lnTo>
                  <a:pt x="348158" y="97766"/>
                </a:lnTo>
                <a:lnTo>
                  <a:pt x="348995" y="82550"/>
                </a:lnTo>
                <a:lnTo>
                  <a:pt x="348169" y="67611"/>
                </a:lnTo>
                <a:lnTo>
                  <a:pt x="348158" y="67407"/>
                </a:lnTo>
                <a:lnTo>
                  <a:pt x="335406" y="28955"/>
                </a:lnTo>
                <a:lnTo>
                  <a:pt x="308367" y="4310"/>
                </a:lnTo>
                <a:lnTo>
                  <a:pt x="296417" y="0"/>
                </a:lnTo>
                <a:close/>
              </a:path>
              <a:path w="349250" h="165100">
                <a:moveTo>
                  <a:pt x="52704" y="0"/>
                </a:moveTo>
                <a:lnTo>
                  <a:pt x="13715" y="28955"/>
                </a:lnTo>
                <a:lnTo>
                  <a:pt x="857" y="67407"/>
                </a:lnTo>
                <a:lnTo>
                  <a:pt x="0" y="82550"/>
                </a:lnTo>
                <a:lnTo>
                  <a:pt x="769" y="96234"/>
                </a:lnTo>
                <a:lnTo>
                  <a:pt x="13588" y="136270"/>
                </a:lnTo>
                <a:lnTo>
                  <a:pt x="52704" y="165100"/>
                </a:lnTo>
                <a:lnTo>
                  <a:pt x="54863" y="158368"/>
                </a:lnTo>
                <a:lnTo>
                  <a:pt x="45430" y="154223"/>
                </a:lnTo>
                <a:lnTo>
                  <a:pt x="37306" y="148447"/>
                </a:lnTo>
                <a:lnTo>
                  <a:pt x="17573" y="109474"/>
                </a:lnTo>
                <a:lnTo>
                  <a:pt x="15150" y="82550"/>
                </a:lnTo>
                <a:lnTo>
                  <a:pt x="15112" y="81660"/>
                </a:lnTo>
                <a:lnTo>
                  <a:pt x="20631" y="43227"/>
                </a:lnTo>
                <a:lnTo>
                  <a:pt x="45591" y="10800"/>
                </a:lnTo>
                <a:lnTo>
                  <a:pt x="55117" y="6603"/>
                </a:lnTo>
                <a:lnTo>
                  <a:pt x="52704" y="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4690998" y="2467737"/>
            <a:ext cx="702945" cy="2393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solidFill>
                  <a:srgbClr val="404040"/>
                </a:solidFill>
                <a:latin typeface="Cambria Math"/>
                <a:cs typeface="Cambria Math"/>
              </a:rPr>
              <a:t>+</a:t>
            </a:r>
            <a:r>
              <a:rPr sz="1400" spc="130" dirty="0">
                <a:solidFill>
                  <a:srgbClr val="404040"/>
                </a:solidFill>
                <a:latin typeface="Cambria Math"/>
                <a:cs typeface="Cambria Math"/>
              </a:rPr>
              <a:t>  </a:t>
            </a:r>
            <a:r>
              <a:rPr sz="1400" dirty="0">
                <a:solidFill>
                  <a:srgbClr val="404040"/>
                </a:solidFill>
                <a:latin typeface="Cambria Math"/>
                <a:cs typeface="Cambria Math"/>
              </a:rPr>
              <a:t>−1</a:t>
            </a:r>
            <a:r>
              <a:rPr sz="1400" spc="135" dirty="0">
                <a:solidFill>
                  <a:srgbClr val="404040"/>
                </a:solidFill>
                <a:latin typeface="Cambria Math"/>
                <a:cs typeface="Cambria Math"/>
              </a:rPr>
              <a:t>  </a:t>
            </a:r>
            <a:r>
              <a:rPr sz="1400" spc="-50" dirty="0">
                <a:solidFill>
                  <a:srgbClr val="404040"/>
                </a:solidFill>
                <a:latin typeface="Cambria Math"/>
                <a:cs typeface="Cambria Math"/>
              </a:rPr>
              <a:t>∗</a:t>
            </a:r>
            <a:endParaRPr sz="1400">
              <a:latin typeface="Cambria Math"/>
              <a:cs typeface="Cambria Math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5439156" y="2461259"/>
            <a:ext cx="41910" cy="292100"/>
          </a:xfrm>
          <a:custGeom>
            <a:avLst/>
            <a:gdLst/>
            <a:ahLst/>
            <a:cxnLst/>
            <a:rect l="l" t="t" r="r" b="b"/>
            <a:pathLst>
              <a:path w="41910" h="292100">
                <a:moveTo>
                  <a:pt x="41402" y="0"/>
                </a:moveTo>
                <a:lnTo>
                  <a:pt x="0" y="0"/>
                </a:lnTo>
                <a:lnTo>
                  <a:pt x="0" y="7620"/>
                </a:lnTo>
                <a:lnTo>
                  <a:pt x="0" y="284480"/>
                </a:lnTo>
                <a:lnTo>
                  <a:pt x="0" y="292100"/>
                </a:lnTo>
                <a:lnTo>
                  <a:pt x="41402" y="292100"/>
                </a:lnTo>
                <a:lnTo>
                  <a:pt x="41402" y="284480"/>
                </a:lnTo>
                <a:lnTo>
                  <a:pt x="16002" y="284480"/>
                </a:lnTo>
                <a:lnTo>
                  <a:pt x="16002" y="7620"/>
                </a:lnTo>
                <a:lnTo>
                  <a:pt x="41402" y="7620"/>
                </a:lnTo>
                <a:lnTo>
                  <a:pt x="41402" y="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 txBox="1"/>
          <p:nvPr/>
        </p:nvSpPr>
        <p:spPr>
          <a:xfrm>
            <a:off x="5472810" y="2374773"/>
            <a:ext cx="400050" cy="4483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ts val="1660"/>
              </a:lnSpc>
              <a:spcBef>
                <a:spcPts val="105"/>
              </a:spcBef>
              <a:tabLst>
                <a:tab pos="288290" algn="l"/>
              </a:tabLst>
            </a:pPr>
            <a:r>
              <a:rPr sz="1400" spc="-50" dirty="0">
                <a:solidFill>
                  <a:srgbClr val="404040"/>
                </a:solidFill>
                <a:latin typeface="Cambria Math"/>
                <a:cs typeface="Cambria Math"/>
              </a:rPr>
              <a:t>6</a:t>
            </a:r>
            <a:r>
              <a:rPr sz="1400" dirty="0">
                <a:solidFill>
                  <a:srgbClr val="404040"/>
                </a:solidFill>
                <a:latin typeface="Cambria Math"/>
                <a:cs typeface="Cambria Math"/>
              </a:rPr>
              <a:t>	</a:t>
            </a:r>
            <a:r>
              <a:rPr sz="1400" spc="-50" dirty="0">
                <a:solidFill>
                  <a:srgbClr val="404040"/>
                </a:solidFill>
                <a:latin typeface="Cambria Math"/>
                <a:cs typeface="Cambria Math"/>
              </a:rPr>
              <a:t>5</a:t>
            </a:r>
            <a:endParaRPr sz="1400">
              <a:latin typeface="Cambria Math"/>
              <a:cs typeface="Cambria Math"/>
            </a:endParaRPr>
          </a:p>
          <a:p>
            <a:pPr marL="12700">
              <a:lnSpc>
                <a:spcPts val="1660"/>
              </a:lnSpc>
              <a:tabLst>
                <a:tab pos="288290" algn="l"/>
              </a:tabLst>
            </a:pPr>
            <a:r>
              <a:rPr sz="1400" spc="-50" dirty="0">
                <a:solidFill>
                  <a:srgbClr val="404040"/>
                </a:solidFill>
                <a:latin typeface="Cambria Math"/>
                <a:cs typeface="Cambria Math"/>
              </a:rPr>
              <a:t>4</a:t>
            </a:r>
            <a:r>
              <a:rPr sz="1400" dirty="0">
                <a:solidFill>
                  <a:srgbClr val="404040"/>
                </a:solidFill>
                <a:latin typeface="Cambria Math"/>
                <a:cs typeface="Cambria Math"/>
              </a:rPr>
              <a:t>	</a:t>
            </a:r>
            <a:r>
              <a:rPr sz="1400" spc="-50" dirty="0">
                <a:solidFill>
                  <a:srgbClr val="404040"/>
                </a:solidFill>
                <a:latin typeface="Cambria Math"/>
                <a:cs typeface="Cambria Math"/>
              </a:rPr>
              <a:t>7</a:t>
            </a:r>
            <a:endParaRPr sz="1400">
              <a:latin typeface="Cambria Math"/>
              <a:cs typeface="Cambria Math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1176019" y="3072764"/>
            <a:ext cx="330835" cy="2393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solidFill>
                  <a:srgbClr val="404040"/>
                </a:solidFill>
                <a:latin typeface="Cambria Math"/>
                <a:cs typeface="Cambria Math"/>
              </a:rPr>
              <a:t>=</a:t>
            </a:r>
            <a:r>
              <a:rPr sz="1400" spc="30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2100" spc="-75" baseline="1984" dirty="0">
                <a:solidFill>
                  <a:srgbClr val="404040"/>
                </a:solidFill>
                <a:latin typeface="Cambria Math"/>
                <a:cs typeface="Cambria Math"/>
              </a:rPr>
              <a:t>∑</a:t>
            </a:r>
            <a:endParaRPr sz="2100" baseline="1984">
              <a:latin typeface="Cambria Math"/>
              <a:cs typeface="Cambria Math"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3018409" y="2988309"/>
            <a:ext cx="110489" cy="450850"/>
          </a:xfrm>
          <a:custGeom>
            <a:avLst/>
            <a:gdLst/>
            <a:ahLst/>
            <a:cxnLst/>
            <a:rect l="l" t="t" r="r" b="b"/>
            <a:pathLst>
              <a:path w="110489" h="450850">
                <a:moveTo>
                  <a:pt x="41402" y="77470"/>
                </a:moveTo>
                <a:lnTo>
                  <a:pt x="0" y="77470"/>
                </a:lnTo>
                <a:lnTo>
                  <a:pt x="0" y="85090"/>
                </a:lnTo>
                <a:lnTo>
                  <a:pt x="25273" y="85090"/>
                </a:lnTo>
                <a:lnTo>
                  <a:pt x="25273" y="361950"/>
                </a:lnTo>
                <a:lnTo>
                  <a:pt x="0" y="361950"/>
                </a:lnTo>
                <a:lnTo>
                  <a:pt x="0" y="369570"/>
                </a:lnTo>
                <a:lnTo>
                  <a:pt x="41402" y="369570"/>
                </a:lnTo>
                <a:lnTo>
                  <a:pt x="41402" y="361950"/>
                </a:lnTo>
                <a:lnTo>
                  <a:pt x="41402" y="85090"/>
                </a:lnTo>
                <a:lnTo>
                  <a:pt x="41402" y="77470"/>
                </a:lnTo>
                <a:close/>
              </a:path>
              <a:path w="110489" h="450850">
                <a:moveTo>
                  <a:pt x="110236" y="0"/>
                </a:moveTo>
                <a:lnTo>
                  <a:pt x="65532" y="0"/>
                </a:lnTo>
                <a:lnTo>
                  <a:pt x="65532" y="8890"/>
                </a:lnTo>
                <a:lnTo>
                  <a:pt x="93345" y="8890"/>
                </a:lnTo>
                <a:lnTo>
                  <a:pt x="93345" y="441960"/>
                </a:lnTo>
                <a:lnTo>
                  <a:pt x="65532" y="441960"/>
                </a:lnTo>
                <a:lnTo>
                  <a:pt x="65532" y="450850"/>
                </a:lnTo>
                <a:lnTo>
                  <a:pt x="110236" y="450850"/>
                </a:lnTo>
                <a:lnTo>
                  <a:pt x="110236" y="441960"/>
                </a:lnTo>
                <a:lnTo>
                  <a:pt x="110236" y="8890"/>
                </a:lnTo>
                <a:lnTo>
                  <a:pt x="110236" y="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/>
          <p:nvPr/>
        </p:nvSpPr>
        <p:spPr>
          <a:xfrm>
            <a:off x="1542288" y="2988309"/>
            <a:ext cx="110489" cy="450850"/>
          </a:xfrm>
          <a:custGeom>
            <a:avLst/>
            <a:gdLst/>
            <a:ahLst/>
            <a:cxnLst/>
            <a:rect l="l" t="t" r="r" b="b"/>
            <a:pathLst>
              <a:path w="110489" h="450850">
                <a:moveTo>
                  <a:pt x="44704" y="0"/>
                </a:moveTo>
                <a:lnTo>
                  <a:pt x="0" y="0"/>
                </a:lnTo>
                <a:lnTo>
                  <a:pt x="0" y="8890"/>
                </a:lnTo>
                <a:lnTo>
                  <a:pt x="0" y="441960"/>
                </a:lnTo>
                <a:lnTo>
                  <a:pt x="0" y="450850"/>
                </a:lnTo>
                <a:lnTo>
                  <a:pt x="44704" y="450850"/>
                </a:lnTo>
                <a:lnTo>
                  <a:pt x="44704" y="441960"/>
                </a:lnTo>
                <a:lnTo>
                  <a:pt x="16891" y="441960"/>
                </a:lnTo>
                <a:lnTo>
                  <a:pt x="16891" y="8890"/>
                </a:lnTo>
                <a:lnTo>
                  <a:pt x="44704" y="8890"/>
                </a:lnTo>
                <a:lnTo>
                  <a:pt x="44704" y="0"/>
                </a:lnTo>
                <a:close/>
              </a:path>
              <a:path w="110489" h="450850">
                <a:moveTo>
                  <a:pt x="109982" y="77470"/>
                </a:moveTo>
                <a:lnTo>
                  <a:pt x="68580" y="77470"/>
                </a:lnTo>
                <a:lnTo>
                  <a:pt x="68580" y="85090"/>
                </a:lnTo>
                <a:lnTo>
                  <a:pt x="68580" y="361950"/>
                </a:lnTo>
                <a:lnTo>
                  <a:pt x="68580" y="369570"/>
                </a:lnTo>
                <a:lnTo>
                  <a:pt x="109982" y="369570"/>
                </a:lnTo>
                <a:lnTo>
                  <a:pt x="109982" y="361950"/>
                </a:lnTo>
                <a:lnTo>
                  <a:pt x="84582" y="361950"/>
                </a:lnTo>
                <a:lnTo>
                  <a:pt x="84582" y="85090"/>
                </a:lnTo>
                <a:lnTo>
                  <a:pt x="109982" y="85090"/>
                </a:lnTo>
                <a:lnTo>
                  <a:pt x="109982" y="7747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/>
          <p:nvPr/>
        </p:nvSpPr>
        <p:spPr>
          <a:xfrm>
            <a:off x="2033905" y="3065779"/>
            <a:ext cx="41910" cy="292100"/>
          </a:xfrm>
          <a:custGeom>
            <a:avLst/>
            <a:gdLst/>
            <a:ahLst/>
            <a:cxnLst/>
            <a:rect l="l" t="t" r="r" b="b"/>
            <a:pathLst>
              <a:path w="41910" h="292100">
                <a:moveTo>
                  <a:pt x="41402" y="0"/>
                </a:moveTo>
                <a:lnTo>
                  <a:pt x="0" y="0"/>
                </a:lnTo>
                <a:lnTo>
                  <a:pt x="0" y="7620"/>
                </a:lnTo>
                <a:lnTo>
                  <a:pt x="25273" y="7620"/>
                </a:lnTo>
                <a:lnTo>
                  <a:pt x="25273" y="284480"/>
                </a:lnTo>
                <a:lnTo>
                  <a:pt x="0" y="284480"/>
                </a:lnTo>
                <a:lnTo>
                  <a:pt x="0" y="292100"/>
                </a:lnTo>
                <a:lnTo>
                  <a:pt x="41402" y="292100"/>
                </a:lnTo>
                <a:lnTo>
                  <a:pt x="41402" y="284480"/>
                </a:lnTo>
                <a:lnTo>
                  <a:pt x="41402" y="7620"/>
                </a:lnTo>
                <a:lnTo>
                  <a:pt x="41402" y="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 txBox="1"/>
          <p:nvPr/>
        </p:nvSpPr>
        <p:spPr>
          <a:xfrm>
            <a:off x="1642617" y="2976752"/>
            <a:ext cx="400050" cy="4483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ts val="1660"/>
              </a:lnSpc>
              <a:spcBef>
                <a:spcPts val="105"/>
              </a:spcBef>
              <a:tabLst>
                <a:tab pos="288290" algn="l"/>
              </a:tabLst>
            </a:pPr>
            <a:r>
              <a:rPr sz="1400" spc="-50" dirty="0">
                <a:solidFill>
                  <a:srgbClr val="404040"/>
                </a:solidFill>
                <a:latin typeface="Cambria Math"/>
                <a:cs typeface="Cambria Math"/>
              </a:rPr>
              <a:t>0</a:t>
            </a:r>
            <a:r>
              <a:rPr sz="1400" dirty="0">
                <a:solidFill>
                  <a:srgbClr val="404040"/>
                </a:solidFill>
                <a:latin typeface="Cambria Math"/>
                <a:cs typeface="Cambria Math"/>
              </a:rPr>
              <a:t>	</a:t>
            </a:r>
            <a:r>
              <a:rPr sz="1400" spc="-50" dirty="0">
                <a:solidFill>
                  <a:srgbClr val="404040"/>
                </a:solidFill>
                <a:latin typeface="Cambria Math"/>
                <a:cs typeface="Cambria Math"/>
              </a:rPr>
              <a:t>2</a:t>
            </a:r>
            <a:endParaRPr sz="1400">
              <a:latin typeface="Cambria Math"/>
              <a:cs typeface="Cambria Math"/>
            </a:endParaRPr>
          </a:p>
          <a:p>
            <a:pPr marL="12700">
              <a:lnSpc>
                <a:spcPts val="1660"/>
              </a:lnSpc>
              <a:tabLst>
                <a:tab pos="288290" algn="l"/>
              </a:tabLst>
            </a:pPr>
            <a:r>
              <a:rPr sz="1400" spc="-50" dirty="0">
                <a:solidFill>
                  <a:srgbClr val="404040"/>
                </a:solidFill>
                <a:latin typeface="Cambria Math"/>
                <a:cs typeface="Cambria Math"/>
              </a:rPr>
              <a:t>2</a:t>
            </a:r>
            <a:r>
              <a:rPr sz="1400" dirty="0">
                <a:solidFill>
                  <a:srgbClr val="404040"/>
                </a:solidFill>
                <a:latin typeface="Cambria Math"/>
                <a:cs typeface="Cambria Math"/>
              </a:rPr>
              <a:t>	</a:t>
            </a:r>
            <a:r>
              <a:rPr sz="1400" spc="-50" dirty="0">
                <a:solidFill>
                  <a:srgbClr val="404040"/>
                </a:solidFill>
                <a:latin typeface="Cambria Math"/>
                <a:cs typeface="Cambria Math"/>
              </a:rPr>
              <a:t>3</a:t>
            </a:r>
            <a:endParaRPr sz="1400">
              <a:latin typeface="Cambria Math"/>
              <a:cs typeface="Cambria Math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2122677" y="3072764"/>
            <a:ext cx="158750" cy="2393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spc="-50" dirty="0">
                <a:solidFill>
                  <a:srgbClr val="404040"/>
                </a:solidFill>
                <a:latin typeface="Cambria Math"/>
                <a:cs typeface="Cambria Math"/>
              </a:rPr>
              <a:t>+</a:t>
            </a:r>
            <a:endParaRPr sz="1400">
              <a:latin typeface="Cambria Math"/>
              <a:cs typeface="Cambria Math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2327148" y="3065779"/>
            <a:ext cx="41910" cy="292100"/>
          </a:xfrm>
          <a:custGeom>
            <a:avLst/>
            <a:gdLst/>
            <a:ahLst/>
            <a:cxnLst/>
            <a:rect l="l" t="t" r="r" b="b"/>
            <a:pathLst>
              <a:path w="41910" h="292100">
                <a:moveTo>
                  <a:pt x="41402" y="0"/>
                </a:moveTo>
                <a:lnTo>
                  <a:pt x="0" y="0"/>
                </a:lnTo>
                <a:lnTo>
                  <a:pt x="0" y="7620"/>
                </a:lnTo>
                <a:lnTo>
                  <a:pt x="0" y="284480"/>
                </a:lnTo>
                <a:lnTo>
                  <a:pt x="0" y="292100"/>
                </a:lnTo>
                <a:lnTo>
                  <a:pt x="41402" y="292100"/>
                </a:lnTo>
                <a:lnTo>
                  <a:pt x="41402" y="284480"/>
                </a:lnTo>
                <a:lnTo>
                  <a:pt x="16002" y="284480"/>
                </a:lnTo>
                <a:lnTo>
                  <a:pt x="16002" y="7620"/>
                </a:lnTo>
                <a:lnTo>
                  <a:pt x="41402" y="7620"/>
                </a:lnTo>
                <a:lnTo>
                  <a:pt x="41402" y="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 txBox="1"/>
          <p:nvPr/>
        </p:nvSpPr>
        <p:spPr>
          <a:xfrm>
            <a:off x="2360422" y="2979801"/>
            <a:ext cx="666750" cy="4483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ts val="1660"/>
              </a:lnSpc>
              <a:spcBef>
                <a:spcPts val="105"/>
              </a:spcBef>
              <a:tabLst>
                <a:tab pos="421005" algn="l"/>
              </a:tabLst>
            </a:pPr>
            <a:r>
              <a:rPr sz="1400" spc="-25" dirty="0">
                <a:solidFill>
                  <a:srgbClr val="404040"/>
                </a:solidFill>
                <a:latin typeface="Cambria Math"/>
                <a:cs typeface="Cambria Math"/>
              </a:rPr>
              <a:t>−6</a:t>
            </a:r>
            <a:r>
              <a:rPr sz="1400" dirty="0">
                <a:solidFill>
                  <a:srgbClr val="404040"/>
                </a:solidFill>
                <a:latin typeface="Cambria Math"/>
                <a:cs typeface="Cambria Math"/>
              </a:rPr>
              <a:t>	</a:t>
            </a:r>
            <a:r>
              <a:rPr sz="1400" spc="-25" dirty="0">
                <a:solidFill>
                  <a:srgbClr val="404040"/>
                </a:solidFill>
                <a:latin typeface="Cambria Math"/>
                <a:cs typeface="Cambria Math"/>
              </a:rPr>
              <a:t>−5</a:t>
            </a:r>
            <a:endParaRPr sz="1400">
              <a:latin typeface="Cambria Math"/>
              <a:cs typeface="Cambria Math"/>
            </a:endParaRPr>
          </a:p>
          <a:p>
            <a:pPr marL="12700">
              <a:lnSpc>
                <a:spcPts val="1660"/>
              </a:lnSpc>
              <a:tabLst>
                <a:tab pos="421005" algn="l"/>
              </a:tabLst>
            </a:pPr>
            <a:r>
              <a:rPr sz="1400" spc="-25" dirty="0">
                <a:solidFill>
                  <a:srgbClr val="404040"/>
                </a:solidFill>
                <a:latin typeface="Cambria Math"/>
                <a:cs typeface="Cambria Math"/>
              </a:rPr>
              <a:t>−4</a:t>
            </a:r>
            <a:r>
              <a:rPr sz="1400" dirty="0">
                <a:solidFill>
                  <a:srgbClr val="404040"/>
                </a:solidFill>
                <a:latin typeface="Cambria Math"/>
                <a:cs typeface="Cambria Math"/>
              </a:rPr>
              <a:t>	</a:t>
            </a:r>
            <a:r>
              <a:rPr sz="1400" spc="-25" dirty="0">
                <a:solidFill>
                  <a:srgbClr val="404040"/>
                </a:solidFill>
                <a:latin typeface="Cambria Math"/>
                <a:cs typeface="Cambria Math"/>
              </a:rPr>
              <a:t>−7</a:t>
            </a:r>
            <a:endParaRPr sz="1400">
              <a:latin typeface="Cambria Math"/>
              <a:cs typeface="Cambria Math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1176019" y="3678173"/>
            <a:ext cx="29718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dirty="0">
                <a:solidFill>
                  <a:srgbClr val="404040"/>
                </a:solidFill>
                <a:latin typeface="Times New Roman"/>
                <a:cs typeface="Times New Roman"/>
              </a:rPr>
              <a:t>= </a:t>
            </a:r>
            <a:r>
              <a:rPr sz="2100" spc="-75" baseline="1984" dirty="0">
                <a:solidFill>
                  <a:srgbClr val="404040"/>
                </a:solidFill>
                <a:latin typeface="Cambria Math"/>
                <a:cs typeface="Cambria Math"/>
              </a:rPr>
              <a:t>∑</a:t>
            </a:r>
            <a:endParaRPr sz="2100" baseline="1984">
              <a:latin typeface="Cambria Math"/>
              <a:cs typeface="Cambria Math"/>
            </a:endParaRPr>
          </a:p>
        </p:txBody>
      </p:sp>
      <p:sp>
        <p:nvSpPr>
          <p:cNvPr id="31" name="object 31"/>
          <p:cNvSpPr/>
          <p:nvPr/>
        </p:nvSpPr>
        <p:spPr>
          <a:xfrm>
            <a:off x="2268601" y="3594100"/>
            <a:ext cx="110489" cy="449580"/>
          </a:xfrm>
          <a:custGeom>
            <a:avLst/>
            <a:gdLst/>
            <a:ahLst/>
            <a:cxnLst/>
            <a:rect l="l" t="t" r="r" b="b"/>
            <a:pathLst>
              <a:path w="110489" h="449579">
                <a:moveTo>
                  <a:pt x="41402" y="76200"/>
                </a:moveTo>
                <a:lnTo>
                  <a:pt x="0" y="76200"/>
                </a:lnTo>
                <a:lnTo>
                  <a:pt x="0" y="83820"/>
                </a:lnTo>
                <a:lnTo>
                  <a:pt x="25273" y="83820"/>
                </a:lnTo>
                <a:lnTo>
                  <a:pt x="25273" y="361950"/>
                </a:lnTo>
                <a:lnTo>
                  <a:pt x="0" y="361950"/>
                </a:lnTo>
                <a:lnTo>
                  <a:pt x="0" y="369570"/>
                </a:lnTo>
                <a:lnTo>
                  <a:pt x="41402" y="369570"/>
                </a:lnTo>
                <a:lnTo>
                  <a:pt x="41402" y="361950"/>
                </a:lnTo>
                <a:lnTo>
                  <a:pt x="41402" y="83820"/>
                </a:lnTo>
                <a:lnTo>
                  <a:pt x="41402" y="76200"/>
                </a:lnTo>
                <a:close/>
              </a:path>
              <a:path w="110489" h="449579">
                <a:moveTo>
                  <a:pt x="110236" y="0"/>
                </a:moveTo>
                <a:lnTo>
                  <a:pt x="65532" y="0"/>
                </a:lnTo>
                <a:lnTo>
                  <a:pt x="65532" y="7620"/>
                </a:lnTo>
                <a:lnTo>
                  <a:pt x="93345" y="7620"/>
                </a:lnTo>
                <a:lnTo>
                  <a:pt x="93345" y="440690"/>
                </a:lnTo>
                <a:lnTo>
                  <a:pt x="65532" y="440690"/>
                </a:lnTo>
                <a:lnTo>
                  <a:pt x="65532" y="449580"/>
                </a:lnTo>
                <a:lnTo>
                  <a:pt x="110236" y="449580"/>
                </a:lnTo>
                <a:lnTo>
                  <a:pt x="110236" y="440690"/>
                </a:lnTo>
                <a:lnTo>
                  <a:pt x="110236" y="7620"/>
                </a:lnTo>
                <a:lnTo>
                  <a:pt x="110236" y="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/>
          <p:cNvSpPr/>
          <p:nvPr/>
        </p:nvSpPr>
        <p:spPr>
          <a:xfrm>
            <a:off x="1508760" y="3594100"/>
            <a:ext cx="110489" cy="449580"/>
          </a:xfrm>
          <a:custGeom>
            <a:avLst/>
            <a:gdLst/>
            <a:ahLst/>
            <a:cxnLst/>
            <a:rect l="l" t="t" r="r" b="b"/>
            <a:pathLst>
              <a:path w="110490" h="449579">
                <a:moveTo>
                  <a:pt x="44704" y="0"/>
                </a:moveTo>
                <a:lnTo>
                  <a:pt x="0" y="0"/>
                </a:lnTo>
                <a:lnTo>
                  <a:pt x="0" y="7620"/>
                </a:lnTo>
                <a:lnTo>
                  <a:pt x="0" y="440690"/>
                </a:lnTo>
                <a:lnTo>
                  <a:pt x="0" y="449580"/>
                </a:lnTo>
                <a:lnTo>
                  <a:pt x="44704" y="449580"/>
                </a:lnTo>
                <a:lnTo>
                  <a:pt x="44704" y="440690"/>
                </a:lnTo>
                <a:lnTo>
                  <a:pt x="16891" y="440690"/>
                </a:lnTo>
                <a:lnTo>
                  <a:pt x="16891" y="7620"/>
                </a:lnTo>
                <a:lnTo>
                  <a:pt x="44704" y="7620"/>
                </a:lnTo>
                <a:lnTo>
                  <a:pt x="44704" y="0"/>
                </a:lnTo>
                <a:close/>
              </a:path>
              <a:path w="110490" h="449579">
                <a:moveTo>
                  <a:pt x="109982" y="76200"/>
                </a:moveTo>
                <a:lnTo>
                  <a:pt x="68580" y="76200"/>
                </a:lnTo>
                <a:lnTo>
                  <a:pt x="68580" y="83820"/>
                </a:lnTo>
                <a:lnTo>
                  <a:pt x="68580" y="361950"/>
                </a:lnTo>
                <a:lnTo>
                  <a:pt x="68580" y="369570"/>
                </a:lnTo>
                <a:lnTo>
                  <a:pt x="109982" y="369570"/>
                </a:lnTo>
                <a:lnTo>
                  <a:pt x="109982" y="361950"/>
                </a:lnTo>
                <a:lnTo>
                  <a:pt x="84582" y="361950"/>
                </a:lnTo>
                <a:lnTo>
                  <a:pt x="84582" y="83820"/>
                </a:lnTo>
                <a:lnTo>
                  <a:pt x="109982" y="83820"/>
                </a:lnTo>
                <a:lnTo>
                  <a:pt x="109982" y="7620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/>
          <p:cNvSpPr txBox="1"/>
          <p:nvPr/>
        </p:nvSpPr>
        <p:spPr>
          <a:xfrm>
            <a:off x="1609089" y="3583685"/>
            <a:ext cx="668655" cy="44704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ts val="1655"/>
              </a:lnSpc>
              <a:spcBef>
                <a:spcPts val="105"/>
              </a:spcBef>
              <a:tabLst>
                <a:tab pos="422275" algn="l"/>
              </a:tabLst>
            </a:pPr>
            <a:r>
              <a:rPr sz="1400" spc="-25" dirty="0">
                <a:solidFill>
                  <a:srgbClr val="404040"/>
                </a:solidFill>
                <a:latin typeface="Cambria Math"/>
                <a:cs typeface="Cambria Math"/>
              </a:rPr>
              <a:t>−6</a:t>
            </a:r>
            <a:r>
              <a:rPr sz="1400" dirty="0">
                <a:solidFill>
                  <a:srgbClr val="404040"/>
                </a:solidFill>
                <a:latin typeface="Cambria Math"/>
                <a:cs typeface="Cambria Math"/>
              </a:rPr>
              <a:t>	</a:t>
            </a:r>
            <a:r>
              <a:rPr sz="1400" spc="-25" dirty="0">
                <a:solidFill>
                  <a:srgbClr val="404040"/>
                </a:solidFill>
                <a:latin typeface="Cambria Math"/>
                <a:cs typeface="Cambria Math"/>
              </a:rPr>
              <a:t>−3</a:t>
            </a:r>
            <a:endParaRPr sz="1400">
              <a:latin typeface="Cambria Math"/>
              <a:cs typeface="Cambria Math"/>
            </a:endParaRPr>
          </a:p>
          <a:p>
            <a:pPr marL="12700">
              <a:lnSpc>
                <a:spcPts val="1655"/>
              </a:lnSpc>
              <a:tabLst>
                <a:tab pos="422275" algn="l"/>
              </a:tabLst>
            </a:pPr>
            <a:r>
              <a:rPr sz="1400" spc="-25" dirty="0">
                <a:solidFill>
                  <a:srgbClr val="404040"/>
                </a:solidFill>
                <a:latin typeface="Cambria Math"/>
                <a:cs typeface="Cambria Math"/>
              </a:rPr>
              <a:t>−2</a:t>
            </a:r>
            <a:r>
              <a:rPr sz="1400" dirty="0">
                <a:solidFill>
                  <a:srgbClr val="404040"/>
                </a:solidFill>
                <a:latin typeface="Cambria Math"/>
                <a:cs typeface="Cambria Math"/>
              </a:rPr>
              <a:t>	</a:t>
            </a:r>
            <a:r>
              <a:rPr sz="1400" spc="-25" dirty="0">
                <a:solidFill>
                  <a:srgbClr val="404040"/>
                </a:solidFill>
                <a:latin typeface="Cambria Math"/>
                <a:cs typeface="Cambria Math"/>
              </a:rPr>
              <a:t>−4</a:t>
            </a:r>
            <a:endParaRPr sz="1400">
              <a:latin typeface="Cambria Math"/>
              <a:cs typeface="Cambria Math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1137919" y="4168902"/>
            <a:ext cx="2562860" cy="6115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100"/>
              </a:spcBef>
            </a:pPr>
            <a:r>
              <a:rPr sz="1400" dirty="0">
                <a:solidFill>
                  <a:srgbClr val="404040"/>
                </a:solidFill>
                <a:latin typeface="Cambria Math"/>
                <a:cs typeface="Cambria Math"/>
              </a:rPr>
              <a:t>=</a:t>
            </a:r>
            <a:r>
              <a:rPr sz="1400" spc="65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1400" spc="-25" dirty="0">
                <a:solidFill>
                  <a:srgbClr val="404040"/>
                </a:solidFill>
                <a:latin typeface="Cambria Math"/>
                <a:cs typeface="Cambria Math"/>
              </a:rPr>
              <a:t>−15</a:t>
            </a:r>
            <a:endParaRPr sz="1400">
              <a:latin typeface="Cambria Math"/>
              <a:cs typeface="Cambria Math"/>
            </a:endParaRPr>
          </a:p>
          <a:p>
            <a:pPr marL="50800">
              <a:lnSpc>
                <a:spcPct val="100000"/>
              </a:lnSpc>
              <a:spcBef>
                <a:spcPts val="1250"/>
              </a:spcBef>
            </a:pPr>
            <a:r>
              <a:rPr sz="1400" dirty="0">
                <a:solidFill>
                  <a:srgbClr val="404040"/>
                </a:solidFill>
                <a:latin typeface="Times New Roman"/>
                <a:cs typeface="Times New Roman"/>
              </a:rPr>
              <a:t>Again, </a:t>
            </a:r>
            <a:r>
              <a:rPr sz="2100" baseline="1984" dirty="0">
                <a:solidFill>
                  <a:srgbClr val="404040"/>
                </a:solidFill>
                <a:latin typeface="Cambria Math"/>
                <a:cs typeface="Cambria Math"/>
              </a:rPr>
              <a:t>∑</a:t>
            </a:r>
            <a:r>
              <a:rPr sz="2100" spc="-104" baseline="1984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1400" dirty="0">
                <a:solidFill>
                  <a:srgbClr val="404040"/>
                </a:solidFill>
                <a:latin typeface="Cambria Math"/>
                <a:cs typeface="Cambria Math"/>
              </a:rPr>
              <a:t>𝑎</a:t>
            </a:r>
            <a:r>
              <a:rPr sz="1500" baseline="-16666" dirty="0">
                <a:solidFill>
                  <a:srgbClr val="404040"/>
                </a:solidFill>
                <a:latin typeface="Cambria Math"/>
                <a:cs typeface="Cambria Math"/>
              </a:rPr>
              <a:t>𝑖</a:t>
            </a:r>
            <a:r>
              <a:rPr sz="1400" dirty="0">
                <a:solidFill>
                  <a:srgbClr val="404040"/>
                </a:solidFill>
                <a:latin typeface="Cambria Math"/>
                <a:cs typeface="Cambria Math"/>
              </a:rPr>
              <a:t>𝑓</a:t>
            </a:r>
            <a:r>
              <a:rPr sz="1500" baseline="-16666" dirty="0">
                <a:solidFill>
                  <a:srgbClr val="404040"/>
                </a:solidFill>
                <a:latin typeface="Cambria Math"/>
                <a:cs typeface="Cambria Math"/>
              </a:rPr>
              <a:t>𝑖</a:t>
            </a:r>
            <a:r>
              <a:rPr sz="1400" dirty="0">
                <a:solidFill>
                  <a:srgbClr val="404040"/>
                </a:solidFill>
                <a:latin typeface="Cambria Math"/>
                <a:cs typeface="Cambria Math"/>
              </a:rPr>
              <a:t>(𝑥,</a:t>
            </a:r>
            <a:r>
              <a:rPr sz="1400" spc="-70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1400" dirty="0">
                <a:solidFill>
                  <a:srgbClr val="404040"/>
                </a:solidFill>
                <a:latin typeface="Cambria Math"/>
                <a:cs typeface="Cambria Math"/>
              </a:rPr>
              <a:t>𝑦)</a:t>
            </a:r>
            <a:r>
              <a:rPr sz="1400" spc="15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1400" dirty="0">
                <a:solidFill>
                  <a:srgbClr val="404040"/>
                </a:solidFill>
                <a:latin typeface="Cambria Math"/>
                <a:cs typeface="Cambria Math"/>
              </a:rPr>
              <a:t>+</a:t>
            </a:r>
            <a:r>
              <a:rPr sz="1400" spc="55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2100" baseline="1984" dirty="0">
                <a:solidFill>
                  <a:srgbClr val="404040"/>
                </a:solidFill>
                <a:latin typeface="Cambria Math"/>
                <a:cs typeface="Cambria Math"/>
              </a:rPr>
              <a:t>∑</a:t>
            </a:r>
            <a:r>
              <a:rPr sz="2100" spc="-104" baseline="1984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1400" dirty="0">
                <a:solidFill>
                  <a:srgbClr val="404040"/>
                </a:solidFill>
                <a:latin typeface="Cambria Math"/>
                <a:cs typeface="Cambria Math"/>
              </a:rPr>
              <a:t>𝑎</a:t>
            </a:r>
            <a:r>
              <a:rPr sz="1500" baseline="-16666" dirty="0">
                <a:solidFill>
                  <a:srgbClr val="404040"/>
                </a:solidFill>
                <a:latin typeface="Cambria Math"/>
                <a:cs typeface="Cambria Math"/>
              </a:rPr>
              <a:t>𝑗</a:t>
            </a:r>
            <a:r>
              <a:rPr sz="1400" dirty="0">
                <a:solidFill>
                  <a:srgbClr val="404040"/>
                </a:solidFill>
                <a:latin typeface="Cambria Math"/>
                <a:cs typeface="Cambria Math"/>
              </a:rPr>
              <a:t>𝑓</a:t>
            </a:r>
            <a:r>
              <a:rPr sz="1500" baseline="-16666" dirty="0">
                <a:solidFill>
                  <a:srgbClr val="404040"/>
                </a:solidFill>
                <a:latin typeface="Cambria Math"/>
                <a:cs typeface="Cambria Math"/>
              </a:rPr>
              <a:t>𝑗</a:t>
            </a:r>
            <a:r>
              <a:rPr sz="1400" dirty="0">
                <a:solidFill>
                  <a:srgbClr val="404040"/>
                </a:solidFill>
                <a:latin typeface="Cambria Math"/>
                <a:cs typeface="Cambria Math"/>
              </a:rPr>
              <a:t>(𝑥,</a:t>
            </a:r>
            <a:r>
              <a:rPr sz="1400" spc="-70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1400" spc="-25" dirty="0">
                <a:solidFill>
                  <a:srgbClr val="404040"/>
                </a:solidFill>
                <a:latin typeface="Cambria Math"/>
                <a:cs typeface="Cambria Math"/>
              </a:rPr>
              <a:t>𝑦)</a:t>
            </a:r>
            <a:endParaRPr sz="1400">
              <a:latin typeface="Cambria Math"/>
              <a:cs typeface="Cambria Math"/>
            </a:endParaRPr>
          </a:p>
        </p:txBody>
      </p:sp>
      <p:sp>
        <p:nvSpPr>
          <p:cNvPr id="35" name="object 35"/>
          <p:cNvSpPr/>
          <p:nvPr/>
        </p:nvSpPr>
        <p:spPr>
          <a:xfrm>
            <a:off x="1971421" y="4983479"/>
            <a:ext cx="41910" cy="292100"/>
          </a:xfrm>
          <a:custGeom>
            <a:avLst/>
            <a:gdLst/>
            <a:ahLst/>
            <a:cxnLst/>
            <a:rect l="l" t="t" r="r" b="b"/>
            <a:pathLst>
              <a:path w="41910" h="292100">
                <a:moveTo>
                  <a:pt x="41402" y="0"/>
                </a:moveTo>
                <a:lnTo>
                  <a:pt x="0" y="0"/>
                </a:lnTo>
                <a:lnTo>
                  <a:pt x="0" y="7620"/>
                </a:lnTo>
                <a:lnTo>
                  <a:pt x="25273" y="7620"/>
                </a:lnTo>
                <a:lnTo>
                  <a:pt x="25273" y="284480"/>
                </a:lnTo>
                <a:lnTo>
                  <a:pt x="0" y="284480"/>
                </a:lnTo>
                <a:lnTo>
                  <a:pt x="0" y="292100"/>
                </a:lnTo>
                <a:lnTo>
                  <a:pt x="41402" y="292100"/>
                </a:lnTo>
                <a:lnTo>
                  <a:pt x="41402" y="284480"/>
                </a:lnTo>
                <a:lnTo>
                  <a:pt x="41402" y="7620"/>
                </a:lnTo>
                <a:lnTo>
                  <a:pt x="41402" y="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/>
          <p:cNvSpPr/>
          <p:nvPr/>
        </p:nvSpPr>
        <p:spPr>
          <a:xfrm>
            <a:off x="1546860" y="4983479"/>
            <a:ext cx="41910" cy="292100"/>
          </a:xfrm>
          <a:custGeom>
            <a:avLst/>
            <a:gdLst/>
            <a:ahLst/>
            <a:cxnLst/>
            <a:rect l="l" t="t" r="r" b="b"/>
            <a:pathLst>
              <a:path w="41909" h="292100">
                <a:moveTo>
                  <a:pt x="41402" y="0"/>
                </a:moveTo>
                <a:lnTo>
                  <a:pt x="0" y="0"/>
                </a:lnTo>
                <a:lnTo>
                  <a:pt x="0" y="7620"/>
                </a:lnTo>
                <a:lnTo>
                  <a:pt x="0" y="284480"/>
                </a:lnTo>
                <a:lnTo>
                  <a:pt x="0" y="292100"/>
                </a:lnTo>
                <a:lnTo>
                  <a:pt x="41402" y="292100"/>
                </a:lnTo>
                <a:lnTo>
                  <a:pt x="41402" y="284480"/>
                </a:lnTo>
                <a:lnTo>
                  <a:pt x="16002" y="284480"/>
                </a:lnTo>
                <a:lnTo>
                  <a:pt x="16002" y="7620"/>
                </a:lnTo>
                <a:lnTo>
                  <a:pt x="41402" y="7620"/>
                </a:lnTo>
                <a:lnTo>
                  <a:pt x="41402" y="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7"/>
          <p:cNvSpPr txBox="1"/>
          <p:nvPr/>
        </p:nvSpPr>
        <p:spPr>
          <a:xfrm>
            <a:off x="1150619" y="4990591"/>
            <a:ext cx="57912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1400" dirty="0">
                <a:solidFill>
                  <a:srgbClr val="404040"/>
                </a:solidFill>
                <a:latin typeface="Cambria Math"/>
                <a:cs typeface="Cambria Math"/>
              </a:rPr>
              <a:t>=</a:t>
            </a:r>
            <a:r>
              <a:rPr sz="1400" spc="75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2100" baseline="1984" dirty="0">
                <a:solidFill>
                  <a:srgbClr val="404040"/>
                </a:solidFill>
                <a:latin typeface="Cambria Math"/>
                <a:cs typeface="Cambria Math"/>
              </a:rPr>
              <a:t>∑</a:t>
            </a:r>
            <a:r>
              <a:rPr sz="2100" spc="637" baseline="1984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2100" spc="-75" baseline="29761" dirty="0">
                <a:solidFill>
                  <a:srgbClr val="404040"/>
                </a:solidFill>
                <a:latin typeface="Cambria Math"/>
                <a:cs typeface="Cambria Math"/>
              </a:rPr>
              <a:t>0</a:t>
            </a:r>
            <a:endParaRPr sz="2100" baseline="29761">
              <a:latin typeface="Cambria Math"/>
              <a:cs typeface="Cambria Math"/>
            </a:endParaRPr>
          </a:p>
        </p:txBody>
      </p:sp>
      <p:sp>
        <p:nvSpPr>
          <p:cNvPr id="38" name="object 38"/>
          <p:cNvSpPr/>
          <p:nvPr/>
        </p:nvSpPr>
        <p:spPr>
          <a:xfrm>
            <a:off x="3109849" y="4983479"/>
            <a:ext cx="41910" cy="292100"/>
          </a:xfrm>
          <a:custGeom>
            <a:avLst/>
            <a:gdLst/>
            <a:ahLst/>
            <a:cxnLst/>
            <a:rect l="l" t="t" r="r" b="b"/>
            <a:pathLst>
              <a:path w="41910" h="292100">
                <a:moveTo>
                  <a:pt x="41402" y="0"/>
                </a:moveTo>
                <a:lnTo>
                  <a:pt x="0" y="0"/>
                </a:lnTo>
                <a:lnTo>
                  <a:pt x="0" y="7620"/>
                </a:lnTo>
                <a:lnTo>
                  <a:pt x="25273" y="7620"/>
                </a:lnTo>
                <a:lnTo>
                  <a:pt x="25273" y="284480"/>
                </a:lnTo>
                <a:lnTo>
                  <a:pt x="0" y="284480"/>
                </a:lnTo>
                <a:lnTo>
                  <a:pt x="0" y="292100"/>
                </a:lnTo>
                <a:lnTo>
                  <a:pt x="41402" y="292100"/>
                </a:lnTo>
                <a:lnTo>
                  <a:pt x="41402" y="284480"/>
                </a:lnTo>
                <a:lnTo>
                  <a:pt x="41402" y="7620"/>
                </a:lnTo>
                <a:lnTo>
                  <a:pt x="41402" y="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object 39"/>
          <p:cNvSpPr/>
          <p:nvPr/>
        </p:nvSpPr>
        <p:spPr>
          <a:xfrm>
            <a:off x="2420112" y="4983479"/>
            <a:ext cx="41910" cy="292100"/>
          </a:xfrm>
          <a:custGeom>
            <a:avLst/>
            <a:gdLst/>
            <a:ahLst/>
            <a:cxnLst/>
            <a:rect l="l" t="t" r="r" b="b"/>
            <a:pathLst>
              <a:path w="41910" h="292100">
                <a:moveTo>
                  <a:pt x="41402" y="0"/>
                </a:moveTo>
                <a:lnTo>
                  <a:pt x="0" y="0"/>
                </a:lnTo>
                <a:lnTo>
                  <a:pt x="0" y="7620"/>
                </a:lnTo>
                <a:lnTo>
                  <a:pt x="0" y="284480"/>
                </a:lnTo>
                <a:lnTo>
                  <a:pt x="0" y="292100"/>
                </a:lnTo>
                <a:lnTo>
                  <a:pt x="41402" y="292100"/>
                </a:lnTo>
                <a:lnTo>
                  <a:pt x="41402" y="284480"/>
                </a:lnTo>
                <a:lnTo>
                  <a:pt x="16002" y="284480"/>
                </a:lnTo>
                <a:lnTo>
                  <a:pt x="16002" y="7620"/>
                </a:lnTo>
                <a:lnTo>
                  <a:pt x="41402" y="7620"/>
                </a:lnTo>
                <a:lnTo>
                  <a:pt x="41402" y="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/>
          <p:cNvSpPr txBox="1"/>
          <p:nvPr/>
        </p:nvSpPr>
        <p:spPr>
          <a:xfrm>
            <a:off x="1580133" y="5106416"/>
            <a:ext cx="113030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288290" algn="l"/>
                <a:tab pos="883919" algn="l"/>
              </a:tabLst>
            </a:pPr>
            <a:r>
              <a:rPr sz="1400" spc="-50" dirty="0">
                <a:solidFill>
                  <a:srgbClr val="404040"/>
                </a:solidFill>
                <a:latin typeface="Cambria Math"/>
                <a:cs typeface="Cambria Math"/>
              </a:rPr>
              <a:t>2</a:t>
            </a:r>
            <a:r>
              <a:rPr sz="1400" dirty="0">
                <a:solidFill>
                  <a:srgbClr val="404040"/>
                </a:solidFill>
                <a:latin typeface="Cambria Math"/>
                <a:cs typeface="Cambria Math"/>
              </a:rPr>
              <a:t>	</a:t>
            </a:r>
            <a:r>
              <a:rPr sz="1400" spc="-50" dirty="0">
                <a:solidFill>
                  <a:srgbClr val="404040"/>
                </a:solidFill>
                <a:latin typeface="Cambria Math"/>
                <a:cs typeface="Cambria Math"/>
              </a:rPr>
              <a:t>3</a:t>
            </a:r>
            <a:r>
              <a:rPr sz="1400" dirty="0">
                <a:solidFill>
                  <a:srgbClr val="404040"/>
                </a:solidFill>
                <a:latin typeface="Cambria Math"/>
                <a:cs typeface="Cambria Math"/>
              </a:rPr>
              <a:t>	</a:t>
            </a:r>
            <a:r>
              <a:rPr sz="1400" spc="-25" dirty="0">
                <a:solidFill>
                  <a:srgbClr val="404040"/>
                </a:solidFill>
                <a:latin typeface="Cambria Math"/>
                <a:cs typeface="Cambria Math"/>
              </a:rPr>
              <a:t>−4</a:t>
            </a:r>
            <a:endParaRPr sz="1400">
              <a:latin typeface="Cambria Math"/>
              <a:cs typeface="Cambria Math"/>
            </a:endParaRPr>
          </a:p>
        </p:txBody>
      </p:sp>
      <p:sp>
        <p:nvSpPr>
          <p:cNvPr id="43" name="object 4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dirty="0"/>
              <a:t>23</a:t>
            </a:r>
            <a:r>
              <a:rPr spc="-5" dirty="0"/>
              <a:t> </a:t>
            </a:r>
            <a:r>
              <a:rPr dirty="0"/>
              <a:t>May</a:t>
            </a:r>
            <a:r>
              <a:rPr spc="-5" dirty="0"/>
              <a:t> </a:t>
            </a:r>
            <a:r>
              <a:rPr spc="-20" dirty="0"/>
              <a:t>2024</a:t>
            </a:r>
          </a:p>
        </p:txBody>
      </p:sp>
      <p:sp>
        <p:nvSpPr>
          <p:cNvPr id="44" name="object 44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pc="-10" dirty="0"/>
              <a:t>MATHEMATICAL</a:t>
            </a:r>
            <a:r>
              <a:rPr spc="10" dirty="0"/>
              <a:t> </a:t>
            </a:r>
            <a:r>
              <a:rPr dirty="0"/>
              <a:t>TOOLS</a:t>
            </a:r>
            <a:r>
              <a:rPr spc="-15" dirty="0"/>
              <a:t> </a:t>
            </a:r>
            <a:r>
              <a:rPr dirty="0"/>
              <a:t>USED</a:t>
            </a:r>
            <a:r>
              <a:rPr spc="-30" dirty="0"/>
              <a:t> </a:t>
            </a:r>
            <a:r>
              <a:rPr dirty="0"/>
              <a:t>IN</a:t>
            </a:r>
            <a:r>
              <a:rPr spc="-30" dirty="0"/>
              <a:t> </a:t>
            </a:r>
            <a:r>
              <a:rPr dirty="0"/>
              <a:t>DIGITAL</a:t>
            </a:r>
            <a:r>
              <a:rPr spc="5" dirty="0"/>
              <a:t> </a:t>
            </a:r>
            <a:r>
              <a:rPr dirty="0"/>
              <a:t>IMAGE</a:t>
            </a:r>
            <a:r>
              <a:rPr spc="-5" dirty="0"/>
              <a:t> </a:t>
            </a:r>
            <a:r>
              <a:rPr spc="-10" dirty="0"/>
              <a:t>PROCESSING</a:t>
            </a:r>
          </a:p>
        </p:txBody>
      </p:sp>
      <p:sp>
        <p:nvSpPr>
          <p:cNvPr id="45" name="object 4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55"/>
              </a:lnSpc>
            </a:pPr>
            <a:fld id="{81D60167-4931-47E6-BA6A-407CBD079E47}" type="slidenum">
              <a:rPr spc="-25" dirty="0"/>
              <a:t>7</a:t>
            </a:fld>
            <a:endParaRPr spc="-25" dirty="0"/>
          </a:p>
        </p:txBody>
      </p:sp>
      <p:sp>
        <p:nvSpPr>
          <p:cNvPr id="41" name="object 41"/>
          <p:cNvSpPr txBox="1"/>
          <p:nvPr/>
        </p:nvSpPr>
        <p:spPr>
          <a:xfrm>
            <a:off x="1817877" y="4897627"/>
            <a:ext cx="1326515" cy="44830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0800">
              <a:lnSpc>
                <a:spcPts val="1660"/>
              </a:lnSpc>
              <a:spcBef>
                <a:spcPts val="100"/>
              </a:spcBef>
              <a:tabLst>
                <a:tab pos="1056005" algn="l"/>
              </a:tabLst>
            </a:pPr>
            <a:r>
              <a:rPr sz="1400" dirty="0">
                <a:solidFill>
                  <a:srgbClr val="404040"/>
                </a:solidFill>
                <a:latin typeface="Cambria Math"/>
                <a:cs typeface="Cambria Math"/>
              </a:rPr>
              <a:t>2</a:t>
            </a:r>
            <a:r>
              <a:rPr sz="1400" spc="95" dirty="0">
                <a:solidFill>
                  <a:srgbClr val="404040"/>
                </a:solidFill>
                <a:latin typeface="Cambria Math"/>
                <a:cs typeface="Cambria Math"/>
              </a:rPr>
              <a:t>  </a:t>
            </a:r>
            <a:r>
              <a:rPr sz="2100" baseline="-29761" dirty="0">
                <a:solidFill>
                  <a:srgbClr val="404040"/>
                </a:solidFill>
                <a:latin typeface="Cambria Math"/>
                <a:cs typeface="Cambria Math"/>
              </a:rPr>
              <a:t>+ </a:t>
            </a:r>
            <a:r>
              <a:rPr sz="2100" baseline="-27777" dirty="0">
                <a:solidFill>
                  <a:srgbClr val="404040"/>
                </a:solidFill>
                <a:latin typeface="Cambria Math"/>
                <a:cs typeface="Cambria Math"/>
              </a:rPr>
              <a:t>∑</a:t>
            </a:r>
            <a:r>
              <a:rPr sz="2100" spc="644" baseline="-27777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1400" spc="-25" dirty="0">
                <a:solidFill>
                  <a:srgbClr val="404040"/>
                </a:solidFill>
                <a:latin typeface="Cambria Math"/>
                <a:cs typeface="Cambria Math"/>
              </a:rPr>
              <a:t>−6</a:t>
            </a:r>
            <a:r>
              <a:rPr sz="1400" dirty="0">
                <a:solidFill>
                  <a:srgbClr val="404040"/>
                </a:solidFill>
                <a:latin typeface="Cambria Math"/>
                <a:cs typeface="Cambria Math"/>
              </a:rPr>
              <a:t>	</a:t>
            </a:r>
            <a:r>
              <a:rPr sz="1400" spc="-25" dirty="0">
                <a:solidFill>
                  <a:srgbClr val="404040"/>
                </a:solidFill>
                <a:latin typeface="Cambria Math"/>
                <a:cs typeface="Cambria Math"/>
              </a:rPr>
              <a:t>−5</a:t>
            </a:r>
            <a:endParaRPr sz="1400">
              <a:latin typeface="Cambria Math"/>
              <a:cs typeface="Cambria Math"/>
            </a:endParaRPr>
          </a:p>
          <a:p>
            <a:pPr marR="30480" algn="r">
              <a:lnSpc>
                <a:spcPts val="1660"/>
              </a:lnSpc>
            </a:pPr>
            <a:r>
              <a:rPr sz="1400" spc="-25" dirty="0">
                <a:solidFill>
                  <a:srgbClr val="404040"/>
                </a:solidFill>
                <a:latin typeface="Cambria Math"/>
                <a:cs typeface="Cambria Math"/>
              </a:rPr>
              <a:t>−7</a:t>
            </a:r>
            <a:endParaRPr sz="1400">
              <a:latin typeface="Cambria Math"/>
              <a:cs typeface="Cambria Math"/>
            </a:endParaRPr>
          </a:p>
        </p:txBody>
      </p:sp>
      <p:sp>
        <p:nvSpPr>
          <p:cNvPr id="42" name="object 42"/>
          <p:cNvSpPr txBox="1"/>
          <p:nvPr/>
        </p:nvSpPr>
        <p:spPr>
          <a:xfrm>
            <a:off x="1176019" y="5424932"/>
            <a:ext cx="635635" cy="6102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dirty="0">
                <a:solidFill>
                  <a:srgbClr val="404040"/>
                </a:solidFill>
                <a:latin typeface="Times New Roman"/>
                <a:cs typeface="Times New Roman"/>
              </a:rPr>
              <a:t>=</a:t>
            </a:r>
            <a:r>
              <a:rPr sz="1400" dirty="0">
                <a:solidFill>
                  <a:srgbClr val="404040"/>
                </a:solidFill>
                <a:latin typeface="Cambria Math"/>
                <a:cs typeface="Cambria Math"/>
              </a:rPr>
              <a:t>7</a:t>
            </a:r>
            <a:r>
              <a:rPr sz="1400" spc="-20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1400" dirty="0">
                <a:solidFill>
                  <a:srgbClr val="404040"/>
                </a:solidFill>
                <a:latin typeface="Cambria Math"/>
                <a:cs typeface="Cambria Math"/>
              </a:rPr>
              <a:t>−</a:t>
            </a:r>
            <a:r>
              <a:rPr sz="1400" spc="5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1400" spc="-25" dirty="0">
                <a:solidFill>
                  <a:srgbClr val="404040"/>
                </a:solidFill>
                <a:latin typeface="Cambria Math"/>
                <a:cs typeface="Cambria Math"/>
              </a:rPr>
              <a:t>22</a:t>
            </a:r>
            <a:endParaRPr sz="1400">
              <a:latin typeface="Cambria Math"/>
              <a:cs typeface="Cambria Math"/>
            </a:endParaRPr>
          </a:p>
          <a:p>
            <a:pPr marL="12700">
              <a:lnSpc>
                <a:spcPct val="100000"/>
              </a:lnSpc>
              <a:spcBef>
                <a:spcPts val="1240"/>
              </a:spcBef>
            </a:pPr>
            <a:r>
              <a:rPr sz="1400" dirty="0">
                <a:solidFill>
                  <a:srgbClr val="404040"/>
                </a:solidFill>
                <a:latin typeface="Cambria Math"/>
                <a:cs typeface="Cambria Math"/>
              </a:rPr>
              <a:t>=</a:t>
            </a:r>
            <a:r>
              <a:rPr sz="1400" spc="80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1400" spc="-25" dirty="0">
                <a:solidFill>
                  <a:srgbClr val="404040"/>
                </a:solidFill>
                <a:latin typeface="Cambria Math"/>
                <a:cs typeface="Cambria Math"/>
              </a:rPr>
              <a:t>−15</a:t>
            </a:r>
            <a:endParaRPr sz="1400">
              <a:latin typeface="Cambria Math"/>
              <a:cs typeface="Cambria Math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40" dirty="0"/>
              <a:t>Linear</a:t>
            </a:r>
            <a:r>
              <a:rPr spc="-260" dirty="0"/>
              <a:t> </a:t>
            </a:r>
            <a:r>
              <a:rPr spc="-25" dirty="0"/>
              <a:t>versus</a:t>
            </a:r>
            <a:r>
              <a:rPr spc="-204" dirty="0"/>
              <a:t> </a:t>
            </a:r>
            <a:r>
              <a:rPr spc="-50" dirty="0"/>
              <a:t>Nonlinear</a:t>
            </a:r>
            <a:r>
              <a:rPr spc="-250" dirty="0"/>
              <a:t> </a:t>
            </a:r>
            <a:r>
              <a:rPr spc="-20" dirty="0"/>
              <a:t>Operation</a:t>
            </a:r>
          </a:p>
        </p:txBody>
      </p:sp>
      <p:sp>
        <p:nvSpPr>
          <p:cNvPr id="3" name="object 3"/>
          <p:cNvSpPr/>
          <p:nvPr/>
        </p:nvSpPr>
        <p:spPr>
          <a:xfrm>
            <a:off x="3452876" y="2325369"/>
            <a:ext cx="507365" cy="245110"/>
          </a:xfrm>
          <a:custGeom>
            <a:avLst/>
            <a:gdLst/>
            <a:ahLst/>
            <a:cxnLst/>
            <a:rect l="l" t="t" r="r" b="b"/>
            <a:pathLst>
              <a:path w="507364" h="245110">
                <a:moveTo>
                  <a:pt x="62611" y="37211"/>
                </a:moveTo>
                <a:lnTo>
                  <a:pt x="59944" y="29591"/>
                </a:lnTo>
                <a:lnTo>
                  <a:pt x="46316" y="34518"/>
                </a:lnTo>
                <a:lnTo>
                  <a:pt x="34378" y="41656"/>
                </a:lnTo>
                <a:lnTo>
                  <a:pt x="8724" y="75806"/>
                </a:lnTo>
                <a:lnTo>
                  <a:pt x="50" y="122555"/>
                </a:lnTo>
                <a:lnTo>
                  <a:pt x="0" y="123571"/>
                </a:lnTo>
                <a:lnTo>
                  <a:pt x="876" y="139128"/>
                </a:lnTo>
                <a:lnTo>
                  <a:pt x="965" y="140817"/>
                </a:lnTo>
                <a:lnTo>
                  <a:pt x="15494" y="184531"/>
                </a:lnTo>
                <a:lnTo>
                  <a:pt x="46291" y="212509"/>
                </a:lnTo>
                <a:lnTo>
                  <a:pt x="59944" y="217424"/>
                </a:lnTo>
                <a:lnTo>
                  <a:pt x="62230" y="209804"/>
                </a:lnTo>
                <a:lnTo>
                  <a:pt x="51536" y="205066"/>
                </a:lnTo>
                <a:lnTo>
                  <a:pt x="42316" y="198475"/>
                </a:lnTo>
                <a:lnTo>
                  <a:pt x="19913" y="154178"/>
                </a:lnTo>
                <a:lnTo>
                  <a:pt x="17145" y="122555"/>
                </a:lnTo>
                <a:lnTo>
                  <a:pt x="17830" y="106527"/>
                </a:lnTo>
                <a:lnTo>
                  <a:pt x="28321" y="66929"/>
                </a:lnTo>
                <a:lnTo>
                  <a:pt x="51752" y="41935"/>
                </a:lnTo>
                <a:lnTo>
                  <a:pt x="62611" y="37211"/>
                </a:lnTo>
                <a:close/>
              </a:path>
              <a:path w="507364" h="245110">
                <a:moveTo>
                  <a:pt x="438658" y="123571"/>
                </a:moveTo>
                <a:lnTo>
                  <a:pt x="429920" y="75806"/>
                </a:lnTo>
                <a:lnTo>
                  <a:pt x="404329" y="41656"/>
                </a:lnTo>
                <a:lnTo>
                  <a:pt x="378841" y="29591"/>
                </a:lnTo>
                <a:lnTo>
                  <a:pt x="376174" y="37211"/>
                </a:lnTo>
                <a:lnTo>
                  <a:pt x="387019" y="41935"/>
                </a:lnTo>
                <a:lnTo>
                  <a:pt x="396367" y="48450"/>
                </a:lnTo>
                <a:lnTo>
                  <a:pt x="418744" y="91935"/>
                </a:lnTo>
                <a:lnTo>
                  <a:pt x="421513" y="122555"/>
                </a:lnTo>
                <a:lnTo>
                  <a:pt x="420814" y="139128"/>
                </a:lnTo>
                <a:lnTo>
                  <a:pt x="410464" y="179705"/>
                </a:lnTo>
                <a:lnTo>
                  <a:pt x="376428" y="209804"/>
                </a:lnTo>
                <a:lnTo>
                  <a:pt x="378841" y="217424"/>
                </a:lnTo>
                <a:lnTo>
                  <a:pt x="414718" y="196037"/>
                </a:lnTo>
                <a:lnTo>
                  <a:pt x="434822" y="156718"/>
                </a:lnTo>
                <a:lnTo>
                  <a:pt x="437692" y="140817"/>
                </a:lnTo>
                <a:lnTo>
                  <a:pt x="438658" y="123571"/>
                </a:lnTo>
                <a:close/>
              </a:path>
              <a:path w="507364" h="245110">
                <a:moveTo>
                  <a:pt x="507238" y="0"/>
                </a:moveTo>
                <a:lnTo>
                  <a:pt x="462153" y="0"/>
                </a:lnTo>
                <a:lnTo>
                  <a:pt x="462153" y="7620"/>
                </a:lnTo>
                <a:lnTo>
                  <a:pt x="488823" y="7620"/>
                </a:lnTo>
                <a:lnTo>
                  <a:pt x="488823" y="236220"/>
                </a:lnTo>
                <a:lnTo>
                  <a:pt x="462153" y="236220"/>
                </a:lnTo>
                <a:lnTo>
                  <a:pt x="462153" y="245110"/>
                </a:lnTo>
                <a:lnTo>
                  <a:pt x="507238" y="245110"/>
                </a:lnTo>
                <a:lnTo>
                  <a:pt x="507238" y="236220"/>
                </a:lnTo>
                <a:lnTo>
                  <a:pt x="507238" y="7620"/>
                </a:lnTo>
                <a:lnTo>
                  <a:pt x="507238" y="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2366518" y="2325369"/>
            <a:ext cx="45085" cy="245110"/>
          </a:xfrm>
          <a:custGeom>
            <a:avLst/>
            <a:gdLst/>
            <a:ahLst/>
            <a:cxnLst/>
            <a:rect l="l" t="t" r="r" b="b"/>
            <a:pathLst>
              <a:path w="45085" h="245110">
                <a:moveTo>
                  <a:pt x="45085" y="0"/>
                </a:moveTo>
                <a:lnTo>
                  <a:pt x="0" y="0"/>
                </a:lnTo>
                <a:lnTo>
                  <a:pt x="0" y="7620"/>
                </a:lnTo>
                <a:lnTo>
                  <a:pt x="0" y="236220"/>
                </a:lnTo>
                <a:lnTo>
                  <a:pt x="0" y="245110"/>
                </a:lnTo>
                <a:lnTo>
                  <a:pt x="45085" y="245110"/>
                </a:lnTo>
                <a:lnTo>
                  <a:pt x="45085" y="236220"/>
                </a:lnTo>
                <a:lnTo>
                  <a:pt x="18415" y="236220"/>
                </a:lnTo>
                <a:lnTo>
                  <a:pt x="18415" y="7620"/>
                </a:lnTo>
                <a:lnTo>
                  <a:pt x="45085" y="7620"/>
                </a:lnTo>
                <a:lnTo>
                  <a:pt x="45085" y="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2579623" y="2354960"/>
            <a:ext cx="438784" cy="187960"/>
          </a:xfrm>
          <a:custGeom>
            <a:avLst/>
            <a:gdLst/>
            <a:ahLst/>
            <a:cxnLst/>
            <a:rect l="l" t="t" r="r" b="b"/>
            <a:pathLst>
              <a:path w="438785" h="187960">
                <a:moveTo>
                  <a:pt x="378840" y="0"/>
                </a:moveTo>
                <a:lnTo>
                  <a:pt x="376174" y="7619"/>
                </a:lnTo>
                <a:lnTo>
                  <a:pt x="387032" y="12334"/>
                </a:lnTo>
                <a:lnTo>
                  <a:pt x="396366" y="18859"/>
                </a:lnTo>
                <a:lnTo>
                  <a:pt x="418750" y="62341"/>
                </a:lnTo>
                <a:lnTo>
                  <a:pt x="421513" y="92963"/>
                </a:lnTo>
                <a:lnTo>
                  <a:pt x="420822" y="109537"/>
                </a:lnTo>
                <a:lnTo>
                  <a:pt x="410463" y="150113"/>
                </a:lnTo>
                <a:lnTo>
                  <a:pt x="376427" y="180212"/>
                </a:lnTo>
                <a:lnTo>
                  <a:pt x="378840" y="187833"/>
                </a:lnTo>
                <a:lnTo>
                  <a:pt x="414720" y="166437"/>
                </a:lnTo>
                <a:lnTo>
                  <a:pt x="434832" y="127126"/>
                </a:lnTo>
                <a:lnTo>
                  <a:pt x="438657" y="93979"/>
                </a:lnTo>
                <a:lnTo>
                  <a:pt x="437694" y="76932"/>
                </a:lnTo>
                <a:lnTo>
                  <a:pt x="437683" y="76737"/>
                </a:lnTo>
                <a:lnTo>
                  <a:pt x="423163" y="32892"/>
                </a:lnTo>
                <a:lnTo>
                  <a:pt x="392410" y="4925"/>
                </a:lnTo>
                <a:lnTo>
                  <a:pt x="378840" y="0"/>
                </a:lnTo>
                <a:close/>
              </a:path>
              <a:path w="438785" h="187960">
                <a:moveTo>
                  <a:pt x="59943" y="0"/>
                </a:moveTo>
                <a:lnTo>
                  <a:pt x="24118" y="21395"/>
                </a:lnTo>
                <a:lnTo>
                  <a:pt x="3889" y="60817"/>
                </a:lnTo>
                <a:lnTo>
                  <a:pt x="0" y="93979"/>
                </a:lnTo>
                <a:lnTo>
                  <a:pt x="879" y="109537"/>
                </a:lnTo>
                <a:lnTo>
                  <a:pt x="974" y="111220"/>
                </a:lnTo>
                <a:lnTo>
                  <a:pt x="15493" y="154939"/>
                </a:lnTo>
                <a:lnTo>
                  <a:pt x="46301" y="182907"/>
                </a:lnTo>
                <a:lnTo>
                  <a:pt x="59943" y="187833"/>
                </a:lnTo>
                <a:lnTo>
                  <a:pt x="62230" y="180212"/>
                </a:lnTo>
                <a:lnTo>
                  <a:pt x="51538" y="175474"/>
                </a:lnTo>
                <a:lnTo>
                  <a:pt x="42322" y="168878"/>
                </a:lnTo>
                <a:lnTo>
                  <a:pt x="19923" y="124587"/>
                </a:lnTo>
                <a:lnTo>
                  <a:pt x="17144" y="92963"/>
                </a:lnTo>
                <a:lnTo>
                  <a:pt x="17837" y="76932"/>
                </a:lnTo>
                <a:lnTo>
                  <a:pt x="28320" y="37337"/>
                </a:lnTo>
                <a:lnTo>
                  <a:pt x="62611" y="7619"/>
                </a:lnTo>
                <a:lnTo>
                  <a:pt x="59943" y="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4635500" y="2353309"/>
            <a:ext cx="506095" cy="189865"/>
          </a:xfrm>
          <a:custGeom>
            <a:avLst/>
            <a:gdLst/>
            <a:ahLst/>
            <a:cxnLst/>
            <a:rect l="l" t="t" r="r" b="b"/>
            <a:pathLst>
              <a:path w="506095" h="189864">
                <a:moveTo>
                  <a:pt x="62611" y="9271"/>
                </a:moveTo>
                <a:lnTo>
                  <a:pt x="59944" y="1651"/>
                </a:lnTo>
                <a:lnTo>
                  <a:pt x="46316" y="6578"/>
                </a:lnTo>
                <a:lnTo>
                  <a:pt x="34378" y="13716"/>
                </a:lnTo>
                <a:lnTo>
                  <a:pt x="8724" y="47866"/>
                </a:lnTo>
                <a:lnTo>
                  <a:pt x="50" y="94615"/>
                </a:lnTo>
                <a:lnTo>
                  <a:pt x="0" y="95631"/>
                </a:lnTo>
                <a:lnTo>
                  <a:pt x="876" y="111188"/>
                </a:lnTo>
                <a:lnTo>
                  <a:pt x="965" y="112877"/>
                </a:lnTo>
                <a:lnTo>
                  <a:pt x="15494" y="156591"/>
                </a:lnTo>
                <a:lnTo>
                  <a:pt x="46291" y="184569"/>
                </a:lnTo>
                <a:lnTo>
                  <a:pt x="59944" y="189484"/>
                </a:lnTo>
                <a:lnTo>
                  <a:pt x="62230" y="181864"/>
                </a:lnTo>
                <a:lnTo>
                  <a:pt x="51536" y="177126"/>
                </a:lnTo>
                <a:lnTo>
                  <a:pt x="42316" y="170535"/>
                </a:lnTo>
                <a:lnTo>
                  <a:pt x="19913" y="126238"/>
                </a:lnTo>
                <a:lnTo>
                  <a:pt x="17145" y="94615"/>
                </a:lnTo>
                <a:lnTo>
                  <a:pt x="17830" y="78587"/>
                </a:lnTo>
                <a:lnTo>
                  <a:pt x="28321" y="38989"/>
                </a:lnTo>
                <a:lnTo>
                  <a:pt x="51752" y="13995"/>
                </a:lnTo>
                <a:lnTo>
                  <a:pt x="62611" y="9271"/>
                </a:lnTo>
                <a:close/>
              </a:path>
              <a:path w="506095" h="189864">
                <a:moveTo>
                  <a:pt x="438658" y="95631"/>
                </a:moveTo>
                <a:lnTo>
                  <a:pt x="429920" y="47866"/>
                </a:lnTo>
                <a:lnTo>
                  <a:pt x="404329" y="13716"/>
                </a:lnTo>
                <a:lnTo>
                  <a:pt x="378841" y="1651"/>
                </a:lnTo>
                <a:lnTo>
                  <a:pt x="376174" y="9271"/>
                </a:lnTo>
                <a:lnTo>
                  <a:pt x="387019" y="13995"/>
                </a:lnTo>
                <a:lnTo>
                  <a:pt x="396367" y="20510"/>
                </a:lnTo>
                <a:lnTo>
                  <a:pt x="418744" y="63995"/>
                </a:lnTo>
                <a:lnTo>
                  <a:pt x="421513" y="94615"/>
                </a:lnTo>
                <a:lnTo>
                  <a:pt x="420814" y="111188"/>
                </a:lnTo>
                <a:lnTo>
                  <a:pt x="410464" y="151765"/>
                </a:lnTo>
                <a:lnTo>
                  <a:pt x="376428" y="181864"/>
                </a:lnTo>
                <a:lnTo>
                  <a:pt x="378841" y="189484"/>
                </a:lnTo>
                <a:lnTo>
                  <a:pt x="414718" y="168097"/>
                </a:lnTo>
                <a:lnTo>
                  <a:pt x="434822" y="128778"/>
                </a:lnTo>
                <a:lnTo>
                  <a:pt x="437692" y="112877"/>
                </a:lnTo>
                <a:lnTo>
                  <a:pt x="438658" y="95631"/>
                </a:lnTo>
                <a:close/>
              </a:path>
              <a:path w="506095" h="189864">
                <a:moveTo>
                  <a:pt x="506095" y="0"/>
                </a:moveTo>
                <a:lnTo>
                  <a:pt x="462026" y="0"/>
                </a:lnTo>
                <a:lnTo>
                  <a:pt x="462026" y="7620"/>
                </a:lnTo>
                <a:lnTo>
                  <a:pt x="489712" y="7620"/>
                </a:lnTo>
                <a:lnTo>
                  <a:pt x="489712" y="180340"/>
                </a:lnTo>
                <a:lnTo>
                  <a:pt x="462026" y="180340"/>
                </a:lnTo>
                <a:lnTo>
                  <a:pt x="462026" y="187960"/>
                </a:lnTo>
                <a:lnTo>
                  <a:pt x="506095" y="187960"/>
                </a:lnTo>
                <a:lnTo>
                  <a:pt x="506095" y="180340"/>
                </a:lnTo>
                <a:lnTo>
                  <a:pt x="506095" y="7620"/>
                </a:lnTo>
                <a:lnTo>
                  <a:pt x="506095" y="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4423918" y="2353309"/>
            <a:ext cx="44450" cy="187960"/>
          </a:xfrm>
          <a:custGeom>
            <a:avLst/>
            <a:gdLst/>
            <a:ahLst/>
            <a:cxnLst/>
            <a:rect l="l" t="t" r="r" b="b"/>
            <a:pathLst>
              <a:path w="44450" h="187960">
                <a:moveTo>
                  <a:pt x="44069" y="0"/>
                </a:moveTo>
                <a:lnTo>
                  <a:pt x="0" y="0"/>
                </a:lnTo>
                <a:lnTo>
                  <a:pt x="0" y="7620"/>
                </a:lnTo>
                <a:lnTo>
                  <a:pt x="0" y="180340"/>
                </a:lnTo>
                <a:lnTo>
                  <a:pt x="0" y="187960"/>
                </a:lnTo>
                <a:lnTo>
                  <a:pt x="44069" y="187960"/>
                </a:lnTo>
                <a:lnTo>
                  <a:pt x="44069" y="180340"/>
                </a:lnTo>
                <a:lnTo>
                  <a:pt x="16383" y="180340"/>
                </a:lnTo>
                <a:lnTo>
                  <a:pt x="16383" y="7620"/>
                </a:lnTo>
                <a:lnTo>
                  <a:pt x="44069" y="7620"/>
                </a:lnTo>
                <a:lnTo>
                  <a:pt x="44069" y="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5807456" y="2325369"/>
            <a:ext cx="506095" cy="245110"/>
          </a:xfrm>
          <a:custGeom>
            <a:avLst/>
            <a:gdLst/>
            <a:ahLst/>
            <a:cxnLst/>
            <a:rect l="l" t="t" r="r" b="b"/>
            <a:pathLst>
              <a:path w="506095" h="245110">
                <a:moveTo>
                  <a:pt x="62611" y="37211"/>
                </a:moveTo>
                <a:lnTo>
                  <a:pt x="59944" y="29591"/>
                </a:lnTo>
                <a:lnTo>
                  <a:pt x="46316" y="34518"/>
                </a:lnTo>
                <a:lnTo>
                  <a:pt x="34378" y="41656"/>
                </a:lnTo>
                <a:lnTo>
                  <a:pt x="8724" y="75806"/>
                </a:lnTo>
                <a:lnTo>
                  <a:pt x="50" y="122555"/>
                </a:lnTo>
                <a:lnTo>
                  <a:pt x="0" y="123571"/>
                </a:lnTo>
                <a:lnTo>
                  <a:pt x="876" y="139128"/>
                </a:lnTo>
                <a:lnTo>
                  <a:pt x="965" y="140817"/>
                </a:lnTo>
                <a:lnTo>
                  <a:pt x="15494" y="184531"/>
                </a:lnTo>
                <a:lnTo>
                  <a:pt x="46291" y="212509"/>
                </a:lnTo>
                <a:lnTo>
                  <a:pt x="59944" y="217424"/>
                </a:lnTo>
                <a:lnTo>
                  <a:pt x="62230" y="209804"/>
                </a:lnTo>
                <a:lnTo>
                  <a:pt x="51536" y="205066"/>
                </a:lnTo>
                <a:lnTo>
                  <a:pt x="42316" y="198475"/>
                </a:lnTo>
                <a:lnTo>
                  <a:pt x="19913" y="154178"/>
                </a:lnTo>
                <a:lnTo>
                  <a:pt x="17145" y="122555"/>
                </a:lnTo>
                <a:lnTo>
                  <a:pt x="17830" y="106527"/>
                </a:lnTo>
                <a:lnTo>
                  <a:pt x="28321" y="66929"/>
                </a:lnTo>
                <a:lnTo>
                  <a:pt x="51752" y="41935"/>
                </a:lnTo>
                <a:lnTo>
                  <a:pt x="62611" y="37211"/>
                </a:lnTo>
                <a:close/>
              </a:path>
              <a:path w="506095" h="245110">
                <a:moveTo>
                  <a:pt x="437134" y="123571"/>
                </a:moveTo>
                <a:lnTo>
                  <a:pt x="428396" y="75806"/>
                </a:lnTo>
                <a:lnTo>
                  <a:pt x="402805" y="41656"/>
                </a:lnTo>
                <a:lnTo>
                  <a:pt x="377317" y="29591"/>
                </a:lnTo>
                <a:lnTo>
                  <a:pt x="374650" y="37211"/>
                </a:lnTo>
                <a:lnTo>
                  <a:pt x="385508" y="41935"/>
                </a:lnTo>
                <a:lnTo>
                  <a:pt x="394843" y="48450"/>
                </a:lnTo>
                <a:lnTo>
                  <a:pt x="417220" y="91935"/>
                </a:lnTo>
                <a:lnTo>
                  <a:pt x="419989" y="122555"/>
                </a:lnTo>
                <a:lnTo>
                  <a:pt x="419290" y="139128"/>
                </a:lnTo>
                <a:lnTo>
                  <a:pt x="408940" y="179705"/>
                </a:lnTo>
                <a:lnTo>
                  <a:pt x="374904" y="209804"/>
                </a:lnTo>
                <a:lnTo>
                  <a:pt x="377317" y="217424"/>
                </a:lnTo>
                <a:lnTo>
                  <a:pt x="413194" y="196037"/>
                </a:lnTo>
                <a:lnTo>
                  <a:pt x="433298" y="156718"/>
                </a:lnTo>
                <a:lnTo>
                  <a:pt x="436168" y="140817"/>
                </a:lnTo>
                <a:lnTo>
                  <a:pt x="437134" y="123571"/>
                </a:lnTo>
                <a:close/>
              </a:path>
              <a:path w="506095" h="245110">
                <a:moveTo>
                  <a:pt x="505714" y="0"/>
                </a:moveTo>
                <a:lnTo>
                  <a:pt x="460629" y="0"/>
                </a:lnTo>
                <a:lnTo>
                  <a:pt x="460629" y="7620"/>
                </a:lnTo>
                <a:lnTo>
                  <a:pt x="487299" y="7620"/>
                </a:lnTo>
                <a:lnTo>
                  <a:pt x="487299" y="236220"/>
                </a:lnTo>
                <a:lnTo>
                  <a:pt x="460629" y="236220"/>
                </a:lnTo>
                <a:lnTo>
                  <a:pt x="460629" y="245110"/>
                </a:lnTo>
                <a:lnTo>
                  <a:pt x="505714" y="245110"/>
                </a:lnTo>
                <a:lnTo>
                  <a:pt x="505714" y="236220"/>
                </a:lnTo>
                <a:lnTo>
                  <a:pt x="505714" y="7620"/>
                </a:lnTo>
                <a:lnTo>
                  <a:pt x="505714" y="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5583682" y="2325369"/>
            <a:ext cx="45085" cy="245110"/>
          </a:xfrm>
          <a:custGeom>
            <a:avLst/>
            <a:gdLst/>
            <a:ahLst/>
            <a:cxnLst/>
            <a:rect l="l" t="t" r="r" b="b"/>
            <a:pathLst>
              <a:path w="45085" h="245110">
                <a:moveTo>
                  <a:pt x="45085" y="0"/>
                </a:moveTo>
                <a:lnTo>
                  <a:pt x="0" y="0"/>
                </a:lnTo>
                <a:lnTo>
                  <a:pt x="0" y="7620"/>
                </a:lnTo>
                <a:lnTo>
                  <a:pt x="0" y="236220"/>
                </a:lnTo>
                <a:lnTo>
                  <a:pt x="0" y="245110"/>
                </a:lnTo>
                <a:lnTo>
                  <a:pt x="45085" y="245110"/>
                </a:lnTo>
                <a:lnTo>
                  <a:pt x="45085" y="236220"/>
                </a:lnTo>
                <a:lnTo>
                  <a:pt x="18415" y="236220"/>
                </a:lnTo>
                <a:lnTo>
                  <a:pt x="18415" y="7620"/>
                </a:lnTo>
                <a:lnTo>
                  <a:pt x="45085" y="7620"/>
                </a:lnTo>
                <a:lnTo>
                  <a:pt x="45085" y="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5173090" y="2290952"/>
            <a:ext cx="104203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404040"/>
                </a:solidFill>
                <a:latin typeface="Cambria Math"/>
                <a:cs typeface="Cambria Math"/>
              </a:rPr>
              <a:t>+</a:t>
            </a:r>
            <a:r>
              <a:rPr sz="1600" spc="-50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1600" dirty="0">
                <a:solidFill>
                  <a:srgbClr val="404040"/>
                </a:solidFill>
                <a:latin typeface="Cambria Math"/>
                <a:cs typeface="Cambria Math"/>
              </a:rPr>
              <a:t>𝐻</a:t>
            </a:r>
            <a:r>
              <a:rPr sz="1600" spc="215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1600" dirty="0">
                <a:solidFill>
                  <a:srgbClr val="404040"/>
                </a:solidFill>
                <a:latin typeface="Cambria Math"/>
                <a:cs typeface="Cambria Math"/>
              </a:rPr>
              <a:t>𝑓</a:t>
            </a:r>
            <a:r>
              <a:rPr sz="1725" baseline="-14492" dirty="0">
                <a:solidFill>
                  <a:srgbClr val="404040"/>
                </a:solidFill>
                <a:latin typeface="Cambria Math"/>
                <a:cs typeface="Cambria Math"/>
              </a:rPr>
              <a:t>𝑗</a:t>
            </a:r>
            <a:r>
              <a:rPr sz="1725" spc="660" baseline="-14492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1600" dirty="0">
                <a:solidFill>
                  <a:srgbClr val="404040"/>
                </a:solidFill>
                <a:latin typeface="Cambria Math"/>
                <a:cs typeface="Cambria Math"/>
              </a:rPr>
              <a:t>𝑥,</a:t>
            </a:r>
            <a:r>
              <a:rPr sz="1600" spc="-90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1600" spc="-50" dirty="0">
                <a:solidFill>
                  <a:srgbClr val="404040"/>
                </a:solidFill>
                <a:latin typeface="Cambria Math"/>
                <a:cs typeface="Cambria Math"/>
              </a:rPr>
              <a:t>𝑦</a:t>
            </a:r>
            <a:endParaRPr sz="1600">
              <a:latin typeface="Cambria Math"/>
              <a:cs typeface="Cambria Math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3027680" y="2766059"/>
            <a:ext cx="508000" cy="189865"/>
          </a:xfrm>
          <a:custGeom>
            <a:avLst/>
            <a:gdLst/>
            <a:ahLst/>
            <a:cxnLst/>
            <a:rect l="l" t="t" r="r" b="b"/>
            <a:pathLst>
              <a:path w="508000" h="189864">
                <a:moveTo>
                  <a:pt x="62611" y="9525"/>
                </a:moveTo>
                <a:lnTo>
                  <a:pt x="59944" y="1905"/>
                </a:lnTo>
                <a:lnTo>
                  <a:pt x="46316" y="6832"/>
                </a:lnTo>
                <a:lnTo>
                  <a:pt x="34378" y="13982"/>
                </a:lnTo>
                <a:lnTo>
                  <a:pt x="8724" y="48120"/>
                </a:lnTo>
                <a:lnTo>
                  <a:pt x="50" y="94869"/>
                </a:lnTo>
                <a:lnTo>
                  <a:pt x="0" y="95885"/>
                </a:lnTo>
                <a:lnTo>
                  <a:pt x="876" y="111442"/>
                </a:lnTo>
                <a:lnTo>
                  <a:pt x="965" y="113131"/>
                </a:lnTo>
                <a:lnTo>
                  <a:pt x="15494" y="156845"/>
                </a:lnTo>
                <a:lnTo>
                  <a:pt x="46291" y="184823"/>
                </a:lnTo>
                <a:lnTo>
                  <a:pt x="59944" y="189738"/>
                </a:lnTo>
                <a:lnTo>
                  <a:pt x="62230" y="182118"/>
                </a:lnTo>
                <a:lnTo>
                  <a:pt x="51536" y="177380"/>
                </a:lnTo>
                <a:lnTo>
                  <a:pt x="42316" y="170789"/>
                </a:lnTo>
                <a:lnTo>
                  <a:pt x="19913" y="126492"/>
                </a:lnTo>
                <a:lnTo>
                  <a:pt x="17145" y="94869"/>
                </a:lnTo>
                <a:lnTo>
                  <a:pt x="17830" y="78841"/>
                </a:lnTo>
                <a:lnTo>
                  <a:pt x="28321" y="39243"/>
                </a:lnTo>
                <a:lnTo>
                  <a:pt x="51752" y="14249"/>
                </a:lnTo>
                <a:lnTo>
                  <a:pt x="62611" y="9525"/>
                </a:lnTo>
                <a:close/>
              </a:path>
              <a:path w="508000" h="189864">
                <a:moveTo>
                  <a:pt x="438658" y="95885"/>
                </a:moveTo>
                <a:lnTo>
                  <a:pt x="429920" y="48120"/>
                </a:lnTo>
                <a:lnTo>
                  <a:pt x="404329" y="13970"/>
                </a:lnTo>
                <a:lnTo>
                  <a:pt x="378841" y="1905"/>
                </a:lnTo>
                <a:lnTo>
                  <a:pt x="376174" y="9525"/>
                </a:lnTo>
                <a:lnTo>
                  <a:pt x="387032" y="14249"/>
                </a:lnTo>
                <a:lnTo>
                  <a:pt x="396367" y="20764"/>
                </a:lnTo>
                <a:lnTo>
                  <a:pt x="418744" y="64249"/>
                </a:lnTo>
                <a:lnTo>
                  <a:pt x="421513" y="94869"/>
                </a:lnTo>
                <a:lnTo>
                  <a:pt x="420814" y="111442"/>
                </a:lnTo>
                <a:lnTo>
                  <a:pt x="410464" y="152019"/>
                </a:lnTo>
                <a:lnTo>
                  <a:pt x="376428" y="182118"/>
                </a:lnTo>
                <a:lnTo>
                  <a:pt x="378841" y="189738"/>
                </a:lnTo>
                <a:lnTo>
                  <a:pt x="414718" y="168351"/>
                </a:lnTo>
                <a:lnTo>
                  <a:pt x="434822" y="129044"/>
                </a:lnTo>
                <a:lnTo>
                  <a:pt x="437692" y="113131"/>
                </a:lnTo>
                <a:lnTo>
                  <a:pt x="438658" y="95885"/>
                </a:lnTo>
                <a:close/>
              </a:path>
              <a:path w="508000" h="189864">
                <a:moveTo>
                  <a:pt x="507619" y="0"/>
                </a:moveTo>
                <a:lnTo>
                  <a:pt x="463550" y="0"/>
                </a:lnTo>
                <a:lnTo>
                  <a:pt x="463550" y="7620"/>
                </a:lnTo>
                <a:lnTo>
                  <a:pt x="491236" y="7620"/>
                </a:lnTo>
                <a:lnTo>
                  <a:pt x="491236" y="181610"/>
                </a:lnTo>
                <a:lnTo>
                  <a:pt x="463550" y="181610"/>
                </a:lnTo>
                <a:lnTo>
                  <a:pt x="463550" y="189230"/>
                </a:lnTo>
                <a:lnTo>
                  <a:pt x="507619" y="189230"/>
                </a:lnTo>
                <a:lnTo>
                  <a:pt x="507619" y="181610"/>
                </a:lnTo>
                <a:lnTo>
                  <a:pt x="507619" y="7620"/>
                </a:lnTo>
                <a:lnTo>
                  <a:pt x="507619" y="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2637790" y="2766059"/>
            <a:ext cx="44450" cy="189230"/>
          </a:xfrm>
          <a:custGeom>
            <a:avLst/>
            <a:gdLst/>
            <a:ahLst/>
            <a:cxnLst/>
            <a:rect l="l" t="t" r="r" b="b"/>
            <a:pathLst>
              <a:path w="44450" h="189230">
                <a:moveTo>
                  <a:pt x="44069" y="0"/>
                </a:moveTo>
                <a:lnTo>
                  <a:pt x="0" y="0"/>
                </a:lnTo>
                <a:lnTo>
                  <a:pt x="0" y="7620"/>
                </a:lnTo>
                <a:lnTo>
                  <a:pt x="0" y="181610"/>
                </a:lnTo>
                <a:lnTo>
                  <a:pt x="0" y="189230"/>
                </a:lnTo>
                <a:lnTo>
                  <a:pt x="44069" y="189230"/>
                </a:lnTo>
                <a:lnTo>
                  <a:pt x="44069" y="181610"/>
                </a:lnTo>
                <a:lnTo>
                  <a:pt x="16383" y="181610"/>
                </a:lnTo>
                <a:lnTo>
                  <a:pt x="16383" y="7620"/>
                </a:lnTo>
                <a:lnTo>
                  <a:pt x="44069" y="7620"/>
                </a:lnTo>
                <a:lnTo>
                  <a:pt x="44069" y="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1112519" y="1844166"/>
            <a:ext cx="3970020" cy="11290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6200">
              <a:lnSpc>
                <a:spcPct val="100000"/>
              </a:lnSpc>
              <a:spcBef>
                <a:spcPts val="100"/>
              </a:spcBef>
            </a:pPr>
            <a:r>
              <a:rPr sz="1800" b="1" spc="-30" dirty="0">
                <a:solidFill>
                  <a:srgbClr val="404040"/>
                </a:solidFill>
                <a:latin typeface="Times New Roman"/>
                <a:cs typeface="Times New Roman"/>
              </a:rPr>
              <a:t>Two</a:t>
            </a:r>
            <a:r>
              <a:rPr sz="1800" b="1" spc="-6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800" b="1" dirty="0">
                <a:solidFill>
                  <a:srgbClr val="404040"/>
                </a:solidFill>
                <a:latin typeface="Times New Roman"/>
                <a:cs typeface="Times New Roman"/>
              </a:rPr>
              <a:t>Properties</a:t>
            </a:r>
            <a:r>
              <a:rPr sz="1800" b="1" spc="-5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800" b="1" dirty="0">
                <a:solidFill>
                  <a:srgbClr val="404040"/>
                </a:solidFill>
                <a:latin typeface="Times New Roman"/>
                <a:cs typeface="Times New Roman"/>
              </a:rPr>
              <a:t>of</a:t>
            </a:r>
            <a:r>
              <a:rPr sz="1800" b="1" spc="-2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800" b="1" dirty="0">
                <a:solidFill>
                  <a:srgbClr val="404040"/>
                </a:solidFill>
                <a:latin typeface="Times New Roman"/>
                <a:cs typeface="Times New Roman"/>
              </a:rPr>
              <a:t>Linear</a:t>
            </a:r>
            <a:r>
              <a:rPr sz="1800" b="1" spc="-6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800" b="1" spc="-10" dirty="0">
                <a:solidFill>
                  <a:srgbClr val="404040"/>
                </a:solidFill>
                <a:latin typeface="Times New Roman"/>
                <a:cs typeface="Times New Roman"/>
              </a:rPr>
              <a:t>Operation:</a:t>
            </a:r>
            <a:endParaRPr sz="1800">
              <a:latin typeface="Times New Roman"/>
              <a:cs typeface="Times New Roman"/>
            </a:endParaRPr>
          </a:p>
          <a:p>
            <a:pPr marL="76200">
              <a:lnSpc>
                <a:spcPct val="100000"/>
              </a:lnSpc>
              <a:spcBef>
                <a:spcPts val="1355"/>
              </a:spcBef>
              <a:tabLst>
                <a:tab pos="1970405" algn="l"/>
                <a:tab pos="2926080" algn="l"/>
              </a:tabLst>
            </a:pPr>
            <a:r>
              <a:rPr sz="1600" b="1" dirty="0">
                <a:solidFill>
                  <a:srgbClr val="404040"/>
                </a:solidFill>
                <a:latin typeface="Times New Roman"/>
                <a:cs typeface="Times New Roman"/>
              </a:rPr>
              <a:t>Additivity:</a:t>
            </a:r>
            <a:r>
              <a:rPr sz="1600" b="1" spc="-6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404040"/>
                </a:solidFill>
                <a:latin typeface="Cambria Math"/>
                <a:cs typeface="Cambria Math"/>
              </a:rPr>
              <a:t>𝐻</a:t>
            </a:r>
            <a:r>
              <a:rPr sz="1600" spc="200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1600" dirty="0">
                <a:solidFill>
                  <a:srgbClr val="404040"/>
                </a:solidFill>
                <a:latin typeface="Cambria Math"/>
                <a:cs typeface="Cambria Math"/>
              </a:rPr>
              <a:t>𝑓</a:t>
            </a:r>
            <a:r>
              <a:rPr sz="1725" baseline="-14492" dirty="0">
                <a:solidFill>
                  <a:srgbClr val="404040"/>
                </a:solidFill>
                <a:latin typeface="Cambria Math"/>
                <a:cs typeface="Cambria Math"/>
              </a:rPr>
              <a:t>𝑖</a:t>
            </a:r>
            <a:r>
              <a:rPr sz="1725" spc="622" baseline="-14492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1600" dirty="0">
                <a:solidFill>
                  <a:srgbClr val="404040"/>
                </a:solidFill>
                <a:latin typeface="Cambria Math"/>
                <a:cs typeface="Cambria Math"/>
              </a:rPr>
              <a:t>𝑥,</a:t>
            </a:r>
            <a:r>
              <a:rPr sz="1600" spc="-95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1600" spc="-50" dirty="0">
                <a:solidFill>
                  <a:srgbClr val="404040"/>
                </a:solidFill>
                <a:latin typeface="Cambria Math"/>
                <a:cs typeface="Cambria Math"/>
              </a:rPr>
              <a:t>𝑦</a:t>
            </a:r>
            <a:r>
              <a:rPr sz="1600" dirty="0">
                <a:solidFill>
                  <a:srgbClr val="404040"/>
                </a:solidFill>
                <a:latin typeface="Cambria Math"/>
                <a:cs typeface="Cambria Math"/>
              </a:rPr>
              <a:t>	+</a:t>
            </a:r>
            <a:r>
              <a:rPr sz="1600" spc="-70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1600" dirty="0">
                <a:solidFill>
                  <a:srgbClr val="404040"/>
                </a:solidFill>
                <a:latin typeface="Cambria Math"/>
                <a:cs typeface="Cambria Math"/>
              </a:rPr>
              <a:t>𝑓</a:t>
            </a:r>
            <a:r>
              <a:rPr sz="1725" baseline="-14492" dirty="0">
                <a:solidFill>
                  <a:srgbClr val="404040"/>
                </a:solidFill>
                <a:latin typeface="Cambria Math"/>
                <a:cs typeface="Cambria Math"/>
              </a:rPr>
              <a:t>𝑗</a:t>
            </a:r>
            <a:r>
              <a:rPr sz="1725" spc="637" baseline="-14492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1600" dirty="0">
                <a:solidFill>
                  <a:srgbClr val="404040"/>
                </a:solidFill>
                <a:latin typeface="Cambria Math"/>
                <a:cs typeface="Cambria Math"/>
              </a:rPr>
              <a:t>𝑥,</a:t>
            </a:r>
            <a:r>
              <a:rPr sz="1600" spc="-95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1600" spc="-50" dirty="0">
                <a:solidFill>
                  <a:srgbClr val="404040"/>
                </a:solidFill>
                <a:latin typeface="Cambria Math"/>
                <a:cs typeface="Cambria Math"/>
              </a:rPr>
              <a:t>𝑦</a:t>
            </a:r>
            <a:r>
              <a:rPr sz="1600" dirty="0">
                <a:solidFill>
                  <a:srgbClr val="404040"/>
                </a:solidFill>
                <a:latin typeface="Cambria Math"/>
                <a:cs typeface="Cambria Math"/>
              </a:rPr>
              <a:t>	=</a:t>
            </a:r>
            <a:r>
              <a:rPr sz="1600" spc="45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1600" dirty="0">
                <a:solidFill>
                  <a:srgbClr val="404040"/>
                </a:solidFill>
                <a:latin typeface="Cambria Math"/>
                <a:cs typeface="Cambria Math"/>
              </a:rPr>
              <a:t>𝐻</a:t>
            </a:r>
            <a:r>
              <a:rPr sz="1600" spc="190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1600" dirty="0">
                <a:solidFill>
                  <a:srgbClr val="404040"/>
                </a:solidFill>
                <a:latin typeface="Cambria Math"/>
                <a:cs typeface="Cambria Math"/>
              </a:rPr>
              <a:t>𝑓</a:t>
            </a:r>
            <a:r>
              <a:rPr sz="1725" baseline="-14492" dirty="0">
                <a:solidFill>
                  <a:srgbClr val="404040"/>
                </a:solidFill>
                <a:latin typeface="Cambria Math"/>
                <a:cs typeface="Cambria Math"/>
              </a:rPr>
              <a:t>𝑖</a:t>
            </a:r>
            <a:r>
              <a:rPr sz="1725" spc="660" baseline="-14492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1600" dirty="0">
                <a:solidFill>
                  <a:srgbClr val="404040"/>
                </a:solidFill>
                <a:latin typeface="Cambria Math"/>
                <a:cs typeface="Cambria Math"/>
              </a:rPr>
              <a:t>𝑥,</a:t>
            </a:r>
            <a:r>
              <a:rPr sz="1600" spc="-95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1600" spc="-50" dirty="0">
                <a:solidFill>
                  <a:srgbClr val="404040"/>
                </a:solidFill>
                <a:latin typeface="Cambria Math"/>
                <a:cs typeface="Cambria Math"/>
              </a:rPr>
              <a:t>𝑦</a:t>
            </a:r>
            <a:endParaRPr sz="1600">
              <a:latin typeface="Cambria Math"/>
              <a:cs typeface="Cambria Math"/>
            </a:endParaRPr>
          </a:p>
          <a:p>
            <a:pPr marL="76200">
              <a:lnSpc>
                <a:spcPct val="100000"/>
              </a:lnSpc>
              <a:spcBef>
                <a:spcPts val="1330"/>
              </a:spcBef>
              <a:tabLst>
                <a:tab pos="2500630" algn="l"/>
              </a:tabLst>
            </a:pPr>
            <a:r>
              <a:rPr sz="1600" b="1" dirty="0">
                <a:solidFill>
                  <a:srgbClr val="404040"/>
                </a:solidFill>
                <a:latin typeface="Times New Roman"/>
                <a:cs typeface="Times New Roman"/>
              </a:rPr>
              <a:t>Homogeneity:</a:t>
            </a:r>
            <a:r>
              <a:rPr sz="1600" b="1" spc="-1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404040"/>
                </a:solidFill>
                <a:latin typeface="Cambria Math"/>
                <a:cs typeface="Cambria Math"/>
              </a:rPr>
              <a:t>𝐻</a:t>
            </a:r>
            <a:r>
              <a:rPr sz="1600" spc="215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1600" dirty="0">
                <a:solidFill>
                  <a:srgbClr val="404040"/>
                </a:solidFill>
                <a:latin typeface="Cambria Math"/>
                <a:cs typeface="Cambria Math"/>
              </a:rPr>
              <a:t>𝑎</a:t>
            </a:r>
            <a:r>
              <a:rPr sz="1725" baseline="-14492" dirty="0">
                <a:solidFill>
                  <a:srgbClr val="404040"/>
                </a:solidFill>
                <a:latin typeface="Cambria Math"/>
                <a:cs typeface="Cambria Math"/>
              </a:rPr>
              <a:t>𝑖</a:t>
            </a:r>
            <a:r>
              <a:rPr sz="1600" dirty="0">
                <a:solidFill>
                  <a:srgbClr val="404040"/>
                </a:solidFill>
                <a:latin typeface="Cambria Math"/>
                <a:cs typeface="Cambria Math"/>
              </a:rPr>
              <a:t>𝑓</a:t>
            </a:r>
            <a:r>
              <a:rPr sz="1725" baseline="-14492" dirty="0">
                <a:solidFill>
                  <a:srgbClr val="404040"/>
                </a:solidFill>
                <a:latin typeface="Cambria Math"/>
                <a:cs typeface="Cambria Math"/>
              </a:rPr>
              <a:t>𝑖</a:t>
            </a:r>
            <a:r>
              <a:rPr sz="1725" spc="682" baseline="-14492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1600" dirty="0">
                <a:solidFill>
                  <a:srgbClr val="404040"/>
                </a:solidFill>
                <a:latin typeface="Cambria Math"/>
                <a:cs typeface="Cambria Math"/>
              </a:rPr>
              <a:t>𝑥,</a:t>
            </a:r>
            <a:r>
              <a:rPr sz="1600" spc="-95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1600" spc="-50" dirty="0">
                <a:solidFill>
                  <a:srgbClr val="404040"/>
                </a:solidFill>
                <a:latin typeface="Cambria Math"/>
                <a:cs typeface="Cambria Math"/>
              </a:rPr>
              <a:t>𝑦</a:t>
            </a:r>
            <a:r>
              <a:rPr sz="1600" dirty="0">
                <a:solidFill>
                  <a:srgbClr val="404040"/>
                </a:solidFill>
                <a:latin typeface="Cambria Math"/>
                <a:cs typeface="Cambria Math"/>
              </a:rPr>
              <a:t>	=</a:t>
            </a:r>
            <a:r>
              <a:rPr sz="1600" spc="120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1600" spc="-10" dirty="0">
                <a:solidFill>
                  <a:srgbClr val="404040"/>
                </a:solidFill>
                <a:latin typeface="Cambria Math"/>
                <a:cs typeface="Cambria Math"/>
              </a:rPr>
              <a:t>𝑎</a:t>
            </a:r>
            <a:r>
              <a:rPr sz="1725" spc="-15" baseline="-14492" dirty="0">
                <a:solidFill>
                  <a:srgbClr val="404040"/>
                </a:solidFill>
                <a:latin typeface="Cambria Math"/>
                <a:cs typeface="Cambria Math"/>
              </a:rPr>
              <a:t>𝑖</a:t>
            </a:r>
            <a:r>
              <a:rPr sz="1600" spc="-10" dirty="0">
                <a:solidFill>
                  <a:srgbClr val="404040"/>
                </a:solidFill>
                <a:latin typeface="Cambria Math"/>
                <a:cs typeface="Cambria Math"/>
              </a:rPr>
              <a:t>𝐻[𝑓</a:t>
            </a:r>
            <a:r>
              <a:rPr sz="1725" spc="-15" baseline="-14492" dirty="0">
                <a:solidFill>
                  <a:srgbClr val="404040"/>
                </a:solidFill>
                <a:latin typeface="Cambria Math"/>
                <a:cs typeface="Cambria Math"/>
              </a:rPr>
              <a:t>𝑖</a:t>
            </a:r>
            <a:r>
              <a:rPr sz="1725" spc="-195" baseline="-14492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1600" dirty="0">
                <a:solidFill>
                  <a:srgbClr val="404040"/>
                </a:solidFill>
                <a:latin typeface="Cambria Math"/>
                <a:cs typeface="Cambria Math"/>
              </a:rPr>
              <a:t>(𝑥,</a:t>
            </a:r>
            <a:r>
              <a:rPr sz="1600" spc="-80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1600" spc="-25" dirty="0">
                <a:solidFill>
                  <a:srgbClr val="404040"/>
                </a:solidFill>
                <a:latin typeface="Cambria Math"/>
                <a:cs typeface="Cambria Math"/>
              </a:rPr>
              <a:t>𝑦)]</a:t>
            </a:r>
            <a:endParaRPr sz="1600">
              <a:latin typeface="Cambria Math"/>
              <a:cs typeface="Cambria Math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dirty="0"/>
              <a:t>23</a:t>
            </a:r>
            <a:r>
              <a:rPr spc="-5" dirty="0"/>
              <a:t> </a:t>
            </a:r>
            <a:r>
              <a:rPr dirty="0"/>
              <a:t>May</a:t>
            </a:r>
            <a:r>
              <a:rPr spc="-5" dirty="0"/>
              <a:t> </a:t>
            </a:r>
            <a:r>
              <a:rPr spc="-20" dirty="0"/>
              <a:t>2024</a:t>
            </a:r>
          </a:p>
        </p:txBody>
      </p:sp>
      <p:sp>
        <p:nvSpPr>
          <p:cNvPr id="16" name="object 16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pc="-10" dirty="0"/>
              <a:t>MATHEMATICAL</a:t>
            </a:r>
            <a:r>
              <a:rPr spc="10" dirty="0"/>
              <a:t> </a:t>
            </a:r>
            <a:r>
              <a:rPr dirty="0"/>
              <a:t>TOOLS</a:t>
            </a:r>
            <a:r>
              <a:rPr spc="-15" dirty="0"/>
              <a:t> </a:t>
            </a:r>
            <a:r>
              <a:rPr dirty="0"/>
              <a:t>USED</a:t>
            </a:r>
            <a:r>
              <a:rPr spc="-30" dirty="0"/>
              <a:t> </a:t>
            </a:r>
            <a:r>
              <a:rPr dirty="0"/>
              <a:t>IN</a:t>
            </a:r>
            <a:r>
              <a:rPr spc="-30" dirty="0"/>
              <a:t> </a:t>
            </a:r>
            <a:r>
              <a:rPr dirty="0"/>
              <a:t>DIGITAL</a:t>
            </a:r>
            <a:r>
              <a:rPr spc="5" dirty="0"/>
              <a:t> </a:t>
            </a:r>
            <a:r>
              <a:rPr dirty="0"/>
              <a:t>IMAGE</a:t>
            </a:r>
            <a:r>
              <a:rPr spc="-5" dirty="0"/>
              <a:t> </a:t>
            </a:r>
            <a:r>
              <a:rPr spc="-10" dirty="0"/>
              <a:t>PROCESSING</a:t>
            </a:r>
          </a:p>
        </p:txBody>
      </p:sp>
      <p:sp>
        <p:nvSpPr>
          <p:cNvPr id="17" name="object 1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55"/>
              </a:lnSpc>
            </a:pPr>
            <a:fld id="{81D60167-4931-47E6-BA6A-407CBD079E47}" type="slidenum">
              <a:rPr spc="-25" dirty="0"/>
              <a:t>8</a:t>
            </a:fld>
            <a:endParaRPr spc="-25" dirty="0"/>
          </a:p>
        </p:txBody>
      </p:sp>
      <p:sp>
        <p:nvSpPr>
          <p:cNvPr id="14" name="object 14"/>
          <p:cNvSpPr txBox="1"/>
          <p:nvPr/>
        </p:nvSpPr>
        <p:spPr>
          <a:xfrm>
            <a:off x="1115060" y="3079749"/>
            <a:ext cx="9966325" cy="16719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5600" marR="5080" indent="-343535">
              <a:lnSpc>
                <a:spcPct val="150000"/>
              </a:lnSpc>
              <a:spcBef>
                <a:spcPts val="100"/>
              </a:spcBef>
              <a:buFont typeface="Wingdings"/>
              <a:buChar char=""/>
              <a:tabLst>
                <a:tab pos="355600" algn="l"/>
              </a:tabLst>
            </a:pPr>
            <a:r>
              <a:rPr sz="1800" dirty="0">
                <a:latin typeface="Times New Roman"/>
                <a:cs typeface="Times New Roman"/>
              </a:rPr>
              <a:t>Equation</a:t>
            </a:r>
            <a:r>
              <a:rPr sz="1800" spc="254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indicates</a:t>
            </a:r>
            <a:r>
              <a:rPr sz="1800" spc="27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that</a:t>
            </a:r>
            <a:r>
              <a:rPr sz="1800" spc="28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the</a:t>
            </a:r>
            <a:r>
              <a:rPr sz="1800" spc="27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output</a:t>
            </a:r>
            <a:r>
              <a:rPr sz="1800" spc="28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of</a:t>
            </a:r>
            <a:r>
              <a:rPr sz="1800" spc="27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a</a:t>
            </a:r>
            <a:r>
              <a:rPr sz="1800" spc="28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linear</a:t>
            </a:r>
            <a:r>
              <a:rPr sz="1800" spc="28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equation</a:t>
            </a:r>
            <a:r>
              <a:rPr sz="1800" spc="28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due</a:t>
            </a:r>
            <a:r>
              <a:rPr sz="1800" spc="27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to</a:t>
            </a:r>
            <a:r>
              <a:rPr sz="1800" spc="27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the</a:t>
            </a:r>
            <a:r>
              <a:rPr sz="1800" spc="28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sum</a:t>
            </a:r>
            <a:r>
              <a:rPr sz="1800" spc="26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of</a:t>
            </a:r>
            <a:r>
              <a:rPr sz="1800" spc="27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two</a:t>
            </a:r>
            <a:r>
              <a:rPr sz="1800" spc="29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inputs</a:t>
            </a:r>
            <a:r>
              <a:rPr sz="1800" spc="26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is</a:t>
            </a:r>
            <a:r>
              <a:rPr sz="1800" spc="27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the</a:t>
            </a:r>
            <a:r>
              <a:rPr sz="1800" spc="28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same</a:t>
            </a:r>
            <a:r>
              <a:rPr sz="1800" spc="295" dirty="0">
                <a:latin typeface="Times New Roman"/>
                <a:cs typeface="Times New Roman"/>
              </a:rPr>
              <a:t> </a:t>
            </a:r>
            <a:r>
              <a:rPr sz="1800" spc="-25" dirty="0">
                <a:latin typeface="Times New Roman"/>
                <a:cs typeface="Times New Roman"/>
              </a:rPr>
              <a:t>as </a:t>
            </a:r>
            <a:r>
              <a:rPr sz="1800" dirty="0">
                <a:latin typeface="Times New Roman"/>
                <a:cs typeface="Times New Roman"/>
              </a:rPr>
              <a:t>performing</a:t>
            </a:r>
            <a:r>
              <a:rPr sz="1800" spc="-2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the</a:t>
            </a:r>
            <a:r>
              <a:rPr sz="1800" spc="-2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operation</a:t>
            </a:r>
            <a:r>
              <a:rPr sz="1800" spc="-2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on</a:t>
            </a:r>
            <a:r>
              <a:rPr sz="1800" spc="-3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the</a:t>
            </a:r>
            <a:r>
              <a:rPr sz="1800" spc="-2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inputs</a:t>
            </a:r>
            <a:r>
              <a:rPr sz="1800" spc="-3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individually</a:t>
            </a:r>
            <a:r>
              <a:rPr sz="1800" spc="-4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and</a:t>
            </a:r>
            <a:r>
              <a:rPr sz="1800" spc="-2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then</a:t>
            </a:r>
            <a:r>
              <a:rPr sz="1800" spc="-3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summing</a:t>
            </a:r>
            <a:r>
              <a:rPr sz="1800" spc="-1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the</a:t>
            </a:r>
            <a:r>
              <a:rPr sz="1800" spc="-25" dirty="0">
                <a:latin typeface="Times New Roman"/>
                <a:cs typeface="Times New Roman"/>
              </a:rPr>
              <a:t> </a:t>
            </a:r>
            <a:r>
              <a:rPr sz="1800" spc="-10" dirty="0">
                <a:latin typeface="Times New Roman"/>
                <a:cs typeface="Times New Roman"/>
              </a:rPr>
              <a:t>results.</a:t>
            </a:r>
            <a:endParaRPr sz="1800">
              <a:latin typeface="Times New Roman"/>
              <a:cs typeface="Times New Roman"/>
            </a:endParaRPr>
          </a:p>
          <a:p>
            <a:pPr marL="355600" indent="-342900">
              <a:lnSpc>
                <a:spcPct val="100000"/>
              </a:lnSpc>
              <a:spcBef>
                <a:spcPts val="1080"/>
              </a:spcBef>
              <a:buFont typeface="Wingdings"/>
              <a:buChar char=""/>
              <a:tabLst>
                <a:tab pos="355600" algn="l"/>
              </a:tabLst>
            </a:pPr>
            <a:r>
              <a:rPr sz="1800" dirty="0">
                <a:latin typeface="Times New Roman"/>
                <a:cs typeface="Times New Roman"/>
              </a:rPr>
              <a:t>In</a:t>
            </a:r>
            <a:r>
              <a:rPr sz="1800" spc="9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addition,</a:t>
            </a:r>
            <a:r>
              <a:rPr sz="1800" spc="8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the</a:t>
            </a:r>
            <a:r>
              <a:rPr sz="1800" spc="7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output</a:t>
            </a:r>
            <a:r>
              <a:rPr sz="1800" spc="8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of</a:t>
            </a:r>
            <a:r>
              <a:rPr sz="1800" spc="8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a</a:t>
            </a:r>
            <a:r>
              <a:rPr sz="1800" spc="8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linear</a:t>
            </a:r>
            <a:r>
              <a:rPr sz="1800" spc="9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equation</a:t>
            </a:r>
            <a:r>
              <a:rPr sz="1800" spc="8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to</a:t>
            </a:r>
            <a:r>
              <a:rPr sz="1800" spc="7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a</a:t>
            </a:r>
            <a:r>
              <a:rPr sz="1800" spc="8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constant</a:t>
            </a:r>
            <a:r>
              <a:rPr sz="1800" spc="9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times</a:t>
            </a:r>
            <a:r>
              <a:rPr sz="1800" spc="8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an</a:t>
            </a:r>
            <a:r>
              <a:rPr sz="1800" spc="8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input</a:t>
            </a:r>
            <a:r>
              <a:rPr sz="1800" spc="7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as</a:t>
            </a:r>
            <a:r>
              <a:rPr sz="1800" spc="9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the</a:t>
            </a:r>
            <a:r>
              <a:rPr sz="1800" spc="7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same</a:t>
            </a:r>
            <a:r>
              <a:rPr sz="1800" spc="9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as</a:t>
            </a:r>
            <a:r>
              <a:rPr sz="1800" spc="7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the</a:t>
            </a:r>
            <a:r>
              <a:rPr sz="1800" spc="9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output</a:t>
            </a:r>
            <a:r>
              <a:rPr sz="1800" spc="8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of</a:t>
            </a:r>
            <a:r>
              <a:rPr sz="1800" spc="80" dirty="0">
                <a:latin typeface="Times New Roman"/>
                <a:cs typeface="Times New Roman"/>
              </a:rPr>
              <a:t> </a:t>
            </a:r>
            <a:r>
              <a:rPr sz="1800" spc="-25" dirty="0">
                <a:latin typeface="Times New Roman"/>
                <a:cs typeface="Times New Roman"/>
              </a:rPr>
              <a:t>the</a:t>
            </a:r>
            <a:endParaRPr sz="1800">
              <a:latin typeface="Times New Roman"/>
              <a:cs typeface="Times New Roman"/>
            </a:endParaRPr>
          </a:p>
          <a:p>
            <a:pPr marL="355600">
              <a:lnSpc>
                <a:spcPct val="100000"/>
              </a:lnSpc>
              <a:spcBef>
                <a:spcPts val="1080"/>
              </a:spcBef>
            </a:pPr>
            <a:r>
              <a:rPr sz="1800" dirty="0">
                <a:latin typeface="Times New Roman"/>
                <a:cs typeface="Times New Roman"/>
              </a:rPr>
              <a:t>operation</a:t>
            </a:r>
            <a:r>
              <a:rPr sz="1800" spc="-3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due</a:t>
            </a:r>
            <a:r>
              <a:rPr sz="1800" spc="-2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to</a:t>
            </a:r>
            <a:r>
              <a:rPr sz="1800" spc="-2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original</a:t>
            </a:r>
            <a:r>
              <a:rPr sz="1800" spc="-1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input</a:t>
            </a:r>
            <a:r>
              <a:rPr sz="1800" spc="-1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multiplied</a:t>
            </a:r>
            <a:r>
              <a:rPr sz="1800" spc="-3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by</a:t>
            </a:r>
            <a:r>
              <a:rPr sz="1800" spc="-2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that</a:t>
            </a:r>
            <a:r>
              <a:rPr sz="1800" spc="-25" dirty="0">
                <a:latin typeface="Times New Roman"/>
                <a:cs typeface="Times New Roman"/>
              </a:rPr>
              <a:t> </a:t>
            </a:r>
            <a:r>
              <a:rPr sz="1800" spc="-10" dirty="0">
                <a:latin typeface="Times New Roman"/>
                <a:cs typeface="Times New Roman"/>
              </a:rPr>
              <a:t>constant.</a:t>
            </a:r>
            <a:endParaRPr sz="18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140561" y="1875282"/>
            <a:ext cx="7617459" cy="176148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24485" indent="-286385">
              <a:lnSpc>
                <a:spcPts val="1670"/>
              </a:lnSpc>
              <a:spcBef>
                <a:spcPts val="105"/>
              </a:spcBef>
              <a:buFont typeface="Wingdings"/>
              <a:buChar char=""/>
              <a:tabLst>
                <a:tab pos="324485" algn="l"/>
              </a:tabLst>
            </a:pPr>
            <a:r>
              <a:rPr sz="1400" dirty="0">
                <a:latin typeface="Times New Roman"/>
                <a:cs typeface="Times New Roman"/>
              </a:rPr>
              <a:t>Example:</a:t>
            </a:r>
            <a:r>
              <a:rPr sz="1400" spc="-15" dirty="0">
                <a:latin typeface="Times New Roman"/>
                <a:cs typeface="Times New Roman"/>
              </a:rPr>
              <a:t> </a:t>
            </a:r>
            <a:r>
              <a:rPr sz="1400" b="1" spc="-10" dirty="0">
                <a:latin typeface="Times New Roman"/>
                <a:cs typeface="Times New Roman"/>
              </a:rPr>
              <a:t>Non-</a:t>
            </a:r>
            <a:r>
              <a:rPr sz="1400" b="1" dirty="0">
                <a:latin typeface="Times New Roman"/>
                <a:cs typeface="Times New Roman"/>
              </a:rPr>
              <a:t>Linear</a:t>
            </a:r>
            <a:r>
              <a:rPr sz="1400" b="1" spc="-60" dirty="0">
                <a:latin typeface="Times New Roman"/>
                <a:cs typeface="Times New Roman"/>
              </a:rPr>
              <a:t> </a:t>
            </a:r>
            <a:r>
              <a:rPr sz="1400" b="1" spc="-10" dirty="0">
                <a:latin typeface="Times New Roman"/>
                <a:cs typeface="Times New Roman"/>
              </a:rPr>
              <a:t>Operation</a:t>
            </a:r>
            <a:endParaRPr sz="1400">
              <a:latin typeface="Times New Roman"/>
              <a:cs typeface="Times New Roman"/>
            </a:endParaRPr>
          </a:p>
          <a:p>
            <a:pPr marL="324485" indent="-286385">
              <a:lnSpc>
                <a:spcPts val="2150"/>
              </a:lnSpc>
              <a:buFont typeface="Wingdings"/>
              <a:buChar char=""/>
              <a:tabLst>
                <a:tab pos="324485" algn="l"/>
              </a:tabLst>
            </a:pPr>
            <a:r>
              <a:rPr sz="1400" dirty="0">
                <a:latin typeface="Times New Roman"/>
                <a:cs typeface="Times New Roman"/>
              </a:rPr>
              <a:t>Consider</a:t>
            </a:r>
            <a:r>
              <a:rPr sz="1400" spc="-4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the</a:t>
            </a:r>
            <a:r>
              <a:rPr sz="1400" spc="-1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max</a:t>
            </a:r>
            <a:r>
              <a:rPr sz="1400" spc="1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operation,</a:t>
            </a:r>
            <a:r>
              <a:rPr sz="1400" spc="-5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whose</a:t>
            </a:r>
            <a:r>
              <a:rPr sz="1400" spc="-1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function</a:t>
            </a:r>
            <a:r>
              <a:rPr sz="1400" spc="-3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is</a:t>
            </a:r>
            <a:r>
              <a:rPr sz="1400" spc="-2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to</a:t>
            </a:r>
            <a:r>
              <a:rPr sz="1400" spc="-1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find</a:t>
            </a:r>
            <a:r>
              <a:rPr sz="1400" spc="-2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the</a:t>
            </a:r>
            <a:r>
              <a:rPr sz="1400" spc="-1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maximum value</a:t>
            </a:r>
            <a:r>
              <a:rPr sz="1400" spc="-3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of</a:t>
            </a:r>
            <a:r>
              <a:rPr sz="1400" spc="-1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pixels</a:t>
            </a:r>
            <a:r>
              <a:rPr sz="1400" spc="-4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in</a:t>
            </a:r>
            <a:r>
              <a:rPr sz="1400" spc="-1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an</a:t>
            </a:r>
            <a:r>
              <a:rPr sz="1400" spc="5" dirty="0">
                <a:latin typeface="Times New Roman"/>
                <a:cs typeface="Times New Roman"/>
              </a:rPr>
              <a:t> </a:t>
            </a:r>
            <a:r>
              <a:rPr sz="1400" spc="-10" dirty="0">
                <a:latin typeface="Times New Roman"/>
                <a:cs typeface="Times New Roman"/>
              </a:rPr>
              <a:t>image</a:t>
            </a:r>
            <a:r>
              <a:rPr sz="1800" spc="-10" dirty="0">
                <a:latin typeface="Times New Roman"/>
                <a:cs typeface="Times New Roman"/>
              </a:rPr>
              <a:t>,</a:t>
            </a:r>
            <a:endParaRPr sz="18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20"/>
              </a:spcBef>
            </a:pPr>
            <a:endParaRPr sz="1400">
              <a:latin typeface="Times New Roman"/>
              <a:cs typeface="Times New Roman"/>
            </a:endParaRPr>
          </a:p>
          <a:p>
            <a:pPr marR="49530" algn="r">
              <a:lnSpc>
                <a:spcPct val="100000"/>
              </a:lnSpc>
              <a:spcBef>
                <a:spcPts val="5"/>
              </a:spcBef>
            </a:pPr>
            <a:r>
              <a:rPr sz="1800" i="1" dirty="0">
                <a:latin typeface="Times New Roman"/>
                <a:cs typeface="Times New Roman"/>
              </a:rPr>
              <a:t>max</a:t>
            </a:r>
            <a:r>
              <a:rPr sz="1800" i="1" spc="-175" dirty="0">
                <a:latin typeface="Times New Roman"/>
                <a:cs typeface="Times New Roman"/>
              </a:rPr>
              <a:t> </a:t>
            </a:r>
            <a:r>
              <a:rPr sz="1800" b="1" i="1" dirty="0">
                <a:latin typeface="Times New Roman"/>
                <a:cs typeface="Times New Roman"/>
              </a:rPr>
              <a:t>[a</a:t>
            </a:r>
            <a:r>
              <a:rPr sz="1575" b="1" i="1" baseline="-23809" dirty="0">
                <a:latin typeface="Times New Roman"/>
                <a:cs typeface="Times New Roman"/>
              </a:rPr>
              <a:t>i</a:t>
            </a:r>
            <a:r>
              <a:rPr sz="1575" b="1" i="1" spc="330" baseline="-23809" dirty="0">
                <a:latin typeface="Times New Roman"/>
                <a:cs typeface="Times New Roman"/>
              </a:rPr>
              <a:t> </a:t>
            </a:r>
            <a:r>
              <a:rPr sz="1800" b="1" i="1" dirty="0">
                <a:latin typeface="Times New Roman"/>
                <a:cs typeface="Times New Roman"/>
              </a:rPr>
              <a:t>f</a:t>
            </a:r>
            <a:r>
              <a:rPr sz="1575" b="1" i="1" baseline="-23809" dirty="0">
                <a:latin typeface="Times New Roman"/>
                <a:cs typeface="Times New Roman"/>
              </a:rPr>
              <a:t>i</a:t>
            </a:r>
            <a:r>
              <a:rPr sz="1800" b="1" i="1" dirty="0">
                <a:latin typeface="Times New Roman"/>
                <a:cs typeface="Times New Roman"/>
              </a:rPr>
              <a:t>(x,y)</a:t>
            </a:r>
            <a:r>
              <a:rPr sz="1800" b="1" i="1" spc="-18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Symbol"/>
                <a:cs typeface="Symbol"/>
              </a:rPr>
              <a:t></a:t>
            </a:r>
            <a:r>
              <a:rPr sz="1800" spc="-70" dirty="0">
                <a:latin typeface="Times New Roman"/>
                <a:cs typeface="Times New Roman"/>
              </a:rPr>
              <a:t> </a:t>
            </a:r>
            <a:r>
              <a:rPr sz="1800" b="1" i="1" spc="75" dirty="0">
                <a:latin typeface="Times New Roman"/>
                <a:cs typeface="Times New Roman"/>
              </a:rPr>
              <a:t>a</a:t>
            </a:r>
            <a:r>
              <a:rPr sz="1575" b="1" i="1" spc="112" baseline="-23809" dirty="0">
                <a:latin typeface="Times New Roman"/>
                <a:cs typeface="Times New Roman"/>
              </a:rPr>
              <a:t>j</a:t>
            </a:r>
            <a:r>
              <a:rPr sz="1575" b="1" i="1" spc="352" baseline="-23809" dirty="0">
                <a:latin typeface="Times New Roman"/>
                <a:cs typeface="Times New Roman"/>
              </a:rPr>
              <a:t> </a:t>
            </a:r>
            <a:r>
              <a:rPr sz="1800" b="1" i="1" dirty="0">
                <a:latin typeface="Times New Roman"/>
                <a:cs typeface="Times New Roman"/>
              </a:rPr>
              <a:t>f</a:t>
            </a:r>
            <a:r>
              <a:rPr sz="1800" b="1" i="1" spc="175" dirty="0">
                <a:latin typeface="Times New Roman"/>
                <a:cs typeface="Times New Roman"/>
              </a:rPr>
              <a:t> </a:t>
            </a:r>
            <a:r>
              <a:rPr sz="1575" b="1" i="1" baseline="-23809" dirty="0">
                <a:latin typeface="Times New Roman"/>
                <a:cs typeface="Times New Roman"/>
              </a:rPr>
              <a:t>j</a:t>
            </a:r>
            <a:r>
              <a:rPr sz="1800" b="1" i="1" dirty="0">
                <a:latin typeface="Times New Roman"/>
                <a:cs typeface="Times New Roman"/>
              </a:rPr>
              <a:t>(x,y)]</a:t>
            </a:r>
            <a:r>
              <a:rPr sz="1800" b="1" i="1" spc="19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Symbol"/>
                <a:cs typeface="Symbol"/>
              </a:rPr>
              <a:t></a:t>
            </a:r>
            <a:r>
              <a:rPr sz="1800" spc="5" dirty="0">
                <a:latin typeface="Times New Roman"/>
                <a:cs typeface="Times New Roman"/>
              </a:rPr>
              <a:t> </a:t>
            </a:r>
            <a:r>
              <a:rPr sz="1800" i="1" dirty="0">
                <a:latin typeface="Times New Roman"/>
                <a:cs typeface="Times New Roman"/>
              </a:rPr>
              <a:t>max</a:t>
            </a:r>
            <a:r>
              <a:rPr sz="1800" i="1" spc="-175" dirty="0">
                <a:latin typeface="Times New Roman"/>
                <a:cs typeface="Times New Roman"/>
              </a:rPr>
              <a:t> </a:t>
            </a:r>
            <a:r>
              <a:rPr sz="1800" b="1" i="1" dirty="0">
                <a:latin typeface="Times New Roman"/>
                <a:cs typeface="Times New Roman"/>
              </a:rPr>
              <a:t>[a</a:t>
            </a:r>
            <a:r>
              <a:rPr sz="1575" b="1" i="1" baseline="-23809" dirty="0">
                <a:latin typeface="Times New Roman"/>
                <a:cs typeface="Times New Roman"/>
              </a:rPr>
              <a:t>i</a:t>
            </a:r>
            <a:r>
              <a:rPr sz="1575" b="1" i="1" spc="337" baseline="-23809" dirty="0">
                <a:latin typeface="Times New Roman"/>
                <a:cs typeface="Times New Roman"/>
              </a:rPr>
              <a:t> </a:t>
            </a:r>
            <a:r>
              <a:rPr sz="1800" b="1" i="1" dirty="0">
                <a:latin typeface="Times New Roman"/>
                <a:cs typeface="Times New Roman"/>
              </a:rPr>
              <a:t>f</a:t>
            </a:r>
            <a:r>
              <a:rPr sz="1575" b="1" i="1" baseline="-23809" dirty="0">
                <a:latin typeface="Times New Roman"/>
                <a:cs typeface="Times New Roman"/>
              </a:rPr>
              <a:t>i</a:t>
            </a:r>
            <a:r>
              <a:rPr sz="1800" b="1" i="1" dirty="0">
                <a:latin typeface="Times New Roman"/>
                <a:cs typeface="Times New Roman"/>
              </a:rPr>
              <a:t>(x,y)]</a:t>
            </a:r>
            <a:r>
              <a:rPr sz="1800" b="1" i="1" spc="9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Symbol"/>
                <a:cs typeface="Symbol"/>
              </a:rPr>
              <a:t></a:t>
            </a:r>
            <a:r>
              <a:rPr sz="1800" spc="-80" dirty="0">
                <a:latin typeface="Times New Roman"/>
                <a:cs typeface="Times New Roman"/>
              </a:rPr>
              <a:t> </a:t>
            </a:r>
            <a:r>
              <a:rPr sz="1800" i="1" dirty="0">
                <a:latin typeface="Times New Roman"/>
                <a:cs typeface="Times New Roman"/>
              </a:rPr>
              <a:t>max</a:t>
            </a:r>
            <a:r>
              <a:rPr sz="1800" i="1" spc="-175" dirty="0">
                <a:latin typeface="Times New Roman"/>
                <a:cs typeface="Times New Roman"/>
              </a:rPr>
              <a:t> </a:t>
            </a:r>
            <a:r>
              <a:rPr sz="1800" b="1" i="1" spc="50" dirty="0">
                <a:latin typeface="Times New Roman"/>
                <a:cs typeface="Times New Roman"/>
              </a:rPr>
              <a:t>[a</a:t>
            </a:r>
            <a:r>
              <a:rPr sz="1575" b="1" i="1" spc="75" baseline="-23809" dirty="0">
                <a:latin typeface="Times New Roman"/>
                <a:cs typeface="Times New Roman"/>
              </a:rPr>
              <a:t>j</a:t>
            </a:r>
            <a:r>
              <a:rPr sz="1575" b="1" i="1" spc="359" baseline="-23809" dirty="0">
                <a:latin typeface="Times New Roman"/>
                <a:cs typeface="Times New Roman"/>
              </a:rPr>
              <a:t> </a:t>
            </a:r>
            <a:r>
              <a:rPr sz="1800" b="1" i="1" dirty="0">
                <a:latin typeface="Times New Roman"/>
                <a:cs typeface="Times New Roman"/>
              </a:rPr>
              <a:t>f</a:t>
            </a:r>
            <a:r>
              <a:rPr sz="1800" b="1" i="1" spc="-250" dirty="0">
                <a:latin typeface="Times New Roman"/>
                <a:cs typeface="Times New Roman"/>
              </a:rPr>
              <a:t> </a:t>
            </a:r>
            <a:r>
              <a:rPr sz="1575" b="1" i="1" spc="-15" baseline="-23809" dirty="0">
                <a:latin typeface="Times New Roman"/>
                <a:cs typeface="Times New Roman"/>
              </a:rPr>
              <a:t>j</a:t>
            </a:r>
            <a:r>
              <a:rPr sz="1800" b="1" i="1" spc="-10" dirty="0">
                <a:latin typeface="Times New Roman"/>
                <a:cs typeface="Times New Roman"/>
              </a:rPr>
              <a:t>(x,y)]</a:t>
            </a:r>
            <a:endParaRPr sz="1800">
              <a:latin typeface="Times New Roman"/>
              <a:cs typeface="Times New Roman"/>
            </a:endParaRPr>
          </a:p>
          <a:p>
            <a:pPr marR="30480" algn="r">
              <a:lnSpc>
                <a:spcPct val="100000"/>
              </a:lnSpc>
              <a:spcBef>
                <a:spcPts val="810"/>
              </a:spcBef>
            </a:pPr>
            <a:r>
              <a:rPr sz="1800" dirty="0">
                <a:latin typeface="Symbol"/>
                <a:cs typeface="Symbol"/>
              </a:rPr>
              <a:t></a:t>
            </a:r>
            <a:r>
              <a:rPr sz="1800" spc="20" dirty="0">
                <a:latin typeface="Times New Roman"/>
                <a:cs typeface="Times New Roman"/>
              </a:rPr>
              <a:t> </a:t>
            </a:r>
            <a:r>
              <a:rPr sz="1800" b="1" i="1" dirty="0">
                <a:latin typeface="Times New Roman"/>
                <a:cs typeface="Times New Roman"/>
              </a:rPr>
              <a:t>a</a:t>
            </a:r>
            <a:r>
              <a:rPr sz="1575" b="1" i="1" baseline="-23809" dirty="0">
                <a:latin typeface="Times New Roman"/>
                <a:cs typeface="Times New Roman"/>
              </a:rPr>
              <a:t>i</a:t>
            </a:r>
            <a:r>
              <a:rPr sz="1575" b="1" i="1" spc="315" baseline="-23809" dirty="0">
                <a:latin typeface="Times New Roman"/>
                <a:cs typeface="Times New Roman"/>
              </a:rPr>
              <a:t> </a:t>
            </a:r>
            <a:r>
              <a:rPr sz="1800" i="1" dirty="0">
                <a:latin typeface="Times New Roman"/>
                <a:cs typeface="Times New Roman"/>
              </a:rPr>
              <a:t>max</a:t>
            </a:r>
            <a:r>
              <a:rPr sz="1800" i="1" spc="-165" dirty="0">
                <a:latin typeface="Times New Roman"/>
                <a:cs typeface="Times New Roman"/>
              </a:rPr>
              <a:t> </a:t>
            </a:r>
            <a:r>
              <a:rPr sz="1800" b="1" i="1" dirty="0">
                <a:latin typeface="Times New Roman"/>
                <a:cs typeface="Times New Roman"/>
              </a:rPr>
              <a:t>[f</a:t>
            </a:r>
            <a:r>
              <a:rPr sz="1575" b="1" i="1" baseline="-23809" dirty="0">
                <a:latin typeface="Times New Roman"/>
                <a:cs typeface="Times New Roman"/>
              </a:rPr>
              <a:t>i</a:t>
            </a:r>
            <a:r>
              <a:rPr sz="1800" b="1" i="1" dirty="0">
                <a:latin typeface="Times New Roman"/>
                <a:cs typeface="Times New Roman"/>
              </a:rPr>
              <a:t>(x,y)]</a:t>
            </a:r>
            <a:r>
              <a:rPr sz="1800" b="1" i="1" spc="10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Symbol"/>
                <a:cs typeface="Symbol"/>
              </a:rPr>
              <a:t></a:t>
            </a:r>
            <a:r>
              <a:rPr sz="1800" spc="-70" dirty="0">
                <a:latin typeface="Times New Roman"/>
                <a:cs typeface="Times New Roman"/>
              </a:rPr>
              <a:t> </a:t>
            </a:r>
            <a:r>
              <a:rPr sz="1800" b="1" i="1" spc="75" dirty="0">
                <a:latin typeface="Times New Roman"/>
                <a:cs typeface="Times New Roman"/>
              </a:rPr>
              <a:t>a</a:t>
            </a:r>
            <a:r>
              <a:rPr sz="1575" b="1" i="1" spc="112" baseline="-23809" dirty="0">
                <a:latin typeface="Times New Roman"/>
                <a:cs typeface="Times New Roman"/>
              </a:rPr>
              <a:t>j</a:t>
            </a:r>
            <a:r>
              <a:rPr sz="1575" b="1" i="1" spc="330" baseline="-23809" dirty="0">
                <a:latin typeface="Times New Roman"/>
                <a:cs typeface="Times New Roman"/>
              </a:rPr>
              <a:t> </a:t>
            </a:r>
            <a:r>
              <a:rPr sz="1800" i="1" dirty="0">
                <a:latin typeface="Times New Roman"/>
                <a:cs typeface="Times New Roman"/>
              </a:rPr>
              <a:t>max</a:t>
            </a:r>
            <a:r>
              <a:rPr sz="1800" i="1" spc="-165" dirty="0">
                <a:latin typeface="Times New Roman"/>
                <a:cs typeface="Times New Roman"/>
              </a:rPr>
              <a:t> </a:t>
            </a:r>
            <a:r>
              <a:rPr sz="1800" b="1" i="1" spc="-10" dirty="0">
                <a:latin typeface="Times New Roman"/>
                <a:cs typeface="Times New Roman"/>
              </a:rPr>
              <a:t>[f</a:t>
            </a:r>
            <a:r>
              <a:rPr sz="1800" b="1" i="1" spc="-204" dirty="0">
                <a:latin typeface="Times New Roman"/>
                <a:cs typeface="Times New Roman"/>
              </a:rPr>
              <a:t> </a:t>
            </a:r>
            <a:r>
              <a:rPr sz="1575" b="1" i="1" spc="-15" baseline="-23809" dirty="0">
                <a:latin typeface="Times New Roman"/>
                <a:cs typeface="Times New Roman"/>
              </a:rPr>
              <a:t>j</a:t>
            </a:r>
            <a:r>
              <a:rPr sz="1800" b="1" i="1" spc="-10" dirty="0">
                <a:latin typeface="Times New Roman"/>
                <a:cs typeface="Times New Roman"/>
              </a:rPr>
              <a:t>(x,y)]</a:t>
            </a:r>
            <a:endParaRPr sz="1800">
              <a:latin typeface="Times New Roman"/>
              <a:cs typeface="Times New Roman"/>
            </a:endParaRPr>
          </a:p>
          <a:p>
            <a:pPr marL="4425315">
              <a:lnSpc>
                <a:spcPct val="100000"/>
              </a:lnSpc>
              <a:spcBef>
                <a:spcPts val="810"/>
              </a:spcBef>
            </a:pPr>
            <a:r>
              <a:rPr sz="1800" dirty="0">
                <a:latin typeface="Symbol"/>
                <a:cs typeface="Symbol"/>
              </a:rPr>
              <a:t></a:t>
            </a:r>
            <a:r>
              <a:rPr sz="1800" spc="-20" dirty="0">
                <a:latin typeface="Times New Roman"/>
                <a:cs typeface="Times New Roman"/>
              </a:rPr>
              <a:t> </a:t>
            </a:r>
            <a:r>
              <a:rPr sz="1800" b="1" i="1" dirty="0">
                <a:latin typeface="Times New Roman"/>
                <a:cs typeface="Times New Roman"/>
              </a:rPr>
              <a:t>a</a:t>
            </a:r>
            <a:r>
              <a:rPr sz="1575" b="1" i="1" baseline="-23809" dirty="0">
                <a:latin typeface="Times New Roman"/>
                <a:cs typeface="Times New Roman"/>
              </a:rPr>
              <a:t>i</a:t>
            </a:r>
            <a:r>
              <a:rPr sz="1575" b="1" i="1" spc="-44" baseline="-23809" dirty="0">
                <a:latin typeface="Times New Roman"/>
                <a:cs typeface="Times New Roman"/>
              </a:rPr>
              <a:t> </a:t>
            </a:r>
            <a:r>
              <a:rPr sz="1800" b="1" i="1" dirty="0">
                <a:latin typeface="Times New Roman"/>
                <a:cs typeface="Times New Roman"/>
              </a:rPr>
              <a:t>g</a:t>
            </a:r>
            <a:r>
              <a:rPr sz="1575" b="1" i="1" baseline="-23809" dirty="0">
                <a:latin typeface="Times New Roman"/>
                <a:cs typeface="Times New Roman"/>
              </a:rPr>
              <a:t>i</a:t>
            </a:r>
            <a:r>
              <a:rPr sz="1575" b="1" i="1" spc="-187" baseline="-23809" dirty="0">
                <a:latin typeface="Times New Roman"/>
                <a:cs typeface="Times New Roman"/>
              </a:rPr>
              <a:t> </a:t>
            </a:r>
            <a:r>
              <a:rPr sz="1800" i="1" dirty="0">
                <a:latin typeface="Times New Roman"/>
                <a:cs typeface="Times New Roman"/>
              </a:rPr>
              <a:t>( </a:t>
            </a:r>
            <a:r>
              <a:rPr sz="1800" b="1" i="1" spc="75" dirty="0">
                <a:latin typeface="Times New Roman"/>
                <a:cs typeface="Times New Roman"/>
              </a:rPr>
              <a:t>x</a:t>
            </a:r>
            <a:r>
              <a:rPr sz="1800" i="1" spc="75" dirty="0">
                <a:latin typeface="Times New Roman"/>
                <a:cs typeface="Times New Roman"/>
              </a:rPr>
              <a:t>,</a:t>
            </a:r>
            <a:r>
              <a:rPr sz="1800" i="1" spc="-190" dirty="0">
                <a:latin typeface="Times New Roman"/>
                <a:cs typeface="Times New Roman"/>
              </a:rPr>
              <a:t> </a:t>
            </a:r>
            <a:r>
              <a:rPr sz="1800" b="1" i="1" dirty="0">
                <a:latin typeface="Times New Roman"/>
                <a:cs typeface="Times New Roman"/>
              </a:rPr>
              <a:t>y</a:t>
            </a:r>
            <a:r>
              <a:rPr sz="1800" b="1" i="1" spc="-165" dirty="0">
                <a:latin typeface="Times New Roman"/>
                <a:cs typeface="Times New Roman"/>
              </a:rPr>
              <a:t> </a:t>
            </a:r>
            <a:r>
              <a:rPr sz="1800" i="1" dirty="0">
                <a:latin typeface="Times New Roman"/>
                <a:cs typeface="Times New Roman"/>
              </a:rPr>
              <a:t>)</a:t>
            </a:r>
            <a:r>
              <a:rPr sz="1800" i="1" spc="-18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Symbol"/>
                <a:cs typeface="Symbol"/>
              </a:rPr>
              <a:t></a:t>
            </a:r>
            <a:r>
              <a:rPr sz="1800" spc="-90" dirty="0">
                <a:latin typeface="Times New Roman"/>
                <a:cs typeface="Times New Roman"/>
              </a:rPr>
              <a:t> </a:t>
            </a:r>
            <a:r>
              <a:rPr sz="1800" b="1" i="1" spc="75" dirty="0">
                <a:latin typeface="Times New Roman"/>
                <a:cs typeface="Times New Roman"/>
              </a:rPr>
              <a:t>a</a:t>
            </a:r>
            <a:r>
              <a:rPr sz="1575" b="1" i="1" spc="112" baseline="-23809" dirty="0">
                <a:latin typeface="Times New Roman"/>
                <a:cs typeface="Times New Roman"/>
              </a:rPr>
              <a:t>j</a:t>
            </a:r>
            <a:r>
              <a:rPr sz="1575" b="1" i="1" spc="-30" baseline="-23809" dirty="0">
                <a:latin typeface="Times New Roman"/>
                <a:cs typeface="Times New Roman"/>
              </a:rPr>
              <a:t> </a:t>
            </a:r>
            <a:r>
              <a:rPr sz="1800" b="1" i="1" dirty="0">
                <a:latin typeface="Times New Roman"/>
                <a:cs typeface="Times New Roman"/>
              </a:rPr>
              <a:t>g</a:t>
            </a:r>
            <a:r>
              <a:rPr sz="1800" b="1" i="1" spc="-245" dirty="0">
                <a:latin typeface="Times New Roman"/>
                <a:cs typeface="Times New Roman"/>
              </a:rPr>
              <a:t> </a:t>
            </a:r>
            <a:r>
              <a:rPr sz="1575" b="1" i="1" baseline="-23809" dirty="0">
                <a:latin typeface="Times New Roman"/>
                <a:cs typeface="Times New Roman"/>
              </a:rPr>
              <a:t>j</a:t>
            </a:r>
            <a:r>
              <a:rPr sz="1575" b="1" i="1" spc="-165" baseline="-23809" dirty="0">
                <a:latin typeface="Times New Roman"/>
                <a:cs typeface="Times New Roman"/>
              </a:rPr>
              <a:t> </a:t>
            </a:r>
            <a:r>
              <a:rPr sz="1800" i="1" dirty="0">
                <a:latin typeface="Times New Roman"/>
                <a:cs typeface="Times New Roman"/>
              </a:rPr>
              <a:t>( </a:t>
            </a:r>
            <a:r>
              <a:rPr sz="1800" b="1" i="1" spc="75" dirty="0">
                <a:latin typeface="Times New Roman"/>
                <a:cs typeface="Times New Roman"/>
              </a:rPr>
              <a:t>x</a:t>
            </a:r>
            <a:r>
              <a:rPr sz="1800" i="1" spc="75" dirty="0">
                <a:latin typeface="Times New Roman"/>
                <a:cs typeface="Times New Roman"/>
              </a:rPr>
              <a:t>,</a:t>
            </a:r>
            <a:r>
              <a:rPr sz="1800" i="1" spc="-190" dirty="0">
                <a:latin typeface="Times New Roman"/>
                <a:cs typeface="Times New Roman"/>
              </a:rPr>
              <a:t> </a:t>
            </a:r>
            <a:r>
              <a:rPr sz="1800" b="1" i="1" dirty="0">
                <a:latin typeface="Times New Roman"/>
                <a:cs typeface="Times New Roman"/>
              </a:rPr>
              <a:t>y</a:t>
            </a:r>
            <a:r>
              <a:rPr sz="1800" b="1" i="1" spc="-160" dirty="0">
                <a:latin typeface="Times New Roman"/>
                <a:cs typeface="Times New Roman"/>
              </a:rPr>
              <a:t> </a:t>
            </a:r>
            <a:r>
              <a:rPr sz="1800" i="1" spc="-50" dirty="0">
                <a:latin typeface="Times New Roman"/>
                <a:cs typeface="Times New Roman"/>
              </a:rPr>
              <a:t>)</a:t>
            </a:r>
            <a:endParaRPr sz="18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40" dirty="0"/>
              <a:t>Linear</a:t>
            </a:r>
            <a:r>
              <a:rPr spc="-260" dirty="0"/>
              <a:t> </a:t>
            </a:r>
            <a:r>
              <a:rPr spc="-25" dirty="0"/>
              <a:t>versus</a:t>
            </a:r>
            <a:r>
              <a:rPr spc="-204" dirty="0"/>
              <a:t> </a:t>
            </a:r>
            <a:r>
              <a:rPr spc="-50" dirty="0"/>
              <a:t>Nonlinear</a:t>
            </a:r>
            <a:r>
              <a:rPr spc="-250" dirty="0"/>
              <a:t> </a:t>
            </a:r>
            <a:r>
              <a:rPr spc="-20" dirty="0"/>
              <a:t>Operation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442252" y="3985085"/>
            <a:ext cx="5729064" cy="2212968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5527547" y="3366515"/>
            <a:ext cx="227329" cy="318770"/>
            <a:chOff x="5527547" y="3366515"/>
            <a:chExt cx="227329" cy="318770"/>
          </a:xfrm>
        </p:grpSpPr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527547" y="3366515"/>
              <a:ext cx="227075" cy="318516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5561837" y="3394709"/>
              <a:ext cx="123825" cy="219075"/>
            </a:xfrm>
            <a:custGeom>
              <a:avLst/>
              <a:gdLst/>
              <a:ahLst/>
              <a:cxnLst/>
              <a:rect l="l" t="t" r="r" b="b"/>
              <a:pathLst>
                <a:path w="123825" h="219075">
                  <a:moveTo>
                    <a:pt x="123825" y="0"/>
                  </a:moveTo>
                  <a:lnTo>
                    <a:pt x="0" y="219075"/>
                  </a:lnTo>
                </a:path>
              </a:pathLst>
            </a:custGeom>
            <a:ln w="2590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8" name="object 8"/>
          <p:cNvGrpSpPr/>
          <p:nvPr/>
        </p:nvGrpSpPr>
        <p:grpSpPr>
          <a:xfrm>
            <a:off x="5507735" y="2621279"/>
            <a:ext cx="262255" cy="670560"/>
            <a:chOff x="5507735" y="2621279"/>
            <a:chExt cx="262255" cy="670560"/>
          </a:xfrm>
        </p:grpSpPr>
        <p:pic>
          <p:nvPicPr>
            <p:cNvPr id="9" name="object 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507735" y="2621279"/>
              <a:ext cx="227075" cy="318515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5542025" y="2649473"/>
              <a:ext cx="123825" cy="219075"/>
            </a:xfrm>
            <a:custGeom>
              <a:avLst/>
              <a:gdLst/>
              <a:ahLst/>
              <a:cxnLst/>
              <a:rect l="l" t="t" r="r" b="b"/>
              <a:pathLst>
                <a:path w="123825" h="219075">
                  <a:moveTo>
                    <a:pt x="123825" y="0"/>
                  </a:moveTo>
                  <a:lnTo>
                    <a:pt x="0" y="219075"/>
                  </a:lnTo>
                </a:path>
              </a:pathLst>
            </a:custGeom>
            <a:ln w="2590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11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542787" y="2973323"/>
              <a:ext cx="227075" cy="318515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5577077" y="3001517"/>
              <a:ext cx="123825" cy="219075"/>
            </a:xfrm>
            <a:custGeom>
              <a:avLst/>
              <a:gdLst/>
              <a:ahLst/>
              <a:cxnLst/>
              <a:rect l="l" t="t" r="r" b="b"/>
              <a:pathLst>
                <a:path w="123825" h="219075">
                  <a:moveTo>
                    <a:pt x="123825" y="0"/>
                  </a:moveTo>
                  <a:lnTo>
                    <a:pt x="0" y="219075"/>
                  </a:lnTo>
                </a:path>
              </a:pathLst>
            </a:custGeom>
            <a:ln w="2590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dirty="0"/>
              <a:t>23</a:t>
            </a:r>
            <a:r>
              <a:rPr spc="-5" dirty="0"/>
              <a:t> </a:t>
            </a:r>
            <a:r>
              <a:rPr dirty="0"/>
              <a:t>May</a:t>
            </a:r>
            <a:r>
              <a:rPr spc="-5" dirty="0"/>
              <a:t> </a:t>
            </a:r>
            <a:r>
              <a:rPr spc="-20" dirty="0"/>
              <a:t>2024</a:t>
            </a:r>
          </a:p>
        </p:txBody>
      </p:sp>
      <p:sp>
        <p:nvSpPr>
          <p:cNvPr id="14" name="object 14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pc="-10" dirty="0"/>
              <a:t>MATHEMATICAL</a:t>
            </a:r>
            <a:r>
              <a:rPr spc="10" dirty="0"/>
              <a:t> </a:t>
            </a:r>
            <a:r>
              <a:rPr dirty="0"/>
              <a:t>TOOLS</a:t>
            </a:r>
            <a:r>
              <a:rPr spc="-15" dirty="0"/>
              <a:t> </a:t>
            </a:r>
            <a:r>
              <a:rPr dirty="0"/>
              <a:t>USED</a:t>
            </a:r>
            <a:r>
              <a:rPr spc="-30" dirty="0"/>
              <a:t> </a:t>
            </a:r>
            <a:r>
              <a:rPr dirty="0"/>
              <a:t>IN</a:t>
            </a:r>
            <a:r>
              <a:rPr spc="-30" dirty="0"/>
              <a:t> </a:t>
            </a:r>
            <a:r>
              <a:rPr dirty="0"/>
              <a:t>DIGITAL</a:t>
            </a:r>
            <a:r>
              <a:rPr spc="5" dirty="0"/>
              <a:t> </a:t>
            </a:r>
            <a:r>
              <a:rPr dirty="0"/>
              <a:t>IMAGE</a:t>
            </a:r>
            <a:r>
              <a:rPr spc="-5" dirty="0"/>
              <a:t> </a:t>
            </a:r>
            <a:r>
              <a:rPr spc="-10" dirty="0"/>
              <a:t>PROCESSING</a:t>
            </a: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55"/>
              </a:lnSpc>
            </a:pPr>
            <a:fld id="{81D60167-4931-47E6-BA6A-407CBD079E47}" type="slidenum">
              <a:rPr spc="-25" dirty="0"/>
              <a:t>9</a:t>
            </a:fld>
            <a:endParaRPr spc="-25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250696" y="1837516"/>
            <a:ext cx="9828530" cy="2084705"/>
          </a:xfrm>
          <a:prstGeom prst="rect">
            <a:avLst/>
          </a:prstGeom>
        </p:spPr>
        <p:txBody>
          <a:bodyPr vert="horz" wrap="square" lIns="0" tIns="150495" rIns="0" bIns="0" rtlCol="0">
            <a:spAutoFit/>
          </a:bodyPr>
          <a:lstStyle/>
          <a:p>
            <a:pPr marL="299085" indent="-286385">
              <a:lnSpc>
                <a:spcPct val="100000"/>
              </a:lnSpc>
              <a:spcBef>
                <a:spcPts val="1185"/>
              </a:spcBef>
              <a:buFont typeface="Wingdings"/>
              <a:buChar char=""/>
              <a:tabLst>
                <a:tab pos="299085" algn="l"/>
              </a:tabLst>
            </a:pPr>
            <a:r>
              <a:rPr sz="1800" dirty="0">
                <a:latin typeface="Times New Roman"/>
                <a:cs typeface="Times New Roman"/>
              </a:rPr>
              <a:t>Linear</a:t>
            </a:r>
            <a:r>
              <a:rPr sz="1800" spc="3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operation</a:t>
            </a:r>
            <a:r>
              <a:rPr sz="1800" spc="2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are</a:t>
            </a:r>
            <a:r>
              <a:rPr sz="1800" spc="3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exceptionally</a:t>
            </a:r>
            <a:r>
              <a:rPr sz="1800" spc="4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important,</a:t>
            </a:r>
            <a:r>
              <a:rPr sz="1800" spc="4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because</a:t>
            </a:r>
            <a:r>
              <a:rPr sz="1800" spc="3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they</a:t>
            </a:r>
            <a:r>
              <a:rPr sz="1800" spc="3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are</a:t>
            </a:r>
            <a:r>
              <a:rPr sz="1800" spc="3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based</a:t>
            </a:r>
            <a:r>
              <a:rPr sz="1800" spc="3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on</a:t>
            </a:r>
            <a:r>
              <a:rPr sz="1800" spc="3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a</a:t>
            </a:r>
            <a:r>
              <a:rPr sz="1800" spc="3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large</a:t>
            </a:r>
            <a:r>
              <a:rPr sz="1800" spc="3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body</a:t>
            </a:r>
            <a:r>
              <a:rPr sz="1800" spc="6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of</a:t>
            </a:r>
            <a:r>
              <a:rPr sz="1800" spc="2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theoretical</a:t>
            </a:r>
            <a:r>
              <a:rPr sz="1800" spc="50" dirty="0">
                <a:latin typeface="Times New Roman"/>
                <a:cs typeface="Times New Roman"/>
              </a:rPr>
              <a:t> </a:t>
            </a:r>
            <a:r>
              <a:rPr sz="1800" spc="-25" dirty="0">
                <a:latin typeface="Times New Roman"/>
                <a:cs typeface="Times New Roman"/>
              </a:rPr>
              <a:t>and</a:t>
            </a:r>
            <a:endParaRPr sz="1800">
              <a:latin typeface="Times New Roman"/>
              <a:cs typeface="Times New Roman"/>
            </a:endParaRPr>
          </a:p>
          <a:p>
            <a:pPr marL="299085">
              <a:lnSpc>
                <a:spcPct val="100000"/>
              </a:lnSpc>
              <a:spcBef>
                <a:spcPts val="1085"/>
              </a:spcBef>
            </a:pPr>
            <a:r>
              <a:rPr sz="1800" dirty="0">
                <a:latin typeface="Times New Roman"/>
                <a:cs typeface="Times New Roman"/>
              </a:rPr>
              <a:t>practical</a:t>
            </a:r>
            <a:r>
              <a:rPr sz="1800" spc="-5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results</a:t>
            </a:r>
            <a:r>
              <a:rPr sz="1800" spc="-4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that</a:t>
            </a:r>
            <a:r>
              <a:rPr sz="1800" spc="-4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are</a:t>
            </a:r>
            <a:r>
              <a:rPr sz="1800" spc="-3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applicable</a:t>
            </a:r>
            <a:r>
              <a:rPr sz="1800" spc="-5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to</a:t>
            </a:r>
            <a:r>
              <a:rPr sz="1800" spc="-4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image</a:t>
            </a:r>
            <a:r>
              <a:rPr sz="1800" spc="-30" dirty="0">
                <a:latin typeface="Times New Roman"/>
                <a:cs typeface="Times New Roman"/>
              </a:rPr>
              <a:t> </a:t>
            </a:r>
            <a:r>
              <a:rPr sz="1800" spc="-10" dirty="0">
                <a:latin typeface="Times New Roman"/>
                <a:cs typeface="Times New Roman"/>
              </a:rPr>
              <a:t>processing.</a:t>
            </a:r>
            <a:endParaRPr sz="1800">
              <a:latin typeface="Times New Roman"/>
              <a:cs typeface="Times New Roman"/>
            </a:endParaRPr>
          </a:p>
          <a:p>
            <a:pPr marL="298450" indent="-285750">
              <a:lnSpc>
                <a:spcPct val="100000"/>
              </a:lnSpc>
              <a:spcBef>
                <a:spcPts val="1080"/>
              </a:spcBef>
              <a:buFont typeface="Wingdings"/>
              <a:buChar char=""/>
              <a:tabLst>
                <a:tab pos="298450" algn="l"/>
              </a:tabLst>
            </a:pPr>
            <a:r>
              <a:rPr sz="1800" spc="-10" dirty="0">
                <a:latin typeface="Times New Roman"/>
                <a:cs typeface="Times New Roman"/>
              </a:rPr>
              <a:t>Non-</a:t>
            </a:r>
            <a:r>
              <a:rPr sz="1800" dirty="0">
                <a:latin typeface="Times New Roman"/>
                <a:cs typeface="Times New Roman"/>
              </a:rPr>
              <a:t>linear</a:t>
            </a:r>
            <a:r>
              <a:rPr sz="1800" spc="-4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systems</a:t>
            </a:r>
            <a:r>
              <a:rPr sz="1800" spc="-3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are</a:t>
            </a:r>
            <a:r>
              <a:rPr sz="1800" spc="-2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not</a:t>
            </a:r>
            <a:r>
              <a:rPr sz="1800" spc="-2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nearly</a:t>
            </a:r>
            <a:r>
              <a:rPr sz="1800" spc="-2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as</a:t>
            </a:r>
            <a:r>
              <a:rPr sz="1800" spc="-3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well</a:t>
            </a:r>
            <a:r>
              <a:rPr sz="1800" spc="-2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understood,</a:t>
            </a:r>
            <a:r>
              <a:rPr sz="1800" spc="-2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so</a:t>
            </a:r>
            <a:r>
              <a:rPr sz="1800" spc="-2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there</a:t>
            </a:r>
            <a:r>
              <a:rPr sz="1800" spc="-2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scope</a:t>
            </a:r>
            <a:r>
              <a:rPr sz="1800" spc="-2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of</a:t>
            </a:r>
            <a:r>
              <a:rPr sz="1800" spc="-1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application</a:t>
            </a:r>
            <a:r>
              <a:rPr sz="1800" spc="-4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is</a:t>
            </a:r>
            <a:r>
              <a:rPr sz="1800" spc="-3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more</a:t>
            </a:r>
            <a:r>
              <a:rPr sz="1800" spc="-10" dirty="0">
                <a:latin typeface="Times New Roman"/>
                <a:cs typeface="Times New Roman"/>
              </a:rPr>
              <a:t> limited.</a:t>
            </a:r>
            <a:endParaRPr sz="1800">
              <a:latin typeface="Times New Roman"/>
              <a:cs typeface="Times New Roman"/>
            </a:endParaRPr>
          </a:p>
          <a:p>
            <a:pPr marL="299085" indent="-286385">
              <a:lnSpc>
                <a:spcPct val="100000"/>
              </a:lnSpc>
              <a:spcBef>
                <a:spcPts val="1080"/>
              </a:spcBef>
              <a:buFont typeface="Wingdings"/>
              <a:buChar char=""/>
              <a:tabLst>
                <a:tab pos="299085" algn="l"/>
              </a:tabLst>
            </a:pPr>
            <a:r>
              <a:rPr sz="1800" dirty="0">
                <a:latin typeface="Times New Roman"/>
                <a:cs typeface="Times New Roman"/>
              </a:rPr>
              <a:t>But,</a:t>
            </a:r>
            <a:r>
              <a:rPr sz="1800" spc="14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there</a:t>
            </a:r>
            <a:r>
              <a:rPr sz="1800" spc="14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are</a:t>
            </a:r>
            <a:r>
              <a:rPr sz="1800" spc="15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several</a:t>
            </a:r>
            <a:r>
              <a:rPr sz="1800" spc="145" dirty="0">
                <a:latin typeface="Times New Roman"/>
                <a:cs typeface="Times New Roman"/>
              </a:rPr>
              <a:t> </a:t>
            </a:r>
            <a:r>
              <a:rPr sz="1800" spc="-10" dirty="0">
                <a:latin typeface="Times New Roman"/>
                <a:cs typeface="Times New Roman"/>
              </a:rPr>
              <a:t>non-</a:t>
            </a:r>
            <a:r>
              <a:rPr sz="1800" dirty="0">
                <a:latin typeface="Times New Roman"/>
                <a:cs typeface="Times New Roman"/>
              </a:rPr>
              <a:t>linear</a:t>
            </a:r>
            <a:r>
              <a:rPr sz="1800" spc="13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image</a:t>
            </a:r>
            <a:r>
              <a:rPr sz="1800" spc="15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processing</a:t>
            </a:r>
            <a:r>
              <a:rPr sz="1800" spc="15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operations</a:t>
            </a:r>
            <a:r>
              <a:rPr sz="1800" spc="14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whose</a:t>
            </a:r>
            <a:r>
              <a:rPr sz="1800" spc="14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performance</a:t>
            </a:r>
            <a:r>
              <a:rPr sz="1800" spc="14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far</a:t>
            </a:r>
            <a:r>
              <a:rPr sz="1800" spc="14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exceeds</a:t>
            </a:r>
            <a:r>
              <a:rPr sz="1800" spc="14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what</a:t>
            </a:r>
            <a:r>
              <a:rPr sz="1800" spc="145" dirty="0">
                <a:latin typeface="Times New Roman"/>
                <a:cs typeface="Times New Roman"/>
              </a:rPr>
              <a:t> </a:t>
            </a:r>
            <a:r>
              <a:rPr sz="1800" spc="-25" dirty="0">
                <a:latin typeface="Times New Roman"/>
                <a:cs typeface="Times New Roman"/>
              </a:rPr>
              <a:t>is</a:t>
            </a:r>
            <a:endParaRPr sz="1800">
              <a:latin typeface="Times New Roman"/>
              <a:cs typeface="Times New Roman"/>
            </a:endParaRPr>
          </a:p>
          <a:p>
            <a:pPr marL="299085">
              <a:lnSpc>
                <a:spcPct val="100000"/>
              </a:lnSpc>
              <a:spcBef>
                <a:spcPts val="1080"/>
              </a:spcBef>
            </a:pPr>
            <a:r>
              <a:rPr sz="1800" dirty="0">
                <a:latin typeface="Times New Roman"/>
                <a:cs typeface="Times New Roman"/>
              </a:rPr>
              <a:t>achievable</a:t>
            </a:r>
            <a:r>
              <a:rPr sz="1800" spc="-5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by</a:t>
            </a:r>
            <a:r>
              <a:rPr sz="1800" spc="-2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their</a:t>
            </a:r>
            <a:r>
              <a:rPr sz="1800" spc="-4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linear</a:t>
            </a:r>
            <a:r>
              <a:rPr sz="1800" spc="-45" dirty="0">
                <a:latin typeface="Times New Roman"/>
                <a:cs typeface="Times New Roman"/>
              </a:rPr>
              <a:t> </a:t>
            </a:r>
            <a:r>
              <a:rPr sz="1800" spc="-10" dirty="0">
                <a:latin typeface="Times New Roman"/>
                <a:cs typeface="Times New Roman"/>
              </a:rPr>
              <a:t>counterparts.</a:t>
            </a:r>
            <a:endParaRPr sz="180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dirty="0"/>
              <a:t>23</a:t>
            </a:r>
            <a:r>
              <a:rPr spc="-5" dirty="0"/>
              <a:t> </a:t>
            </a:r>
            <a:r>
              <a:rPr dirty="0"/>
              <a:t>May</a:t>
            </a:r>
            <a:r>
              <a:rPr spc="-5" dirty="0"/>
              <a:t> </a:t>
            </a:r>
            <a:r>
              <a:rPr spc="-20" dirty="0"/>
              <a:t>2024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pc="-10" dirty="0"/>
              <a:t>MATHEMATICAL</a:t>
            </a:r>
            <a:r>
              <a:rPr spc="10" dirty="0"/>
              <a:t> </a:t>
            </a:r>
            <a:r>
              <a:rPr dirty="0"/>
              <a:t>TOOLS</a:t>
            </a:r>
            <a:r>
              <a:rPr spc="-15" dirty="0"/>
              <a:t> </a:t>
            </a:r>
            <a:r>
              <a:rPr dirty="0"/>
              <a:t>USED</a:t>
            </a:r>
            <a:r>
              <a:rPr spc="-30" dirty="0"/>
              <a:t> </a:t>
            </a:r>
            <a:r>
              <a:rPr dirty="0"/>
              <a:t>IN</a:t>
            </a:r>
            <a:r>
              <a:rPr spc="-30" dirty="0"/>
              <a:t> </a:t>
            </a:r>
            <a:r>
              <a:rPr dirty="0"/>
              <a:t>DIGITAL</a:t>
            </a:r>
            <a:r>
              <a:rPr spc="5" dirty="0"/>
              <a:t> </a:t>
            </a:r>
            <a:r>
              <a:rPr dirty="0"/>
              <a:t>IMAGE</a:t>
            </a:r>
            <a:r>
              <a:rPr spc="-5" dirty="0"/>
              <a:t> </a:t>
            </a:r>
            <a:r>
              <a:rPr spc="-10" dirty="0"/>
              <a:t>PROCESSING</a:t>
            </a:r>
          </a:p>
        </p:txBody>
      </p:sp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55"/>
              </a:lnSpc>
            </a:pPr>
            <a:fld id="{81D60167-4931-47E6-BA6A-407CBD079E47}" type="slidenum">
              <a:rPr spc="-25" dirty="0"/>
              <a:t>10</a:t>
            </a:fld>
            <a:endParaRPr spc="-25"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40" dirty="0"/>
              <a:t>Linear</a:t>
            </a:r>
            <a:r>
              <a:rPr spc="-260" dirty="0"/>
              <a:t> </a:t>
            </a:r>
            <a:r>
              <a:rPr spc="-25" dirty="0"/>
              <a:t>versus</a:t>
            </a:r>
            <a:r>
              <a:rPr spc="-204" dirty="0"/>
              <a:t> </a:t>
            </a:r>
            <a:r>
              <a:rPr spc="-50" dirty="0"/>
              <a:t>Nonlinear</a:t>
            </a:r>
            <a:r>
              <a:rPr spc="-250" dirty="0"/>
              <a:t> </a:t>
            </a:r>
            <a:r>
              <a:rPr spc="-20" dirty="0"/>
              <a:t>Operation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b="0" spc="-45" dirty="0">
                <a:latin typeface="Times New Roman"/>
                <a:cs typeface="Times New Roman"/>
              </a:rPr>
              <a:t>Arithmetic</a:t>
            </a:r>
            <a:r>
              <a:rPr b="0" spc="-204" dirty="0">
                <a:latin typeface="Times New Roman"/>
                <a:cs typeface="Times New Roman"/>
              </a:rPr>
              <a:t> </a:t>
            </a:r>
            <a:r>
              <a:rPr b="0" spc="-30" dirty="0">
                <a:latin typeface="Times New Roman"/>
                <a:cs typeface="Times New Roman"/>
              </a:rPr>
              <a:t>Operations</a:t>
            </a:r>
          </a:p>
        </p:txBody>
      </p:sp>
      <p:sp>
        <p:nvSpPr>
          <p:cNvPr id="3" name="object 3"/>
          <p:cNvSpPr/>
          <p:nvPr/>
        </p:nvSpPr>
        <p:spPr>
          <a:xfrm>
            <a:off x="5040629" y="2611882"/>
            <a:ext cx="466725" cy="200660"/>
          </a:xfrm>
          <a:custGeom>
            <a:avLst/>
            <a:gdLst/>
            <a:ahLst/>
            <a:cxnLst/>
            <a:rect l="l" t="t" r="r" b="b"/>
            <a:pathLst>
              <a:path w="466725" h="200660">
                <a:moveTo>
                  <a:pt x="402336" y="0"/>
                </a:moveTo>
                <a:lnTo>
                  <a:pt x="399542" y="8127"/>
                </a:lnTo>
                <a:lnTo>
                  <a:pt x="411114" y="13124"/>
                </a:lnTo>
                <a:lnTo>
                  <a:pt x="421068" y="20097"/>
                </a:lnTo>
                <a:lnTo>
                  <a:pt x="441305" y="52449"/>
                </a:lnTo>
                <a:lnTo>
                  <a:pt x="448056" y="99187"/>
                </a:lnTo>
                <a:lnTo>
                  <a:pt x="447297" y="116855"/>
                </a:lnTo>
                <a:lnTo>
                  <a:pt x="436118" y="160146"/>
                </a:lnTo>
                <a:lnTo>
                  <a:pt x="399796" y="192277"/>
                </a:lnTo>
                <a:lnTo>
                  <a:pt x="402336" y="200405"/>
                </a:lnTo>
                <a:lnTo>
                  <a:pt x="440662" y="177617"/>
                </a:lnTo>
                <a:lnTo>
                  <a:pt x="462121" y="135636"/>
                </a:lnTo>
                <a:lnTo>
                  <a:pt x="466217" y="100202"/>
                </a:lnTo>
                <a:lnTo>
                  <a:pt x="465206" y="82115"/>
                </a:lnTo>
                <a:lnTo>
                  <a:pt x="449707" y="35051"/>
                </a:lnTo>
                <a:lnTo>
                  <a:pt x="416863" y="5208"/>
                </a:lnTo>
                <a:lnTo>
                  <a:pt x="402336" y="0"/>
                </a:lnTo>
                <a:close/>
              </a:path>
              <a:path w="466725" h="200660">
                <a:moveTo>
                  <a:pt x="63881" y="0"/>
                </a:moveTo>
                <a:lnTo>
                  <a:pt x="25679" y="22770"/>
                </a:lnTo>
                <a:lnTo>
                  <a:pt x="4111" y="64865"/>
                </a:lnTo>
                <a:lnTo>
                  <a:pt x="0" y="100202"/>
                </a:lnTo>
                <a:lnTo>
                  <a:pt x="926" y="116855"/>
                </a:lnTo>
                <a:lnTo>
                  <a:pt x="16510" y="165353"/>
                </a:lnTo>
                <a:lnTo>
                  <a:pt x="49335" y="195143"/>
                </a:lnTo>
                <a:lnTo>
                  <a:pt x="63881" y="200405"/>
                </a:lnTo>
                <a:lnTo>
                  <a:pt x="66421" y="192277"/>
                </a:lnTo>
                <a:lnTo>
                  <a:pt x="55012" y="187203"/>
                </a:lnTo>
                <a:lnTo>
                  <a:pt x="45164" y="180165"/>
                </a:lnTo>
                <a:lnTo>
                  <a:pt x="24931" y="147335"/>
                </a:lnTo>
                <a:lnTo>
                  <a:pt x="18330" y="100202"/>
                </a:lnTo>
                <a:lnTo>
                  <a:pt x="18287" y="99187"/>
                </a:lnTo>
                <a:lnTo>
                  <a:pt x="24931" y="52449"/>
                </a:lnTo>
                <a:lnTo>
                  <a:pt x="45259" y="20097"/>
                </a:lnTo>
                <a:lnTo>
                  <a:pt x="66802" y="8127"/>
                </a:lnTo>
                <a:lnTo>
                  <a:pt x="63881" y="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5951982" y="2611882"/>
            <a:ext cx="466725" cy="200660"/>
          </a:xfrm>
          <a:custGeom>
            <a:avLst/>
            <a:gdLst/>
            <a:ahLst/>
            <a:cxnLst/>
            <a:rect l="l" t="t" r="r" b="b"/>
            <a:pathLst>
              <a:path w="466725" h="200660">
                <a:moveTo>
                  <a:pt x="402335" y="0"/>
                </a:moveTo>
                <a:lnTo>
                  <a:pt x="399541" y="8127"/>
                </a:lnTo>
                <a:lnTo>
                  <a:pt x="411114" y="13124"/>
                </a:lnTo>
                <a:lnTo>
                  <a:pt x="421068" y="20097"/>
                </a:lnTo>
                <a:lnTo>
                  <a:pt x="441305" y="52449"/>
                </a:lnTo>
                <a:lnTo>
                  <a:pt x="448055" y="99187"/>
                </a:lnTo>
                <a:lnTo>
                  <a:pt x="447297" y="116855"/>
                </a:lnTo>
                <a:lnTo>
                  <a:pt x="436117" y="160146"/>
                </a:lnTo>
                <a:lnTo>
                  <a:pt x="399795" y="192277"/>
                </a:lnTo>
                <a:lnTo>
                  <a:pt x="402335" y="200405"/>
                </a:lnTo>
                <a:lnTo>
                  <a:pt x="440662" y="177617"/>
                </a:lnTo>
                <a:lnTo>
                  <a:pt x="462121" y="135636"/>
                </a:lnTo>
                <a:lnTo>
                  <a:pt x="466216" y="100202"/>
                </a:lnTo>
                <a:lnTo>
                  <a:pt x="465206" y="82115"/>
                </a:lnTo>
                <a:lnTo>
                  <a:pt x="449706" y="35051"/>
                </a:lnTo>
                <a:lnTo>
                  <a:pt x="416863" y="5208"/>
                </a:lnTo>
                <a:lnTo>
                  <a:pt x="402335" y="0"/>
                </a:lnTo>
                <a:close/>
              </a:path>
              <a:path w="466725" h="200660">
                <a:moveTo>
                  <a:pt x="63880" y="0"/>
                </a:moveTo>
                <a:lnTo>
                  <a:pt x="25679" y="22770"/>
                </a:lnTo>
                <a:lnTo>
                  <a:pt x="4111" y="64865"/>
                </a:lnTo>
                <a:lnTo>
                  <a:pt x="0" y="100202"/>
                </a:lnTo>
                <a:lnTo>
                  <a:pt x="926" y="116855"/>
                </a:lnTo>
                <a:lnTo>
                  <a:pt x="16509" y="165353"/>
                </a:lnTo>
                <a:lnTo>
                  <a:pt x="49335" y="195143"/>
                </a:lnTo>
                <a:lnTo>
                  <a:pt x="63880" y="200405"/>
                </a:lnTo>
                <a:lnTo>
                  <a:pt x="66420" y="192277"/>
                </a:lnTo>
                <a:lnTo>
                  <a:pt x="55012" y="187203"/>
                </a:lnTo>
                <a:lnTo>
                  <a:pt x="45164" y="180165"/>
                </a:lnTo>
                <a:lnTo>
                  <a:pt x="24931" y="147335"/>
                </a:lnTo>
                <a:lnTo>
                  <a:pt x="18330" y="100202"/>
                </a:lnTo>
                <a:lnTo>
                  <a:pt x="18287" y="99187"/>
                </a:lnTo>
                <a:lnTo>
                  <a:pt x="24931" y="52449"/>
                </a:lnTo>
                <a:lnTo>
                  <a:pt x="45259" y="20097"/>
                </a:lnTo>
                <a:lnTo>
                  <a:pt x="66801" y="8127"/>
                </a:lnTo>
                <a:lnTo>
                  <a:pt x="63880" y="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6851142" y="2611882"/>
            <a:ext cx="464820" cy="200660"/>
          </a:xfrm>
          <a:custGeom>
            <a:avLst/>
            <a:gdLst/>
            <a:ahLst/>
            <a:cxnLst/>
            <a:rect l="l" t="t" r="r" b="b"/>
            <a:pathLst>
              <a:path w="464820" h="200660">
                <a:moveTo>
                  <a:pt x="400811" y="0"/>
                </a:moveTo>
                <a:lnTo>
                  <a:pt x="398017" y="8127"/>
                </a:lnTo>
                <a:lnTo>
                  <a:pt x="409590" y="13124"/>
                </a:lnTo>
                <a:lnTo>
                  <a:pt x="419544" y="20097"/>
                </a:lnTo>
                <a:lnTo>
                  <a:pt x="439781" y="52449"/>
                </a:lnTo>
                <a:lnTo>
                  <a:pt x="445734" y="81843"/>
                </a:lnTo>
                <a:lnTo>
                  <a:pt x="445773" y="82115"/>
                </a:lnTo>
                <a:lnTo>
                  <a:pt x="446531" y="99187"/>
                </a:lnTo>
                <a:lnTo>
                  <a:pt x="445773" y="116855"/>
                </a:lnTo>
                <a:lnTo>
                  <a:pt x="443515" y="132905"/>
                </a:lnTo>
                <a:lnTo>
                  <a:pt x="427882" y="171150"/>
                </a:lnTo>
                <a:lnTo>
                  <a:pt x="398272" y="192277"/>
                </a:lnTo>
                <a:lnTo>
                  <a:pt x="400811" y="200405"/>
                </a:lnTo>
                <a:lnTo>
                  <a:pt x="439138" y="177617"/>
                </a:lnTo>
                <a:lnTo>
                  <a:pt x="460597" y="135636"/>
                </a:lnTo>
                <a:lnTo>
                  <a:pt x="464692" y="100202"/>
                </a:lnTo>
                <a:lnTo>
                  <a:pt x="463682" y="82115"/>
                </a:lnTo>
                <a:lnTo>
                  <a:pt x="448182" y="35051"/>
                </a:lnTo>
                <a:lnTo>
                  <a:pt x="415339" y="5208"/>
                </a:lnTo>
                <a:lnTo>
                  <a:pt x="400811" y="0"/>
                </a:lnTo>
                <a:close/>
              </a:path>
              <a:path w="464820" h="200660">
                <a:moveTo>
                  <a:pt x="63880" y="0"/>
                </a:moveTo>
                <a:lnTo>
                  <a:pt x="25679" y="22770"/>
                </a:lnTo>
                <a:lnTo>
                  <a:pt x="4111" y="64865"/>
                </a:lnTo>
                <a:lnTo>
                  <a:pt x="56" y="99187"/>
                </a:lnTo>
                <a:lnTo>
                  <a:pt x="0" y="100202"/>
                </a:lnTo>
                <a:lnTo>
                  <a:pt x="9269" y="151209"/>
                </a:lnTo>
                <a:lnTo>
                  <a:pt x="36575" y="187547"/>
                </a:lnTo>
                <a:lnTo>
                  <a:pt x="63880" y="200405"/>
                </a:lnTo>
                <a:lnTo>
                  <a:pt x="66421" y="192277"/>
                </a:lnTo>
                <a:lnTo>
                  <a:pt x="55012" y="187203"/>
                </a:lnTo>
                <a:lnTo>
                  <a:pt x="45164" y="180165"/>
                </a:lnTo>
                <a:lnTo>
                  <a:pt x="24931" y="147335"/>
                </a:lnTo>
                <a:lnTo>
                  <a:pt x="18330" y="100202"/>
                </a:lnTo>
                <a:lnTo>
                  <a:pt x="18287" y="99187"/>
                </a:lnTo>
                <a:lnTo>
                  <a:pt x="19026" y="82115"/>
                </a:lnTo>
                <a:lnTo>
                  <a:pt x="30099" y="39877"/>
                </a:lnTo>
                <a:lnTo>
                  <a:pt x="66801" y="8127"/>
                </a:lnTo>
                <a:lnTo>
                  <a:pt x="63880" y="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5068061" y="3139185"/>
            <a:ext cx="466725" cy="200660"/>
          </a:xfrm>
          <a:custGeom>
            <a:avLst/>
            <a:gdLst/>
            <a:ahLst/>
            <a:cxnLst/>
            <a:rect l="l" t="t" r="r" b="b"/>
            <a:pathLst>
              <a:path w="466725" h="200660">
                <a:moveTo>
                  <a:pt x="402336" y="0"/>
                </a:moveTo>
                <a:lnTo>
                  <a:pt x="399541" y="8127"/>
                </a:lnTo>
                <a:lnTo>
                  <a:pt x="411114" y="13124"/>
                </a:lnTo>
                <a:lnTo>
                  <a:pt x="421068" y="20097"/>
                </a:lnTo>
                <a:lnTo>
                  <a:pt x="441305" y="52449"/>
                </a:lnTo>
                <a:lnTo>
                  <a:pt x="448055" y="99187"/>
                </a:lnTo>
                <a:lnTo>
                  <a:pt x="447297" y="116855"/>
                </a:lnTo>
                <a:lnTo>
                  <a:pt x="436117" y="160147"/>
                </a:lnTo>
                <a:lnTo>
                  <a:pt x="399796" y="192277"/>
                </a:lnTo>
                <a:lnTo>
                  <a:pt x="402336" y="200405"/>
                </a:lnTo>
                <a:lnTo>
                  <a:pt x="440662" y="177617"/>
                </a:lnTo>
                <a:lnTo>
                  <a:pt x="462121" y="135636"/>
                </a:lnTo>
                <a:lnTo>
                  <a:pt x="466216" y="100202"/>
                </a:lnTo>
                <a:lnTo>
                  <a:pt x="465206" y="82115"/>
                </a:lnTo>
                <a:lnTo>
                  <a:pt x="449707" y="35051"/>
                </a:lnTo>
                <a:lnTo>
                  <a:pt x="416863" y="5208"/>
                </a:lnTo>
                <a:lnTo>
                  <a:pt x="402336" y="0"/>
                </a:lnTo>
                <a:close/>
              </a:path>
              <a:path w="466725" h="200660">
                <a:moveTo>
                  <a:pt x="63880" y="0"/>
                </a:moveTo>
                <a:lnTo>
                  <a:pt x="25679" y="22770"/>
                </a:lnTo>
                <a:lnTo>
                  <a:pt x="4111" y="64865"/>
                </a:lnTo>
                <a:lnTo>
                  <a:pt x="0" y="100202"/>
                </a:lnTo>
                <a:lnTo>
                  <a:pt x="926" y="116855"/>
                </a:lnTo>
                <a:lnTo>
                  <a:pt x="16510" y="165353"/>
                </a:lnTo>
                <a:lnTo>
                  <a:pt x="49335" y="195143"/>
                </a:lnTo>
                <a:lnTo>
                  <a:pt x="63880" y="200405"/>
                </a:lnTo>
                <a:lnTo>
                  <a:pt x="66421" y="192277"/>
                </a:lnTo>
                <a:lnTo>
                  <a:pt x="55012" y="187203"/>
                </a:lnTo>
                <a:lnTo>
                  <a:pt x="45164" y="180165"/>
                </a:lnTo>
                <a:lnTo>
                  <a:pt x="24931" y="147335"/>
                </a:lnTo>
                <a:lnTo>
                  <a:pt x="18330" y="100202"/>
                </a:lnTo>
                <a:lnTo>
                  <a:pt x="18287" y="99187"/>
                </a:lnTo>
                <a:lnTo>
                  <a:pt x="24931" y="52449"/>
                </a:lnTo>
                <a:lnTo>
                  <a:pt x="45259" y="20097"/>
                </a:lnTo>
                <a:lnTo>
                  <a:pt x="66801" y="8127"/>
                </a:lnTo>
                <a:lnTo>
                  <a:pt x="63880" y="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5980938" y="3139185"/>
            <a:ext cx="466725" cy="200660"/>
          </a:xfrm>
          <a:custGeom>
            <a:avLst/>
            <a:gdLst/>
            <a:ahLst/>
            <a:cxnLst/>
            <a:rect l="l" t="t" r="r" b="b"/>
            <a:pathLst>
              <a:path w="466725" h="200660">
                <a:moveTo>
                  <a:pt x="402336" y="0"/>
                </a:moveTo>
                <a:lnTo>
                  <a:pt x="399541" y="8127"/>
                </a:lnTo>
                <a:lnTo>
                  <a:pt x="411114" y="13124"/>
                </a:lnTo>
                <a:lnTo>
                  <a:pt x="421068" y="20097"/>
                </a:lnTo>
                <a:lnTo>
                  <a:pt x="441305" y="52449"/>
                </a:lnTo>
                <a:lnTo>
                  <a:pt x="448056" y="99187"/>
                </a:lnTo>
                <a:lnTo>
                  <a:pt x="447297" y="116855"/>
                </a:lnTo>
                <a:lnTo>
                  <a:pt x="436117" y="160147"/>
                </a:lnTo>
                <a:lnTo>
                  <a:pt x="399796" y="192277"/>
                </a:lnTo>
                <a:lnTo>
                  <a:pt x="402336" y="200405"/>
                </a:lnTo>
                <a:lnTo>
                  <a:pt x="440662" y="177617"/>
                </a:lnTo>
                <a:lnTo>
                  <a:pt x="462121" y="135636"/>
                </a:lnTo>
                <a:lnTo>
                  <a:pt x="466216" y="100202"/>
                </a:lnTo>
                <a:lnTo>
                  <a:pt x="465206" y="82115"/>
                </a:lnTo>
                <a:lnTo>
                  <a:pt x="449707" y="35051"/>
                </a:lnTo>
                <a:lnTo>
                  <a:pt x="416863" y="5208"/>
                </a:lnTo>
                <a:lnTo>
                  <a:pt x="402336" y="0"/>
                </a:lnTo>
                <a:close/>
              </a:path>
              <a:path w="466725" h="200660">
                <a:moveTo>
                  <a:pt x="63881" y="0"/>
                </a:moveTo>
                <a:lnTo>
                  <a:pt x="25679" y="22770"/>
                </a:lnTo>
                <a:lnTo>
                  <a:pt x="4111" y="64865"/>
                </a:lnTo>
                <a:lnTo>
                  <a:pt x="0" y="100202"/>
                </a:lnTo>
                <a:lnTo>
                  <a:pt x="926" y="116855"/>
                </a:lnTo>
                <a:lnTo>
                  <a:pt x="16510" y="165353"/>
                </a:lnTo>
                <a:lnTo>
                  <a:pt x="49335" y="195143"/>
                </a:lnTo>
                <a:lnTo>
                  <a:pt x="63881" y="200405"/>
                </a:lnTo>
                <a:lnTo>
                  <a:pt x="66421" y="192277"/>
                </a:lnTo>
                <a:lnTo>
                  <a:pt x="55012" y="187203"/>
                </a:lnTo>
                <a:lnTo>
                  <a:pt x="45164" y="180165"/>
                </a:lnTo>
                <a:lnTo>
                  <a:pt x="24931" y="147335"/>
                </a:lnTo>
                <a:lnTo>
                  <a:pt x="18330" y="100202"/>
                </a:lnTo>
                <a:lnTo>
                  <a:pt x="18287" y="99187"/>
                </a:lnTo>
                <a:lnTo>
                  <a:pt x="24931" y="52449"/>
                </a:lnTo>
                <a:lnTo>
                  <a:pt x="45259" y="20097"/>
                </a:lnTo>
                <a:lnTo>
                  <a:pt x="66801" y="8127"/>
                </a:lnTo>
                <a:lnTo>
                  <a:pt x="63881" y="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6878573" y="3139185"/>
            <a:ext cx="466725" cy="200660"/>
          </a:xfrm>
          <a:custGeom>
            <a:avLst/>
            <a:gdLst/>
            <a:ahLst/>
            <a:cxnLst/>
            <a:rect l="l" t="t" r="r" b="b"/>
            <a:pathLst>
              <a:path w="466725" h="200660">
                <a:moveTo>
                  <a:pt x="402335" y="0"/>
                </a:moveTo>
                <a:lnTo>
                  <a:pt x="399542" y="8127"/>
                </a:lnTo>
                <a:lnTo>
                  <a:pt x="411114" y="13124"/>
                </a:lnTo>
                <a:lnTo>
                  <a:pt x="421068" y="20097"/>
                </a:lnTo>
                <a:lnTo>
                  <a:pt x="441305" y="52449"/>
                </a:lnTo>
                <a:lnTo>
                  <a:pt x="447258" y="81843"/>
                </a:lnTo>
                <a:lnTo>
                  <a:pt x="447297" y="82115"/>
                </a:lnTo>
                <a:lnTo>
                  <a:pt x="448055" y="99187"/>
                </a:lnTo>
                <a:lnTo>
                  <a:pt x="447297" y="116855"/>
                </a:lnTo>
                <a:lnTo>
                  <a:pt x="445039" y="132905"/>
                </a:lnTo>
                <a:lnTo>
                  <a:pt x="429406" y="171150"/>
                </a:lnTo>
                <a:lnTo>
                  <a:pt x="399796" y="192277"/>
                </a:lnTo>
                <a:lnTo>
                  <a:pt x="402335" y="200405"/>
                </a:lnTo>
                <a:lnTo>
                  <a:pt x="440662" y="177617"/>
                </a:lnTo>
                <a:lnTo>
                  <a:pt x="462121" y="135636"/>
                </a:lnTo>
                <a:lnTo>
                  <a:pt x="466217" y="100202"/>
                </a:lnTo>
                <a:lnTo>
                  <a:pt x="465206" y="82115"/>
                </a:lnTo>
                <a:lnTo>
                  <a:pt x="449706" y="35051"/>
                </a:lnTo>
                <a:lnTo>
                  <a:pt x="416863" y="5208"/>
                </a:lnTo>
                <a:lnTo>
                  <a:pt x="402335" y="0"/>
                </a:lnTo>
                <a:close/>
              </a:path>
              <a:path w="466725" h="200660">
                <a:moveTo>
                  <a:pt x="63880" y="0"/>
                </a:moveTo>
                <a:lnTo>
                  <a:pt x="25679" y="22770"/>
                </a:lnTo>
                <a:lnTo>
                  <a:pt x="4111" y="64865"/>
                </a:lnTo>
                <a:lnTo>
                  <a:pt x="56" y="99187"/>
                </a:lnTo>
                <a:lnTo>
                  <a:pt x="0" y="100202"/>
                </a:lnTo>
                <a:lnTo>
                  <a:pt x="9269" y="151209"/>
                </a:lnTo>
                <a:lnTo>
                  <a:pt x="36575" y="187547"/>
                </a:lnTo>
                <a:lnTo>
                  <a:pt x="63880" y="200405"/>
                </a:lnTo>
                <a:lnTo>
                  <a:pt x="66421" y="192277"/>
                </a:lnTo>
                <a:lnTo>
                  <a:pt x="55012" y="187203"/>
                </a:lnTo>
                <a:lnTo>
                  <a:pt x="45164" y="180165"/>
                </a:lnTo>
                <a:lnTo>
                  <a:pt x="24931" y="147335"/>
                </a:lnTo>
                <a:lnTo>
                  <a:pt x="18330" y="100202"/>
                </a:lnTo>
                <a:lnTo>
                  <a:pt x="18287" y="99187"/>
                </a:lnTo>
                <a:lnTo>
                  <a:pt x="19026" y="82115"/>
                </a:lnTo>
                <a:lnTo>
                  <a:pt x="30099" y="39877"/>
                </a:lnTo>
                <a:lnTo>
                  <a:pt x="66801" y="8127"/>
                </a:lnTo>
                <a:lnTo>
                  <a:pt x="63880" y="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5069585" y="3654297"/>
            <a:ext cx="466725" cy="200660"/>
          </a:xfrm>
          <a:custGeom>
            <a:avLst/>
            <a:gdLst/>
            <a:ahLst/>
            <a:cxnLst/>
            <a:rect l="l" t="t" r="r" b="b"/>
            <a:pathLst>
              <a:path w="466725" h="200660">
                <a:moveTo>
                  <a:pt x="402336" y="0"/>
                </a:moveTo>
                <a:lnTo>
                  <a:pt x="399541" y="8127"/>
                </a:lnTo>
                <a:lnTo>
                  <a:pt x="411114" y="13124"/>
                </a:lnTo>
                <a:lnTo>
                  <a:pt x="421068" y="20097"/>
                </a:lnTo>
                <a:lnTo>
                  <a:pt x="441305" y="52449"/>
                </a:lnTo>
                <a:lnTo>
                  <a:pt x="448055" y="99187"/>
                </a:lnTo>
                <a:lnTo>
                  <a:pt x="447297" y="116855"/>
                </a:lnTo>
                <a:lnTo>
                  <a:pt x="436117" y="160146"/>
                </a:lnTo>
                <a:lnTo>
                  <a:pt x="399796" y="192277"/>
                </a:lnTo>
                <a:lnTo>
                  <a:pt x="402336" y="200406"/>
                </a:lnTo>
                <a:lnTo>
                  <a:pt x="440662" y="177617"/>
                </a:lnTo>
                <a:lnTo>
                  <a:pt x="462121" y="135635"/>
                </a:lnTo>
                <a:lnTo>
                  <a:pt x="466216" y="100202"/>
                </a:lnTo>
                <a:lnTo>
                  <a:pt x="465206" y="82115"/>
                </a:lnTo>
                <a:lnTo>
                  <a:pt x="449706" y="35051"/>
                </a:lnTo>
                <a:lnTo>
                  <a:pt x="416863" y="5208"/>
                </a:lnTo>
                <a:lnTo>
                  <a:pt x="402336" y="0"/>
                </a:lnTo>
                <a:close/>
              </a:path>
              <a:path w="466725" h="200660">
                <a:moveTo>
                  <a:pt x="63880" y="0"/>
                </a:moveTo>
                <a:lnTo>
                  <a:pt x="25679" y="22770"/>
                </a:lnTo>
                <a:lnTo>
                  <a:pt x="4111" y="64865"/>
                </a:lnTo>
                <a:lnTo>
                  <a:pt x="0" y="100202"/>
                </a:lnTo>
                <a:lnTo>
                  <a:pt x="926" y="116855"/>
                </a:lnTo>
                <a:lnTo>
                  <a:pt x="16510" y="165353"/>
                </a:lnTo>
                <a:lnTo>
                  <a:pt x="49335" y="195143"/>
                </a:lnTo>
                <a:lnTo>
                  <a:pt x="63880" y="200406"/>
                </a:lnTo>
                <a:lnTo>
                  <a:pt x="66421" y="192277"/>
                </a:lnTo>
                <a:lnTo>
                  <a:pt x="55012" y="187203"/>
                </a:lnTo>
                <a:lnTo>
                  <a:pt x="45164" y="180165"/>
                </a:lnTo>
                <a:lnTo>
                  <a:pt x="24931" y="147335"/>
                </a:lnTo>
                <a:lnTo>
                  <a:pt x="18330" y="100202"/>
                </a:lnTo>
                <a:lnTo>
                  <a:pt x="18287" y="99187"/>
                </a:lnTo>
                <a:lnTo>
                  <a:pt x="24931" y="52449"/>
                </a:lnTo>
                <a:lnTo>
                  <a:pt x="45259" y="20097"/>
                </a:lnTo>
                <a:lnTo>
                  <a:pt x="66801" y="8127"/>
                </a:lnTo>
                <a:lnTo>
                  <a:pt x="63880" y="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5980938" y="3654297"/>
            <a:ext cx="466725" cy="200660"/>
          </a:xfrm>
          <a:custGeom>
            <a:avLst/>
            <a:gdLst/>
            <a:ahLst/>
            <a:cxnLst/>
            <a:rect l="l" t="t" r="r" b="b"/>
            <a:pathLst>
              <a:path w="466725" h="200660">
                <a:moveTo>
                  <a:pt x="402336" y="0"/>
                </a:moveTo>
                <a:lnTo>
                  <a:pt x="399541" y="8127"/>
                </a:lnTo>
                <a:lnTo>
                  <a:pt x="411114" y="13124"/>
                </a:lnTo>
                <a:lnTo>
                  <a:pt x="421068" y="20097"/>
                </a:lnTo>
                <a:lnTo>
                  <a:pt x="441305" y="52449"/>
                </a:lnTo>
                <a:lnTo>
                  <a:pt x="448056" y="99187"/>
                </a:lnTo>
                <a:lnTo>
                  <a:pt x="447297" y="116855"/>
                </a:lnTo>
                <a:lnTo>
                  <a:pt x="436117" y="160146"/>
                </a:lnTo>
                <a:lnTo>
                  <a:pt x="399796" y="192277"/>
                </a:lnTo>
                <a:lnTo>
                  <a:pt x="402336" y="200406"/>
                </a:lnTo>
                <a:lnTo>
                  <a:pt x="440662" y="177617"/>
                </a:lnTo>
                <a:lnTo>
                  <a:pt x="462121" y="135635"/>
                </a:lnTo>
                <a:lnTo>
                  <a:pt x="466216" y="100202"/>
                </a:lnTo>
                <a:lnTo>
                  <a:pt x="465206" y="82115"/>
                </a:lnTo>
                <a:lnTo>
                  <a:pt x="449707" y="35051"/>
                </a:lnTo>
                <a:lnTo>
                  <a:pt x="416863" y="5208"/>
                </a:lnTo>
                <a:lnTo>
                  <a:pt x="402336" y="0"/>
                </a:lnTo>
                <a:close/>
              </a:path>
              <a:path w="466725" h="200660">
                <a:moveTo>
                  <a:pt x="63881" y="0"/>
                </a:moveTo>
                <a:lnTo>
                  <a:pt x="25679" y="22770"/>
                </a:lnTo>
                <a:lnTo>
                  <a:pt x="4111" y="64865"/>
                </a:lnTo>
                <a:lnTo>
                  <a:pt x="0" y="100202"/>
                </a:lnTo>
                <a:lnTo>
                  <a:pt x="926" y="116855"/>
                </a:lnTo>
                <a:lnTo>
                  <a:pt x="16510" y="165353"/>
                </a:lnTo>
                <a:lnTo>
                  <a:pt x="49335" y="195143"/>
                </a:lnTo>
                <a:lnTo>
                  <a:pt x="63881" y="200406"/>
                </a:lnTo>
                <a:lnTo>
                  <a:pt x="66421" y="192277"/>
                </a:lnTo>
                <a:lnTo>
                  <a:pt x="55012" y="187203"/>
                </a:lnTo>
                <a:lnTo>
                  <a:pt x="45164" y="180165"/>
                </a:lnTo>
                <a:lnTo>
                  <a:pt x="24931" y="147335"/>
                </a:lnTo>
                <a:lnTo>
                  <a:pt x="18330" y="100202"/>
                </a:lnTo>
                <a:lnTo>
                  <a:pt x="18287" y="99187"/>
                </a:lnTo>
                <a:lnTo>
                  <a:pt x="24931" y="52449"/>
                </a:lnTo>
                <a:lnTo>
                  <a:pt x="45259" y="20097"/>
                </a:lnTo>
                <a:lnTo>
                  <a:pt x="66801" y="8127"/>
                </a:lnTo>
                <a:lnTo>
                  <a:pt x="63881" y="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6822185" y="3654297"/>
            <a:ext cx="466725" cy="200660"/>
          </a:xfrm>
          <a:custGeom>
            <a:avLst/>
            <a:gdLst/>
            <a:ahLst/>
            <a:cxnLst/>
            <a:rect l="l" t="t" r="r" b="b"/>
            <a:pathLst>
              <a:path w="466725" h="200660">
                <a:moveTo>
                  <a:pt x="402336" y="0"/>
                </a:moveTo>
                <a:lnTo>
                  <a:pt x="399542" y="8127"/>
                </a:lnTo>
                <a:lnTo>
                  <a:pt x="411114" y="13124"/>
                </a:lnTo>
                <a:lnTo>
                  <a:pt x="421068" y="20097"/>
                </a:lnTo>
                <a:lnTo>
                  <a:pt x="441305" y="52449"/>
                </a:lnTo>
                <a:lnTo>
                  <a:pt x="447258" y="81843"/>
                </a:lnTo>
                <a:lnTo>
                  <a:pt x="447297" y="82115"/>
                </a:lnTo>
                <a:lnTo>
                  <a:pt x="448056" y="99187"/>
                </a:lnTo>
                <a:lnTo>
                  <a:pt x="447297" y="116855"/>
                </a:lnTo>
                <a:lnTo>
                  <a:pt x="445039" y="132905"/>
                </a:lnTo>
                <a:lnTo>
                  <a:pt x="429406" y="171150"/>
                </a:lnTo>
                <a:lnTo>
                  <a:pt x="399796" y="192277"/>
                </a:lnTo>
                <a:lnTo>
                  <a:pt x="402336" y="200406"/>
                </a:lnTo>
                <a:lnTo>
                  <a:pt x="440662" y="177617"/>
                </a:lnTo>
                <a:lnTo>
                  <a:pt x="462121" y="135635"/>
                </a:lnTo>
                <a:lnTo>
                  <a:pt x="466217" y="100202"/>
                </a:lnTo>
                <a:lnTo>
                  <a:pt x="465206" y="82115"/>
                </a:lnTo>
                <a:lnTo>
                  <a:pt x="449707" y="35051"/>
                </a:lnTo>
                <a:lnTo>
                  <a:pt x="416863" y="5208"/>
                </a:lnTo>
                <a:lnTo>
                  <a:pt x="402336" y="0"/>
                </a:lnTo>
                <a:close/>
              </a:path>
              <a:path w="466725" h="200660">
                <a:moveTo>
                  <a:pt x="63881" y="0"/>
                </a:moveTo>
                <a:lnTo>
                  <a:pt x="25679" y="22770"/>
                </a:lnTo>
                <a:lnTo>
                  <a:pt x="4111" y="64865"/>
                </a:lnTo>
                <a:lnTo>
                  <a:pt x="56" y="99187"/>
                </a:lnTo>
                <a:lnTo>
                  <a:pt x="0" y="100202"/>
                </a:lnTo>
                <a:lnTo>
                  <a:pt x="9269" y="151209"/>
                </a:lnTo>
                <a:lnTo>
                  <a:pt x="36575" y="187547"/>
                </a:lnTo>
                <a:lnTo>
                  <a:pt x="63881" y="200406"/>
                </a:lnTo>
                <a:lnTo>
                  <a:pt x="66421" y="192277"/>
                </a:lnTo>
                <a:lnTo>
                  <a:pt x="55012" y="187203"/>
                </a:lnTo>
                <a:lnTo>
                  <a:pt x="45164" y="180165"/>
                </a:lnTo>
                <a:lnTo>
                  <a:pt x="24931" y="147335"/>
                </a:lnTo>
                <a:lnTo>
                  <a:pt x="18330" y="100202"/>
                </a:lnTo>
                <a:lnTo>
                  <a:pt x="18288" y="99187"/>
                </a:lnTo>
                <a:lnTo>
                  <a:pt x="19026" y="82115"/>
                </a:lnTo>
                <a:lnTo>
                  <a:pt x="30099" y="39877"/>
                </a:lnTo>
                <a:lnTo>
                  <a:pt x="66802" y="8127"/>
                </a:lnTo>
                <a:lnTo>
                  <a:pt x="63881" y="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5144261" y="4167885"/>
            <a:ext cx="466725" cy="200660"/>
          </a:xfrm>
          <a:custGeom>
            <a:avLst/>
            <a:gdLst/>
            <a:ahLst/>
            <a:cxnLst/>
            <a:rect l="l" t="t" r="r" b="b"/>
            <a:pathLst>
              <a:path w="466725" h="200660">
                <a:moveTo>
                  <a:pt x="402336" y="0"/>
                </a:moveTo>
                <a:lnTo>
                  <a:pt x="399541" y="8127"/>
                </a:lnTo>
                <a:lnTo>
                  <a:pt x="411114" y="13124"/>
                </a:lnTo>
                <a:lnTo>
                  <a:pt x="421068" y="20097"/>
                </a:lnTo>
                <a:lnTo>
                  <a:pt x="441305" y="52449"/>
                </a:lnTo>
                <a:lnTo>
                  <a:pt x="447258" y="81843"/>
                </a:lnTo>
                <a:lnTo>
                  <a:pt x="447297" y="82115"/>
                </a:lnTo>
                <a:lnTo>
                  <a:pt x="448055" y="99187"/>
                </a:lnTo>
                <a:lnTo>
                  <a:pt x="447297" y="116855"/>
                </a:lnTo>
                <a:lnTo>
                  <a:pt x="445039" y="132905"/>
                </a:lnTo>
                <a:lnTo>
                  <a:pt x="429406" y="171150"/>
                </a:lnTo>
                <a:lnTo>
                  <a:pt x="399796" y="192277"/>
                </a:lnTo>
                <a:lnTo>
                  <a:pt x="402336" y="200406"/>
                </a:lnTo>
                <a:lnTo>
                  <a:pt x="440662" y="177617"/>
                </a:lnTo>
                <a:lnTo>
                  <a:pt x="462121" y="135636"/>
                </a:lnTo>
                <a:lnTo>
                  <a:pt x="466216" y="100202"/>
                </a:lnTo>
                <a:lnTo>
                  <a:pt x="465206" y="82115"/>
                </a:lnTo>
                <a:lnTo>
                  <a:pt x="449707" y="35051"/>
                </a:lnTo>
                <a:lnTo>
                  <a:pt x="416863" y="5208"/>
                </a:lnTo>
                <a:lnTo>
                  <a:pt x="402336" y="0"/>
                </a:lnTo>
                <a:close/>
              </a:path>
              <a:path w="466725" h="200660">
                <a:moveTo>
                  <a:pt x="63880" y="0"/>
                </a:moveTo>
                <a:lnTo>
                  <a:pt x="25679" y="22770"/>
                </a:lnTo>
                <a:lnTo>
                  <a:pt x="4111" y="64865"/>
                </a:lnTo>
                <a:lnTo>
                  <a:pt x="0" y="100202"/>
                </a:lnTo>
                <a:lnTo>
                  <a:pt x="926" y="116855"/>
                </a:lnTo>
                <a:lnTo>
                  <a:pt x="16510" y="165353"/>
                </a:lnTo>
                <a:lnTo>
                  <a:pt x="49335" y="195143"/>
                </a:lnTo>
                <a:lnTo>
                  <a:pt x="63880" y="200406"/>
                </a:lnTo>
                <a:lnTo>
                  <a:pt x="66421" y="192277"/>
                </a:lnTo>
                <a:lnTo>
                  <a:pt x="55012" y="187203"/>
                </a:lnTo>
                <a:lnTo>
                  <a:pt x="45164" y="180165"/>
                </a:lnTo>
                <a:lnTo>
                  <a:pt x="24931" y="147335"/>
                </a:lnTo>
                <a:lnTo>
                  <a:pt x="18330" y="100202"/>
                </a:lnTo>
                <a:lnTo>
                  <a:pt x="18287" y="99187"/>
                </a:lnTo>
                <a:lnTo>
                  <a:pt x="24931" y="52449"/>
                </a:lnTo>
                <a:lnTo>
                  <a:pt x="45259" y="20097"/>
                </a:lnTo>
                <a:lnTo>
                  <a:pt x="66801" y="8127"/>
                </a:lnTo>
                <a:lnTo>
                  <a:pt x="63880" y="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6057138" y="4167885"/>
            <a:ext cx="466725" cy="200660"/>
          </a:xfrm>
          <a:custGeom>
            <a:avLst/>
            <a:gdLst/>
            <a:ahLst/>
            <a:cxnLst/>
            <a:rect l="l" t="t" r="r" b="b"/>
            <a:pathLst>
              <a:path w="466725" h="200660">
                <a:moveTo>
                  <a:pt x="402336" y="0"/>
                </a:moveTo>
                <a:lnTo>
                  <a:pt x="399541" y="8127"/>
                </a:lnTo>
                <a:lnTo>
                  <a:pt x="411114" y="13124"/>
                </a:lnTo>
                <a:lnTo>
                  <a:pt x="421068" y="20097"/>
                </a:lnTo>
                <a:lnTo>
                  <a:pt x="441305" y="52449"/>
                </a:lnTo>
                <a:lnTo>
                  <a:pt x="448056" y="99187"/>
                </a:lnTo>
                <a:lnTo>
                  <a:pt x="447297" y="116855"/>
                </a:lnTo>
                <a:lnTo>
                  <a:pt x="436117" y="160146"/>
                </a:lnTo>
                <a:lnTo>
                  <a:pt x="399796" y="192277"/>
                </a:lnTo>
                <a:lnTo>
                  <a:pt x="402336" y="200406"/>
                </a:lnTo>
                <a:lnTo>
                  <a:pt x="440662" y="177617"/>
                </a:lnTo>
                <a:lnTo>
                  <a:pt x="462121" y="135636"/>
                </a:lnTo>
                <a:lnTo>
                  <a:pt x="466216" y="100202"/>
                </a:lnTo>
                <a:lnTo>
                  <a:pt x="465206" y="82115"/>
                </a:lnTo>
                <a:lnTo>
                  <a:pt x="449707" y="35051"/>
                </a:lnTo>
                <a:lnTo>
                  <a:pt x="416863" y="5208"/>
                </a:lnTo>
                <a:lnTo>
                  <a:pt x="402336" y="0"/>
                </a:lnTo>
                <a:close/>
              </a:path>
              <a:path w="466725" h="200660">
                <a:moveTo>
                  <a:pt x="63881" y="0"/>
                </a:moveTo>
                <a:lnTo>
                  <a:pt x="25679" y="22770"/>
                </a:lnTo>
                <a:lnTo>
                  <a:pt x="4111" y="64865"/>
                </a:lnTo>
                <a:lnTo>
                  <a:pt x="0" y="100202"/>
                </a:lnTo>
                <a:lnTo>
                  <a:pt x="926" y="116855"/>
                </a:lnTo>
                <a:lnTo>
                  <a:pt x="16510" y="165353"/>
                </a:lnTo>
                <a:lnTo>
                  <a:pt x="49335" y="195143"/>
                </a:lnTo>
                <a:lnTo>
                  <a:pt x="63881" y="200406"/>
                </a:lnTo>
                <a:lnTo>
                  <a:pt x="66421" y="192277"/>
                </a:lnTo>
                <a:lnTo>
                  <a:pt x="55012" y="187203"/>
                </a:lnTo>
                <a:lnTo>
                  <a:pt x="45164" y="180165"/>
                </a:lnTo>
                <a:lnTo>
                  <a:pt x="24931" y="147335"/>
                </a:lnTo>
                <a:lnTo>
                  <a:pt x="18330" y="100202"/>
                </a:lnTo>
                <a:lnTo>
                  <a:pt x="18287" y="99187"/>
                </a:lnTo>
                <a:lnTo>
                  <a:pt x="24931" y="52449"/>
                </a:lnTo>
                <a:lnTo>
                  <a:pt x="45259" y="20097"/>
                </a:lnTo>
                <a:lnTo>
                  <a:pt x="66801" y="8127"/>
                </a:lnTo>
                <a:lnTo>
                  <a:pt x="63881" y="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6803897" y="4167885"/>
            <a:ext cx="466725" cy="200660"/>
          </a:xfrm>
          <a:custGeom>
            <a:avLst/>
            <a:gdLst/>
            <a:ahLst/>
            <a:cxnLst/>
            <a:rect l="l" t="t" r="r" b="b"/>
            <a:pathLst>
              <a:path w="466725" h="200660">
                <a:moveTo>
                  <a:pt x="402335" y="0"/>
                </a:moveTo>
                <a:lnTo>
                  <a:pt x="399542" y="8127"/>
                </a:lnTo>
                <a:lnTo>
                  <a:pt x="411114" y="13124"/>
                </a:lnTo>
                <a:lnTo>
                  <a:pt x="421068" y="20097"/>
                </a:lnTo>
                <a:lnTo>
                  <a:pt x="441305" y="52449"/>
                </a:lnTo>
                <a:lnTo>
                  <a:pt x="448055" y="99187"/>
                </a:lnTo>
                <a:lnTo>
                  <a:pt x="447297" y="116855"/>
                </a:lnTo>
                <a:lnTo>
                  <a:pt x="436118" y="160146"/>
                </a:lnTo>
                <a:lnTo>
                  <a:pt x="399796" y="192277"/>
                </a:lnTo>
                <a:lnTo>
                  <a:pt x="402335" y="200406"/>
                </a:lnTo>
                <a:lnTo>
                  <a:pt x="440662" y="177617"/>
                </a:lnTo>
                <a:lnTo>
                  <a:pt x="462121" y="135636"/>
                </a:lnTo>
                <a:lnTo>
                  <a:pt x="466217" y="100202"/>
                </a:lnTo>
                <a:lnTo>
                  <a:pt x="465206" y="82115"/>
                </a:lnTo>
                <a:lnTo>
                  <a:pt x="449706" y="35051"/>
                </a:lnTo>
                <a:lnTo>
                  <a:pt x="416863" y="5208"/>
                </a:lnTo>
                <a:lnTo>
                  <a:pt x="402335" y="0"/>
                </a:lnTo>
                <a:close/>
              </a:path>
              <a:path w="466725" h="200660">
                <a:moveTo>
                  <a:pt x="63880" y="0"/>
                </a:moveTo>
                <a:lnTo>
                  <a:pt x="25679" y="22770"/>
                </a:lnTo>
                <a:lnTo>
                  <a:pt x="4111" y="64865"/>
                </a:lnTo>
                <a:lnTo>
                  <a:pt x="56" y="99187"/>
                </a:lnTo>
                <a:lnTo>
                  <a:pt x="0" y="100202"/>
                </a:lnTo>
                <a:lnTo>
                  <a:pt x="9269" y="151209"/>
                </a:lnTo>
                <a:lnTo>
                  <a:pt x="36575" y="187547"/>
                </a:lnTo>
                <a:lnTo>
                  <a:pt x="63880" y="200406"/>
                </a:lnTo>
                <a:lnTo>
                  <a:pt x="66421" y="192277"/>
                </a:lnTo>
                <a:lnTo>
                  <a:pt x="55012" y="187203"/>
                </a:lnTo>
                <a:lnTo>
                  <a:pt x="45164" y="180165"/>
                </a:lnTo>
                <a:lnTo>
                  <a:pt x="24931" y="147335"/>
                </a:lnTo>
                <a:lnTo>
                  <a:pt x="18330" y="100202"/>
                </a:lnTo>
                <a:lnTo>
                  <a:pt x="18287" y="99187"/>
                </a:lnTo>
                <a:lnTo>
                  <a:pt x="19026" y="82115"/>
                </a:lnTo>
                <a:lnTo>
                  <a:pt x="30099" y="39877"/>
                </a:lnTo>
                <a:lnTo>
                  <a:pt x="66801" y="8127"/>
                </a:lnTo>
                <a:lnTo>
                  <a:pt x="63880" y="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1084580" y="1730476"/>
            <a:ext cx="10086975" cy="3845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03505" marR="5080" indent="-93345">
              <a:lnSpc>
                <a:spcPct val="130000"/>
              </a:lnSpc>
              <a:spcBef>
                <a:spcPts val="100"/>
              </a:spcBef>
              <a:buClr>
                <a:srgbClr val="E38312"/>
              </a:buClr>
              <a:buSzPct val="94117"/>
              <a:buFont typeface="Wingdings"/>
              <a:buChar char=""/>
              <a:tabLst>
                <a:tab pos="103505" algn="l"/>
                <a:tab pos="203835" algn="l"/>
              </a:tabLst>
            </a:pPr>
            <a:r>
              <a:rPr sz="1700" b="1" dirty="0">
                <a:solidFill>
                  <a:srgbClr val="404040"/>
                </a:solidFill>
                <a:latin typeface="Times New Roman"/>
                <a:cs typeface="Times New Roman"/>
              </a:rPr>
              <a:t>	Arithmetic</a:t>
            </a:r>
            <a:r>
              <a:rPr sz="1700" b="1" spc="-1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b="1" dirty="0">
                <a:solidFill>
                  <a:srgbClr val="404040"/>
                </a:solidFill>
                <a:latin typeface="Times New Roman"/>
                <a:cs typeface="Times New Roman"/>
              </a:rPr>
              <a:t>operations</a:t>
            </a:r>
            <a:r>
              <a:rPr sz="1700" b="1" spc="-1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between</a:t>
            </a:r>
            <a:r>
              <a:rPr sz="1700" spc="-2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images</a:t>
            </a:r>
            <a:r>
              <a:rPr sz="1700" spc="-2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are</a:t>
            </a:r>
            <a:r>
              <a:rPr sz="1700" spc="-2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array</a:t>
            </a:r>
            <a:r>
              <a:rPr sz="1700" spc="-2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operations</a:t>
            </a:r>
            <a:r>
              <a:rPr sz="1700" spc="-2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which,</a:t>
            </a:r>
            <a:r>
              <a:rPr sz="1700" spc="-2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a</a:t>
            </a:r>
            <a:r>
              <a:rPr sz="1700" spc="-1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means</a:t>
            </a:r>
            <a:r>
              <a:rPr sz="1700" spc="-1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that</a:t>
            </a:r>
            <a:r>
              <a:rPr sz="1700" spc="-3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arithmetic</a:t>
            </a:r>
            <a:r>
              <a:rPr sz="1700" spc="-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operations</a:t>
            </a:r>
            <a:r>
              <a:rPr sz="1700" spc="-3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are</a:t>
            </a:r>
            <a:r>
              <a:rPr sz="1700" spc="-2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spc="-10" dirty="0">
                <a:solidFill>
                  <a:srgbClr val="404040"/>
                </a:solidFill>
                <a:latin typeface="Times New Roman"/>
                <a:cs typeface="Times New Roman"/>
              </a:rPr>
              <a:t>carried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out</a:t>
            </a:r>
            <a:r>
              <a:rPr sz="1700" spc="-2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between</a:t>
            </a:r>
            <a:r>
              <a:rPr sz="1700" spc="-3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corresponding</a:t>
            </a:r>
            <a:r>
              <a:rPr sz="1700" spc="-3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pixel</a:t>
            </a:r>
            <a:r>
              <a:rPr sz="1700" spc="-2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spc="-10" dirty="0">
                <a:solidFill>
                  <a:srgbClr val="404040"/>
                </a:solidFill>
                <a:latin typeface="Times New Roman"/>
                <a:cs typeface="Times New Roman"/>
              </a:rPr>
              <a:t>pairs.</a:t>
            </a:r>
            <a:endParaRPr sz="1700">
              <a:latin typeface="Times New Roman"/>
              <a:cs typeface="Times New Roman"/>
            </a:endParaRPr>
          </a:p>
          <a:p>
            <a:pPr marL="3832225" algn="just">
              <a:lnSpc>
                <a:spcPct val="100000"/>
              </a:lnSpc>
              <a:spcBef>
                <a:spcPts val="1115"/>
              </a:spcBef>
            </a:pPr>
            <a:r>
              <a:rPr sz="1700" dirty="0">
                <a:solidFill>
                  <a:srgbClr val="404040"/>
                </a:solidFill>
                <a:latin typeface="Cambria Math"/>
                <a:cs typeface="Cambria Math"/>
              </a:rPr>
              <a:t>𝑠</a:t>
            </a:r>
            <a:r>
              <a:rPr sz="1700" spc="380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1700" dirty="0">
                <a:solidFill>
                  <a:srgbClr val="404040"/>
                </a:solidFill>
                <a:latin typeface="Cambria Math"/>
                <a:cs typeface="Cambria Math"/>
              </a:rPr>
              <a:t>𝑥,</a:t>
            </a:r>
            <a:r>
              <a:rPr sz="1700" spc="-85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1700" dirty="0">
                <a:solidFill>
                  <a:srgbClr val="404040"/>
                </a:solidFill>
                <a:latin typeface="Cambria Math"/>
                <a:cs typeface="Cambria Math"/>
              </a:rPr>
              <a:t>𝑦</a:t>
            </a:r>
            <a:r>
              <a:rPr sz="1700" spc="225" dirty="0">
                <a:solidFill>
                  <a:srgbClr val="404040"/>
                </a:solidFill>
                <a:latin typeface="Cambria Math"/>
                <a:cs typeface="Cambria Math"/>
              </a:rPr>
              <a:t>  </a:t>
            </a:r>
            <a:r>
              <a:rPr sz="1700" dirty="0">
                <a:solidFill>
                  <a:srgbClr val="404040"/>
                </a:solidFill>
                <a:latin typeface="Cambria Math"/>
                <a:cs typeface="Cambria Math"/>
              </a:rPr>
              <a:t>=</a:t>
            </a:r>
            <a:r>
              <a:rPr sz="1700" spc="110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1700" dirty="0">
                <a:solidFill>
                  <a:srgbClr val="404040"/>
                </a:solidFill>
                <a:latin typeface="Cambria Math"/>
                <a:cs typeface="Cambria Math"/>
              </a:rPr>
              <a:t>𝑓</a:t>
            </a:r>
            <a:r>
              <a:rPr sz="1700" spc="390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1700" dirty="0">
                <a:solidFill>
                  <a:srgbClr val="404040"/>
                </a:solidFill>
                <a:latin typeface="Cambria Math"/>
                <a:cs typeface="Cambria Math"/>
              </a:rPr>
              <a:t>𝑥,</a:t>
            </a:r>
            <a:r>
              <a:rPr sz="1700" spc="-85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1700" dirty="0">
                <a:solidFill>
                  <a:srgbClr val="404040"/>
                </a:solidFill>
                <a:latin typeface="Cambria Math"/>
                <a:cs typeface="Cambria Math"/>
              </a:rPr>
              <a:t>𝑦</a:t>
            </a:r>
            <a:r>
              <a:rPr sz="1700" spc="185" dirty="0">
                <a:solidFill>
                  <a:srgbClr val="404040"/>
                </a:solidFill>
                <a:latin typeface="Cambria Math"/>
                <a:cs typeface="Cambria Math"/>
              </a:rPr>
              <a:t>  </a:t>
            </a:r>
            <a:r>
              <a:rPr sz="1700" dirty="0">
                <a:solidFill>
                  <a:srgbClr val="404040"/>
                </a:solidFill>
                <a:latin typeface="Cambria Math"/>
                <a:cs typeface="Cambria Math"/>
              </a:rPr>
              <a:t>+</a:t>
            </a:r>
            <a:r>
              <a:rPr sz="1700" spc="10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1700" dirty="0">
                <a:solidFill>
                  <a:srgbClr val="404040"/>
                </a:solidFill>
                <a:latin typeface="Cambria Math"/>
                <a:cs typeface="Cambria Math"/>
              </a:rPr>
              <a:t>𝑔</a:t>
            </a:r>
            <a:r>
              <a:rPr sz="1700" spc="360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1700" dirty="0">
                <a:solidFill>
                  <a:srgbClr val="404040"/>
                </a:solidFill>
                <a:latin typeface="Cambria Math"/>
                <a:cs typeface="Cambria Math"/>
              </a:rPr>
              <a:t>𝑥,</a:t>
            </a:r>
            <a:r>
              <a:rPr sz="1700" spc="-95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1700" spc="-50" dirty="0">
                <a:solidFill>
                  <a:srgbClr val="404040"/>
                </a:solidFill>
                <a:latin typeface="Cambria Math"/>
                <a:cs typeface="Cambria Math"/>
              </a:rPr>
              <a:t>𝑦</a:t>
            </a:r>
            <a:endParaRPr sz="1700">
              <a:latin typeface="Cambria Math"/>
              <a:cs typeface="Cambria Math"/>
            </a:endParaRPr>
          </a:p>
          <a:p>
            <a:pPr marL="3858260" marR="3890645" indent="-1905" algn="just">
              <a:lnSpc>
                <a:spcPct val="198600"/>
              </a:lnSpc>
              <a:spcBef>
                <a:spcPts val="100"/>
              </a:spcBef>
            </a:pP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d</a:t>
            </a:r>
            <a:r>
              <a:rPr sz="1700" spc="28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Cambria Math"/>
                <a:cs typeface="Cambria Math"/>
              </a:rPr>
              <a:t>𝑥,</a:t>
            </a:r>
            <a:r>
              <a:rPr sz="1700" spc="-85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1700" dirty="0">
                <a:solidFill>
                  <a:srgbClr val="404040"/>
                </a:solidFill>
                <a:latin typeface="Cambria Math"/>
                <a:cs typeface="Cambria Math"/>
              </a:rPr>
              <a:t>𝑦</a:t>
            </a:r>
            <a:r>
              <a:rPr sz="1700" spc="235" dirty="0">
                <a:solidFill>
                  <a:srgbClr val="404040"/>
                </a:solidFill>
                <a:latin typeface="Cambria Math"/>
                <a:cs typeface="Cambria Math"/>
              </a:rPr>
              <a:t>  </a:t>
            </a:r>
            <a:r>
              <a:rPr sz="1700" dirty="0">
                <a:solidFill>
                  <a:srgbClr val="404040"/>
                </a:solidFill>
                <a:latin typeface="Cambria Math"/>
                <a:cs typeface="Cambria Math"/>
              </a:rPr>
              <a:t>=</a:t>
            </a:r>
            <a:r>
              <a:rPr sz="1700" spc="95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1700" dirty="0">
                <a:solidFill>
                  <a:srgbClr val="404040"/>
                </a:solidFill>
                <a:latin typeface="Cambria Math"/>
                <a:cs typeface="Cambria Math"/>
              </a:rPr>
              <a:t>𝑓</a:t>
            </a:r>
            <a:r>
              <a:rPr sz="1700" spc="400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1700" dirty="0">
                <a:solidFill>
                  <a:srgbClr val="404040"/>
                </a:solidFill>
                <a:latin typeface="Cambria Math"/>
                <a:cs typeface="Cambria Math"/>
              </a:rPr>
              <a:t>𝑥,</a:t>
            </a:r>
            <a:r>
              <a:rPr sz="1700" spc="-90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1700" dirty="0">
                <a:solidFill>
                  <a:srgbClr val="404040"/>
                </a:solidFill>
                <a:latin typeface="Cambria Math"/>
                <a:cs typeface="Cambria Math"/>
              </a:rPr>
              <a:t>𝑦</a:t>
            </a:r>
            <a:r>
              <a:rPr sz="1700" spc="180" dirty="0">
                <a:solidFill>
                  <a:srgbClr val="404040"/>
                </a:solidFill>
                <a:latin typeface="Cambria Math"/>
                <a:cs typeface="Cambria Math"/>
              </a:rPr>
              <a:t>  </a:t>
            </a:r>
            <a:r>
              <a:rPr sz="1700" dirty="0">
                <a:solidFill>
                  <a:srgbClr val="404040"/>
                </a:solidFill>
                <a:latin typeface="Cambria Math"/>
                <a:cs typeface="Cambria Math"/>
              </a:rPr>
              <a:t>−</a:t>
            </a:r>
            <a:r>
              <a:rPr sz="1700" spc="15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1700" dirty="0">
                <a:solidFill>
                  <a:srgbClr val="404040"/>
                </a:solidFill>
                <a:latin typeface="Cambria Math"/>
                <a:cs typeface="Cambria Math"/>
              </a:rPr>
              <a:t>𝑔</a:t>
            </a:r>
            <a:r>
              <a:rPr sz="1700" spc="365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1700" dirty="0">
                <a:solidFill>
                  <a:srgbClr val="404040"/>
                </a:solidFill>
                <a:latin typeface="Cambria Math"/>
                <a:cs typeface="Cambria Math"/>
              </a:rPr>
              <a:t>𝑥,</a:t>
            </a:r>
            <a:r>
              <a:rPr sz="1700" spc="-90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1700" spc="-50" dirty="0">
                <a:solidFill>
                  <a:srgbClr val="404040"/>
                </a:solidFill>
                <a:latin typeface="Cambria Math"/>
                <a:cs typeface="Cambria Math"/>
              </a:rPr>
              <a:t>𝑦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p</a:t>
            </a:r>
            <a:r>
              <a:rPr sz="1700" spc="28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Cambria Math"/>
                <a:cs typeface="Cambria Math"/>
              </a:rPr>
              <a:t>𝑥,</a:t>
            </a:r>
            <a:r>
              <a:rPr sz="1700" spc="-85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1700" dirty="0">
                <a:solidFill>
                  <a:srgbClr val="404040"/>
                </a:solidFill>
                <a:latin typeface="Cambria Math"/>
                <a:cs typeface="Cambria Math"/>
              </a:rPr>
              <a:t>𝑦</a:t>
            </a:r>
            <a:r>
              <a:rPr sz="1700" spc="229" dirty="0">
                <a:solidFill>
                  <a:srgbClr val="404040"/>
                </a:solidFill>
                <a:latin typeface="Cambria Math"/>
                <a:cs typeface="Cambria Math"/>
              </a:rPr>
              <a:t>  </a:t>
            </a:r>
            <a:r>
              <a:rPr sz="1700" dirty="0">
                <a:solidFill>
                  <a:srgbClr val="404040"/>
                </a:solidFill>
                <a:latin typeface="Cambria Math"/>
                <a:cs typeface="Cambria Math"/>
              </a:rPr>
              <a:t>=</a:t>
            </a:r>
            <a:r>
              <a:rPr sz="1700" spc="105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1700" dirty="0">
                <a:solidFill>
                  <a:srgbClr val="404040"/>
                </a:solidFill>
                <a:latin typeface="Cambria Math"/>
                <a:cs typeface="Cambria Math"/>
              </a:rPr>
              <a:t>𝑓</a:t>
            </a:r>
            <a:r>
              <a:rPr sz="1700" spc="390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1700" dirty="0">
                <a:solidFill>
                  <a:srgbClr val="404040"/>
                </a:solidFill>
                <a:latin typeface="Cambria Math"/>
                <a:cs typeface="Cambria Math"/>
              </a:rPr>
              <a:t>𝑥,</a:t>
            </a:r>
            <a:r>
              <a:rPr sz="1700" spc="-85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1700" dirty="0">
                <a:solidFill>
                  <a:srgbClr val="404040"/>
                </a:solidFill>
                <a:latin typeface="Cambria Math"/>
                <a:cs typeface="Cambria Math"/>
              </a:rPr>
              <a:t>𝑦</a:t>
            </a:r>
            <a:r>
              <a:rPr sz="1700" spc="185" dirty="0">
                <a:solidFill>
                  <a:srgbClr val="404040"/>
                </a:solidFill>
                <a:latin typeface="Cambria Math"/>
                <a:cs typeface="Cambria Math"/>
              </a:rPr>
              <a:t>  </a:t>
            </a:r>
            <a:r>
              <a:rPr sz="1700" dirty="0">
                <a:solidFill>
                  <a:srgbClr val="404040"/>
                </a:solidFill>
                <a:latin typeface="Cambria Math"/>
                <a:cs typeface="Cambria Math"/>
              </a:rPr>
              <a:t>∗</a:t>
            </a:r>
            <a:r>
              <a:rPr sz="1700" spc="10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1700" dirty="0">
                <a:solidFill>
                  <a:srgbClr val="404040"/>
                </a:solidFill>
                <a:latin typeface="Cambria Math"/>
                <a:cs typeface="Cambria Math"/>
              </a:rPr>
              <a:t>𝑔</a:t>
            </a:r>
            <a:r>
              <a:rPr sz="1700" spc="365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1700" dirty="0">
                <a:solidFill>
                  <a:srgbClr val="404040"/>
                </a:solidFill>
                <a:latin typeface="Cambria Math"/>
                <a:cs typeface="Cambria Math"/>
              </a:rPr>
              <a:t>𝑥,</a:t>
            </a:r>
            <a:r>
              <a:rPr sz="1700" spc="-90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1700" spc="-50" dirty="0">
                <a:solidFill>
                  <a:srgbClr val="404040"/>
                </a:solidFill>
                <a:latin typeface="Cambria Math"/>
                <a:cs typeface="Cambria Math"/>
              </a:rPr>
              <a:t>𝑦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v</a:t>
            </a:r>
            <a:r>
              <a:rPr sz="1700" spc="29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Cambria Math"/>
                <a:cs typeface="Cambria Math"/>
              </a:rPr>
              <a:t>𝑥,</a:t>
            </a:r>
            <a:r>
              <a:rPr sz="1700" spc="-90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1700" dirty="0">
                <a:solidFill>
                  <a:srgbClr val="404040"/>
                </a:solidFill>
                <a:latin typeface="Cambria Math"/>
                <a:cs typeface="Cambria Math"/>
              </a:rPr>
              <a:t>𝑦</a:t>
            </a:r>
            <a:r>
              <a:rPr sz="1700" spc="235" dirty="0">
                <a:solidFill>
                  <a:srgbClr val="404040"/>
                </a:solidFill>
                <a:latin typeface="Cambria Math"/>
                <a:cs typeface="Cambria Math"/>
              </a:rPr>
              <a:t>  </a:t>
            </a:r>
            <a:r>
              <a:rPr sz="1700" dirty="0">
                <a:solidFill>
                  <a:srgbClr val="404040"/>
                </a:solidFill>
                <a:latin typeface="Cambria Math"/>
                <a:cs typeface="Cambria Math"/>
              </a:rPr>
              <a:t>=</a:t>
            </a:r>
            <a:r>
              <a:rPr sz="1700" spc="100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1700" dirty="0">
                <a:solidFill>
                  <a:srgbClr val="404040"/>
                </a:solidFill>
                <a:latin typeface="Cambria Math"/>
                <a:cs typeface="Cambria Math"/>
              </a:rPr>
              <a:t>𝑓</a:t>
            </a:r>
            <a:r>
              <a:rPr sz="1700" spc="400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1700" dirty="0">
                <a:solidFill>
                  <a:srgbClr val="404040"/>
                </a:solidFill>
                <a:latin typeface="Cambria Math"/>
                <a:cs typeface="Cambria Math"/>
              </a:rPr>
              <a:t>𝑥,</a:t>
            </a:r>
            <a:r>
              <a:rPr sz="1700" spc="-85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1700" dirty="0">
                <a:solidFill>
                  <a:srgbClr val="404040"/>
                </a:solidFill>
                <a:latin typeface="Cambria Math"/>
                <a:cs typeface="Cambria Math"/>
              </a:rPr>
              <a:t>𝑦</a:t>
            </a:r>
            <a:r>
              <a:rPr sz="1700" spc="360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1700" dirty="0">
                <a:solidFill>
                  <a:srgbClr val="404040"/>
                </a:solidFill>
                <a:latin typeface="Cambria Math"/>
                <a:cs typeface="Cambria Math"/>
              </a:rPr>
              <a:t>/𝑔</a:t>
            </a:r>
            <a:r>
              <a:rPr sz="1700" spc="365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1700" dirty="0">
                <a:solidFill>
                  <a:srgbClr val="404040"/>
                </a:solidFill>
                <a:latin typeface="Cambria Math"/>
                <a:cs typeface="Cambria Math"/>
              </a:rPr>
              <a:t>𝑥,</a:t>
            </a:r>
            <a:r>
              <a:rPr sz="1700" spc="-85" dirty="0">
                <a:solidFill>
                  <a:srgbClr val="404040"/>
                </a:solidFill>
                <a:latin typeface="Cambria Math"/>
                <a:cs typeface="Cambria Math"/>
              </a:rPr>
              <a:t> </a:t>
            </a:r>
            <a:r>
              <a:rPr sz="1700" spc="-50" dirty="0">
                <a:solidFill>
                  <a:srgbClr val="404040"/>
                </a:solidFill>
                <a:latin typeface="Cambria Math"/>
                <a:cs typeface="Cambria Math"/>
              </a:rPr>
              <a:t>𝑦</a:t>
            </a:r>
            <a:endParaRPr sz="1700">
              <a:latin typeface="Cambria Math"/>
              <a:cs typeface="Cambria Math"/>
            </a:endParaRPr>
          </a:p>
          <a:p>
            <a:pPr marL="103505" marR="40640" indent="-93345">
              <a:lnSpc>
                <a:spcPct val="130000"/>
              </a:lnSpc>
              <a:spcBef>
                <a:spcPts val="1405"/>
              </a:spcBef>
              <a:buClr>
                <a:srgbClr val="E38312"/>
              </a:buClr>
              <a:buSzPct val="94117"/>
              <a:buFont typeface="Wingdings"/>
              <a:buChar char=""/>
              <a:tabLst>
                <a:tab pos="103505" algn="l"/>
                <a:tab pos="203835" algn="l"/>
              </a:tabLst>
            </a:pP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	It</a:t>
            </a:r>
            <a:r>
              <a:rPr sz="1700" spc="-2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is</a:t>
            </a:r>
            <a:r>
              <a:rPr sz="1700" spc="-1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understood</a:t>
            </a:r>
            <a:r>
              <a:rPr sz="1700" spc="-2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that,</a:t>
            </a:r>
            <a:r>
              <a:rPr sz="1700" spc="-1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the</a:t>
            </a:r>
            <a:r>
              <a:rPr sz="1700" spc="-2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operations</a:t>
            </a:r>
            <a:r>
              <a:rPr sz="1700" spc="-2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that</a:t>
            </a:r>
            <a:r>
              <a:rPr sz="1700" spc="-1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are</a:t>
            </a:r>
            <a:r>
              <a:rPr sz="1700" spc="-2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performed</a:t>
            </a:r>
            <a:r>
              <a:rPr sz="1700" spc="-3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between</a:t>
            </a:r>
            <a:r>
              <a:rPr sz="1700" spc="-4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corresponding</a:t>
            </a:r>
            <a:r>
              <a:rPr sz="1700" spc="-3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pixel</a:t>
            </a:r>
            <a:r>
              <a:rPr sz="1700" spc="-2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pairs</a:t>
            </a:r>
            <a:r>
              <a:rPr sz="1700" spc="-2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in</a:t>
            </a:r>
            <a:r>
              <a:rPr sz="1700" spc="-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f</a:t>
            </a:r>
            <a:r>
              <a:rPr sz="1700" spc="-2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and</a:t>
            </a:r>
            <a:r>
              <a:rPr sz="1700" spc="-3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g</a:t>
            </a:r>
            <a:r>
              <a:rPr sz="1700" spc="-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for</a:t>
            </a:r>
            <a:r>
              <a:rPr sz="1700" spc="-2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x=0,</a:t>
            </a:r>
            <a:r>
              <a:rPr sz="1700" spc="-25" dirty="0">
                <a:solidFill>
                  <a:srgbClr val="404040"/>
                </a:solidFill>
                <a:latin typeface="Times New Roman"/>
                <a:cs typeface="Times New Roman"/>
              </a:rPr>
              <a:t> 1,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2……..M-1</a:t>
            </a:r>
            <a:r>
              <a:rPr sz="1700" spc="-4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and</a:t>
            </a:r>
            <a:r>
              <a:rPr sz="1700" spc="-1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y=0,</a:t>
            </a:r>
            <a:r>
              <a:rPr sz="1700" spc="-2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1,</a:t>
            </a:r>
            <a:r>
              <a:rPr sz="1700" spc="-1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2…….N-1.</a:t>
            </a:r>
            <a:r>
              <a:rPr sz="1700" spc="-7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Where,</a:t>
            </a:r>
            <a:r>
              <a:rPr sz="1700" spc="-3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M</a:t>
            </a:r>
            <a:r>
              <a:rPr sz="1700" spc="-1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and</a:t>
            </a:r>
            <a:r>
              <a:rPr sz="1700" spc="-1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N</a:t>
            </a:r>
            <a:r>
              <a:rPr sz="1700" spc="-2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are</a:t>
            </a:r>
            <a:r>
              <a:rPr sz="1700" spc="-1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the</a:t>
            </a:r>
            <a:r>
              <a:rPr sz="1700" spc="-1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rows</a:t>
            </a:r>
            <a:r>
              <a:rPr sz="1700" spc="-2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and</a:t>
            </a:r>
            <a:r>
              <a:rPr sz="1700" spc="-1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columns</a:t>
            </a:r>
            <a:r>
              <a:rPr sz="1700" spc="-1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of</a:t>
            </a:r>
            <a:r>
              <a:rPr sz="1700" spc="-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the</a:t>
            </a:r>
            <a:r>
              <a:rPr sz="1700" spc="-2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images.</a:t>
            </a:r>
            <a:r>
              <a:rPr sz="1700" spc="-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spc="-10" dirty="0">
                <a:solidFill>
                  <a:srgbClr val="404040"/>
                </a:solidFill>
                <a:latin typeface="Times New Roman"/>
                <a:cs typeface="Times New Roman"/>
              </a:rPr>
              <a:t>Clearly,</a:t>
            </a:r>
            <a:r>
              <a:rPr sz="1700" spc="-2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s,</a:t>
            </a:r>
            <a:r>
              <a:rPr sz="1700" spc="-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d,</a:t>
            </a:r>
            <a:r>
              <a:rPr sz="1700" spc="-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p</a:t>
            </a:r>
            <a:r>
              <a:rPr sz="1700" spc="-1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and</a:t>
            </a:r>
            <a:r>
              <a:rPr sz="1700" spc="-2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spc="-50" dirty="0">
                <a:solidFill>
                  <a:srgbClr val="404040"/>
                </a:solidFill>
                <a:latin typeface="Times New Roman"/>
                <a:cs typeface="Times New Roman"/>
              </a:rPr>
              <a:t>v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are</a:t>
            </a:r>
            <a:r>
              <a:rPr sz="1700" spc="-3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the images</a:t>
            </a:r>
            <a:r>
              <a:rPr sz="1700" spc="-1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of</a:t>
            </a:r>
            <a:r>
              <a:rPr sz="1700" spc="-1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M</a:t>
            </a:r>
            <a:r>
              <a:rPr sz="1700" spc="-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X</a:t>
            </a:r>
            <a:r>
              <a:rPr sz="1700" spc="-2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404040"/>
                </a:solidFill>
                <a:latin typeface="Times New Roman"/>
                <a:cs typeface="Times New Roman"/>
              </a:rPr>
              <a:t>N</a:t>
            </a:r>
            <a:r>
              <a:rPr sz="1700" spc="-1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700" spc="-20" dirty="0">
                <a:solidFill>
                  <a:srgbClr val="404040"/>
                </a:solidFill>
                <a:latin typeface="Times New Roman"/>
                <a:cs typeface="Times New Roman"/>
              </a:rPr>
              <a:t>also.</a:t>
            </a:r>
            <a:endParaRPr sz="1700">
              <a:latin typeface="Times New Roman"/>
              <a:cs typeface="Times New Roman"/>
            </a:endParaRPr>
          </a:p>
        </p:txBody>
      </p:sp>
      <p:sp>
        <p:nvSpPr>
          <p:cNvPr id="16" name="object 16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dirty="0"/>
              <a:t>23</a:t>
            </a:r>
            <a:r>
              <a:rPr spc="-5" dirty="0"/>
              <a:t> </a:t>
            </a:r>
            <a:r>
              <a:rPr dirty="0"/>
              <a:t>May</a:t>
            </a:r>
            <a:r>
              <a:rPr spc="-5" dirty="0"/>
              <a:t> </a:t>
            </a:r>
            <a:r>
              <a:rPr spc="-20" dirty="0"/>
              <a:t>2024</a:t>
            </a:r>
          </a:p>
        </p:txBody>
      </p:sp>
      <p:sp>
        <p:nvSpPr>
          <p:cNvPr id="17" name="object 17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pc="-10" dirty="0"/>
              <a:t>MATHEMATICAL</a:t>
            </a:r>
            <a:r>
              <a:rPr spc="10" dirty="0"/>
              <a:t> </a:t>
            </a:r>
            <a:r>
              <a:rPr dirty="0"/>
              <a:t>TOOLS</a:t>
            </a:r>
            <a:r>
              <a:rPr spc="-15" dirty="0"/>
              <a:t> </a:t>
            </a:r>
            <a:r>
              <a:rPr dirty="0"/>
              <a:t>USED</a:t>
            </a:r>
            <a:r>
              <a:rPr spc="-30" dirty="0"/>
              <a:t> </a:t>
            </a:r>
            <a:r>
              <a:rPr dirty="0"/>
              <a:t>IN</a:t>
            </a:r>
            <a:r>
              <a:rPr spc="-30" dirty="0"/>
              <a:t> </a:t>
            </a:r>
            <a:r>
              <a:rPr dirty="0"/>
              <a:t>DIGITAL</a:t>
            </a:r>
            <a:r>
              <a:rPr spc="5" dirty="0"/>
              <a:t> </a:t>
            </a:r>
            <a:r>
              <a:rPr dirty="0"/>
              <a:t>IMAGE</a:t>
            </a:r>
            <a:r>
              <a:rPr spc="-5" dirty="0"/>
              <a:t> </a:t>
            </a:r>
            <a:r>
              <a:rPr spc="-10" dirty="0"/>
              <a:t>PROCESSING</a:t>
            </a:r>
          </a:p>
        </p:txBody>
      </p:sp>
      <p:sp>
        <p:nvSpPr>
          <p:cNvPr id="18" name="object 1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55"/>
              </a:lnSpc>
            </a:pPr>
            <a:fld id="{81D60167-4931-47E6-BA6A-407CBD079E47}" type="slidenum">
              <a:rPr spc="-25" dirty="0"/>
              <a:t>11</a:t>
            </a:fld>
            <a:endParaRPr spc="-25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b="0" spc="-45" dirty="0">
                <a:latin typeface="Times New Roman"/>
                <a:cs typeface="Times New Roman"/>
              </a:rPr>
              <a:t>Arithmetic</a:t>
            </a:r>
            <a:r>
              <a:rPr b="0" spc="-204" dirty="0">
                <a:latin typeface="Times New Roman"/>
                <a:cs typeface="Times New Roman"/>
              </a:rPr>
              <a:t> </a:t>
            </a:r>
            <a:r>
              <a:rPr b="0" spc="-25" dirty="0">
                <a:latin typeface="Times New Roman"/>
                <a:cs typeface="Times New Roman"/>
              </a:rPr>
              <a:t>Operation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dirty="0"/>
              <a:t>23</a:t>
            </a:r>
            <a:r>
              <a:rPr spc="-5" dirty="0"/>
              <a:t> </a:t>
            </a:r>
            <a:r>
              <a:rPr dirty="0"/>
              <a:t>May</a:t>
            </a:r>
            <a:r>
              <a:rPr spc="-5" dirty="0"/>
              <a:t> </a:t>
            </a:r>
            <a:r>
              <a:rPr spc="-20" dirty="0"/>
              <a:t>2024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pc="-10" dirty="0"/>
              <a:t>MATHEMATICAL</a:t>
            </a:r>
            <a:r>
              <a:rPr spc="10" dirty="0"/>
              <a:t> </a:t>
            </a:r>
            <a:r>
              <a:rPr dirty="0"/>
              <a:t>TOOLS</a:t>
            </a:r>
            <a:r>
              <a:rPr spc="-15" dirty="0"/>
              <a:t> </a:t>
            </a:r>
            <a:r>
              <a:rPr dirty="0"/>
              <a:t>USED</a:t>
            </a:r>
            <a:r>
              <a:rPr spc="-30" dirty="0"/>
              <a:t> </a:t>
            </a:r>
            <a:r>
              <a:rPr dirty="0"/>
              <a:t>IN</a:t>
            </a:r>
            <a:r>
              <a:rPr spc="-30" dirty="0"/>
              <a:t> </a:t>
            </a:r>
            <a:r>
              <a:rPr dirty="0"/>
              <a:t>DIGITAL</a:t>
            </a:r>
            <a:r>
              <a:rPr spc="5" dirty="0"/>
              <a:t> </a:t>
            </a:r>
            <a:r>
              <a:rPr dirty="0"/>
              <a:t>IMAGE</a:t>
            </a:r>
            <a:r>
              <a:rPr spc="-5" dirty="0"/>
              <a:t> </a:t>
            </a:r>
            <a:r>
              <a:rPr spc="-10" dirty="0"/>
              <a:t>PROCESSING</a:t>
            </a:r>
          </a:p>
        </p:txBody>
      </p:sp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55"/>
              </a:lnSpc>
            </a:pPr>
            <a:fld id="{81D60167-4931-47E6-BA6A-407CBD079E47}" type="slidenum">
              <a:rPr spc="-25" dirty="0"/>
              <a:t>12</a:t>
            </a:fld>
            <a:endParaRPr spc="-25" dirty="0"/>
          </a:p>
        </p:txBody>
      </p:sp>
      <p:sp>
        <p:nvSpPr>
          <p:cNvPr id="3" name="object 3"/>
          <p:cNvSpPr txBox="1"/>
          <p:nvPr/>
        </p:nvSpPr>
        <p:spPr>
          <a:xfrm>
            <a:off x="1084580" y="1692123"/>
            <a:ext cx="7334884" cy="2287905"/>
          </a:xfrm>
          <a:prstGeom prst="rect">
            <a:avLst/>
          </a:prstGeom>
        </p:spPr>
        <p:txBody>
          <a:bodyPr vert="horz" wrap="square" lIns="0" tIns="16065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65"/>
              </a:spcBef>
            </a:pPr>
            <a:r>
              <a:rPr sz="2000" b="1" dirty="0">
                <a:solidFill>
                  <a:srgbClr val="404040"/>
                </a:solidFill>
                <a:latin typeface="Times New Roman"/>
                <a:cs typeface="Times New Roman"/>
              </a:rPr>
              <a:t>Few</a:t>
            </a:r>
            <a:r>
              <a:rPr sz="2000" b="1" spc="-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b="1" dirty="0">
                <a:solidFill>
                  <a:srgbClr val="404040"/>
                </a:solidFill>
                <a:latin typeface="Times New Roman"/>
                <a:cs typeface="Times New Roman"/>
              </a:rPr>
              <a:t>important</a:t>
            </a:r>
            <a:r>
              <a:rPr sz="2000" b="1" spc="-5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b="1" spc="-10" dirty="0">
                <a:solidFill>
                  <a:srgbClr val="404040"/>
                </a:solidFill>
                <a:latin typeface="Times New Roman"/>
                <a:cs typeface="Times New Roman"/>
              </a:rPr>
              <a:t>considerations:-</a:t>
            </a:r>
            <a:endParaRPr sz="2000">
              <a:latin typeface="Times New Roman"/>
              <a:cs typeface="Times New Roman"/>
            </a:endParaRPr>
          </a:p>
          <a:p>
            <a:pPr marL="211454" indent="-201295">
              <a:lnSpc>
                <a:spcPct val="100000"/>
              </a:lnSpc>
              <a:spcBef>
                <a:spcPts val="1165"/>
              </a:spcBef>
              <a:buClr>
                <a:srgbClr val="E38312"/>
              </a:buClr>
              <a:buSzPct val="95000"/>
              <a:buFont typeface="Wingdings"/>
              <a:buChar char=""/>
              <a:tabLst>
                <a:tab pos="211454" algn="l"/>
              </a:tabLst>
            </a:pP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If</a:t>
            </a:r>
            <a:r>
              <a:rPr sz="2000" spc="-3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the</a:t>
            </a:r>
            <a:r>
              <a:rPr sz="2000" spc="-3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result</a:t>
            </a:r>
            <a:r>
              <a:rPr sz="2000" spc="-6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is</a:t>
            </a:r>
            <a:r>
              <a:rPr sz="2000" spc="-3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a</a:t>
            </a:r>
            <a:r>
              <a:rPr sz="2000" spc="-2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floating</a:t>
            </a:r>
            <a:r>
              <a:rPr sz="2000" spc="-5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point</a:t>
            </a:r>
            <a:r>
              <a:rPr sz="2000" spc="-4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number,</a:t>
            </a:r>
            <a:r>
              <a:rPr sz="2000" spc="-3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round</a:t>
            </a:r>
            <a:r>
              <a:rPr sz="2000" spc="-6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off</a:t>
            </a:r>
            <a:r>
              <a:rPr sz="2000" spc="-4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it’s</a:t>
            </a:r>
            <a:r>
              <a:rPr sz="2000" spc="-4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spc="-10" dirty="0">
                <a:solidFill>
                  <a:srgbClr val="404040"/>
                </a:solidFill>
                <a:latin typeface="Times New Roman"/>
                <a:cs typeface="Times New Roman"/>
              </a:rPr>
              <a:t>value.</a:t>
            </a:r>
            <a:endParaRPr sz="2000">
              <a:latin typeface="Times New Roman"/>
              <a:cs typeface="Times New Roman"/>
            </a:endParaRPr>
          </a:p>
          <a:p>
            <a:pPr marL="211454" indent="-201295">
              <a:lnSpc>
                <a:spcPct val="100000"/>
              </a:lnSpc>
              <a:spcBef>
                <a:spcPts val="1150"/>
              </a:spcBef>
              <a:buClr>
                <a:srgbClr val="E38312"/>
              </a:buClr>
              <a:buSzPct val="95000"/>
              <a:buFont typeface="Wingdings"/>
              <a:buChar char=""/>
              <a:tabLst>
                <a:tab pos="211454" algn="l"/>
              </a:tabLst>
            </a:pP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If</a:t>
            </a:r>
            <a:r>
              <a:rPr sz="2000" spc="-2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the</a:t>
            </a:r>
            <a:r>
              <a:rPr sz="2000" spc="-1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result</a:t>
            </a:r>
            <a:r>
              <a:rPr sz="2000" spc="-5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is</a:t>
            </a:r>
            <a:r>
              <a:rPr sz="2000" spc="-1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above</a:t>
            </a:r>
            <a:r>
              <a:rPr sz="2000" spc="-2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the</a:t>
            </a:r>
            <a:r>
              <a:rPr sz="2000" spc="-1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pixel</a:t>
            </a:r>
            <a:r>
              <a:rPr sz="2000" spc="-3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range,</a:t>
            </a:r>
            <a:r>
              <a:rPr sz="2000" spc="-3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select</a:t>
            </a:r>
            <a:r>
              <a:rPr sz="2000" spc="-2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the</a:t>
            </a:r>
            <a:r>
              <a:rPr sz="2000" spc="-2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maximum range</a:t>
            </a:r>
            <a:r>
              <a:rPr sz="2000" spc="-1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spc="-10" dirty="0">
                <a:solidFill>
                  <a:srgbClr val="404040"/>
                </a:solidFill>
                <a:latin typeface="Times New Roman"/>
                <a:cs typeface="Times New Roman"/>
              </a:rPr>
              <a:t>value.</a:t>
            </a:r>
            <a:endParaRPr sz="2000">
              <a:latin typeface="Times New Roman"/>
              <a:cs typeface="Times New Roman"/>
            </a:endParaRPr>
          </a:p>
          <a:p>
            <a:pPr marL="212090" indent="-201930">
              <a:lnSpc>
                <a:spcPct val="100000"/>
              </a:lnSpc>
              <a:spcBef>
                <a:spcPts val="1165"/>
              </a:spcBef>
              <a:buClr>
                <a:srgbClr val="E38312"/>
              </a:buClr>
              <a:buSzPct val="95000"/>
              <a:buFont typeface="Wingdings"/>
              <a:buChar char=""/>
              <a:tabLst>
                <a:tab pos="212090" algn="l"/>
              </a:tabLst>
            </a:pP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If</a:t>
            </a:r>
            <a:r>
              <a:rPr sz="2000" spc="-2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the</a:t>
            </a:r>
            <a:r>
              <a:rPr sz="2000" spc="-2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result</a:t>
            </a:r>
            <a:r>
              <a:rPr sz="2000" spc="-4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is</a:t>
            </a:r>
            <a:r>
              <a:rPr sz="2000" spc="-2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below</a:t>
            </a:r>
            <a:r>
              <a:rPr sz="2000" spc="-2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the</a:t>
            </a:r>
            <a:r>
              <a:rPr sz="2000" spc="-2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pixel</a:t>
            </a:r>
            <a:r>
              <a:rPr sz="2000" spc="-3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range,</a:t>
            </a:r>
            <a:r>
              <a:rPr sz="2000" spc="-4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select</a:t>
            </a:r>
            <a:r>
              <a:rPr sz="2000" spc="-2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the</a:t>
            </a:r>
            <a:r>
              <a:rPr sz="2000" spc="-2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minimum</a:t>
            </a:r>
            <a:r>
              <a:rPr sz="2000" spc="-1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range</a:t>
            </a:r>
            <a:r>
              <a:rPr sz="2000" spc="-3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spc="-10" dirty="0">
                <a:solidFill>
                  <a:srgbClr val="404040"/>
                </a:solidFill>
                <a:latin typeface="Times New Roman"/>
                <a:cs typeface="Times New Roman"/>
              </a:rPr>
              <a:t>value.</a:t>
            </a:r>
            <a:endParaRPr sz="2000">
              <a:latin typeface="Times New Roman"/>
              <a:cs typeface="Times New Roman"/>
            </a:endParaRPr>
          </a:p>
          <a:p>
            <a:pPr marL="211454" indent="-201295">
              <a:lnSpc>
                <a:spcPct val="100000"/>
              </a:lnSpc>
              <a:spcBef>
                <a:spcPts val="1170"/>
              </a:spcBef>
              <a:buClr>
                <a:srgbClr val="E38312"/>
              </a:buClr>
              <a:buSzPct val="95000"/>
              <a:buFont typeface="Wingdings"/>
              <a:buChar char=""/>
              <a:tabLst>
                <a:tab pos="211454" algn="l"/>
              </a:tabLst>
            </a:pP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If</a:t>
            </a:r>
            <a:r>
              <a:rPr sz="2000" spc="-2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the</a:t>
            </a:r>
            <a:r>
              <a:rPr sz="2000" spc="-1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result</a:t>
            </a:r>
            <a:r>
              <a:rPr sz="2000" spc="-5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is</a:t>
            </a:r>
            <a:r>
              <a:rPr sz="2000" spc="-1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spc="-10" dirty="0">
                <a:solidFill>
                  <a:srgbClr val="404040"/>
                </a:solidFill>
                <a:latin typeface="Times New Roman"/>
                <a:cs typeface="Times New Roman"/>
              </a:rPr>
              <a:t>infinity,</a:t>
            </a:r>
            <a:r>
              <a:rPr sz="2000" spc="-3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write</a:t>
            </a:r>
            <a:r>
              <a:rPr sz="2000" spc="-1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it</a:t>
            </a:r>
            <a:r>
              <a:rPr sz="2000" spc="-2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dirty="0">
                <a:solidFill>
                  <a:srgbClr val="404040"/>
                </a:solidFill>
                <a:latin typeface="Times New Roman"/>
                <a:cs typeface="Times New Roman"/>
              </a:rPr>
              <a:t>as</a:t>
            </a:r>
            <a:r>
              <a:rPr sz="2000" spc="-1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2000" spc="-10" dirty="0">
                <a:solidFill>
                  <a:srgbClr val="404040"/>
                </a:solidFill>
                <a:latin typeface="Times New Roman"/>
                <a:cs typeface="Times New Roman"/>
              </a:rPr>
              <a:t>zero.</a:t>
            </a:r>
            <a:endParaRPr sz="20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b="0" spc="-45" dirty="0">
                <a:latin typeface="Times New Roman"/>
                <a:cs typeface="Times New Roman"/>
              </a:rPr>
              <a:t>Arithmetic</a:t>
            </a:r>
            <a:r>
              <a:rPr b="0" spc="-204" dirty="0">
                <a:latin typeface="Times New Roman"/>
                <a:cs typeface="Times New Roman"/>
              </a:rPr>
              <a:t> </a:t>
            </a:r>
            <a:r>
              <a:rPr b="0" spc="-25" dirty="0">
                <a:latin typeface="Times New Roman"/>
                <a:cs typeface="Times New Roman"/>
              </a:rPr>
              <a:t>Operation</a:t>
            </a:r>
          </a:p>
        </p:txBody>
      </p:sp>
      <p:sp>
        <p:nvSpPr>
          <p:cNvPr id="3" name="object 3"/>
          <p:cNvSpPr/>
          <p:nvPr/>
        </p:nvSpPr>
        <p:spPr>
          <a:xfrm>
            <a:off x="2357501" y="2926079"/>
            <a:ext cx="53975" cy="10160"/>
          </a:xfrm>
          <a:custGeom>
            <a:avLst/>
            <a:gdLst/>
            <a:ahLst/>
            <a:cxnLst/>
            <a:rect l="l" t="t" r="r" b="b"/>
            <a:pathLst>
              <a:path w="53975" h="10160">
                <a:moveTo>
                  <a:pt x="0" y="10160"/>
                </a:moveTo>
                <a:lnTo>
                  <a:pt x="53848" y="10160"/>
                </a:lnTo>
                <a:lnTo>
                  <a:pt x="53848" y="0"/>
                </a:lnTo>
                <a:lnTo>
                  <a:pt x="0" y="0"/>
                </a:lnTo>
                <a:lnTo>
                  <a:pt x="0" y="1016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1211287" y="2926079"/>
            <a:ext cx="53975" cy="10160"/>
          </a:xfrm>
          <a:custGeom>
            <a:avLst/>
            <a:gdLst/>
            <a:ahLst/>
            <a:cxnLst/>
            <a:rect l="l" t="t" r="r" b="b"/>
            <a:pathLst>
              <a:path w="53975" h="10160">
                <a:moveTo>
                  <a:pt x="0" y="10160"/>
                </a:moveTo>
                <a:lnTo>
                  <a:pt x="53835" y="10160"/>
                </a:lnTo>
                <a:lnTo>
                  <a:pt x="53835" y="0"/>
                </a:lnTo>
                <a:lnTo>
                  <a:pt x="0" y="0"/>
                </a:lnTo>
                <a:lnTo>
                  <a:pt x="0" y="1016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3957701" y="2926079"/>
            <a:ext cx="53975" cy="10160"/>
          </a:xfrm>
          <a:custGeom>
            <a:avLst/>
            <a:gdLst/>
            <a:ahLst/>
            <a:cxnLst/>
            <a:rect l="l" t="t" r="r" b="b"/>
            <a:pathLst>
              <a:path w="53975" h="10160">
                <a:moveTo>
                  <a:pt x="0" y="10160"/>
                </a:moveTo>
                <a:lnTo>
                  <a:pt x="53848" y="10160"/>
                </a:lnTo>
                <a:lnTo>
                  <a:pt x="53848" y="0"/>
                </a:lnTo>
                <a:lnTo>
                  <a:pt x="0" y="0"/>
                </a:lnTo>
                <a:lnTo>
                  <a:pt x="0" y="1016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2698750" y="2926079"/>
            <a:ext cx="53975" cy="10160"/>
          </a:xfrm>
          <a:custGeom>
            <a:avLst/>
            <a:gdLst/>
            <a:ahLst/>
            <a:cxnLst/>
            <a:rect l="l" t="t" r="r" b="b"/>
            <a:pathLst>
              <a:path w="53975" h="10160">
                <a:moveTo>
                  <a:pt x="0" y="10160"/>
                </a:moveTo>
                <a:lnTo>
                  <a:pt x="53848" y="10160"/>
                </a:lnTo>
                <a:lnTo>
                  <a:pt x="53848" y="0"/>
                </a:lnTo>
                <a:lnTo>
                  <a:pt x="0" y="0"/>
                </a:lnTo>
                <a:lnTo>
                  <a:pt x="0" y="1016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5580760" y="2926079"/>
            <a:ext cx="53975" cy="10160"/>
          </a:xfrm>
          <a:custGeom>
            <a:avLst/>
            <a:gdLst/>
            <a:ahLst/>
            <a:cxnLst/>
            <a:rect l="l" t="t" r="r" b="b"/>
            <a:pathLst>
              <a:path w="53975" h="10160">
                <a:moveTo>
                  <a:pt x="0" y="10160"/>
                </a:moveTo>
                <a:lnTo>
                  <a:pt x="53848" y="10160"/>
                </a:lnTo>
                <a:lnTo>
                  <a:pt x="53848" y="0"/>
                </a:lnTo>
                <a:lnTo>
                  <a:pt x="0" y="0"/>
                </a:lnTo>
                <a:lnTo>
                  <a:pt x="0" y="1016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4321809" y="2926079"/>
            <a:ext cx="53975" cy="10160"/>
          </a:xfrm>
          <a:custGeom>
            <a:avLst/>
            <a:gdLst/>
            <a:ahLst/>
            <a:cxnLst/>
            <a:rect l="l" t="t" r="r" b="b"/>
            <a:pathLst>
              <a:path w="53975" h="10160">
                <a:moveTo>
                  <a:pt x="0" y="10160"/>
                </a:moveTo>
                <a:lnTo>
                  <a:pt x="53848" y="10160"/>
                </a:lnTo>
                <a:lnTo>
                  <a:pt x="53848" y="0"/>
                </a:lnTo>
                <a:lnTo>
                  <a:pt x="0" y="0"/>
                </a:lnTo>
                <a:lnTo>
                  <a:pt x="0" y="1016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2504439" y="4665979"/>
            <a:ext cx="60960" cy="10160"/>
          </a:xfrm>
          <a:custGeom>
            <a:avLst/>
            <a:gdLst/>
            <a:ahLst/>
            <a:cxnLst/>
            <a:rect l="l" t="t" r="r" b="b"/>
            <a:pathLst>
              <a:path w="60960" h="10160">
                <a:moveTo>
                  <a:pt x="0" y="10160"/>
                </a:moveTo>
                <a:lnTo>
                  <a:pt x="60706" y="10160"/>
                </a:lnTo>
                <a:lnTo>
                  <a:pt x="60706" y="0"/>
                </a:lnTo>
                <a:lnTo>
                  <a:pt x="0" y="0"/>
                </a:lnTo>
                <a:lnTo>
                  <a:pt x="0" y="1016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1214170" y="4665979"/>
            <a:ext cx="60960" cy="10160"/>
          </a:xfrm>
          <a:custGeom>
            <a:avLst/>
            <a:gdLst/>
            <a:ahLst/>
            <a:cxnLst/>
            <a:rect l="l" t="t" r="r" b="b"/>
            <a:pathLst>
              <a:path w="60959" h="10160">
                <a:moveTo>
                  <a:pt x="0" y="10160"/>
                </a:moveTo>
                <a:lnTo>
                  <a:pt x="60782" y="10160"/>
                </a:lnTo>
                <a:lnTo>
                  <a:pt x="60782" y="0"/>
                </a:lnTo>
                <a:lnTo>
                  <a:pt x="0" y="0"/>
                </a:lnTo>
                <a:lnTo>
                  <a:pt x="0" y="1016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4305808" y="4665979"/>
            <a:ext cx="60960" cy="10160"/>
          </a:xfrm>
          <a:custGeom>
            <a:avLst/>
            <a:gdLst/>
            <a:ahLst/>
            <a:cxnLst/>
            <a:rect l="l" t="t" r="r" b="b"/>
            <a:pathLst>
              <a:path w="60960" h="10160">
                <a:moveTo>
                  <a:pt x="0" y="10160"/>
                </a:moveTo>
                <a:lnTo>
                  <a:pt x="60705" y="10160"/>
                </a:lnTo>
                <a:lnTo>
                  <a:pt x="60705" y="0"/>
                </a:lnTo>
                <a:lnTo>
                  <a:pt x="0" y="0"/>
                </a:lnTo>
                <a:lnTo>
                  <a:pt x="0" y="1016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2888995" y="4665979"/>
            <a:ext cx="60960" cy="10160"/>
          </a:xfrm>
          <a:custGeom>
            <a:avLst/>
            <a:gdLst/>
            <a:ahLst/>
            <a:cxnLst/>
            <a:rect l="l" t="t" r="r" b="b"/>
            <a:pathLst>
              <a:path w="60960" h="10160">
                <a:moveTo>
                  <a:pt x="0" y="10160"/>
                </a:moveTo>
                <a:lnTo>
                  <a:pt x="60833" y="10160"/>
                </a:lnTo>
                <a:lnTo>
                  <a:pt x="60833" y="0"/>
                </a:lnTo>
                <a:lnTo>
                  <a:pt x="0" y="0"/>
                </a:lnTo>
                <a:lnTo>
                  <a:pt x="0" y="1016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5752084" y="4665979"/>
            <a:ext cx="60960" cy="10160"/>
          </a:xfrm>
          <a:custGeom>
            <a:avLst/>
            <a:gdLst/>
            <a:ahLst/>
            <a:cxnLst/>
            <a:rect l="l" t="t" r="r" b="b"/>
            <a:pathLst>
              <a:path w="60960" h="10160">
                <a:moveTo>
                  <a:pt x="0" y="10160"/>
                </a:moveTo>
                <a:lnTo>
                  <a:pt x="60705" y="10160"/>
                </a:lnTo>
                <a:lnTo>
                  <a:pt x="60705" y="0"/>
                </a:lnTo>
                <a:lnTo>
                  <a:pt x="0" y="0"/>
                </a:lnTo>
                <a:lnTo>
                  <a:pt x="0" y="1016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4716271" y="4665979"/>
            <a:ext cx="60960" cy="10160"/>
          </a:xfrm>
          <a:custGeom>
            <a:avLst/>
            <a:gdLst/>
            <a:ahLst/>
            <a:cxnLst/>
            <a:rect l="l" t="t" r="r" b="b"/>
            <a:pathLst>
              <a:path w="60960" h="10160">
                <a:moveTo>
                  <a:pt x="0" y="10160"/>
                </a:moveTo>
                <a:lnTo>
                  <a:pt x="60832" y="10160"/>
                </a:lnTo>
                <a:lnTo>
                  <a:pt x="60832" y="0"/>
                </a:lnTo>
                <a:lnTo>
                  <a:pt x="0" y="0"/>
                </a:lnTo>
                <a:lnTo>
                  <a:pt x="0" y="1016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7478141" y="2926079"/>
            <a:ext cx="53975" cy="10160"/>
          </a:xfrm>
          <a:custGeom>
            <a:avLst/>
            <a:gdLst/>
            <a:ahLst/>
            <a:cxnLst/>
            <a:rect l="l" t="t" r="r" b="b"/>
            <a:pathLst>
              <a:path w="53975" h="10160">
                <a:moveTo>
                  <a:pt x="0" y="10160"/>
                </a:moveTo>
                <a:lnTo>
                  <a:pt x="53848" y="10160"/>
                </a:lnTo>
                <a:lnTo>
                  <a:pt x="53848" y="0"/>
                </a:lnTo>
                <a:lnTo>
                  <a:pt x="0" y="0"/>
                </a:lnTo>
                <a:lnTo>
                  <a:pt x="0" y="1016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6331965" y="2926079"/>
            <a:ext cx="53975" cy="10160"/>
          </a:xfrm>
          <a:custGeom>
            <a:avLst/>
            <a:gdLst/>
            <a:ahLst/>
            <a:cxnLst/>
            <a:rect l="l" t="t" r="r" b="b"/>
            <a:pathLst>
              <a:path w="53975" h="10160">
                <a:moveTo>
                  <a:pt x="0" y="10160"/>
                </a:moveTo>
                <a:lnTo>
                  <a:pt x="53848" y="10160"/>
                </a:lnTo>
                <a:lnTo>
                  <a:pt x="53848" y="0"/>
                </a:lnTo>
                <a:lnTo>
                  <a:pt x="0" y="0"/>
                </a:lnTo>
                <a:lnTo>
                  <a:pt x="0" y="1016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9023477" y="2926079"/>
            <a:ext cx="53975" cy="10160"/>
          </a:xfrm>
          <a:custGeom>
            <a:avLst/>
            <a:gdLst/>
            <a:ahLst/>
            <a:cxnLst/>
            <a:rect l="l" t="t" r="r" b="b"/>
            <a:pathLst>
              <a:path w="53975" h="10160">
                <a:moveTo>
                  <a:pt x="0" y="10160"/>
                </a:moveTo>
                <a:lnTo>
                  <a:pt x="53848" y="10160"/>
                </a:lnTo>
                <a:lnTo>
                  <a:pt x="53848" y="0"/>
                </a:lnTo>
                <a:lnTo>
                  <a:pt x="0" y="0"/>
                </a:lnTo>
                <a:lnTo>
                  <a:pt x="0" y="1016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7766050" y="2926079"/>
            <a:ext cx="53975" cy="10160"/>
          </a:xfrm>
          <a:custGeom>
            <a:avLst/>
            <a:gdLst/>
            <a:ahLst/>
            <a:cxnLst/>
            <a:rect l="l" t="t" r="r" b="b"/>
            <a:pathLst>
              <a:path w="53975" h="10160">
                <a:moveTo>
                  <a:pt x="0" y="10160"/>
                </a:moveTo>
                <a:lnTo>
                  <a:pt x="53848" y="10160"/>
                </a:lnTo>
                <a:lnTo>
                  <a:pt x="53848" y="0"/>
                </a:lnTo>
                <a:lnTo>
                  <a:pt x="0" y="0"/>
                </a:lnTo>
                <a:lnTo>
                  <a:pt x="0" y="1016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10646536" y="2926079"/>
            <a:ext cx="53975" cy="10160"/>
          </a:xfrm>
          <a:custGeom>
            <a:avLst/>
            <a:gdLst/>
            <a:ahLst/>
            <a:cxnLst/>
            <a:rect l="l" t="t" r="r" b="b"/>
            <a:pathLst>
              <a:path w="53975" h="10160">
                <a:moveTo>
                  <a:pt x="0" y="10160"/>
                </a:moveTo>
                <a:lnTo>
                  <a:pt x="53848" y="10160"/>
                </a:lnTo>
                <a:lnTo>
                  <a:pt x="53848" y="0"/>
                </a:lnTo>
                <a:lnTo>
                  <a:pt x="0" y="0"/>
                </a:lnTo>
                <a:lnTo>
                  <a:pt x="0" y="1016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9389109" y="2926079"/>
            <a:ext cx="53975" cy="10160"/>
          </a:xfrm>
          <a:custGeom>
            <a:avLst/>
            <a:gdLst/>
            <a:ahLst/>
            <a:cxnLst/>
            <a:rect l="l" t="t" r="r" b="b"/>
            <a:pathLst>
              <a:path w="53975" h="10160">
                <a:moveTo>
                  <a:pt x="0" y="10160"/>
                </a:moveTo>
                <a:lnTo>
                  <a:pt x="53848" y="10160"/>
                </a:lnTo>
                <a:lnTo>
                  <a:pt x="53848" y="0"/>
                </a:lnTo>
                <a:lnTo>
                  <a:pt x="0" y="0"/>
                </a:lnTo>
                <a:lnTo>
                  <a:pt x="0" y="1016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21" name="object 21"/>
          <p:cNvGraphicFramePr>
            <a:graphicFrameLocks noGrp="1"/>
          </p:cNvGraphicFramePr>
          <p:nvPr/>
        </p:nvGraphicFramePr>
        <p:xfrm>
          <a:off x="1211287" y="2307536"/>
          <a:ext cx="9487528" cy="68071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628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22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52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86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765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7528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3146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759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759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7188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6416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37465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5527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376554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54229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375284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333375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64159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542290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487679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</a:tblGrid>
              <a:tr h="217170">
                <a:tc>
                  <a:txBody>
                    <a:bodyPr/>
                    <a:lstStyle/>
                    <a:p>
                      <a:pPr marR="46355" algn="ctr">
                        <a:lnSpc>
                          <a:spcPts val="1560"/>
                        </a:lnSpc>
                      </a:pPr>
                      <a:r>
                        <a:rPr sz="16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0</a:t>
                      </a:r>
                      <a:endParaRPr sz="1600">
                        <a:latin typeface="Cambria Math"/>
                        <a:cs typeface="Cambria Math"/>
                      </a:endParaRPr>
                    </a:p>
                  </a:txBody>
                  <a:tcPr marL="0" marR="0" marT="0" marB="0">
                    <a:lnL w="28575">
                      <a:solidFill>
                        <a:srgbClr val="404040"/>
                      </a:solidFill>
                      <a:prstDash val="solid"/>
                    </a:ln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ts val="1560"/>
                        </a:lnSpc>
                      </a:pPr>
                      <a:r>
                        <a:rPr sz="1600" spc="-25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100</a:t>
                      </a:r>
                      <a:endParaRPr sz="1600">
                        <a:latin typeface="Cambria Math"/>
                        <a:cs typeface="Cambria Math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3340" algn="ctr">
                        <a:lnSpc>
                          <a:spcPts val="1560"/>
                        </a:lnSpc>
                      </a:pPr>
                      <a:r>
                        <a:rPr sz="1600" spc="-25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10</a:t>
                      </a:r>
                      <a:endParaRPr sz="1600">
                        <a:latin typeface="Cambria Math"/>
                        <a:cs typeface="Cambria Math"/>
                      </a:endParaRPr>
                    </a:p>
                  </a:txBody>
                  <a:tcPr marL="0" marR="0" marT="0" marB="0">
                    <a:lnR w="28575">
                      <a:solidFill>
                        <a:srgbClr val="40404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404040"/>
                      </a:solidFill>
                      <a:prstDash val="solid"/>
                    </a:lnL>
                    <a:lnR w="28575">
                      <a:solidFill>
                        <a:srgbClr val="40404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R="46355" algn="ctr">
                        <a:lnSpc>
                          <a:spcPts val="1585"/>
                        </a:lnSpc>
                      </a:pPr>
                      <a:r>
                        <a:rPr sz="1600" spc="-25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10</a:t>
                      </a:r>
                      <a:endParaRPr sz="1600">
                        <a:latin typeface="Cambria Math"/>
                        <a:cs typeface="Cambria Math"/>
                      </a:endParaRPr>
                    </a:p>
                  </a:txBody>
                  <a:tcPr marL="0" marR="0" marT="0" marB="0">
                    <a:lnL w="28575">
                      <a:solidFill>
                        <a:srgbClr val="404040"/>
                      </a:solidFill>
                      <a:prstDash val="solid"/>
                    </a:ln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ts val="1585"/>
                        </a:lnSpc>
                      </a:pPr>
                      <a:r>
                        <a:rPr sz="1600" spc="-25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100</a:t>
                      </a:r>
                      <a:endParaRPr sz="1600">
                        <a:latin typeface="Cambria Math"/>
                        <a:cs typeface="Cambria Math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2705" algn="ctr">
                        <a:lnSpc>
                          <a:spcPts val="1585"/>
                        </a:lnSpc>
                      </a:pPr>
                      <a:r>
                        <a:rPr sz="16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5</a:t>
                      </a:r>
                      <a:endParaRPr sz="1600">
                        <a:latin typeface="Cambria Math"/>
                        <a:cs typeface="Cambria Math"/>
                      </a:endParaRPr>
                    </a:p>
                  </a:txBody>
                  <a:tcPr marL="0" marR="0" marT="0" marB="0">
                    <a:lnR w="28575">
                      <a:solidFill>
                        <a:srgbClr val="40404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404040"/>
                      </a:solidFill>
                      <a:prstDash val="solid"/>
                    </a:lnL>
                    <a:lnR w="28575">
                      <a:solidFill>
                        <a:srgbClr val="40404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R="45085" algn="ctr">
                        <a:lnSpc>
                          <a:spcPts val="1585"/>
                        </a:lnSpc>
                      </a:pPr>
                      <a:r>
                        <a:rPr sz="1600" spc="-25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10</a:t>
                      </a:r>
                      <a:endParaRPr sz="1600">
                        <a:latin typeface="Cambria Math"/>
                        <a:cs typeface="Cambria Math"/>
                      </a:endParaRPr>
                    </a:p>
                  </a:txBody>
                  <a:tcPr marL="0" marR="0" marT="0" marB="0">
                    <a:lnL w="28575">
                      <a:solidFill>
                        <a:srgbClr val="404040"/>
                      </a:solidFill>
                      <a:prstDash val="soli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85"/>
                        </a:lnSpc>
                      </a:pPr>
                      <a:r>
                        <a:rPr sz="1600" spc="-25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200</a:t>
                      </a:r>
                      <a:endParaRPr sz="1600">
                        <a:latin typeface="Cambria Math"/>
                        <a:cs typeface="Cambria Math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4610" algn="ctr">
                        <a:lnSpc>
                          <a:spcPts val="1585"/>
                        </a:lnSpc>
                      </a:pPr>
                      <a:r>
                        <a:rPr sz="1600" spc="-25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15</a:t>
                      </a:r>
                      <a:endParaRPr sz="1600">
                        <a:latin typeface="Cambria Math"/>
                        <a:cs typeface="Cambria Math"/>
                      </a:endParaRPr>
                    </a:p>
                  </a:txBody>
                  <a:tcPr marL="0" marR="0" marT="0" marB="0">
                    <a:lnR w="28575">
                      <a:solidFill>
                        <a:srgbClr val="40404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404040"/>
                      </a:solidFill>
                      <a:prstDash val="solid"/>
                    </a:lnL>
                    <a:lnR w="28575">
                      <a:solidFill>
                        <a:srgbClr val="40404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R="45720" algn="ctr">
                        <a:lnSpc>
                          <a:spcPts val="1560"/>
                        </a:lnSpc>
                      </a:pPr>
                      <a:r>
                        <a:rPr sz="16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0</a:t>
                      </a:r>
                      <a:endParaRPr sz="1600">
                        <a:latin typeface="Cambria Math"/>
                        <a:cs typeface="Cambria Math"/>
                      </a:endParaRPr>
                    </a:p>
                  </a:txBody>
                  <a:tcPr marL="0" marR="0" marT="0" marB="0">
                    <a:lnL w="28575">
                      <a:solidFill>
                        <a:srgbClr val="404040"/>
                      </a:solidFill>
                      <a:prstDash val="solid"/>
                    </a:ln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ts val="1560"/>
                        </a:lnSpc>
                      </a:pPr>
                      <a:r>
                        <a:rPr sz="1600" spc="-25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100</a:t>
                      </a:r>
                      <a:endParaRPr sz="1600">
                        <a:latin typeface="Cambria Math"/>
                        <a:cs typeface="Cambria Math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3975" algn="ctr">
                        <a:lnSpc>
                          <a:spcPts val="1560"/>
                        </a:lnSpc>
                      </a:pPr>
                      <a:r>
                        <a:rPr sz="1600" spc="-25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10</a:t>
                      </a:r>
                      <a:endParaRPr sz="1600">
                        <a:latin typeface="Cambria Math"/>
                        <a:cs typeface="Cambria Math"/>
                      </a:endParaRPr>
                    </a:p>
                  </a:txBody>
                  <a:tcPr marL="0" marR="0" marT="0" marB="0">
                    <a:lnR w="28575">
                      <a:solidFill>
                        <a:srgbClr val="40404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404040"/>
                      </a:solidFill>
                      <a:prstDash val="solid"/>
                    </a:lnL>
                    <a:lnR w="28575">
                      <a:solidFill>
                        <a:srgbClr val="40404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R="45085" algn="ctr">
                        <a:lnSpc>
                          <a:spcPts val="1585"/>
                        </a:lnSpc>
                      </a:pPr>
                      <a:r>
                        <a:rPr sz="1600" spc="-25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10</a:t>
                      </a:r>
                      <a:endParaRPr sz="1600">
                        <a:latin typeface="Cambria Math"/>
                        <a:cs typeface="Cambria Math"/>
                      </a:endParaRPr>
                    </a:p>
                  </a:txBody>
                  <a:tcPr marL="0" marR="0" marT="0" marB="0">
                    <a:lnL w="28575">
                      <a:solidFill>
                        <a:srgbClr val="404040"/>
                      </a:solidFill>
                      <a:prstDash val="soli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85"/>
                        </a:lnSpc>
                      </a:pPr>
                      <a:r>
                        <a:rPr sz="1600" spc="-25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100</a:t>
                      </a:r>
                      <a:endParaRPr sz="1600">
                        <a:latin typeface="Cambria Math"/>
                        <a:cs typeface="Cambria Math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3340" algn="ctr">
                        <a:lnSpc>
                          <a:spcPts val="1585"/>
                        </a:lnSpc>
                      </a:pPr>
                      <a:r>
                        <a:rPr sz="16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5</a:t>
                      </a:r>
                      <a:endParaRPr sz="1600">
                        <a:latin typeface="Cambria Math"/>
                        <a:cs typeface="Cambria Math"/>
                      </a:endParaRPr>
                    </a:p>
                  </a:txBody>
                  <a:tcPr marL="0" marR="0" marT="0" marB="0">
                    <a:lnR w="28575">
                      <a:solidFill>
                        <a:srgbClr val="40404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404040"/>
                      </a:solidFill>
                      <a:prstDash val="solid"/>
                    </a:lnL>
                    <a:lnR w="28575">
                      <a:solidFill>
                        <a:srgbClr val="40404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R="44450" algn="ctr">
                        <a:lnSpc>
                          <a:spcPts val="1585"/>
                        </a:lnSpc>
                      </a:pPr>
                      <a:r>
                        <a:rPr sz="16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0</a:t>
                      </a:r>
                      <a:endParaRPr sz="1600">
                        <a:latin typeface="Cambria Math"/>
                        <a:cs typeface="Cambria Math"/>
                      </a:endParaRPr>
                    </a:p>
                  </a:txBody>
                  <a:tcPr marL="0" marR="0" marT="0" marB="0">
                    <a:lnL w="28575">
                      <a:solidFill>
                        <a:srgbClr val="404040"/>
                      </a:solidFill>
                      <a:prstDash val="soli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85"/>
                        </a:lnSpc>
                      </a:pPr>
                      <a:r>
                        <a:rPr sz="1600" spc="-25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255</a:t>
                      </a:r>
                      <a:endParaRPr sz="1600">
                        <a:latin typeface="Cambria Math"/>
                        <a:cs typeface="Cambria Math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3975" algn="ctr">
                        <a:lnSpc>
                          <a:spcPts val="1585"/>
                        </a:lnSpc>
                      </a:pPr>
                      <a:r>
                        <a:rPr sz="1600" spc="-25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50</a:t>
                      </a:r>
                      <a:endParaRPr sz="1600">
                        <a:latin typeface="Cambria Math"/>
                        <a:cs typeface="Cambria Math"/>
                      </a:endParaRPr>
                    </a:p>
                  </a:txBody>
                  <a:tcPr marL="0" marR="0" marT="0" marB="0">
                    <a:lnR w="28575">
                      <a:solidFill>
                        <a:srgbClr val="404040"/>
                      </a:solidFill>
                      <a:prstDash val="soli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2570">
                <a:tc>
                  <a:txBody>
                    <a:bodyPr/>
                    <a:lstStyle/>
                    <a:p>
                      <a:pPr marR="46355" algn="ctr">
                        <a:lnSpc>
                          <a:spcPts val="1725"/>
                        </a:lnSpc>
                      </a:pPr>
                      <a:r>
                        <a:rPr sz="16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4</a:t>
                      </a:r>
                      <a:endParaRPr sz="1600">
                        <a:latin typeface="Cambria Math"/>
                        <a:cs typeface="Cambria Math"/>
                      </a:endParaRPr>
                    </a:p>
                  </a:txBody>
                  <a:tcPr marL="0" marR="0" marT="0" marB="0">
                    <a:lnL w="28575">
                      <a:solidFill>
                        <a:srgbClr val="404040"/>
                      </a:solidFill>
                      <a:prstDash val="soli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725"/>
                        </a:lnSpc>
                      </a:pPr>
                      <a:r>
                        <a:rPr sz="16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0</a:t>
                      </a:r>
                      <a:endParaRPr sz="1600">
                        <a:latin typeface="Cambria Math"/>
                        <a:cs typeface="Cambria Math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3340" algn="ctr">
                        <a:lnSpc>
                          <a:spcPts val="1725"/>
                        </a:lnSpc>
                      </a:pPr>
                      <a:r>
                        <a:rPr sz="1600" spc="-25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10</a:t>
                      </a:r>
                      <a:endParaRPr sz="1600">
                        <a:latin typeface="Cambria Math"/>
                        <a:cs typeface="Cambria Math"/>
                      </a:endParaRPr>
                    </a:p>
                  </a:txBody>
                  <a:tcPr marL="0" marR="0" marT="0" marB="0">
                    <a:lnR w="28575">
                      <a:solidFill>
                        <a:srgbClr val="40404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76835">
                        <a:lnSpc>
                          <a:spcPts val="1650"/>
                        </a:lnSpc>
                      </a:pPr>
                      <a:r>
                        <a:rPr sz="16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+</a:t>
                      </a:r>
                      <a:endParaRPr sz="1600">
                        <a:latin typeface="Cambria Math"/>
                        <a:cs typeface="Cambria Math"/>
                      </a:endParaRPr>
                    </a:p>
                  </a:txBody>
                  <a:tcPr marL="0" marR="0" marT="0" marB="0">
                    <a:lnL w="28575">
                      <a:solidFill>
                        <a:srgbClr val="404040"/>
                      </a:solidFill>
                      <a:prstDash val="solid"/>
                    </a:lnL>
                    <a:lnR w="28575">
                      <a:solidFill>
                        <a:srgbClr val="40404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R="46355" algn="ctr">
                        <a:lnSpc>
                          <a:spcPts val="1745"/>
                        </a:lnSpc>
                      </a:pPr>
                      <a:r>
                        <a:rPr sz="16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2</a:t>
                      </a:r>
                      <a:endParaRPr sz="1600">
                        <a:latin typeface="Cambria Math"/>
                        <a:cs typeface="Cambria Math"/>
                      </a:endParaRPr>
                    </a:p>
                  </a:txBody>
                  <a:tcPr marL="0" marR="0" marT="0" marB="0">
                    <a:lnL w="28575">
                      <a:solidFill>
                        <a:srgbClr val="404040"/>
                      </a:solidFill>
                      <a:prstDash val="soli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745"/>
                        </a:lnSpc>
                      </a:pPr>
                      <a:r>
                        <a:rPr sz="16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0</a:t>
                      </a:r>
                      <a:endParaRPr sz="1600">
                        <a:latin typeface="Cambria Math"/>
                        <a:cs typeface="Cambria Math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2705" algn="ctr">
                        <a:lnSpc>
                          <a:spcPts val="1745"/>
                        </a:lnSpc>
                      </a:pPr>
                      <a:r>
                        <a:rPr sz="16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0</a:t>
                      </a:r>
                      <a:endParaRPr sz="1600">
                        <a:latin typeface="Cambria Math"/>
                        <a:cs typeface="Cambria Math"/>
                      </a:endParaRPr>
                    </a:p>
                  </a:txBody>
                  <a:tcPr marL="0" marR="0" marT="0" marB="0">
                    <a:lnR w="28575">
                      <a:solidFill>
                        <a:srgbClr val="40404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89535">
                        <a:lnSpc>
                          <a:spcPts val="1650"/>
                        </a:lnSpc>
                      </a:pPr>
                      <a:r>
                        <a:rPr sz="16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=</a:t>
                      </a:r>
                      <a:endParaRPr sz="1600">
                        <a:latin typeface="Cambria Math"/>
                        <a:cs typeface="Cambria Math"/>
                      </a:endParaRPr>
                    </a:p>
                  </a:txBody>
                  <a:tcPr marL="0" marR="0" marT="0" marB="0">
                    <a:lnL w="28575">
                      <a:solidFill>
                        <a:srgbClr val="404040"/>
                      </a:solidFill>
                      <a:prstDash val="solid"/>
                    </a:lnL>
                    <a:lnR w="28575">
                      <a:solidFill>
                        <a:srgbClr val="40404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R="45085" algn="ctr">
                        <a:lnSpc>
                          <a:spcPts val="1745"/>
                        </a:lnSpc>
                      </a:pPr>
                      <a:r>
                        <a:rPr sz="16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6</a:t>
                      </a:r>
                      <a:endParaRPr sz="1600">
                        <a:latin typeface="Cambria Math"/>
                        <a:cs typeface="Cambria Math"/>
                      </a:endParaRPr>
                    </a:p>
                  </a:txBody>
                  <a:tcPr marL="0" marR="0" marT="0" marB="0">
                    <a:lnL w="28575">
                      <a:solidFill>
                        <a:srgbClr val="404040"/>
                      </a:solidFill>
                      <a:prstDash val="soli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745"/>
                        </a:lnSpc>
                      </a:pPr>
                      <a:r>
                        <a:rPr sz="16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0</a:t>
                      </a:r>
                      <a:endParaRPr sz="1600">
                        <a:latin typeface="Cambria Math"/>
                        <a:cs typeface="Cambria Math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4610" algn="ctr">
                        <a:lnSpc>
                          <a:spcPts val="1745"/>
                        </a:lnSpc>
                      </a:pPr>
                      <a:r>
                        <a:rPr sz="1600" spc="-25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10</a:t>
                      </a:r>
                      <a:endParaRPr sz="1600">
                        <a:latin typeface="Cambria Math"/>
                        <a:cs typeface="Cambria Math"/>
                      </a:endParaRPr>
                    </a:p>
                  </a:txBody>
                  <a:tcPr marL="0" marR="0" marT="0" marB="0">
                    <a:lnR w="28575">
                      <a:solidFill>
                        <a:srgbClr val="40404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404040"/>
                      </a:solidFill>
                      <a:prstDash val="solid"/>
                    </a:lnL>
                    <a:lnR w="28575">
                      <a:solidFill>
                        <a:srgbClr val="40404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R="45720" algn="ctr">
                        <a:lnSpc>
                          <a:spcPts val="1725"/>
                        </a:lnSpc>
                      </a:pPr>
                      <a:r>
                        <a:rPr sz="16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4</a:t>
                      </a:r>
                      <a:endParaRPr sz="1600">
                        <a:latin typeface="Cambria Math"/>
                        <a:cs typeface="Cambria Math"/>
                      </a:endParaRPr>
                    </a:p>
                  </a:txBody>
                  <a:tcPr marL="0" marR="0" marT="0" marB="0">
                    <a:lnL w="28575">
                      <a:solidFill>
                        <a:srgbClr val="404040"/>
                      </a:solidFill>
                      <a:prstDash val="soli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725"/>
                        </a:lnSpc>
                      </a:pPr>
                      <a:r>
                        <a:rPr sz="16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0</a:t>
                      </a:r>
                      <a:endParaRPr sz="1600">
                        <a:latin typeface="Cambria Math"/>
                        <a:cs typeface="Cambria Math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3975" algn="ctr">
                        <a:lnSpc>
                          <a:spcPts val="1725"/>
                        </a:lnSpc>
                      </a:pPr>
                      <a:r>
                        <a:rPr sz="1600" spc="-25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10</a:t>
                      </a:r>
                      <a:endParaRPr sz="1600">
                        <a:latin typeface="Cambria Math"/>
                        <a:cs typeface="Cambria Math"/>
                      </a:endParaRPr>
                    </a:p>
                  </a:txBody>
                  <a:tcPr marL="0" marR="0" marT="0" marB="0">
                    <a:lnR w="28575">
                      <a:solidFill>
                        <a:srgbClr val="40404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77470">
                        <a:lnSpc>
                          <a:spcPts val="1650"/>
                        </a:lnSpc>
                      </a:pPr>
                      <a:r>
                        <a:rPr sz="16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∗</a:t>
                      </a:r>
                      <a:endParaRPr sz="1600">
                        <a:latin typeface="Cambria Math"/>
                        <a:cs typeface="Cambria Math"/>
                      </a:endParaRPr>
                    </a:p>
                  </a:txBody>
                  <a:tcPr marL="0" marR="0" marT="0" marB="0">
                    <a:lnL w="28575">
                      <a:solidFill>
                        <a:srgbClr val="404040"/>
                      </a:solidFill>
                      <a:prstDash val="solid"/>
                    </a:lnL>
                    <a:lnR w="28575">
                      <a:solidFill>
                        <a:srgbClr val="40404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R="45085" algn="ctr">
                        <a:lnSpc>
                          <a:spcPts val="1745"/>
                        </a:lnSpc>
                      </a:pPr>
                      <a:r>
                        <a:rPr sz="16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2</a:t>
                      </a:r>
                      <a:endParaRPr sz="1600">
                        <a:latin typeface="Cambria Math"/>
                        <a:cs typeface="Cambria Math"/>
                      </a:endParaRPr>
                    </a:p>
                  </a:txBody>
                  <a:tcPr marL="0" marR="0" marT="0" marB="0">
                    <a:lnL w="28575">
                      <a:solidFill>
                        <a:srgbClr val="404040"/>
                      </a:solidFill>
                      <a:prstDash val="soli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745"/>
                        </a:lnSpc>
                      </a:pPr>
                      <a:r>
                        <a:rPr sz="16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0</a:t>
                      </a:r>
                      <a:endParaRPr sz="1600">
                        <a:latin typeface="Cambria Math"/>
                        <a:cs typeface="Cambria Math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3340" algn="ctr">
                        <a:lnSpc>
                          <a:spcPts val="1745"/>
                        </a:lnSpc>
                      </a:pPr>
                      <a:r>
                        <a:rPr sz="16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0</a:t>
                      </a:r>
                      <a:endParaRPr sz="1600">
                        <a:latin typeface="Cambria Math"/>
                        <a:cs typeface="Cambria Math"/>
                      </a:endParaRPr>
                    </a:p>
                  </a:txBody>
                  <a:tcPr marL="0" marR="0" marT="0" marB="0">
                    <a:lnR w="28575">
                      <a:solidFill>
                        <a:srgbClr val="40404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ts val="1650"/>
                        </a:lnSpc>
                      </a:pPr>
                      <a:r>
                        <a:rPr sz="16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=</a:t>
                      </a:r>
                      <a:endParaRPr sz="1600">
                        <a:latin typeface="Cambria Math"/>
                        <a:cs typeface="Cambria Math"/>
                      </a:endParaRPr>
                    </a:p>
                  </a:txBody>
                  <a:tcPr marL="0" marR="0" marT="0" marB="0">
                    <a:lnL w="28575">
                      <a:solidFill>
                        <a:srgbClr val="404040"/>
                      </a:solidFill>
                      <a:prstDash val="solid"/>
                    </a:lnL>
                    <a:lnR w="28575">
                      <a:solidFill>
                        <a:srgbClr val="40404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R="44450" algn="ctr">
                        <a:lnSpc>
                          <a:spcPts val="1745"/>
                        </a:lnSpc>
                      </a:pPr>
                      <a:r>
                        <a:rPr sz="16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8</a:t>
                      </a:r>
                      <a:endParaRPr sz="1600">
                        <a:latin typeface="Cambria Math"/>
                        <a:cs typeface="Cambria Math"/>
                      </a:endParaRPr>
                    </a:p>
                  </a:txBody>
                  <a:tcPr marL="0" marR="0" marT="0" marB="0">
                    <a:lnL w="28575">
                      <a:solidFill>
                        <a:srgbClr val="404040"/>
                      </a:solidFill>
                      <a:prstDash val="soli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745"/>
                        </a:lnSpc>
                      </a:pPr>
                      <a:r>
                        <a:rPr sz="16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0</a:t>
                      </a:r>
                      <a:endParaRPr sz="1600">
                        <a:latin typeface="Cambria Math"/>
                        <a:cs typeface="Cambria Math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3975" algn="ctr">
                        <a:lnSpc>
                          <a:spcPts val="1745"/>
                        </a:lnSpc>
                      </a:pPr>
                      <a:r>
                        <a:rPr sz="1600" spc="-25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100</a:t>
                      </a:r>
                      <a:endParaRPr sz="1600">
                        <a:latin typeface="Cambria Math"/>
                        <a:cs typeface="Cambria Math"/>
                      </a:endParaRPr>
                    </a:p>
                  </a:txBody>
                  <a:tcPr marL="0" marR="0" marT="0" marB="0">
                    <a:lnR w="28575">
                      <a:solidFill>
                        <a:srgbClr val="404040"/>
                      </a:solidFill>
                      <a:prstDash val="soli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979">
                <a:tc>
                  <a:txBody>
                    <a:bodyPr/>
                    <a:lstStyle/>
                    <a:p>
                      <a:pPr marR="46355" algn="ctr">
                        <a:lnSpc>
                          <a:spcPts val="1639"/>
                        </a:lnSpc>
                      </a:pPr>
                      <a:r>
                        <a:rPr sz="16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8</a:t>
                      </a:r>
                      <a:endParaRPr sz="1600">
                        <a:latin typeface="Cambria Math"/>
                        <a:cs typeface="Cambria Math"/>
                      </a:endParaRPr>
                    </a:p>
                  </a:txBody>
                  <a:tcPr marL="0" marR="0" marT="0" marB="0">
                    <a:lnL w="28575">
                      <a:solidFill>
                        <a:srgbClr val="404040"/>
                      </a:solidFill>
                      <a:prstDash val="soli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39"/>
                        </a:lnSpc>
                      </a:pPr>
                      <a:r>
                        <a:rPr sz="16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0</a:t>
                      </a:r>
                      <a:endParaRPr sz="1600">
                        <a:latin typeface="Cambria Math"/>
                        <a:cs typeface="Cambria Math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2705" algn="ctr">
                        <a:lnSpc>
                          <a:spcPts val="1639"/>
                        </a:lnSpc>
                      </a:pPr>
                      <a:r>
                        <a:rPr sz="16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5</a:t>
                      </a:r>
                      <a:endParaRPr sz="1600">
                        <a:latin typeface="Cambria Math"/>
                        <a:cs typeface="Cambria Math"/>
                      </a:endParaRPr>
                    </a:p>
                  </a:txBody>
                  <a:tcPr marL="0" marR="0" marT="0" marB="0">
                    <a:lnR w="28575">
                      <a:solidFill>
                        <a:srgbClr val="40404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404040"/>
                      </a:solidFill>
                      <a:prstDash val="solid"/>
                    </a:lnL>
                    <a:lnR w="28575">
                      <a:solidFill>
                        <a:srgbClr val="40404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R="46355" algn="ctr">
                        <a:lnSpc>
                          <a:spcPts val="1639"/>
                        </a:lnSpc>
                      </a:pPr>
                      <a:r>
                        <a:rPr sz="16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0</a:t>
                      </a:r>
                      <a:endParaRPr sz="1600">
                        <a:latin typeface="Cambria Math"/>
                        <a:cs typeface="Cambria Math"/>
                      </a:endParaRPr>
                    </a:p>
                  </a:txBody>
                  <a:tcPr marL="0" marR="0" marT="0" marB="0">
                    <a:lnL w="28575">
                      <a:solidFill>
                        <a:srgbClr val="404040"/>
                      </a:solidFill>
                      <a:prstDash val="solid"/>
                    </a:ln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ts val="1639"/>
                        </a:lnSpc>
                      </a:pPr>
                      <a:r>
                        <a:rPr sz="1600" spc="-25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10</a:t>
                      </a:r>
                      <a:endParaRPr sz="1600">
                        <a:latin typeface="Cambria Math"/>
                        <a:cs typeface="Cambria Math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3975" algn="ctr">
                        <a:lnSpc>
                          <a:spcPts val="1639"/>
                        </a:lnSpc>
                      </a:pPr>
                      <a:r>
                        <a:rPr sz="1600" spc="-25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10</a:t>
                      </a:r>
                      <a:endParaRPr sz="1600">
                        <a:latin typeface="Cambria Math"/>
                        <a:cs typeface="Cambria Math"/>
                      </a:endParaRPr>
                    </a:p>
                  </a:txBody>
                  <a:tcPr marL="0" marR="0" marT="0" marB="0">
                    <a:lnR w="28575">
                      <a:solidFill>
                        <a:srgbClr val="40404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404040"/>
                      </a:solidFill>
                      <a:prstDash val="solid"/>
                    </a:lnL>
                    <a:lnR w="28575">
                      <a:solidFill>
                        <a:srgbClr val="40404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R="45085" algn="ctr">
                        <a:lnSpc>
                          <a:spcPts val="1639"/>
                        </a:lnSpc>
                      </a:pPr>
                      <a:r>
                        <a:rPr sz="16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8</a:t>
                      </a:r>
                      <a:endParaRPr sz="1600">
                        <a:latin typeface="Cambria Math"/>
                        <a:cs typeface="Cambria Math"/>
                      </a:endParaRPr>
                    </a:p>
                  </a:txBody>
                  <a:tcPr marL="0" marR="0" marT="0" marB="0">
                    <a:lnL w="28575">
                      <a:solidFill>
                        <a:srgbClr val="404040"/>
                      </a:solidFill>
                      <a:prstDash val="soli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39"/>
                        </a:lnSpc>
                      </a:pPr>
                      <a:r>
                        <a:rPr sz="1600" spc="-25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10</a:t>
                      </a:r>
                      <a:endParaRPr sz="1600">
                        <a:latin typeface="Cambria Math"/>
                        <a:cs typeface="Cambria Math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4610" algn="ctr">
                        <a:lnSpc>
                          <a:spcPts val="1639"/>
                        </a:lnSpc>
                      </a:pPr>
                      <a:r>
                        <a:rPr sz="1600" spc="-25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15</a:t>
                      </a:r>
                      <a:endParaRPr sz="1600">
                        <a:latin typeface="Cambria Math"/>
                        <a:cs typeface="Cambria Math"/>
                      </a:endParaRPr>
                    </a:p>
                  </a:txBody>
                  <a:tcPr marL="0" marR="0" marT="0" marB="0">
                    <a:lnR w="28575">
                      <a:solidFill>
                        <a:srgbClr val="40404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404040"/>
                      </a:solidFill>
                      <a:prstDash val="solid"/>
                    </a:lnL>
                    <a:lnR w="28575">
                      <a:solidFill>
                        <a:srgbClr val="40404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R="45720" algn="ctr">
                        <a:lnSpc>
                          <a:spcPts val="1639"/>
                        </a:lnSpc>
                      </a:pPr>
                      <a:r>
                        <a:rPr sz="16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8</a:t>
                      </a:r>
                      <a:endParaRPr sz="1600">
                        <a:latin typeface="Cambria Math"/>
                        <a:cs typeface="Cambria Math"/>
                      </a:endParaRPr>
                    </a:p>
                  </a:txBody>
                  <a:tcPr marL="0" marR="0" marT="0" marB="0">
                    <a:lnL w="28575">
                      <a:solidFill>
                        <a:srgbClr val="404040"/>
                      </a:solidFill>
                      <a:prstDash val="soli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39"/>
                        </a:lnSpc>
                      </a:pPr>
                      <a:r>
                        <a:rPr sz="16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0</a:t>
                      </a:r>
                      <a:endParaRPr sz="1600">
                        <a:latin typeface="Cambria Math"/>
                        <a:cs typeface="Cambria Math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3340" algn="ctr">
                        <a:lnSpc>
                          <a:spcPts val="1639"/>
                        </a:lnSpc>
                      </a:pPr>
                      <a:r>
                        <a:rPr sz="16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5</a:t>
                      </a:r>
                      <a:endParaRPr sz="1600">
                        <a:latin typeface="Cambria Math"/>
                        <a:cs typeface="Cambria Math"/>
                      </a:endParaRPr>
                    </a:p>
                  </a:txBody>
                  <a:tcPr marL="0" marR="0" marT="0" marB="0">
                    <a:lnR w="28575">
                      <a:solidFill>
                        <a:srgbClr val="40404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404040"/>
                      </a:solidFill>
                      <a:prstDash val="solid"/>
                    </a:lnL>
                    <a:lnR w="28575">
                      <a:solidFill>
                        <a:srgbClr val="40404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R="45085" algn="ctr">
                        <a:lnSpc>
                          <a:spcPts val="1639"/>
                        </a:lnSpc>
                      </a:pPr>
                      <a:r>
                        <a:rPr sz="16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0</a:t>
                      </a:r>
                      <a:endParaRPr sz="1600">
                        <a:latin typeface="Cambria Math"/>
                        <a:cs typeface="Cambria Math"/>
                      </a:endParaRPr>
                    </a:p>
                  </a:txBody>
                  <a:tcPr marL="0" marR="0" marT="0" marB="0">
                    <a:lnL w="28575">
                      <a:solidFill>
                        <a:srgbClr val="404040"/>
                      </a:solidFill>
                      <a:prstDash val="soli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39"/>
                        </a:lnSpc>
                      </a:pPr>
                      <a:r>
                        <a:rPr sz="1600" spc="-25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10</a:t>
                      </a:r>
                      <a:endParaRPr sz="1600">
                        <a:latin typeface="Cambria Math"/>
                        <a:cs typeface="Cambria Math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3975" algn="ctr">
                        <a:lnSpc>
                          <a:spcPts val="1639"/>
                        </a:lnSpc>
                      </a:pPr>
                      <a:r>
                        <a:rPr sz="1600" spc="-25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10</a:t>
                      </a:r>
                      <a:endParaRPr sz="1600">
                        <a:latin typeface="Cambria Math"/>
                        <a:cs typeface="Cambria Math"/>
                      </a:endParaRPr>
                    </a:p>
                  </a:txBody>
                  <a:tcPr marL="0" marR="0" marT="0" marB="0">
                    <a:lnR w="28575">
                      <a:solidFill>
                        <a:srgbClr val="40404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404040"/>
                      </a:solidFill>
                      <a:prstDash val="solid"/>
                    </a:lnL>
                    <a:lnR w="28575">
                      <a:solidFill>
                        <a:srgbClr val="40404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R="44450" algn="ctr">
                        <a:lnSpc>
                          <a:spcPts val="1639"/>
                        </a:lnSpc>
                      </a:pPr>
                      <a:r>
                        <a:rPr sz="16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0</a:t>
                      </a:r>
                      <a:endParaRPr sz="1600">
                        <a:latin typeface="Cambria Math"/>
                        <a:cs typeface="Cambria Math"/>
                      </a:endParaRPr>
                    </a:p>
                  </a:txBody>
                  <a:tcPr marL="0" marR="0" marT="0" marB="0">
                    <a:lnL w="28575">
                      <a:solidFill>
                        <a:srgbClr val="404040"/>
                      </a:solidFill>
                      <a:prstDash val="soli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39"/>
                        </a:lnSpc>
                      </a:pPr>
                      <a:r>
                        <a:rPr sz="16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0</a:t>
                      </a:r>
                      <a:endParaRPr sz="1600">
                        <a:latin typeface="Cambria Math"/>
                        <a:cs typeface="Cambria Math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3975" algn="ctr">
                        <a:lnSpc>
                          <a:spcPts val="1639"/>
                        </a:lnSpc>
                      </a:pPr>
                      <a:r>
                        <a:rPr sz="1600" spc="-25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50</a:t>
                      </a:r>
                      <a:endParaRPr sz="1600">
                        <a:latin typeface="Cambria Math"/>
                        <a:cs typeface="Cambria Math"/>
                      </a:endParaRPr>
                    </a:p>
                  </a:txBody>
                  <a:tcPr marL="0" marR="0" marT="0" marB="0">
                    <a:lnR w="28575">
                      <a:solidFill>
                        <a:srgbClr val="404040"/>
                      </a:solidFill>
                      <a:prstDash val="soli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2" name="object 22"/>
          <p:cNvSpPr/>
          <p:nvPr/>
        </p:nvSpPr>
        <p:spPr>
          <a:xfrm>
            <a:off x="2357501" y="2334260"/>
            <a:ext cx="53975" cy="10160"/>
          </a:xfrm>
          <a:custGeom>
            <a:avLst/>
            <a:gdLst/>
            <a:ahLst/>
            <a:cxnLst/>
            <a:rect l="l" t="t" r="r" b="b"/>
            <a:pathLst>
              <a:path w="53975" h="10160">
                <a:moveTo>
                  <a:pt x="0" y="10160"/>
                </a:moveTo>
                <a:lnTo>
                  <a:pt x="53848" y="10160"/>
                </a:lnTo>
                <a:lnTo>
                  <a:pt x="53848" y="0"/>
                </a:lnTo>
                <a:lnTo>
                  <a:pt x="0" y="0"/>
                </a:lnTo>
                <a:lnTo>
                  <a:pt x="0" y="1016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/>
          <p:nvPr/>
        </p:nvSpPr>
        <p:spPr>
          <a:xfrm>
            <a:off x="1211287" y="2334260"/>
            <a:ext cx="53975" cy="10160"/>
          </a:xfrm>
          <a:custGeom>
            <a:avLst/>
            <a:gdLst/>
            <a:ahLst/>
            <a:cxnLst/>
            <a:rect l="l" t="t" r="r" b="b"/>
            <a:pathLst>
              <a:path w="53975" h="10160">
                <a:moveTo>
                  <a:pt x="0" y="10160"/>
                </a:moveTo>
                <a:lnTo>
                  <a:pt x="53835" y="10160"/>
                </a:lnTo>
                <a:lnTo>
                  <a:pt x="53835" y="0"/>
                </a:lnTo>
                <a:lnTo>
                  <a:pt x="0" y="0"/>
                </a:lnTo>
                <a:lnTo>
                  <a:pt x="0" y="1016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/>
          <p:nvPr/>
        </p:nvSpPr>
        <p:spPr>
          <a:xfrm>
            <a:off x="3957701" y="2334260"/>
            <a:ext cx="53975" cy="10160"/>
          </a:xfrm>
          <a:custGeom>
            <a:avLst/>
            <a:gdLst/>
            <a:ahLst/>
            <a:cxnLst/>
            <a:rect l="l" t="t" r="r" b="b"/>
            <a:pathLst>
              <a:path w="53975" h="10160">
                <a:moveTo>
                  <a:pt x="0" y="10160"/>
                </a:moveTo>
                <a:lnTo>
                  <a:pt x="53848" y="10160"/>
                </a:lnTo>
                <a:lnTo>
                  <a:pt x="53848" y="0"/>
                </a:lnTo>
                <a:lnTo>
                  <a:pt x="0" y="0"/>
                </a:lnTo>
                <a:lnTo>
                  <a:pt x="0" y="1016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/>
          <p:nvPr/>
        </p:nvSpPr>
        <p:spPr>
          <a:xfrm>
            <a:off x="2698750" y="2334260"/>
            <a:ext cx="53975" cy="10160"/>
          </a:xfrm>
          <a:custGeom>
            <a:avLst/>
            <a:gdLst/>
            <a:ahLst/>
            <a:cxnLst/>
            <a:rect l="l" t="t" r="r" b="b"/>
            <a:pathLst>
              <a:path w="53975" h="10160">
                <a:moveTo>
                  <a:pt x="0" y="10160"/>
                </a:moveTo>
                <a:lnTo>
                  <a:pt x="53848" y="10160"/>
                </a:lnTo>
                <a:lnTo>
                  <a:pt x="53848" y="0"/>
                </a:lnTo>
                <a:lnTo>
                  <a:pt x="0" y="0"/>
                </a:lnTo>
                <a:lnTo>
                  <a:pt x="0" y="1016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/>
          <p:nvPr/>
        </p:nvSpPr>
        <p:spPr>
          <a:xfrm>
            <a:off x="5580760" y="2334260"/>
            <a:ext cx="53975" cy="10160"/>
          </a:xfrm>
          <a:custGeom>
            <a:avLst/>
            <a:gdLst/>
            <a:ahLst/>
            <a:cxnLst/>
            <a:rect l="l" t="t" r="r" b="b"/>
            <a:pathLst>
              <a:path w="53975" h="10160">
                <a:moveTo>
                  <a:pt x="0" y="10160"/>
                </a:moveTo>
                <a:lnTo>
                  <a:pt x="53848" y="10160"/>
                </a:lnTo>
                <a:lnTo>
                  <a:pt x="53848" y="0"/>
                </a:lnTo>
                <a:lnTo>
                  <a:pt x="0" y="0"/>
                </a:lnTo>
                <a:lnTo>
                  <a:pt x="0" y="1016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/>
          <p:nvPr/>
        </p:nvSpPr>
        <p:spPr>
          <a:xfrm>
            <a:off x="4321809" y="2334260"/>
            <a:ext cx="53975" cy="10160"/>
          </a:xfrm>
          <a:custGeom>
            <a:avLst/>
            <a:gdLst/>
            <a:ahLst/>
            <a:cxnLst/>
            <a:rect l="l" t="t" r="r" b="b"/>
            <a:pathLst>
              <a:path w="53975" h="10160">
                <a:moveTo>
                  <a:pt x="0" y="10160"/>
                </a:moveTo>
                <a:lnTo>
                  <a:pt x="53848" y="10160"/>
                </a:lnTo>
                <a:lnTo>
                  <a:pt x="53848" y="0"/>
                </a:lnTo>
                <a:lnTo>
                  <a:pt x="0" y="0"/>
                </a:lnTo>
                <a:lnTo>
                  <a:pt x="0" y="1016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/>
          <p:cNvSpPr/>
          <p:nvPr/>
        </p:nvSpPr>
        <p:spPr>
          <a:xfrm>
            <a:off x="7478141" y="2334260"/>
            <a:ext cx="53975" cy="10160"/>
          </a:xfrm>
          <a:custGeom>
            <a:avLst/>
            <a:gdLst/>
            <a:ahLst/>
            <a:cxnLst/>
            <a:rect l="l" t="t" r="r" b="b"/>
            <a:pathLst>
              <a:path w="53975" h="10160">
                <a:moveTo>
                  <a:pt x="0" y="10160"/>
                </a:moveTo>
                <a:lnTo>
                  <a:pt x="53848" y="10160"/>
                </a:lnTo>
                <a:lnTo>
                  <a:pt x="53848" y="0"/>
                </a:lnTo>
                <a:lnTo>
                  <a:pt x="0" y="0"/>
                </a:lnTo>
                <a:lnTo>
                  <a:pt x="0" y="1016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/>
          <p:nvPr/>
        </p:nvSpPr>
        <p:spPr>
          <a:xfrm>
            <a:off x="6331965" y="2334260"/>
            <a:ext cx="53975" cy="10160"/>
          </a:xfrm>
          <a:custGeom>
            <a:avLst/>
            <a:gdLst/>
            <a:ahLst/>
            <a:cxnLst/>
            <a:rect l="l" t="t" r="r" b="b"/>
            <a:pathLst>
              <a:path w="53975" h="10160">
                <a:moveTo>
                  <a:pt x="0" y="10160"/>
                </a:moveTo>
                <a:lnTo>
                  <a:pt x="53848" y="10160"/>
                </a:lnTo>
                <a:lnTo>
                  <a:pt x="53848" y="0"/>
                </a:lnTo>
                <a:lnTo>
                  <a:pt x="0" y="0"/>
                </a:lnTo>
                <a:lnTo>
                  <a:pt x="0" y="1016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/>
          <p:nvPr/>
        </p:nvSpPr>
        <p:spPr>
          <a:xfrm>
            <a:off x="9023477" y="2334260"/>
            <a:ext cx="53975" cy="10160"/>
          </a:xfrm>
          <a:custGeom>
            <a:avLst/>
            <a:gdLst/>
            <a:ahLst/>
            <a:cxnLst/>
            <a:rect l="l" t="t" r="r" b="b"/>
            <a:pathLst>
              <a:path w="53975" h="10160">
                <a:moveTo>
                  <a:pt x="0" y="10160"/>
                </a:moveTo>
                <a:lnTo>
                  <a:pt x="53848" y="10160"/>
                </a:lnTo>
                <a:lnTo>
                  <a:pt x="53848" y="0"/>
                </a:lnTo>
                <a:lnTo>
                  <a:pt x="0" y="0"/>
                </a:lnTo>
                <a:lnTo>
                  <a:pt x="0" y="1016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/>
          <p:cNvSpPr/>
          <p:nvPr/>
        </p:nvSpPr>
        <p:spPr>
          <a:xfrm>
            <a:off x="7766050" y="2334260"/>
            <a:ext cx="53975" cy="10160"/>
          </a:xfrm>
          <a:custGeom>
            <a:avLst/>
            <a:gdLst/>
            <a:ahLst/>
            <a:cxnLst/>
            <a:rect l="l" t="t" r="r" b="b"/>
            <a:pathLst>
              <a:path w="53975" h="10160">
                <a:moveTo>
                  <a:pt x="0" y="10160"/>
                </a:moveTo>
                <a:lnTo>
                  <a:pt x="53848" y="10160"/>
                </a:lnTo>
                <a:lnTo>
                  <a:pt x="53848" y="0"/>
                </a:lnTo>
                <a:lnTo>
                  <a:pt x="0" y="0"/>
                </a:lnTo>
                <a:lnTo>
                  <a:pt x="0" y="1016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/>
          <p:cNvSpPr/>
          <p:nvPr/>
        </p:nvSpPr>
        <p:spPr>
          <a:xfrm>
            <a:off x="10646536" y="2334260"/>
            <a:ext cx="53975" cy="10160"/>
          </a:xfrm>
          <a:custGeom>
            <a:avLst/>
            <a:gdLst/>
            <a:ahLst/>
            <a:cxnLst/>
            <a:rect l="l" t="t" r="r" b="b"/>
            <a:pathLst>
              <a:path w="53975" h="10160">
                <a:moveTo>
                  <a:pt x="0" y="10160"/>
                </a:moveTo>
                <a:lnTo>
                  <a:pt x="53848" y="10160"/>
                </a:lnTo>
                <a:lnTo>
                  <a:pt x="53848" y="0"/>
                </a:lnTo>
                <a:lnTo>
                  <a:pt x="0" y="0"/>
                </a:lnTo>
                <a:lnTo>
                  <a:pt x="0" y="1016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/>
          <p:cNvSpPr/>
          <p:nvPr/>
        </p:nvSpPr>
        <p:spPr>
          <a:xfrm>
            <a:off x="9389109" y="2334260"/>
            <a:ext cx="53975" cy="10160"/>
          </a:xfrm>
          <a:custGeom>
            <a:avLst/>
            <a:gdLst/>
            <a:ahLst/>
            <a:cxnLst/>
            <a:rect l="l" t="t" r="r" b="b"/>
            <a:pathLst>
              <a:path w="53975" h="10160">
                <a:moveTo>
                  <a:pt x="0" y="10160"/>
                </a:moveTo>
                <a:lnTo>
                  <a:pt x="53848" y="10160"/>
                </a:lnTo>
                <a:lnTo>
                  <a:pt x="53848" y="0"/>
                </a:lnTo>
                <a:lnTo>
                  <a:pt x="0" y="0"/>
                </a:lnTo>
                <a:lnTo>
                  <a:pt x="0" y="1016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/>
          <p:cNvSpPr/>
          <p:nvPr/>
        </p:nvSpPr>
        <p:spPr>
          <a:xfrm>
            <a:off x="7625080" y="4665979"/>
            <a:ext cx="60960" cy="10160"/>
          </a:xfrm>
          <a:custGeom>
            <a:avLst/>
            <a:gdLst/>
            <a:ahLst/>
            <a:cxnLst/>
            <a:rect l="l" t="t" r="r" b="b"/>
            <a:pathLst>
              <a:path w="60959" h="10160">
                <a:moveTo>
                  <a:pt x="0" y="10160"/>
                </a:moveTo>
                <a:lnTo>
                  <a:pt x="60705" y="10160"/>
                </a:lnTo>
                <a:lnTo>
                  <a:pt x="60705" y="0"/>
                </a:lnTo>
                <a:lnTo>
                  <a:pt x="0" y="0"/>
                </a:lnTo>
                <a:lnTo>
                  <a:pt x="0" y="1016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/>
          <p:cNvSpPr/>
          <p:nvPr/>
        </p:nvSpPr>
        <p:spPr>
          <a:xfrm>
            <a:off x="6334759" y="4665979"/>
            <a:ext cx="60960" cy="10160"/>
          </a:xfrm>
          <a:custGeom>
            <a:avLst/>
            <a:gdLst/>
            <a:ahLst/>
            <a:cxnLst/>
            <a:rect l="l" t="t" r="r" b="b"/>
            <a:pathLst>
              <a:path w="60960" h="10160">
                <a:moveTo>
                  <a:pt x="0" y="10160"/>
                </a:moveTo>
                <a:lnTo>
                  <a:pt x="60832" y="10160"/>
                </a:lnTo>
                <a:lnTo>
                  <a:pt x="60832" y="0"/>
                </a:lnTo>
                <a:lnTo>
                  <a:pt x="0" y="0"/>
                </a:lnTo>
                <a:lnTo>
                  <a:pt x="0" y="1016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/>
          <p:cNvSpPr/>
          <p:nvPr/>
        </p:nvSpPr>
        <p:spPr>
          <a:xfrm>
            <a:off x="9342628" y="4665979"/>
            <a:ext cx="60960" cy="10160"/>
          </a:xfrm>
          <a:custGeom>
            <a:avLst/>
            <a:gdLst/>
            <a:ahLst/>
            <a:cxnLst/>
            <a:rect l="l" t="t" r="r" b="b"/>
            <a:pathLst>
              <a:path w="60959" h="10160">
                <a:moveTo>
                  <a:pt x="0" y="10160"/>
                </a:moveTo>
                <a:lnTo>
                  <a:pt x="60705" y="10160"/>
                </a:lnTo>
                <a:lnTo>
                  <a:pt x="60705" y="0"/>
                </a:lnTo>
                <a:lnTo>
                  <a:pt x="0" y="0"/>
                </a:lnTo>
                <a:lnTo>
                  <a:pt x="0" y="1016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7"/>
          <p:cNvSpPr/>
          <p:nvPr/>
        </p:nvSpPr>
        <p:spPr>
          <a:xfrm>
            <a:off x="7925816" y="4665979"/>
            <a:ext cx="60960" cy="10160"/>
          </a:xfrm>
          <a:custGeom>
            <a:avLst/>
            <a:gdLst/>
            <a:ahLst/>
            <a:cxnLst/>
            <a:rect l="l" t="t" r="r" b="b"/>
            <a:pathLst>
              <a:path w="60959" h="10160">
                <a:moveTo>
                  <a:pt x="0" y="10160"/>
                </a:moveTo>
                <a:lnTo>
                  <a:pt x="60832" y="10160"/>
                </a:lnTo>
                <a:lnTo>
                  <a:pt x="60832" y="0"/>
                </a:lnTo>
                <a:lnTo>
                  <a:pt x="0" y="0"/>
                </a:lnTo>
                <a:lnTo>
                  <a:pt x="0" y="1016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object 38"/>
          <p:cNvSpPr/>
          <p:nvPr/>
        </p:nvSpPr>
        <p:spPr>
          <a:xfrm>
            <a:off x="10660888" y="4665979"/>
            <a:ext cx="60960" cy="10160"/>
          </a:xfrm>
          <a:custGeom>
            <a:avLst/>
            <a:gdLst/>
            <a:ahLst/>
            <a:cxnLst/>
            <a:rect l="l" t="t" r="r" b="b"/>
            <a:pathLst>
              <a:path w="60959" h="10160">
                <a:moveTo>
                  <a:pt x="0" y="10160"/>
                </a:moveTo>
                <a:lnTo>
                  <a:pt x="60705" y="10160"/>
                </a:lnTo>
                <a:lnTo>
                  <a:pt x="60705" y="0"/>
                </a:lnTo>
                <a:lnTo>
                  <a:pt x="0" y="0"/>
                </a:lnTo>
                <a:lnTo>
                  <a:pt x="0" y="1016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object 39"/>
          <p:cNvSpPr/>
          <p:nvPr/>
        </p:nvSpPr>
        <p:spPr>
          <a:xfrm>
            <a:off x="9751568" y="4665979"/>
            <a:ext cx="60960" cy="10160"/>
          </a:xfrm>
          <a:custGeom>
            <a:avLst/>
            <a:gdLst/>
            <a:ahLst/>
            <a:cxnLst/>
            <a:rect l="l" t="t" r="r" b="b"/>
            <a:pathLst>
              <a:path w="60959" h="10160">
                <a:moveTo>
                  <a:pt x="0" y="10160"/>
                </a:moveTo>
                <a:lnTo>
                  <a:pt x="60832" y="10160"/>
                </a:lnTo>
                <a:lnTo>
                  <a:pt x="60832" y="0"/>
                </a:lnTo>
                <a:lnTo>
                  <a:pt x="0" y="0"/>
                </a:lnTo>
                <a:lnTo>
                  <a:pt x="0" y="1016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40" name="object 40"/>
          <p:cNvGraphicFramePr>
            <a:graphicFrameLocks noGrp="1"/>
          </p:cNvGraphicFramePr>
          <p:nvPr/>
        </p:nvGraphicFramePr>
        <p:xfrm>
          <a:off x="1214170" y="3499838"/>
          <a:ext cx="9495786" cy="123570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959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40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9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473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2291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41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733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214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2354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5461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97179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42354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6352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422275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422909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371475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669290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78129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</a:tblGrid>
              <a:tr h="3835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102235" algn="r">
                        <a:lnSpc>
                          <a:spcPts val="1739"/>
                        </a:lnSpc>
                      </a:pPr>
                      <a:r>
                        <a:rPr sz="1600" b="1" spc="-50" dirty="0">
                          <a:latin typeface="Times New Roman"/>
                          <a:cs typeface="Times New Roman"/>
                        </a:rPr>
                        <a:t>A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54940">
                        <a:lnSpc>
                          <a:spcPct val="100000"/>
                        </a:lnSpc>
                        <a:spcBef>
                          <a:spcPts val="55"/>
                        </a:spcBef>
                      </a:pPr>
                      <a:r>
                        <a:rPr sz="1600" b="1" spc="-50" dirty="0">
                          <a:latin typeface="Times New Roman"/>
                          <a:cs typeface="Times New Roman"/>
                        </a:rPr>
                        <a:t>B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6985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93345" algn="ctr">
                        <a:lnSpc>
                          <a:spcPct val="100000"/>
                        </a:lnSpc>
                        <a:spcBef>
                          <a:spcPts val="114"/>
                        </a:spcBef>
                      </a:pPr>
                      <a:r>
                        <a:rPr sz="1600" b="1" spc="-20" dirty="0">
                          <a:latin typeface="Times New Roman"/>
                          <a:cs typeface="Times New Roman"/>
                        </a:rPr>
                        <a:t>A-</a:t>
                      </a:r>
                      <a:r>
                        <a:rPr sz="1600" b="1" spc="-50" dirty="0">
                          <a:latin typeface="Times New Roman"/>
                          <a:cs typeface="Times New Roman"/>
                        </a:rPr>
                        <a:t>B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14604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278130">
                        <a:lnSpc>
                          <a:spcPct val="100000"/>
                        </a:lnSpc>
                        <a:spcBef>
                          <a:spcPts val="114"/>
                        </a:spcBef>
                      </a:pPr>
                      <a:r>
                        <a:rPr sz="1600" b="1" spc="-50" dirty="0">
                          <a:latin typeface="Times New Roman"/>
                          <a:cs typeface="Times New Roman"/>
                        </a:rPr>
                        <a:t>A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14604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60655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1600" b="1" spc="-50" dirty="0">
                          <a:latin typeface="Times New Roman"/>
                          <a:cs typeface="Times New Roman"/>
                        </a:rPr>
                        <a:t>B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4445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90805" algn="r">
                        <a:lnSpc>
                          <a:spcPct val="100000"/>
                        </a:lnSpc>
                        <a:spcBef>
                          <a:spcPts val="405"/>
                        </a:spcBef>
                      </a:pPr>
                      <a:r>
                        <a:rPr sz="1600" b="1" spc="-25" dirty="0">
                          <a:latin typeface="Times New Roman"/>
                          <a:cs typeface="Times New Roman"/>
                        </a:rPr>
                        <a:t>A/B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51435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565">
                <a:tc>
                  <a:txBody>
                    <a:bodyPr/>
                    <a:lstStyle/>
                    <a:p>
                      <a:pPr marR="51435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0</a:t>
                      </a:r>
                      <a:endParaRPr sz="1800">
                        <a:latin typeface="Cambria Math"/>
                        <a:cs typeface="Cambria Math"/>
                      </a:endParaRPr>
                    </a:p>
                  </a:txBody>
                  <a:tcPr marL="0" marR="0" marT="34290" marB="0">
                    <a:lnL w="28575">
                      <a:solidFill>
                        <a:srgbClr val="404040"/>
                      </a:solidFill>
                      <a:prstDash val="solid"/>
                    </a:lnL>
                  </a:tcPr>
                </a:tc>
                <a:tc>
                  <a:txBody>
                    <a:bodyPr/>
                    <a:lstStyle/>
                    <a:p>
                      <a:pPr marR="111760" algn="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25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100</a:t>
                      </a:r>
                      <a:endParaRPr sz="1800">
                        <a:latin typeface="Cambria Math"/>
                        <a:cs typeface="Cambria Math"/>
                      </a:endParaRPr>
                    </a:p>
                  </a:txBody>
                  <a:tcPr marL="0" marR="0" marT="34290" marB="0"/>
                </a:tc>
                <a:tc>
                  <a:txBody>
                    <a:bodyPr/>
                    <a:lstStyle/>
                    <a:p>
                      <a:pPr marL="54610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25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10</a:t>
                      </a:r>
                      <a:endParaRPr sz="1800">
                        <a:latin typeface="Cambria Math"/>
                        <a:cs typeface="Cambria Math"/>
                      </a:endParaRPr>
                    </a:p>
                  </a:txBody>
                  <a:tcPr marL="0" marR="0" marT="34290" marB="0">
                    <a:lnR w="28575">
                      <a:solidFill>
                        <a:srgbClr val="40404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404040"/>
                      </a:solidFill>
                      <a:prstDash val="solid"/>
                    </a:lnL>
                    <a:lnR w="28575">
                      <a:solidFill>
                        <a:srgbClr val="40404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R="51435"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800" spc="-25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10</a:t>
                      </a:r>
                      <a:endParaRPr sz="1800">
                        <a:latin typeface="Cambria Math"/>
                        <a:cs typeface="Cambria Math"/>
                      </a:endParaRPr>
                    </a:p>
                  </a:txBody>
                  <a:tcPr marL="0" marR="0" marT="36830" marB="0">
                    <a:lnL w="28575">
                      <a:solidFill>
                        <a:srgbClr val="404040"/>
                      </a:solidFill>
                      <a:prstDash val="solid"/>
                    </a:lnL>
                  </a:tcPr>
                </a:tc>
                <a:tc>
                  <a:txBody>
                    <a:bodyPr/>
                    <a:lstStyle/>
                    <a:p>
                      <a:pPr marL="113664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800" spc="-25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100</a:t>
                      </a:r>
                      <a:endParaRPr sz="1800">
                        <a:latin typeface="Cambria Math"/>
                        <a:cs typeface="Cambria Math"/>
                      </a:endParaRPr>
                    </a:p>
                  </a:txBody>
                  <a:tcPr marL="0" marR="0" marT="36830" marB="0"/>
                </a:tc>
                <a:tc>
                  <a:txBody>
                    <a:bodyPr/>
                    <a:lstStyle/>
                    <a:p>
                      <a:pPr marL="61594"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8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5</a:t>
                      </a:r>
                      <a:endParaRPr sz="1800">
                        <a:latin typeface="Cambria Math"/>
                        <a:cs typeface="Cambria Math"/>
                      </a:endParaRPr>
                    </a:p>
                  </a:txBody>
                  <a:tcPr marL="0" marR="0" marT="36830" marB="0">
                    <a:lnR w="28575">
                      <a:solidFill>
                        <a:srgbClr val="40404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404040"/>
                      </a:solidFill>
                      <a:prstDash val="solid"/>
                    </a:lnL>
                    <a:lnR w="28575">
                      <a:solidFill>
                        <a:srgbClr val="40404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54610">
                        <a:lnSpc>
                          <a:spcPct val="100000"/>
                        </a:lnSpc>
                        <a:spcBef>
                          <a:spcPts val="290"/>
                        </a:spcBef>
                        <a:tabLst>
                          <a:tab pos="410209" algn="l"/>
                        </a:tabLst>
                      </a:pPr>
                      <a:r>
                        <a:rPr sz="18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0</a:t>
                      </a:r>
                      <a:r>
                        <a:rPr sz="180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	</a:t>
                      </a:r>
                      <a:r>
                        <a:rPr sz="18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0</a:t>
                      </a:r>
                      <a:endParaRPr sz="1800">
                        <a:latin typeface="Cambria Math"/>
                        <a:cs typeface="Cambria Math"/>
                      </a:endParaRPr>
                    </a:p>
                  </a:txBody>
                  <a:tcPr marL="0" marR="0" marT="36830" marB="0">
                    <a:lnL w="28575">
                      <a:solidFill>
                        <a:srgbClr val="404040"/>
                      </a:solidFill>
                      <a:prstDash val="solid"/>
                    </a:lnL>
                  </a:tcPr>
                </a:tc>
                <a:tc>
                  <a:txBody>
                    <a:bodyPr/>
                    <a:lstStyle/>
                    <a:p>
                      <a:pPr marL="60325"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8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5</a:t>
                      </a:r>
                      <a:endParaRPr sz="1800">
                        <a:latin typeface="Cambria Math"/>
                        <a:cs typeface="Cambria Math"/>
                      </a:endParaRPr>
                    </a:p>
                  </a:txBody>
                  <a:tcPr marL="0" marR="0" marT="36830" marB="0">
                    <a:lnR w="28575">
                      <a:solidFill>
                        <a:srgbClr val="40404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404040"/>
                      </a:solidFill>
                      <a:prstDash val="solid"/>
                    </a:lnL>
                    <a:lnR w="28575">
                      <a:solidFill>
                        <a:srgbClr val="40404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R="51435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0</a:t>
                      </a:r>
                      <a:endParaRPr sz="1800">
                        <a:latin typeface="Cambria Math"/>
                        <a:cs typeface="Cambria Math"/>
                      </a:endParaRPr>
                    </a:p>
                  </a:txBody>
                  <a:tcPr marL="0" marR="0" marT="34290" marB="0">
                    <a:lnL w="28575">
                      <a:solidFill>
                        <a:srgbClr val="404040"/>
                      </a:solidFill>
                      <a:prstDash val="solid"/>
                    </a:lnL>
                  </a:tcPr>
                </a:tc>
                <a:tc>
                  <a:txBody>
                    <a:bodyPr/>
                    <a:lstStyle/>
                    <a:p>
                      <a:pPr marL="113664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25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100</a:t>
                      </a:r>
                      <a:endParaRPr sz="1800">
                        <a:latin typeface="Cambria Math"/>
                        <a:cs typeface="Cambria Math"/>
                      </a:endParaRPr>
                    </a:p>
                  </a:txBody>
                  <a:tcPr marL="0" marR="0" marT="34290" marB="0"/>
                </a:tc>
                <a:tc>
                  <a:txBody>
                    <a:bodyPr/>
                    <a:lstStyle/>
                    <a:p>
                      <a:pPr marL="59690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25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10</a:t>
                      </a:r>
                      <a:endParaRPr sz="1800">
                        <a:latin typeface="Cambria Math"/>
                        <a:cs typeface="Cambria Math"/>
                      </a:endParaRPr>
                    </a:p>
                  </a:txBody>
                  <a:tcPr marL="0" marR="0" marT="34290" marB="0">
                    <a:lnR w="28575">
                      <a:solidFill>
                        <a:srgbClr val="40404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404040"/>
                      </a:solidFill>
                      <a:prstDash val="solid"/>
                    </a:lnL>
                    <a:lnR w="28575">
                      <a:solidFill>
                        <a:srgbClr val="40404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R="53340"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800" spc="-25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10</a:t>
                      </a:r>
                      <a:endParaRPr sz="1800">
                        <a:latin typeface="Cambria Math"/>
                        <a:cs typeface="Cambria Math"/>
                      </a:endParaRPr>
                    </a:p>
                  </a:txBody>
                  <a:tcPr marL="0" marR="0" marT="36830" marB="0">
                    <a:lnL w="28575">
                      <a:solidFill>
                        <a:srgbClr val="404040"/>
                      </a:solidFill>
                      <a:prstDash val="solid"/>
                    </a:lnL>
                  </a:tcPr>
                </a:tc>
                <a:tc>
                  <a:txBody>
                    <a:bodyPr/>
                    <a:lstStyle/>
                    <a:p>
                      <a:pPr marL="114935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800" spc="-25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100</a:t>
                      </a:r>
                      <a:endParaRPr sz="1800">
                        <a:latin typeface="Cambria Math"/>
                        <a:cs typeface="Cambria Math"/>
                      </a:endParaRPr>
                    </a:p>
                  </a:txBody>
                  <a:tcPr marL="0" marR="0" marT="36830" marB="0"/>
                </a:tc>
                <a:tc>
                  <a:txBody>
                    <a:bodyPr/>
                    <a:lstStyle/>
                    <a:p>
                      <a:pPr marL="62230"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8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5</a:t>
                      </a:r>
                      <a:endParaRPr sz="1800">
                        <a:latin typeface="Cambria Math"/>
                        <a:cs typeface="Cambria Math"/>
                      </a:endParaRPr>
                    </a:p>
                  </a:txBody>
                  <a:tcPr marL="0" marR="0" marT="36830" marB="0">
                    <a:lnR w="28575">
                      <a:solidFill>
                        <a:srgbClr val="40404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404040"/>
                      </a:solidFill>
                      <a:prstDash val="solid"/>
                    </a:lnL>
                    <a:lnR w="28575">
                      <a:solidFill>
                        <a:srgbClr val="40404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R="121920" algn="r">
                        <a:lnSpc>
                          <a:spcPct val="100000"/>
                        </a:lnSpc>
                        <a:spcBef>
                          <a:spcPts val="270"/>
                        </a:spcBef>
                        <a:tabLst>
                          <a:tab pos="356235" algn="l"/>
                        </a:tabLst>
                      </a:pPr>
                      <a:r>
                        <a:rPr sz="18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0</a:t>
                      </a:r>
                      <a:r>
                        <a:rPr sz="180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	</a:t>
                      </a:r>
                      <a:r>
                        <a:rPr sz="18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1</a:t>
                      </a:r>
                      <a:endParaRPr sz="1800">
                        <a:latin typeface="Cambria Math"/>
                        <a:cs typeface="Cambria Math"/>
                      </a:endParaRPr>
                    </a:p>
                  </a:txBody>
                  <a:tcPr marL="0" marR="0" marT="34290" marB="0">
                    <a:lnL w="28575">
                      <a:solidFill>
                        <a:srgbClr val="404040"/>
                      </a:solidFill>
                      <a:prstDash val="solid"/>
                    </a:lnL>
                  </a:tcPr>
                </a:tc>
                <a:tc>
                  <a:txBody>
                    <a:bodyPr/>
                    <a:lstStyle/>
                    <a:p>
                      <a:pPr marL="45085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2</a:t>
                      </a:r>
                      <a:endParaRPr sz="1800">
                        <a:latin typeface="Cambria Math"/>
                        <a:cs typeface="Cambria Math"/>
                      </a:endParaRPr>
                    </a:p>
                  </a:txBody>
                  <a:tcPr marL="0" marR="0" marT="34290" marB="0">
                    <a:lnR w="28575">
                      <a:solidFill>
                        <a:srgbClr val="404040"/>
                      </a:solidFill>
                      <a:prstDash val="soli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050">
                <a:tc>
                  <a:txBody>
                    <a:bodyPr/>
                    <a:lstStyle/>
                    <a:p>
                      <a:pPr marR="51435" algn="ctr">
                        <a:lnSpc>
                          <a:spcPts val="1945"/>
                        </a:lnSpc>
                      </a:pPr>
                      <a:r>
                        <a:rPr sz="18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4</a:t>
                      </a:r>
                      <a:endParaRPr sz="1800">
                        <a:latin typeface="Cambria Math"/>
                        <a:cs typeface="Cambria Math"/>
                      </a:endParaRPr>
                    </a:p>
                  </a:txBody>
                  <a:tcPr marL="0" marR="0" marT="0" marB="0">
                    <a:lnL w="28575">
                      <a:solidFill>
                        <a:srgbClr val="404040"/>
                      </a:solidFill>
                      <a:prstDash val="soli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45"/>
                        </a:lnSpc>
                      </a:pPr>
                      <a:r>
                        <a:rPr sz="18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0</a:t>
                      </a:r>
                      <a:endParaRPr sz="1800">
                        <a:latin typeface="Cambria Math"/>
                        <a:cs typeface="Cambria Math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4610" algn="ctr">
                        <a:lnSpc>
                          <a:spcPts val="1945"/>
                        </a:lnSpc>
                      </a:pPr>
                      <a:r>
                        <a:rPr sz="1800" spc="-25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10</a:t>
                      </a:r>
                      <a:endParaRPr sz="1800">
                        <a:latin typeface="Cambria Math"/>
                        <a:cs typeface="Cambria Math"/>
                      </a:endParaRPr>
                    </a:p>
                  </a:txBody>
                  <a:tcPr marL="0" marR="0" marT="0" marB="0">
                    <a:lnR w="28575">
                      <a:solidFill>
                        <a:srgbClr val="40404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87630">
                        <a:lnSpc>
                          <a:spcPts val="1860"/>
                        </a:lnSpc>
                      </a:pPr>
                      <a:r>
                        <a:rPr sz="18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−</a:t>
                      </a:r>
                      <a:endParaRPr sz="1800">
                        <a:latin typeface="Cambria Math"/>
                        <a:cs typeface="Cambria Math"/>
                      </a:endParaRPr>
                    </a:p>
                  </a:txBody>
                  <a:tcPr marL="0" marR="0" marT="0" marB="0">
                    <a:lnL w="28575">
                      <a:solidFill>
                        <a:srgbClr val="404040"/>
                      </a:solidFill>
                      <a:prstDash val="solid"/>
                    </a:lnL>
                    <a:lnR w="28575">
                      <a:solidFill>
                        <a:srgbClr val="40404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R="53340" algn="ctr">
                        <a:lnSpc>
                          <a:spcPts val="1970"/>
                        </a:lnSpc>
                      </a:pPr>
                      <a:r>
                        <a:rPr sz="18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2</a:t>
                      </a:r>
                      <a:endParaRPr sz="1800">
                        <a:latin typeface="Cambria Math"/>
                        <a:cs typeface="Cambria Math"/>
                      </a:endParaRPr>
                    </a:p>
                  </a:txBody>
                  <a:tcPr marL="0" marR="0" marT="0" marB="0">
                    <a:lnL w="28575">
                      <a:solidFill>
                        <a:srgbClr val="404040"/>
                      </a:solidFill>
                      <a:prstDash val="solid"/>
                    </a:lnL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ts val="1970"/>
                        </a:lnSpc>
                      </a:pPr>
                      <a:r>
                        <a:rPr sz="18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0</a:t>
                      </a:r>
                      <a:endParaRPr sz="1800">
                        <a:latin typeface="Cambria Math"/>
                        <a:cs typeface="Cambria Math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61594" algn="ctr">
                        <a:lnSpc>
                          <a:spcPts val="1970"/>
                        </a:lnSpc>
                      </a:pPr>
                      <a:r>
                        <a:rPr sz="18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0</a:t>
                      </a:r>
                      <a:endParaRPr sz="1800">
                        <a:latin typeface="Cambria Math"/>
                        <a:cs typeface="Cambria Math"/>
                      </a:endParaRPr>
                    </a:p>
                  </a:txBody>
                  <a:tcPr marL="0" marR="0" marT="0" marB="0">
                    <a:lnR w="28575">
                      <a:solidFill>
                        <a:srgbClr val="40404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101600">
                        <a:lnSpc>
                          <a:spcPts val="1860"/>
                        </a:lnSpc>
                      </a:pPr>
                      <a:r>
                        <a:rPr sz="18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=</a:t>
                      </a:r>
                      <a:endParaRPr sz="1800">
                        <a:latin typeface="Cambria Math"/>
                        <a:cs typeface="Cambria Math"/>
                      </a:endParaRPr>
                    </a:p>
                  </a:txBody>
                  <a:tcPr marL="0" marR="0" marT="0" marB="0">
                    <a:lnL w="28575">
                      <a:solidFill>
                        <a:srgbClr val="404040"/>
                      </a:solidFill>
                      <a:prstDash val="solid"/>
                    </a:lnL>
                    <a:lnR w="28575">
                      <a:solidFill>
                        <a:srgbClr val="40404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54610">
                        <a:lnSpc>
                          <a:spcPts val="1970"/>
                        </a:lnSpc>
                        <a:tabLst>
                          <a:tab pos="410209" algn="l"/>
                        </a:tabLst>
                      </a:pPr>
                      <a:r>
                        <a:rPr sz="18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2</a:t>
                      </a:r>
                      <a:r>
                        <a:rPr sz="180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	</a:t>
                      </a:r>
                      <a:r>
                        <a:rPr sz="18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0</a:t>
                      </a:r>
                      <a:endParaRPr sz="1800">
                        <a:latin typeface="Cambria Math"/>
                        <a:cs typeface="Cambria Math"/>
                      </a:endParaRPr>
                    </a:p>
                  </a:txBody>
                  <a:tcPr marL="0" marR="0" marT="0" marB="0">
                    <a:lnL w="28575">
                      <a:solidFill>
                        <a:srgbClr val="404040"/>
                      </a:solidFill>
                      <a:prstDash val="solid"/>
                    </a:lnL>
                  </a:tcPr>
                </a:tc>
                <a:tc>
                  <a:txBody>
                    <a:bodyPr/>
                    <a:lstStyle/>
                    <a:p>
                      <a:pPr marL="59055" algn="ctr">
                        <a:lnSpc>
                          <a:spcPts val="1970"/>
                        </a:lnSpc>
                      </a:pPr>
                      <a:r>
                        <a:rPr sz="1800" spc="-25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10</a:t>
                      </a:r>
                      <a:endParaRPr sz="1800">
                        <a:latin typeface="Cambria Math"/>
                        <a:cs typeface="Cambria Math"/>
                      </a:endParaRPr>
                    </a:p>
                  </a:txBody>
                  <a:tcPr marL="0" marR="0" marT="0" marB="0">
                    <a:lnR w="28575">
                      <a:solidFill>
                        <a:srgbClr val="40404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404040"/>
                      </a:solidFill>
                      <a:prstDash val="solid"/>
                    </a:lnL>
                    <a:lnR w="28575">
                      <a:solidFill>
                        <a:srgbClr val="40404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R="51435" algn="ctr">
                        <a:lnSpc>
                          <a:spcPts val="1945"/>
                        </a:lnSpc>
                      </a:pPr>
                      <a:r>
                        <a:rPr sz="18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4</a:t>
                      </a:r>
                      <a:endParaRPr sz="1800">
                        <a:latin typeface="Cambria Math"/>
                        <a:cs typeface="Cambria Math"/>
                      </a:endParaRPr>
                    </a:p>
                  </a:txBody>
                  <a:tcPr marL="0" marR="0" marT="0" marB="0">
                    <a:lnL w="28575">
                      <a:solidFill>
                        <a:srgbClr val="404040"/>
                      </a:solidFill>
                      <a:prstDash val="solid"/>
                    </a:lnL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ts val="1945"/>
                        </a:lnSpc>
                      </a:pPr>
                      <a:r>
                        <a:rPr sz="18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0</a:t>
                      </a:r>
                      <a:endParaRPr sz="1800">
                        <a:latin typeface="Cambria Math"/>
                        <a:cs typeface="Cambria Math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9690" algn="ctr">
                        <a:lnSpc>
                          <a:spcPts val="1945"/>
                        </a:lnSpc>
                      </a:pPr>
                      <a:r>
                        <a:rPr sz="1800" spc="-25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10</a:t>
                      </a:r>
                      <a:endParaRPr sz="1800">
                        <a:latin typeface="Cambria Math"/>
                        <a:cs typeface="Cambria Math"/>
                      </a:endParaRPr>
                    </a:p>
                  </a:txBody>
                  <a:tcPr marL="0" marR="0" marT="0" marB="0">
                    <a:lnR w="28575">
                      <a:solidFill>
                        <a:srgbClr val="40404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75565">
                        <a:lnSpc>
                          <a:spcPts val="1860"/>
                        </a:lnSpc>
                      </a:pPr>
                      <a:r>
                        <a:rPr sz="18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/</a:t>
                      </a:r>
                      <a:endParaRPr sz="1800">
                        <a:latin typeface="Cambria Math"/>
                        <a:cs typeface="Cambria Math"/>
                      </a:endParaRPr>
                    </a:p>
                  </a:txBody>
                  <a:tcPr marL="0" marR="0" marT="0" marB="0">
                    <a:lnL w="28575">
                      <a:solidFill>
                        <a:srgbClr val="404040"/>
                      </a:solidFill>
                      <a:prstDash val="solid"/>
                    </a:lnL>
                    <a:lnR w="28575">
                      <a:solidFill>
                        <a:srgbClr val="40404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R="51435" algn="ctr">
                        <a:lnSpc>
                          <a:spcPts val="1970"/>
                        </a:lnSpc>
                      </a:pPr>
                      <a:r>
                        <a:rPr sz="18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2</a:t>
                      </a:r>
                      <a:endParaRPr sz="1800">
                        <a:latin typeface="Cambria Math"/>
                        <a:cs typeface="Cambria Math"/>
                      </a:endParaRPr>
                    </a:p>
                  </a:txBody>
                  <a:tcPr marL="0" marR="0" marT="0" marB="0">
                    <a:lnL w="28575">
                      <a:solidFill>
                        <a:srgbClr val="404040"/>
                      </a:solidFill>
                      <a:prstDash val="soli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70"/>
                        </a:lnSpc>
                      </a:pPr>
                      <a:r>
                        <a:rPr sz="18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0</a:t>
                      </a:r>
                      <a:endParaRPr sz="1800">
                        <a:latin typeface="Cambria Math"/>
                        <a:cs typeface="Cambria Math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62230" algn="ctr">
                        <a:lnSpc>
                          <a:spcPts val="1970"/>
                        </a:lnSpc>
                      </a:pPr>
                      <a:r>
                        <a:rPr sz="18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0</a:t>
                      </a:r>
                      <a:endParaRPr sz="1800">
                        <a:latin typeface="Cambria Math"/>
                        <a:cs typeface="Cambria Math"/>
                      </a:endParaRPr>
                    </a:p>
                  </a:txBody>
                  <a:tcPr marL="0" marR="0" marT="0" marB="0">
                    <a:lnR w="28575">
                      <a:solidFill>
                        <a:srgbClr val="40404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100330">
                        <a:lnSpc>
                          <a:spcPts val="1860"/>
                        </a:lnSpc>
                      </a:pPr>
                      <a:r>
                        <a:rPr sz="18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=</a:t>
                      </a:r>
                      <a:endParaRPr sz="1800">
                        <a:latin typeface="Cambria Math"/>
                        <a:cs typeface="Cambria Math"/>
                      </a:endParaRPr>
                    </a:p>
                  </a:txBody>
                  <a:tcPr marL="0" marR="0" marT="0" marB="0">
                    <a:lnL w="28575">
                      <a:solidFill>
                        <a:srgbClr val="404040"/>
                      </a:solidFill>
                      <a:prstDash val="solid"/>
                    </a:lnL>
                    <a:lnR w="28575">
                      <a:solidFill>
                        <a:srgbClr val="40404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R="121920" algn="r">
                        <a:lnSpc>
                          <a:spcPts val="1945"/>
                        </a:lnSpc>
                        <a:tabLst>
                          <a:tab pos="356235" algn="l"/>
                        </a:tabLst>
                      </a:pPr>
                      <a:r>
                        <a:rPr sz="18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2</a:t>
                      </a:r>
                      <a:r>
                        <a:rPr sz="180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	</a:t>
                      </a:r>
                      <a:r>
                        <a:rPr sz="18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0</a:t>
                      </a:r>
                      <a:endParaRPr sz="1800">
                        <a:latin typeface="Cambria Math"/>
                        <a:cs typeface="Cambria Math"/>
                      </a:endParaRPr>
                    </a:p>
                  </a:txBody>
                  <a:tcPr marL="0" marR="0" marT="0" marB="0">
                    <a:lnL w="28575">
                      <a:solidFill>
                        <a:srgbClr val="404040"/>
                      </a:solidFill>
                      <a:prstDash val="solid"/>
                    </a:lnL>
                  </a:tcPr>
                </a:tc>
                <a:tc>
                  <a:txBody>
                    <a:bodyPr/>
                    <a:lstStyle/>
                    <a:p>
                      <a:pPr marL="45085" algn="ctr">
                        <a:lnSpc>
                          <a:spcPts val="1945"/>
                        </a:lnSpc>
                      </a:pPr>
                      <a:r>
                        <a:rPr sz="18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0</a:t>
                      </a:r>
                      <a:endParaRPr sz="1800">
                        <a:latin typeface="Cambria Math"/>
                        <a:cs typeface="Cambria Math"/>
                      </a:endParaRPr>
                    </a:p>
                  </a:txBody>
                  <a:tcPr marL="0" marR="0" marT="0" marB="0">
                    <a:lnR w="28575">
                      <a:solidFill>
                        <a:srgbClr val="404040"/>
                      </a:solidFill>
                      <a:prstDash val="soli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9554">
                <a:tc>
                  <a:txBody>
                    <a:bodyPr/>
                    <a:lstStyle/>
                    <a:p>
                      <a:pPr marR="51435" algn="ctr">
                        <a:lnSpc>
                          <a:spcPts val="1870"/>
                        </a:lnSpc>
                      </a:pPr>
                      <a:r>
                        <a:rPr sz="18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8</a:t>
                      </a:r>
                      <a:endParaRPr sz="1800">
                        <a:latin typeface="Cambria Math"/>
                        <a:cs typeface="Cambria Math"/>
                      </a:endParaRPr>
                    </a:p>
                  </a:txBody>
                  <a:tcPr marL="0" marR="0" marT="0" marB="0">
                    <a:lnL w="28575">
                      <a:solidFill>
                        <a:srgbClr val="404040"/>
                      </a:solidFill>
                      <a:prstDash val="solid"/>
                    </a:ln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0"/>
                        </a:lnSpc>
                      </a:pPr>
                      <a:r>
                        <a:rPr sz="18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0</a:t>
                      </a:r>
                      <a:endParaRPr sz="1800">
                        <a:latin typeface="Cambria Math"/>
                        <a:cs typeface="Cambria Math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5880" algn="ctr">
                        <a:lnSpc>
                          <a:spcPts val="1870"/>
                        </a:lnSpc>
                      </a:pPr>
                      <a:r>
                        <a:rPr sz="18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5</a:t>
                      </a:r>
                      <a:endParaRPr sz="1800">
                        <a:latin typeface="Cambria Math"/>
                        <a:cs typeface="Cambria Math"/>
                      </a:endParaRPr>
                    </a:p>
                  </a:txBody>
                  <a:tcPr marL="0" marR="0" marT="0" marB="0">
                    <a:lnR w="28575">
                      <a:solidFill>
                        <a:srgbClr val="40404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404040"/>
                      </a:solidFill>
                      <a:prstDash val="solid"/>
                    </a:lnL>
                    <a:lnR w="28575">
                      <a:solidFill>
                        <a:srgbClr val="40404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R="52705" algn="ctr">
                        <a:lnSpc>
                          <a:spcPts val="1870"/>
                        </a:lnSpc>
                      </a:pPr>
                      <a:r>
                        <a:rPr sz="18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0</a:t>
                      </a:r>
                      <a:endParaRPr sz="1800">
                        <a:latin typeface="Cambria Math"/>
                        <a:cs typeface="Cambria Math"/>
                      </a:endParaRPr>
                    </a:p>
                  </a:txBody>
                  <a:tcPr marL="0" marR="0" marT="0" marB="0">
                    <a:lnL w="28575">
                      <a:solidFill>
                        <a:srgbClr val="404040"/>
                      </a:solidFill>
                      <a:prstDash val="solid"/>
                    </a:lnL>
                  </a:tcPr>
                </a:tc>
                <a:tc>
                  <a:txBody>
                    <a:bodyPr/>
                    <a:lstStyle/>
                    <a:p>
                      <a:pPr marL="177800">
                        <a:lnSpc>
                          <a:spcPts val="1870"/>
                        </a:lnSpc>
                      </a:pPr>
                      <a:r>
                        <a:rPr sz="1800" spc="-25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10</a:t>
                      </a:r>
                      <a:endParaRPr sz="1800">
                        <a:latin typeface="Cambria Math"/>
                        <a:cs typeface="Cambria Math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60325" algn="ctr">
                        <a:lnSpc>
                          <a:spcPts val="1870"/>
                        </a:lnSpc>
                      </a:pPr>
                      <a:r>
                        <a:rPr sz="1800" spc="-25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10</a:t>
                      </a:r>
                      <a:endParaRPr sz="1800">
                        <a:latin typeface="Cambria Math"/>
                        <a:cs typeface="Cambria Math"/>
                      </a:endParaRPr>
                    </a:p>
                  </a:txBody>
                  <a:tcPr marL="0" marR="0" marT="0" marB="0">
                    <a:lnR w="28575">
                      <a:solidFill>
                        <a:srgbClr val="40404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404040"/>
                      </a:solidFill>
                      <a:prstDash val="solid"/>
                    </a:lnL>
                    <a:lnR w="28575">
                      <a:solidFill>
                        <a:srgbClr val="40404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54610">
                        <a:lnSpc>
                          <a:spcPts val="1870"/>
                        </a:lnSpc>
                        <a:tabLst>
                          <a:tab pos="410209" algn="l"/>
                        </a:tabLst>
                      </a:pPr>
                      <a:r>
                        <a:rPr sz="18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8</a:t>
                      </a:r>
                      <a:r>
                        <a:rPr sz="180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	</a:t>
                      </a:r>
                      <a:r>
                        <a:rPr sz="18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0</a:t>
                      </a:r>
                      <a:endParaRPr sz="1800">
                        <a:latin typeface="Cambria Math"/>
                        <a:cs typeface="Cambria Math"/>
                      </a:endParaRPr>
                    </a:p>
                  </a:txBody>
                  <a:tcPr marL="0" marR="0" marT="0" marB="0">
                    <a:lnL w="28575">
                      <a:solidFill>
                        <a:srgbClr val="404040"/>
                      </a:solidFill>
                      <a:prstDash val="solid"/>
                    </a:lnL>
                  </a:tcPr>
                </a:tc>
                <a:tc>
                  <a:txBody>
                    <a:bodyPr/>
                    <a:lstStyle/>
                    <a:p>
                      <a:pPr marL="60325" algn="ctr">
                        <a:lnSpc>
                          <a:spcPts val="1870"/>
                        </a:lnSpc>
                      </a:pPr>
                      <a:r>
                        <a:rPr sz="18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0</a:t>
                      </a:r>
                      <a:endParaRPr sz="1800">
                        <a:latin typeface="Cambria Math"/>
                        <a:cs typeface="Cambria Math"/>
                      </a:endParaRPr>
                    </a:p>
                  </a:txBody>
                  <a:tcPr marL="0" marR="0" marT="0" marB="0">
                    <a:lnR w="28575">
                      <a:solidFill>
                        <a:srgbClr val="40404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404040"/>
                      </a:solidFill>
                      <a:prstDash val="solid"/>
                    </a:lnL>
                    <a:lnR w="28575">
                      <a:solidFill>
                        <a:srgbClr val="40404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R="51435" algn="ctr">
                        <a:lnSpc>
                          <a:spcPts val="1870"/>
                        </a:lnSpc>
                      </a:pPr>
                      <a:r>
                        <a:rPr sz="18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8</a:t>
                      </a:r>
                      <a:endParaRPr sz="1800">
                        <a:latin typeface="Cambria Math"/>
                        <a:cs typeface="Cambria Math"/>
                      </a:endParaRPr>
                    </a:p>
                  </a:txBody>
                  <a:tcPr marL="0" marR="0" marT="0" marB="0">
                    <a:lnL w="28575">
                      <a:solidFill>
                        <a:srgbClr val="404040"/>
                      </a:solidFill>
                      <a:prstDash val="solid"/>
                    </a:lnL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ts val="1870"/>
                        </a:lnSpc>
                      </a:pPr>
                      <a:r>
                        <a:rPr sz="18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0</a:t>
                      </a:r>
                      <a:endParaRPr sz="1800">
                        <a:latin typeface="Cambria Math"/>
                        <a:cs typeface="Cambria Math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61594" algn="ctr">
                        <a:lnSpc>
                          <a:spcPts val="1870"/>
                        </a:lnSpc>
                      </a:pPr>
                      <a:r>
                        <a:rPr sz="18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5</a:t>
                      </a:r>
                      <a:endParaRPr sz="1800">
                        <a:latin typeface="Cambria Math"/>
                        <a:cs typeface="Cambria Math"/>
                      </a:endParaRPr>
                    </a:p>
                  </a:txBody>
                  <a:tcPr marL="0" marR="0" marT="0" marB="0">
                    <a:lnR w="28575">
                      <a:solidFill>
                        <a:srgbClr val="40404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404040"/>
                      </a:solidFill>
                      <a:prstDash val="solid"/>
                    </a:lnL>
                    <a:lnR w="28575">
                      <a:solidFill>
                        <a:srgbClr val="40404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R="51435" algn="ctr">
                        <a:lnSpc>
                          <a:spcPts val="1870"/>
                        </a:lnSpc>
                      </a:pPr>
                      <a:r>
                        <a:rPr sz="18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0</a:t>
                      </a:r>
                      <a:endParaRPr sz="1800">
                        <a:latin typeface="Cambria Math"/>
                        <a:cs typeface="Cambria Math"/>
                      </a:endParaRPr>
                    </a:p>
                  </a:txBody>
                  <a:tcPr marL="0" marR="0" marT="0" marB="0">
                    <a:lnL w="28575">
                      <a:solidFill>
                        <a:srgbClr val="404040"/>
                      </a:solidFill>
                      <a:prstDash val="solid"/>
                    </a:lnL>
                  </a:tcPr>
                </a:tc>
                <a:tc>
                  <a:txBody>
                    <a:bodyPr/>
                    <a:lstStyle/>
                    <a:p>
                      <a:pPr marL="178435">
                        <a:lnSpc>
                          <a:spcPts val="1870"/>
                        </a:lnSpc>
                      </a:pPr>
                      <a:r>
                        <a:rPr sz="1800" spc="-25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10</a:t>
                      </a:r>
                      <a:endParaRPr sz="1800">
                        <a:latin typeface="Cambria Math"/>
                        <a:cs typeface="Cambria Math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60325" algn="ctr">
                        <a:lnSpc>
                          <a:spcPts val="1870"/>
                        </a:lnSpc>
                      </a:pPr>
                      <a:r>
                        <a:rPr sz="1800" spc="-25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10</a:t>
                      </a:r>
                      <a:endParaRPr sz="1800">
                        <a:latin typeface="Cambria Math"/>
                        <a:cs typeface="Cambria Math"/>
                      </a:endParaRPr>
                    </a:p>
                  </a:txBody>
                  <a:tcPr marL="0" marR="0" marT="0" marB="0">
                    <a:lnR w="28575">
                      <a:solidFill>
                        <a:srgbClr val="40404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404040"/>
                      </a:solidFill>
                      <a:prstDash val="solid"/>
                    </a:lnL>
                    <a:lnR w="28575">
                      <a:solidFill>
                        <a:srgbClr val="40404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R="121920" algn="r">
                        <a:lnSpc>
                          <a:spcPts val="1870"/>
                        </a:lnSpc>
                        <a:tabLst>
                          <a:tab pos="356235" algn="l"/>
                        </a:tabLst>
                      </a:pPr>
                      <a:r>
                        <a:rPr sz="18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0</a:t>
                      </a:r>
                      <a:r>
                        <a:rPr sz="180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	</a:t>
                      </a:r>
                      <a:r>
                        <a:rPr sz="18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0</a:t>
                      </a:r>
                      <a:endParaRPr sz="1800">
                        <a:latin typeface="Cambria Math"/>
                        <a:cs typeface="Cambria Math"/>
                      </a:endParaRPr>
                    </a:p>
                  </a:txBody>
                  <a:tcPr marL="0" marR="0" marT="0" marB="0">
                    <a:lnL w="28575">
                      <a:solidFill>
                        <a:srgbClr val="404040"/>
                      </a:solidFill>
                      <a:prstDash val="solid"/>
                    </a:lnL>
                  </a:tcPr>
                </a:tc>
                <a:tc>
                  <a:txBody>
                    <a:bodyPr/>
                    <a:lstStyle/>
                    <a:p>
                      <a:pPr marL="45720" algn="ctr">
                        <a:lnSpc>
                          <a:spcPts val="1870"/>
                        </a:lnSpc>
                      </a:pPr>
                      <a:r>
                        <a:rPr sz="1800" spc="-50" dirty="0">
                          <a:solidFill>
                            <a:srgbClr val="404040"/>
                          </a:solidFill>
                          <a:latin typeface="Cambria Math"/>
                          <a:cs typeface="Cambria Math"/>
                        </a:rPr>
                        <a:t>0</a:t>
                      </a:r>
                      <a:endParaRPr sz="1800">
                        <a:latin typeface="Cambria Math"/>
                        <a:cs typeface="Cambria Math"/>
                      </a:endParaRPr>
                    </a:p>
                  </a:txBody>
                  <a:tcPr marL="0" marR="0" marT="0" marB="0">
                    <a:lnR w="28575">
                      <a:solidFill>
                        <a:srgbClr val="404040"/>
                      </a:solidFill>
                      <a:prstDash val="soli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1" name="object 41"/>
          <p:cNvSpPr/>
          <p:nvPr/>
        </p:nvSpPr>
        <p:spPr>
          <a:xfrm>
            <a:off x="2504439" y="3999229"/>
            <a:ext cx="60960" cy="10160"/>
          </a:xfrm>
          <a:custGeom>
            <a:avLst/>
            <a:gdLst/>
            <a:ahLst/>
            <a:cxnLst/>
            <a:rect l="l" t="t" r="r" b="b"/>
            <a:pathLst>
              <a:path w="60960" h="10160">
                <a:moveTo>
                  <a:pt x="0" y="10160"/>
                </a:moveTo>
                <a:lnTo>
                  <a:pt x="60706" y="10160"/>
                </a:lnTo>
                <a:lnTo>
                  <a:pt x="60706" y="0"/>
                </a:lnTo>
                <a:lnTo>
                  <a:pt x="0" y="0"/>
                </a:lnTo>
                <a:lnTo>
                  <a:pt x="0" y="1016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object 42"/>
          <p:cNvSpPr/>
          <p:nvPr/>
        </p:nvSpPr>
        <p:spPr>
          <a:xfrm>
            <a:off x="1214170" y="3999229"/>
            <a:ext cx="60960" cy="10160"/>
          </a:xfrm>
          <a:custGeom>
            <a:avLst/>
            <a:gdLst/>
            <a:ahLst/>
            <a:cxnLst/>
            <a:rect l="l" t="t" r="r" b="b"/>
            <a:pathLst>
              <a:path w="60959" h="10160">
                <a:moveTo>
                  <a:pt x="0" y="10160"/>
                </a:moveTo>
                <a:lnTo>
                  <a:pt x="60782" y="10160"/>
                </a:lnTo>
                <a:lnTo>
                  <a:pt x="60782" y="0"/>
                </a:lnTo>
                <a:lnTo>
                  <a:pt x="0" y="0"/>
                </a:lnTo>
                <a:lnTo>
                  <a:pt x="0" y="1016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43"/>
          <p:cNvSpPr/>
          <p:nvPr/>
        </p:nvSpPr>
        <p:spPr>
          <a:xfrm>
            <a:off x="4305808" y="3999229"/>
            <a:ext cx="60960" cy="10160"/>
          </a:xfrm>
          <a:custGeom>
            <a:avLst/>
            <a:gdLst/>
            <a:ahLst/>
            <a:cxnLst/>
            <a:rect l="l" t="t" r="r" b="b"/>
            <a:pathLst>
              <a:path w="60960" h="10160">
                <a:moveTo>
                  <a:pt x="0" y="10160"/>
                </a:moveTo>
                <a:lnTo>
                  <a:pt x="60705" y="10160"/>
                </a:lnTo>
                <a:lnTo>
                  <a:pt x="60705" y="0"/>
                </a:lnTo>
                <a:lnTo>
                  <a:pt x="0" y="0"/>
                </a:lnTo>
                <a:lnTo>
                  <a:pt x="0" y="1016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4" name="object 44"/>
          <p:cNvSpPr/>
          <p:nvPr/>
        </p:nvSpPr>
        <p:spPr>
          <a:xfrm>
            <a:off x="2888995" y="3999229"/>
            <a:ext cx="60960" cy="10160"/>
          </a:xfrm>
          <a:custGeom>
            <a:avLst/>
            <a:gdLst/>
            <a:ahLst/>
            <a:cxnLst/>
            <a:rect l="l" t="t" r="r" b="b"/>
            <a:pathLst>
              <a:path w="60960" h="10160">
                <a:moveTo>
                  <a:pt x="0" y="10160"/>
                </a:moveTo>
                <a:lnTo>
                  <a:pt x="60833" y="10160"/>
                </a:lnTo>
                <a:lnTo>
                  <a:pt x="60833" y="0"/>
                </a:lnTo>
                <a:lnTo>
                  <a:pt x="0" y="0"/>
                </a:lnTo>
                <a:lnTo>
                  <a:pt x="0" y="1016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5" name="object 45"/>
          <p:cNvSpPr/>
          <p:nvPr/>
        </p:nvSpPr>
        <p:spPr>
          <a:xfrm>
            <a:off x="5752084" y="3999229"/>
            <a:ext cx="60960" cy="10160"/>
          </a:xfrm>
          <a:custGeom>
            <a:avLst/>
            <a:gdLst/>
            <a:ahLst/>
            <a:cxnLst/>
            <a:rect l="l" t="t" r="r" b="b"/>
            <a:pathLst>
              <a:path w="60960" h="10160">
                <a:moveTo>
                  <a:pt x="0" y="10160"/>
                </a:moveTo>
                <a:lnTo>
                  <a:pt x="60705" y="10160"/>
                </a:lnTo>
                <a:lnTo>
                  <a:pt x="60705" y="0"/>
                </a:lnTo>
                <a:lnTo>
                  <a:pt x="0" y="0"/>
                </a:lnTo>
                <a:lnTo>
                  <a:pt x="0" y="1016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46"/>
          <p:cNvSpPr/>
          <p:nvPr/>
        </p:nvSpPr>
        <p:spPr>
          <a:xfrm>
            <a:off x="4716271" y="3999229"/>
            <a:ext cx="60960" cy="10160"/>
          </a:xfrm>
          <a:custGeom>
            <a:avLst/>
            <a:gdLst/>
            <a:ahLst/>
            <a:cxnLst/>
            <a:rect l="l" t="t" r="r" b="b"/>
            <a:pathLst>
              <a:path w="60960" h="10160">
                <a:moveTo>
                  <a:pt x="0" y="10160"/>
                </a:moveTo>
                <a:lnTo>
                  <a:pt x="60832" y="10160"/>
                </a:lnTo>
                <a:lnTo>
                  <a:pt x="60832" y="0"/>
                </a:lnTo>
                <a:lnTo>
                  <a:pt x="0" y="0"/>
                </a:lnTo>
                <a:lnTo>
                  <a:pt x="0" y="1016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" name="object 47"/>
          <p:cNvSpPr/>
          <p:nvPr/>
        </p:nvSpPr>
        <p:spPr>
          <a:xfrm>
            <a:off x="7625080" y="3999229"/>
            <a:ext cx="60960" cy="10160"/>
          </a:xfrm>
          <a:custGeom>
            <a:avLst/>
            <a:gdLst/>
            <a:ahLst/>
            <a:cxnLst/>
            <a:rect l="l" t="t" r="r" b="b"/>
            <a:pathLst>
              <a:path w="60959" h="10160">
                <a:moveTo>
                  <a:pt x="0" y="10160"/>
                </a:moveTo>
                <a:lnTo>
                  <a:pt x="60705" y="10160"/>
                </a:lnTo>
                <a:lnTo>
                  <a:pt x="60705" y="0"/>
                </a:lnTo>
                <a:lnTo>
                  <a:pt x="0" y="0"/>
                </a:lnTo>
                <a:lnTo>
                  <a:pt x="0" y="1016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" name="object 48"/>
          <p:cNvSpPr/>
          <p:nvPr/>
        </p:nvSpPr>
        <p:spPr>
          <a:xfrm>
            <a:off x="6334759" y="3999229"/>
            <a:ext cx="60960" cy="10160"/>
          </a:xfrm>
          <a:custGeom>
            <a:avLst/>
            <a:gdLst/>
            <a:ahLst/>
            <a:cxnLst/>
            <a:rect l="l" t="t" r="r" b="b"/>
            <a:pathLst>
              <a:path w="60960" h="10160">
                <a:moveTo>
                  <a:pt x="0" y="10160"/>
                </a:moveTo>
                <a:lnTo>
                  <a:pt x="60832" y="10160"/>
                </a:lnTo>
                <a:lnTo>
                  <a:pt x="60832" y="0"/>
                </a:lnTo>
                <a:lnTo>
                  <a:pt x="0" y="0"/>
                </a:lnTo>
                <a:lnTo>
                  <a:pt x="0" y="1016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49"/>
          <p:cNvSpPr/>
          <p:nvPr/>
        </p:nvSpPr>
        <p:spPr>
          <a:xfrm>
            <a:off x="9342628" y="3999229"/>
            <a:ext cx="60960" cy="10160"/>
          </a:xfrm>
          <a:custGeom>
            <a:avLst/>
            <a:gdLst/>
            <a:ahLst/>
            <a:cxnLst/>
            <a:rect l="l" t="t" r="r" b="b"/>
            <a:pathLst>
              <a:path w="60959" h="10160">
                <a:moveTo>
                  <a:pt x="0" y="10160"/>
                </a:moveTo>
                <a:lnTo>
                  <a:pt x="60705" y="10160"/>
                </a:lnTo>
                <a:lnTo>
                  <a:pt x="60705" y="0"/>
                </a:lnTo>
                <a:lnTo>
                  <a:pt x="0" y="0"/>
                </a:lnTo>
                <a:lnTo>
                  <a:pt x="0" y="1016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50"/>
          <p:cNvSpPr/>
          <p:nvPr/>
        </p:nvSpPr>
        <p:spPr>
          <a:xfrm>
            <a:off x="7925816" y="3999229"/>
            <a:ext cx="60960" cy="10160"/>
          </a:xfrm>
          <a:custGeom>
            <a:avLst/>
            <a:gdLst/>
            <a:ahLst/>
            <a:cxnLst/>
            <a:rect l="l" t="t" r="r" b="b"/>
            <a:pathLst>
              <a:path w="60959" h="10160">
                <a:moveTo>
                  <a:pt x="0" y="10160"/>
                </a:moveTo>
                <a:lnTo>
                  <a:pt x="60832" y="10160"/>
                </a:lnTo>
                <a:lnTo>
                  <a:pt x="60832" y="0"/>
                </a:lnTo>
                <a:lnTo>
                  <a:pt x="0" y="0"/>
                </a:lnTo>
                <a:lnTo>
                  <a:pt x="0" y="1016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51"/>
          <p:cNvSpPr/>
          <p:nvPr/>
        </p:nvSpPr>
        <p:spPr>
          <a:xfrm>
            <a:off x="10660888" y="3999229"/>
            <a:ext cx="60960" cy="10160"/>
          </a:xfrm>
          <a:custGeom>
            <a:avLst/>
            <a:gdLst/>
            <a:ahLst/>
            <a:cxnLst/>
            <a:rect l="l" t="t" r="r" b="b"/>
            <a:pathLst>
              <a:path w="60959" h="10160">
                <a:moveTo>
                  <a:pt x="0" y="10160"/>
                </a:moveTo>
                <a:lnTo>
                  <a:pt x="60705" y="10160"/>
                </a:lnTo>
                <a:lnTo>
                  <a:pt x="60705" y="0"/>
                </a:lnTo>
                <a:lnTo>
                  <a:pt x="0" y="0"/>
                </a:lnTo>
                <a:lnTo>
                  <a:pt x="0" y="1016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52"/>
          <p:cNvSpPr/>
          <p:nvPr/>
        </p:nvSpPr>
        <p:spPr>
          <a:xfrm>
            <a:off x="9751568" y="3999229"/>
            <a:ext cx="60960" cy="10160"/>
          </a:xfrm>
          <a:custGeom>
            <a:avLst/>
            <a:gdLst/>
            <a:ahLst/>
            <a:cxnLst/>
            <a:rect l="l" t="t" r="r" b="b"/>
            <a:pathLst>
              <a:path w="60959" h="10160">
                <a:moveTo>
                  <a:pt x="0" y="10160"/>
                </a:moveTo>
                <a:lnTo>
                  <a:pt x="60832" y="10160"/>
                </a:lnTo>
                <a:lnTo>
                  <a:pt x="60832" y="0"/>
                </a:lnTo>
                <a:lnTo>
                  <a:pt x="0" y="0"/>
                </a:lnTo>
                <a:lnTo>
                  <a:pt x="0" y="10160"/>
                </a:lnTo>
                <a:close/>
              </a:path>
            </a:pathLst>
          </a:custGeom>
          <a:solidFill>
            <a:srgbClr val="4040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53"/>
          <p:cNvSpPr txBox="1"/>
          <p:nvPr/>
        </p:nvSpPr>
        <p:spPr>
          <a:xfrm>
            <a:off x="1676780" y="1873123"/>
            <a:ext cx="17208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50" dirty="0">
                <a:latin typeface="Times New Roman"/>
                <a:cs typeface="Times New Roman"/>
              </a:rPr>
              <a:t>A</a:t>
            </a:r>
            <a:endParaRPr sz="1600">
              <a:latin typeface="Times New Roman"/>
              <a:cs typeface="Times New Roman"/>
            </a:endParaRPr>
          </a:p>
        </p:txBody>
      </p:sp>
      <p:sp>
        <p:nvSpPr>
          <p:cNvPr id="59" name="object 59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dirty="0"/>
              <a:t>23</a:t>
            </a:r>
            <a:r>
              <a:rPr spc="-5" dirty="0"/>
              <a:t> </a:t>
            </a:r>
            <a:r>
              <a:rPr dirty="0"/>
              <a:t>May</a:t>
            </a:r>
            <a:r>
              <a:rPr spc="-5" dirty="0"/>
              <a:t> </a:t>
            </a:r>
            <a:r>
              <a:rPr spc="-20" dirty="0"/>
              <a:t>2024</a:t>
            </a:r>
          </a:p>
        </p:txBody>
      </p:sp>
      <p:sp>
        <p:nvSpPr>
          <p:cNvPr id="60" name="object 60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pc="-10" dirty="0"/>
              <a:t>MATHEMATICAL</a:t>
            </a:r>
            <a:r>
              <a:rPr spc="10" dirty="0"/>
              <a:t> </a:t>
            </a:r>
            <a:r>
              <a:rPr dirty="0"/>
              <a:t>TOOLS</a:t>
            </a:r>
            <a:r>
              <a:rPr spc="-15" dirty="0"/>
              <a:t> </a:t>
            </a:r>
            <a:r>
              <a:rPr dirty="0"/>
              <a:t>USED</a:t>
            </a:r>
            <a:r>
              <a:rPr spc="-30" dirty="0"/>
              <a:t> </a:t>
            </a:r>
            <a:r>
              <a:rPr dirty="0"/>
              <a:t>IN</a:t>
            </a:r>
            <a:r>
              <a:rPr spc="-30" dirty="0"/>
              <a:t> </a:t>
            </a:r>
            <a:r>
              <a:rPr dirty="0"/>
              <a:t>DIGITAL</a:t>
            </a:r>
            <a:r>
              <a:rPr spc="5" dirty="0"/>
              <a:t> </a:t>
            </a:r>
            <a:r>
              <a:rPr dirty="0"/>
              <a:t>IMAGE</a:t>
            </a:r>
            <a:r>
              <a:rPr spc="-5" dirty="0"/>
              <a:t> </a:t>
            </a:r>
            <a:r>
              <a:rPr spc="-10" dirty="0"/>
              <a:t>PROCESSING</a:t>
            </a:r>
          </a:p>
        </p:txBody>
      </p:sp>
      <p:sp>
        <p:nvSpPr>
          <p:cNvPr id="61" name="object 6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55"/>
              </a:lnSpc>
            </a:pPr>
            <a:fld id="{81D60167-4931-47E6-BA6A-407CBD079E47}" type="slidenum">
              <a:rPr spc="-25" dirty="0"/>
              <a:t>13</a:t>
            </a:fld>
            <a:endParaRPr spc="-25" dirty="0"/>
          </a:p>
        </p:txBody>
      </p:sp>
      <p:sp>
        <p:nvSpPr>
          <p:cNvPr id="54" name="object 54"/>
          <p:cNvSpPr txBox="1"/>
          <p:nvPr/>
        </p:nvSpPr>
        <p:spPr>
          <a:xfrm>
            <a:off x="3276727" y="1910587"/>
            <a:ext cx="1898014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487805" algn="l"/>
              </a:tabLst>
            </a:pPr>
            <a:r>
              <a:rPr sz="2400" b="1" spc="-75" baseline="1736" dirty="0">
                <a:latin typeface="Times New Roman"/>
                <a:cs typeface="Times New Roman"/>
              </a:rPr>
              <a:t>B</a:t>
            </a:r>
            <a:r>
              <a:rPr sz="2400" b="1" baseline="1736" dirty="0">
                <a:latin typeface="Times New Roman"/>
                <a:cs typeface="Times New Roman"/>
              </a:rPr>
              <a:t>	</a:t>
            </a:r>
            <a:r>
              <a:rPr sz="1600" b="1" spc="-25" dirty="0">
                <a:latin typeface="Times New Roman"/>
                <a:cs typeface="Times New Roman"/>
              </a:rPr>
              <a:t>A+B</a:t>
            </a:r>
            <a:endParaRPr sz="1600">
              <a:latin typeface="Times New Roman"/>
              <a:cs typeface="Times New Roman"/>
            </a:endParaRPr>
          </a:p>
        </p:txBody>
      </p:sp>
      <p:sp>
        <p:nvSpPr>
          <p:cNvPr id="55" name="object 55"/>
          <p:cNvSpPr txBox="1"/>
          <p:nvPr/>
        </p:nvSpPr>
        <p:spPr>
          <a:xfrm>
            <a:off x="6668261" y="1873123"/>
            <a:ext cx="17208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50" dirty="0">
                <a:latin typeface="Times New Roman"/>
                <a:cs typeface="Times New Roman"/>
              </a:rPr>
              <a:t>A</a:t>
            </a:r>
            <a:endParaRPr sz="1600">
              <a:latin typeface="Times New Roman"/>
              <a:cs typeface="Times New Roman"/>
            </a:endParaRPr>
          </a:p>
        </p:txBody>
      </p:sp>
      <p:sp>
        <p:nvSpPr>
          <p:cNvPr id="56" name="object 56"/>
          <p:cNvSpPr txBox="1"/>
          <p:nvPr/>
        </p:nvSpPr>
        <p:spPr>
          <a:xfrm>
            <a:off x="8267827" y="1903222"/>
            <a:ext cx="16065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50" dirty="0">
                <a:latin typeface="Times New Roman"/>
                <a:cs typeface="Times New Roman"/>
              </a:rPr>
              <a:t>B</a:t>
            </a:r>
            <a:endParaRPr sz="1600">
              <a:latin typeface="Times New Roman"/>
              <a:cs typeface="Times New Roman"/>
            </a:endParaRPr>
          </a:p>
        </p:txBody>
      </p:sp>
      <p:sp>
        <p:nvSpPr>
          <p:cNvPr id="57" name="object 57"/>
          <p:cNvSpPr txBox="1"/>
          <p:nvPr/>
        </p:nvSpPr>
        <p:spPr>
          <a:xfrm>
            <a:off x="9804272" y="1910587"/>
            <a:ext cx="40894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5" dirty="0">
                <a:latin typeface="Times New Roman"/>
                <a:cs typeface="Times New Roman"/>
              </a:rPr>
              <a:t>A*B</a:t>
            </a:r>
            <a:endParaRPr sz="1600">
              <a:latin typeface="Times New Roman"/>
              <a:cs typeface="Times New Roman"/>
            </a:endParaRPr>
          </a:p>
        </p:txBody>
      </p:sp>
      <p:sp>
        <p:nvSpPr>
          <p:cNvPr id="58" name="object 58"/>
          <p:cNvSpPr txBox="1"/>
          <p:nvPr/>
        </p:nvSpPr>
        <p:spPr>
          <a:xfrm>
            <a:off x="3695446" y="5440476"/>
            <a:ext cx="445706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Times New Roman"/>
                <a:cs typeface="Times New Roman"/>
              </a:rPr>
              <a:t>Here,</a:t>
            </a:r>
            <a:r>
              <a:rPr sz="1800" spc="-2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all</a:t>
            </a:r>
            <a:r>
              <a:rPr sz="1800" spc="-3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the</a:t>
            </a:r>
            <a:r>
              <a:rPr sz="1800" spc="-2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considered</a:t>
            </a:r>
            <a:r>
              <a:rPr sz="1800" spc="-1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images</a:t>
            </a:r>
            <a:r>
              <a:rPr sz="1800" spc="-2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are</a:t>
            </a:r>
            <a:r>
              <a:rPr sz="1800" spc="-2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of</a:t>
            </a:r>
            <a:r>
              <a:rPr sz="1800" spc="-1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gray</a:t>
            </a:r>
            <a:r>
              <a:rPr sz="1800" spc="-10" dirty="0">
                <a:latin typeface="Times New Roman"/>
                <a:cs typeface="Times New Roman"/>
              </a:rPr>
              <a:t> level </a:t>
            </a:r>
            <a:r>
              <a:rPr sz="1800" dirty="0">
                <a:latin typeface="Times New Roman"/>
                <a:cs typeface="Times New Roman"/>
              </a:rPr>
              <a:t>and</a:t>
            </a:r>
            <a:r>
              <a:rPr sz="1800" spc="-1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their</a:t>
            </a:r>
            <a:r>
              <a:rPr sz="1800" spc="-1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intensity</a:t>
            </a:r>
            <a:r>
              <a:rPr sz="1800" spc="-3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value</a:t>
            </a:r>
            <a:r>
              <a:rPr sz="1800" spc="-3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ranges</a:t>
            </a:r>
            <a:r>
              <a:rPr sz="1800" spc="-1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from</a:t>
            </a:r>
            <a:r>
              <a:rPr sz="1800" spc="-15" dirty="0">
                <a:latin typeface="Times New Roman"/>
                <a:cs typeface="Times New Roman"/>
              </a:rPr>
              <a:t> </a:t>
            </a:r>
            <a:r>
              <a:rPr sz="1800" spc="-10" dirty="0">
                <a:latin typeface="Times New Roman"/>
                <a:cs typeface="Times New Roman"/>
              </a:rPr>
              <a:t>0…….255</a:t>
            </a:r>
            <a:endParaRPr sz="18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04289" y="1884273"/>
            <a:ext cx="9775825" cy="3968750"/>
          </a:xfrm>
          <a:prstGeom prst="rect">
            <a:avLst/>
          </a:prstGeom>
        </p:spPr>
        <p:txBody>
          <a:bodyPr vert="horz" wrap="square" lIns="0" tIns="165100" rIns="0" bIns="0" rtlCol="0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1300"/>
              </a:spcBef>
              <a:buFont typeface="Wingdings"/>
              <a:buChar char=""/>
              <a:tabLst>
                <a:tab pos="354965" algn="l"/>
              </a:tabLst>
            </a:pPr>
            <a:r>
              <a:rPr sz="2000" b="1" dirty="0">
                <a:latin typeface="Times New Roman"/>
                <a:cs typeface="Times New Roman"/>
              </a:rPr>
              <a:t>Example:</a:t>
            </a:r>
            <a:r>
              <a:rPr sz="2000" b="1" spc="-3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Addition</a:t>
            </a:r>
            <a:r>
              <a:rPr sz="2000" spc="-3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(averaging)</a:t>
            </a:r>
            <a:r>
              <a:rPr sz="2000" spc="-4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of</a:t>
            </a:r>
            <a:r>
              <a:rPr sz="2000" spc="-2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noisy</a:t>
            </a:r>
            <a:r>
              <a:rPr sz="2000" spc="-3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images for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noise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reduction.</a:t>
            </a:r>
            <a:endParaRPr sz="2000" dirty="0">
              <a:latin typeface="Times New Roman"/>
              <a:cs typeface="Times New Roman"/>
            </a:endParaRPr>
          </a:p>
          <a:p>
            <a:pPr marL="354965" indent="-342265">
              <a:lnSpc>
                <a:spcPct val="100000"/>
              </a:lnSpc>
              <a:spcBef>
                <a:spcPts val="1205"/>
              </a:spcBef>
              <a:buFont typeface="Wingdings"/>
              <a:buChar char=""/>
              <a:tabLst>
                <a:tab pos="354965" algn="l"/>
              </a:tabLst>
            </a:pPr>
            <a:r>
              <a:rPr sz="2000" dirty="0">
                <a:latin typeface="Times New Roman"/>
                <a:cs typeface="Times New Roman"/>
              </a:rPr>
              <a:t>Used</a:t>
            </a:r>
            <a:r>
              <a:rPr sz="2000" spc="-1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in</a:t>
            </a:r>
            <a:r>
              <a:rPr sz="2000" spc="-10" dirty="0">
                <a:latin typeface="Times New Roman"/>
                <a:cs typeface="Times New Roman"/>
              </a:rPr>
              <a:t> </a:t>
            </a:r>
            <a:r>
              <a:rPr sz="2000" b="1" dirty="0">
                <a:latin typeface="Times New Roman"/>
                <a:cs typeface="Times New Roman"/>
              </a:rPr>
              <a:t>image</a:t>
            </a:r>
            <a:r>
              <a:rPr sz="2000" b="1" spc="-20" dirty="0">
                <a:latin typeface="Times New Roman"/>
                <a:cs typeface="Times New Roman"/>
              </a:rPr>
              <a:t> </a:t>
            </a:r>
            <a:r>
              <a:rPr sz="2000" b="1" spc="-10" dirty="0">
                <a:latin typeface="Times New Roman"/>
                <a:cs typeface="Times New Roman"/>
              </a:rPr>
              <a:t>enhancement.</a:t>
            </a:r>
            <a:endParaRPr sz="2000" dirty="0">
              <a:latin typeface="Times New Roman"/>
              <a:cs typeface="Times New Roman"/>
            </a:endParaRPr>
          </a:p>
          <a:p>
            <a:pPr marL="354965" indent="-342265">
              <a:lnSpc>
                <a:spcPct val="100000"/>
              </a:lnSpc>
              <a:spcBef>
                <a:spcPts val="1200"/>
              </a:spcBef>
              <a:buFont typeface="Wingdings"/>
              <a:buChar char=""/>
              <a:tabLst>
                <a:tab pos="354965" algn="l"/>
              </a:tabLst>
            </a:pPr>
            <a:r>
              <a:rPr sz="2000" b="1" dirty="0">
                <a:latin typeface="Times New Roman"/>
                <a:cs typeface="Times New Roman"/>
              </a:rPr>
              <a:t>Image</a:t>
            </a:r>
            <a:r>
              <a:rPr sz="2000" b="1" spc="-40" dirty="0">
                <a:latin typeface="Times New Roman"/>
                <a:cs typeface="Times New Roman"/>
              </a:rPr>
              <a:t> </a:t>
            </a:r>
            <a:r>
              <a:rPr sz="2000" b="1" dirty="0">
                <a:latin typeface="Times New Roman"/>
                <a:cs typeface="Times New Roman"/>
              </a:rPr>
              <a:t>averaging</a:t>
            </a:r>
            <a:r>
              <a:rPr sz="2000" b="1" spc="-40" dirty="0">
                <a:latin typeface="Times New Roman"/>
                <a:cs typeface="Times New Roman"/>
              </a:rPr>
              <a:t> </a:t>
            </a:r>
            <a:r>
              <a:rPr sz="2000" b="1" dirty="0">
                <a:latin typeface="Times New Roman"/>
                <a:cs typeface="Times New Roman"/>
              </a:rPr>
              <a:t>is</a:t>
            </a:r>
            <a:r>
              <a:rPr sz="2000" b="1" spc="-10" dirty="0">
                <a:latin typeface="Times New Roman"/>
                <a:cs typeface="Times New Roman"/>
              </a:rPr>
              <a:t> </a:t>
            </a:r>
            <a:r>
              <a:rPr sz="2000" b="1" dirty="0">
                <a:latin typeface="Times New Roman"/>
                <a:cs typeface="Times New Roman"/>
              </a:rPr>
              <a:t>used</a:t>
            </a:r>
            <a:r>
              <a:rPr sz="2000" b="1" spc="-10" dirty="0">
                <a:latin typeface="Times New Roman"/>
                <a:cs typeface="Times New Roman"/>
              </a:rPr>
              <a:t> </a:t>
            </a:r>
            <a:r>
              <a:rPr sz="2000" b="1" dirty="0">
                <a:latin typeface="Times New Roman"/>
                <a:cs typeface="Times New Roman"/>
              </a:rPr>
              <a:t>in</a:t>
            </a:r>
            <a:r>
              <a:rPr sz="2000" b="1" spc="-10" dirty="0">
                <a:latin typeface="Times New Roman"/>
                <a:cs typeface="Times New Roman"/>
              </a:rPr>
              <a:t> </a:t>
            </a:r>
            <a:r>
              <a:rPr sz="2000" b="1" dirty="0">
                <a:latin typeface="Times New Roman"/>
                <a:cs typeface="Times New Roman"/>
              </a:rPr>
              <a:t>the</a:t>
            </a:r>
            <a:r>
              <a:rPr sz="2000" b="1" spc="-10" dirty="0">
                <a:latin typeface="Times New Roman"/>
                <a:cs typeface="Times New Roman"/>
              </a:rPr>
              <a:t> </a:t>
            </a:r>
            <a:r>
              <a:rPr sz="2000" b="1" dirty="0">
                <a:latin typeface="Times New Roman"/>
                <a:cs typeface="Times New Roman"/>
              </a:rPr>
              <a:t>field</a:t>
            </a:r>
            <a:r>
              <a:rPr sz="2000" b="1" spc="-20" dirty="0">
                <a:latin typeface="Times New Roman"/>
                <a:cs typeface="Times New Roman"/>
              </a:rPr>
              <a:t> </a:t>
            </a:r>
            <a:r>
              <a:rPr sz="2000" b="1" dirty="0">
                <a:latin typeface="Times New Roman"/>
                <a:cs typeface="Times New Roman"/>
              </a:rPr>
              <a:t>of</a:t>
            </a:r>
            <a:r>
              <a:rPr sz="2000" b="1" spc="-20" dirty="0">
                <a:latin typeface="Times New Roman"/>
                <a:cs typeface="Times New Roman"/>
              </a:rPr>
              <a:t> </a:t>
            </a:r>
            <a:r>
              <a:rPr sz="2000" b="1" spc="-10" dirty="0">
                <a:latin typeface="Times New Roman"/>
                <a:cs typeface="Times New Roman"/>
              </a:rPr>
              <a:t>astronomy.</a:t>
            </a:r>
            <a:endParaRPr sz="2000" dirty="0">
              <a:latin typeface="Times New Roman"/>
              <a:cs typeface="Times New Roman"/>
            </a:endParaRPr>
          </a:p>
          <a:p>
            <a:pPr marL="354965" marR="5080" indent="-342900">
              <a:lnSpc>
                <a:spcPts val="3600"/>
              </a:lnSpc>
              <a:spcBef>
                <a:spcPts val="320"/>
              </a:spcBef>
              <a:buFont typeface="Wingdings"/>
              <a:buChar char=""/>
              <a:tabLst>
                <a:tab pos="354965" algn="l"/>
              </a:tabLst>
            </a:pPr>
            <a:r>
              <a:rPr sz="2000" dirty="0">
                <a:latin typeface="Times New Roman"/>
                <a:cs typeface="Times New Roman"/>
              </a:rPr>
              <a:t>Let</a:t>
            </a:r>
            <a:r>
              <a:rPr sz="2000" spc="11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g(x,y)</a:t>
            </a:r>
            <a:r>
              <a:rPr sz="2000" spc="13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denote</a:t>
            </a:r>
            <a:r>
              <a:rPr sz="2000" spc="12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a</a:t>
            </a:r>
            <a:r>
              <a:rPr sz="2000" spc="12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corrupted</a:t>
            </a:r>
            <a:r>
              <a:rPr sz="2000" spc="114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image</a:t>
            </a:r>
            <a:r>
              <a:rPr sz="2000" spc="12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formed</a:t>
            </a:r>
            <a:r>
              <a:rPr sz="2000" spc="13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by</a:t>
            </a:r>
            <a:r>
              <a:rPr sz="2000" spc="12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the</a:t>
            </a:r>
            <a:r>
              <a:rPr sz="2000" spc="12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addition</a:t>
            </a:r>
            <a:r>
              <a:rPr sz="2000" spc="12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of</a:t>
            </a:r>
            <a:r>
              <a:rPr sz="2000" spc="114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noise,</a:t>
            </a:r>
            <a:r>
              <a:rPr sz="2000" spc="13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η(x,</a:t>
            </a:r>
            <a:r>
              <a:rPr sz="2000" spc="12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y)</a:t>
            </a:r>
            <a:r>
              <a:rPr sz="2000" spc="12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to</a:t>
            </a:r>
            <a:r>
              <a:rPr sz="2000" spc="13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a</a:t>
            </a:r>
            <a:r>
              <a:rPr sz="2000" spc="110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noiseless </a:t>
            </a:r>
            <a:r>
              <a:rPr sz="2000" dirty="0">
                <a:latin typeface="Times New Roman"/>
                <a:cs typeface="Times New Roman"/>
              </a:rPr>
              <a:t>image f(x,y);</a:t>
            </a:r>
            <a:r>
              <a:rPr sz="2000" spc="-6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that</a:t>
            </a:r>
            <a:r>
              <a:rPr sz="2000" spc="-20" dirty="0">
                <a:latin typeface="Times New Roman"/>
                <a:cs typeface="Times New Roman"/>
              </a:rPr>
              <a:t> </a:t>
            </a:r>
            <a:r>
              <a:rPr sz="2000" spc="-25" dirty="0">
                <a:latin typeface="Times New Roman"/>
                <a:cs typeface="Times New Roman"/>
              </a:rPr>
              <a:t>is,</a:t>
            </a:r>
            <a:endParaRPr sz="2000" dirty="0">
              <a:latin typeface="Times New Roman"/>
              <a:cs typeface="Times New Roman"/>
            </a:endParaRPr>
          </a:p>
          <a:p>
            <a:pPr marR="94615" algn="ctr">
              <a:lnSpc>
                <a:spcPct val="100000"/>
              </a:lnSpc>
              <a:spcBef>
                <a:spcPts val="825"/>
              </a:spcBef>
            </a:pPr>
            <a:r>
              <a:rPr sz="2150" b="1" i="1" dirty="0">
                <a:latin typeface="Times New Roman"/>
                <a:cs typeface="Times New Roman"/>
              </a:rPr>
              <a:t>g</a:t>
            </a:r>
            <a:r>
              <a:rPr sz="2150" i="1" dirty="0">
                <a:latin typeface="Times New Roman"/>
                <a:cs typeface="Times New Roman"/>
              </a:rPr>
              <a:t>(</a:t>
            </a:r>
            <a:r>
              <a:rPr sz="2150" i="1" spc="-5" dirty="0">
                <a:latin typeface="Times New Roman"/>
                <a:cs typeface="Times New Roman"/>
              </a:rPr>
              <a:t> </a:t>
            </a:r>
            <a:r>
              <a:rPr sz="2150" b="1" i="1" spc="90" dirty="0">
                <a:latin typeface="Times New Roman"/>
                <a:cs typeface="Times New Roman"/>
              </a:rPr>
              <a:t>x</a:t>
            </a:r>
            <a:r>
              <a:rPr sz="2150" i="1" spc="90" dirty="0">
                <a:latin typeface="Times New Roman"/>
                <a:cs typeface="Times New Roman"/>
              </a:rPr>
              <a:t>,</a:t>
            </a:r>
            <a:r>
              <a:rPr sz="2150" i="1" spc="-225" dirty="0">
                <a:latin typeface="Times New Roman"/>
                <a:cs typeface="Times New Roman"/>
              </a:rPr>
              <a:t> </a:t>
            </a:r>
            <a:r>
              <a:rPr sz="2150" b="1" i="1" dirty="0">
                <a:latin typeface="Times New Roman"/>
                <a:cs typeface="Times New Roman"/>
              </a:rPr>
              <a:t>y</a:t>
            </a:r>
            <a:r>
              <a:rPr sz="2150" b="1" i="1" spc="-210" dirty="0">
                <a:latin typeface="Times New Roman"/>
                <a:cs typeface="Times New Roman"/>
              </a:rPr>
              <a:t> </a:t>
            </a:r>
            <a:r>
              <a:rPr sz="2150" i="1" dirty="0">
                <a:latin typeface="Times New Roman"/>
                <a:cs typeface="Times New Roman"/>
              </a:rPr>
              <a:t>)</a:t>
            </a:r>
            <a:r>
              <a:rPr sz="2150" i="1" spc="-90" dirty="0">
                <a:latin typeface="Times New Roman"/>
                <a:cs typeface="Times New Roman"/>
              </a:rPr>
              <a:t> </a:t>
            </a:r>
            <a:r>
              <a:rPr sz="2150" dirty="0">
                <a:latin typeface="Symbol"/>
                <a:cs typeface="Symbol"/>
              </a:rPr>
              <a:t></a:t>
            </a:r>
            <a:r>
              <a:rPr sz="2150" spc="434" dirty="0">
                <a:latin typeface="Times New Roman"/>
                <a:cs typeface="Times New Roman"/>
              </a:rPr>
              <a:t> </a:t>
            </a:r>
            <a:r>
              <a:rPr sz="2150" b="1" i="1" dirty="0">
                <a:latin typeface="Times New Roman"/>
                <a:cs typeface="Times New Roman"/>
              </a:rPr>
              <a:t>f</a:t>
            </a:r>
            <a:r>
              <a:rPr sz="2150" b="1" i="1" spc="-204" dirty="0">
                <a:latin typeface="Times New Roman"/>
                <a:cs typeface="Times New Roman"/>
              </a:rPr>
              <a:t> </a:t>
            </a:r>
            <a:r>
              <a:rPr sz="2150" i="1" dirty="0">
                <a:latin typeface="Times New Roman"/>
                <a:cs typeface="Times New Roman"/>
              </a:rPr>
              <a:t>( </a:t>
            </a:r>
            <a:r>
              <a:rPr sz="2150" b="1" i="1" spc="85" dirty="0">
                <a:latin typeface="Times New Roman"/>
                <a:cs typeface="Times New Roman"/>
              </a:rPr>
              <a:t>x</a:t>
            </a:r>
            <a:r>
              <a:rPr sz="2150" i="1" spc="85" dirty="0">
                <a:latin typeface="Times New Roman"/>
                <a:cs typeface="Times New Roman"/>
              </a:rPr>
              <a:t>,</a:t>
            </a:r>
            <a:r>
              <a:rPr sz="2150" i="1" spc="-225" dirty="0">
                <a:latin typeface="Times New Roman"/>
                <a:cs typeface="Times New Roman"/>
              </a:rPr>
              <a:t> </a:t>
            </a:r>
            <a:r>
              <a:rPr sz="2150" b="1" i="1" dirty="0">
                <a:latin typeface="Times New Roman"/>
                <a:cs typeface="Times New Roman"/>
              </a:rPr>
              <a:t>y</a:t>
            </a:r>
            <a:r>
              <a:rPr sz="2150" b="1" i="1" spc="-210" dirty="0">
                <a:latin typeface="Times New Roman"/>
                <a:cs typeface="Times New Roman"/>
              </a:rPr>
              <a:t> </a:t>
            </a:r>
            <a:r>
              <a:rPr sz="2150" i="1" dirty="0">
                <a:latin typeface="Times New Roman"/>
                <a:cs typeface="Times New Roman"/>
              </a:rPr>
              <a:t>)</a:t>
            </a:r>
            <a:r>
              <a:rPr sz="2150" i="1" spc="-210" dirty="0">
                <a:latin typeface="Times New Roman"/>
                <a:cs typeface="Times New Roman"/>
              </a:rPr>
              <a:t> </a:t>
            </a:r>
            <a:r>
              <a:rPr sz="2150" spc="60" dirty="0">
                <a:latin typeface="Symbol"/>
                <a:cs typeface="Symbol"/>
              </a:rPr>
              <a:t></a:t>
            </a:r>
            <a:r>
              <a:rPr sz="2300" spc="60" dirty="0">
                <a:latin typeface="Symbol"/>
                <a:cs typeface="Symbol"/>
              </a:rPr>
              <a:t></a:t>
            </a:r>
            <a:r>
              <a:rPr sz="2150" i="1" spc="60" dirty="0">
                <a:latin typeface="Times New Roman"/>
                <a:cs typeface="Times New Roman"/>
              </a:rPr>
              <a:t>(</a:t>
            </a:r>
            <a:r>
              <a:rPr sz="2150" i="1" spc="-5" dirty="0">
                <a:latin typeface="Times New Roman"/>
                <a:cs typeface="Times New Roman"/>
              </a:rPr>
              <a:t> </a:t>
            </a:r>
            <a:r>
              <a:rPr sz="2150" b="1" i="1" spc="90" dirty="0">
                <a:latin typeface="Times New Roman"/>
                <a:cs typeface="Times New Roman"/>
              </a:rPr>
              <a:t>x</a:t>
            </a:r>
            <a:r>
              <a:rPr sz="2150" i="1" spc="90" dirty="0">
                <a:latin typeface="Times New Roman"/>
                <a:cs typeface="Times New Roman"/>
              </a:rPr>
              <a:t>,</a:t>
            </a:r>
            <a:r>
              <a:rPr sz="2150" i="1" spc="-225" dirty="0">
                <a:latin typeface="Times New Roman"/>
                <a:cs typeface="Times New Roman"/>
              </a:rPr>
              <a:t> </a:t>
            </a:r>
            <a:r>
              <a:rPr sz="2150" b="1" i="1" dirty="0">
                <a:latin typeface="Times New Roman"/>
                <a:cs typeface="Times New Roman"/>
              </a:rPr>
              <a:t>y</a:t>
            </a:r>
            <a:r>
              <a:rPr sz="2150" b="1" i="1" spc="-210" dirty="0">
                <a:latin typeface="Times New Roman"/>
                <a:cs typeface="Times New Roman"/>
              </a:rPr>
              <a:t> </a:t>
            </a:r>
            <a:r>
              <a:rPr sz="2150" i="1" spc="-50" dirty="0">
                <a:latin typeface="Times New Roman"/>
                <a:cs typeface="Times New Roman"/>
              </a:rPr>
              <a:t>)</a:t>
            </a:r>
            <a:endParaRPr sz="215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85"/>
              </a:spcBef>
            </a:pPr>
            <a:endParaRPr sz="2150" dirty="0">
              <a:latin typeface="Times New Roman"/>
              <a:cs typeface="Times New Roman"/>
            </a:endParaRPr>
          </a:p>
          <a:p>
            <a:pPr marL="326390" marR="163830" indent="-285750">
              <a:lnSpc>
                <a:spcPct val="150000"/>
              </a:lnSpc>
              <a:buFont typeface="Wingdings"/>
              <a:buChar char=""/>
              <a:tabLst>
                <a:tab pos="327660" algn="l"/>
              </a:tabLst>
            </a:pPr>
            <a:r>
              <a:rPr sz="1800" dirty="0">
                <a:latin typeface="Times New Roman"/>
                <a:cs typeface="Times New Roman"/>
              </a:rPr>
              <a:t>The</a:t>
            </a:r>
            <a:r>
              <a:rPr sz="1800" spc="32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objective</a:t>
            </a:r>
            <a:r>
              <a:rPr sz="1800" spc="31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of</a:t>
            </a:r>
            <a:r>
              <a:rPr sz="1800" spc="31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the</a:t>
            </a:r>
            <a:r>
              <a:rPr sz="1800" spc="31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following</a:t>
            </a:r>
            <a:r>
              <a:rPr sz="1800" spc="30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procedure</a:t>
            </a:r>
            <a:r>
              <a:rPr sz="1800" spc="31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is</a:t>
            </a:r>
            <a:r>
              <a:rPr sz="1800" spc="29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to</a:t>
            </a:r>
            <a:r>
              <a:rPr sz="1800" spc="30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reduce</a:t>
            </a:r>
            <a:r>
              <a:rPr sz="1800" spc="31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the</a:t>
            </a:r>
            <a:r>
              <a:rPr sz="1800" spc="30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noise</a:t>
            </a:r>
            <a:r>
              <a:rPr sz="1800" spc="31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content</a:t>
            </a:r>
            <a:r>
              <a:rPr sz="1800" spc="30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of</a:t>
            </a:r>
            <a:r>
              <a:rPr sz="1800" spc="30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the</a:t>
            </a:r>
            <a:r>
              <a:rPr sz="1800" spc="31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output</a:t>
            </a:r>
            <a:r>
              <a:rPr sz="1800" spc="30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image</a:t>
            </a:r>
            <a:r>
              <a:rPr sz="1800" spc="295" dirty="0">
                <a:latin typeface="Times New Roman"/>
                <a:cs typeface="Times New Roman"/>
              </a:rPr>
              <a:t> </a:t>
            </a:r>
            <a:r>
              <a:rPr sz="1800" spc="-25" dirty="0">
                <a:latin typeface="Times New Roman"/>
                <a:cs typeface="Times New Roman"/>
              </a:rPr>
              <a:t>by 	</a:t>
            </a:r>
            <a:r>
              <a:rPr sz="1800" dirty="0">
                <a:latin typeface="Times New Roman"/>
                <a:cs typeface="Times New Roman"/>
              </a:rPr>
              <a:t>adding</a:t>
            </a:r>
            <a:r>
              <a:rPr sz="1800" spc="27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a</a:t>
            </a:r>
            <a:r>
              <a:rPr sz="1800" spc="28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set</a:t>
            </a:r>
            <a:r>
              <a:rPr sz="1800" spc="28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of</a:t>
            </a:r>
            <a:r>
              <a:rPr sz="1800" spc="25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noisy</a:t>
            </a:r>
            <a:r>
              <a:rPr sz="1800" spc="30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input</a:t>
            </a:r>
            <a:r>
              <a:rPr sz="1800" spc="28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images,</a:t>
            </a:r>
            <a:r>
              <a:rPr sz="1800" spc="28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This</a:t>
            </a:r>
            <a:r>
              <a:rPr sz="1800" spc="27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is</a:t>
            </a:r>
            <a:r>
              <a:rPr sz="1800" spc="27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a</a:t>
            </a:r>
            <a:r>
              <a:rPr sz="1800" spc="26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technique</a:t>
            </a:r>
            <a:r>
              <a:rPr sz="1800" spc="29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used</a:t>
            </a:r>
            <a:r>
              <a:rPr sz="1800" spc="27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frequently</a:t>
            </a:r>
            <a:r>
              <a:rPr sz="1800" spc="29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for</a:t>
            </a:r>
            <a:r>
              <a:rPr sz="1800" spc="26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image</a:t>
            </a:r>
            <a:r>
              <a:rPr sz="1800" spc="285" dirty="0">
                <a:latin typeface="Times New Roman"/>
                <a:cs typeface="Times New Roman"/>
              </a:rPr>
              <a:t> </a:t>
            </a:r>
            <a:r>
              <a:rPr sz="1800" spc="-10" dirty="0">
                <a:latin typeface="Times New Roman"/>
                <a:cs typeface="Times New Roman"/>
              </a:rPr>
              <a:t>enhancement.</a:t>
            </a:r>
            <a:endParaRPr sz="1800" dirty="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dirty="0"/>
              <a:t>23</a:t>
            </a:r>
            <a:r>
              <a:rPr spc="-5" dirty="0"/>
              <a:t> </a:t>
            </a:r>
            <a:r>
              <a:rPr dirty="0"/>
              <a:t>May</a:t>
            </a:r>
            <a:r>
              <a:rPr spc="-5" dirty="0"/>
              <a:t> </a:t>
            </a:r>
            <a:r>
              <a:rPr spc="-20" dirty="0"/>
              <a:t>2024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pc="-10" dirty="0"/>
              <a:t>MATHEMATICAL</a:t>
            </a:r>
            <a:r>
              <a:rPr spc="10" dirty="0"/>
              <a:t> </a:t>
            </a:r>
            <a:r>
              <a:rPr dirty="0"/>
              <a:t>TOOLS</a:t>
            </a:r>
            <a:r>
              <a:rPr spc="-15" dirty="0"/>
              <a:t> </a:t>
            </a:r>
            <a:r>
              <a:rPr dirty="0"/>
              <a:t>USED</a:t>
            </a:r>
            <a:r>
              <a:rPr spc="-30" dirty="0"/>
              <a:t> </a:t>
            </a:r>
            <a:r>
              <a:rPr dirty="0"/>
              <a:t>IN</a:t>
            </a:r>
            <a:r>
              <a:rPr spc="-30" dirty="0"/>
              <a:t> </a:t>
            </a:r>
            <a:r>
              <a:rPr dirty="0"/>
              <a:t>DIGITAL</a:t>
            </a:r>
            <a:r>
              <a:rPr spc="5" dirty="0"/>
              <a:t> </a:t>
            </a:r>
            <a:r>
              <a:rPr dirty="0"/>
              <a:t>IMAGE</a:t>
            </a:r>
            <a:r>
              <a:rPr spc="-5" dirty="0"/>
              <a:t> </a:t>
            </a:r>
            <a:r>
              <a:rPr spc="-10" dirty="0"/>
              <a:t>PROCESSING</a:t>
            </a:r>
          </a:p>
        </p:txBody>
      </p:sp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55"/>
              </a:lnSpc>
            </a:pPr>
            <a:fld id="{81D60167-4931-47E6-BA6A-407CBD079E47}" type="slidenum">
              <a:rPr spc="-25" dirty="0"/>
              <a:t>14</a:t>
            </a:fld>
            <a:endParaRPr spc="-25"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40" dirty="0"/>
              <a:t>Arithmetic</a:t>
            </a:r>
            <a:r>
              <a:rPr spc="-235" dirty="0"/>
              <a:t> </a:t>
            </a:r>
            <a:r>
              <a:rPr spc="-45" dirty="0"/>
              <a:t>Operation</a:t>
            </a:r>
            <a:r>
              <a:rPr spc="-229" dirty="0"/>
              <a:t> </a:t>
            </a:r>
            <a:r>
              <a:rPr spc="-20" dirty="0"/>
              <a:t>(Addition)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40" dirty="0"/>
              <a:t>Arithmetic</a:t>
            </a:r>
            <a:r>
              <a:rPr spc="-235" dirty="0"/>
              <a:t> </a:t>
            </a:r>
            <a:r>
              <a:rPr spc="-45" dirty="0"/>
              <a:t>Operation</a:t>
            </a:r>
            <a:r>
              <a:rPr spc="-229" dirty="0"/>
              <a:t> </a:t>
            </a:r>
            <a:r>
              <a:rPr spc="-20" dirty="0"/>
              <a:t>(Addition)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853183" y="1845564"/>
            <a:ext cx="8485632" cy="3810000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1739264" y="5794349"/>
            <a:ext cx="887031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Times New Roman"/>
                <a:cs typeface="Times New Roman"/>
              </a:rPr>
              <a:t>Figure</a:t>
            </a:r>
            <a:r>
              <a:rPr sz="1200" b="1" spc="4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1:</a:t>
            </a:r>
            <a:r>
              <a:rPr sz="1200" b="1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(a)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Sample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noisy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image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Sombrero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Galaxy.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(b)-</a:t>
            </a:r>
            <a:r>
              <a:rPr sz="1200" dirty="0">
                <a:latin typeface="Times New Roman"/>
                <a:cs typeface="Times New Roman"/>
              </a:rPr>
              <a:t>(f)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Result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averaging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10,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50,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100,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500,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1,000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noisy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images,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respectively. </a:t>
            </a:r>
            <a:r>
              <a:rPr sz="1200" dirty="0">
                <a:latin typeface="Times New Roman"/>
                <a:cs typeface="Times New Roman"/>
              </a:rPr>
              <a:t>All</a:t>
            </a:r>
            <a:r>
              <a:rPr sz="1200" spc="17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images</a:t>
            </a:r>
            <a:r>
              <a:rPr sz="1200" spc="175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are</a:t>
            </a:r>
            <a:r>
              <a:rPr sz="1200" spc="17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17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size</a:t>
            </a:r>
            <a:r>
              <a:rPr sz="1200" spc="175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pixels,</a:t>
            </a:r>
            <a:r>
              <a:rPr sz="1200" spc="175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8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all</a:t>
            </a:r>
            <a:r>
              <a:rPr sz="1200" spc="175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were</a:t>
            </a:r>
            <a:r>
              <a:rPr sz="1200" spc="17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scaled</a:t>
            </a:r>
            <a:r>
              <a:rPr sz="1200" spc="17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so</a:t>
            </a:r>
            <a:r>
              <a:rPr sz="1200" spc="175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that</a:t>
            </a:r>
            <a:r>
              <a:rPr sz="1200" spc="175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their</a:t>
            </a:r>
            <a:r>
              <a:rPr sz="1200" spc="17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intensities</a:t>
            </a:r>
            <a:r>
              <a:rPr sz="1200" spc="18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would</a:t>
            </a:r>
            <a:r>
              <a:rPr sz="1200" spc="175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span</a:t>
            </a:r>
            <a:r>
              <a:rPr sz="1200" spc="175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75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full</a:t>
            </a:r>
            <a:r>
              <a:rPr sz="1200" spc="175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[0,</a:t>
            </a:r>
            <a:r>
              <a:rPr sz="1200" spc="175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255]</a:t>
            </a:r>
            <a:r>
              <a:rPr sz="1200" spc="175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intensity</a:t>
            </a:r>
            <a:r>
              <a:rPr sz="1200" spc="160" dirty="0">
                <a:latin typeface="Times New Roman"/>
                <a:cs typeface="Times New Roman"/>
              </a:rPr>
              <a:t>  </a:t>
            </a:r>
            <a:r>
              <a:rPr sz="1200" spc="-10" dirty="0">
                <a:latin typeface="Times New Roman"/>
                <a:cs typeface="Times New Roman"/>
              </a:rPr>
              <a:t>scale.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dirty="0"/>
              <a:t>23</a:t>
            </a:r>
            <a:r>
              <a:rPr spc="-5" dirty="0"/>
              <a:t> </a:t>
            </a:r>
            <a:r>
              <a:rPr dirty="0"/>
              <a:t>May</a:t>
            </a:r>
            <a:r>
              <a:rPr spc="-5" dirty="0"/>
              <a:t> </a:t>
            </a:r>
            <a:r>
              <a:rPr spc="-20" dirty="0"/>
              <a:t>2024</a:t>
            </a:r>
          </a:p>
        </p:txBody>
      </p:sp>
      <p:sp>
        <p:nvSpPr>
          <p:cNvPr id="6" name="object 6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pc="-10" dirty="0"/>
              <a:t>MATHEMATICAL</a:t>
            </a:r>
            <a:r>
              <a:rPr spc="10" dirty="0"/>
              <a:t> </a:t>
            </a:r>
            <a:r>
              <a:rPr dirty="0"/>
              <a:t>TOOLS</a:t>
            </a:r>
            <a:r>
              <a:rPr spc="-15" dirty="0"/>
              <a:t> </a:t>
            </a:r>
            <a:r>
              <a:rPr dirty="0"/>
              <a:t>USED</a:t>
            </a:r>
            <a:r>
              <a:rPr spc="-30" dirty="0"/>
              <a:t> </a:t>
            </a:r>
            <a:r>
              <a:rPr dirty="0"/>
              <a:t>IN</a:t>
            </a:r>
            <a:r>
              <a:rPr spc="-30" dirty="0"/>
              <a:t> </a:t>
            </a:r>
            <a:r>
              <a:rPr dirty="0"/>
              <a:t>DIGITAL</a:t>
            </a:r>
            <a:r>
              <a:rPr spc="5" dirty="0"/>
              <a:t> </a:t>
            </a:r>
            <a:r>
              <a:rPr dirty="0"/>
              <a:t>IMAGE</a:t>
            </a:r>
            <a:r>
              <a:rPr spc="-5" dirty="0"/>
              <a:t> </a:t>
            </a:r>
            <a:r>
              <a:rPr spc="-10" dirty="0"/>
              <a:t>PROCESSING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55"/>
              </a:lnSpc>
            </a:pPr>
            <a:fld id="{81D60167-4931-47E6-BA6A-407CBD079E47}" type="slidenum">
              <a:rPr spc="-25" dirty="0"/>
              <a:t>15</a:t>
            </a:fld>
            <a:endParaRPr spc="-25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257096" y="1714627"/>
            <a:ext cx="9821545" cy="12604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marR="5080" indent="-285750">
              <a:lnSpc>
                <a:spcPct val="150000"/>
              </a:lnSpc>
              <a:spcBef>
                <a:spcPts val="100"/>
              </a:spcBef>
              <a:buFont typeface="Wingdings"/>
              <a:buChar char=""/>
              <a:tabLst>
                <a:tab pos="299085" algn="l"/>
              </a:tabLst>
            </a:pPr>
            <a:r>
              <a:rPr sz="1800" dirty="0">
                <a:latin typeface="Times New Roman"/>
                <a:cs typeface="Times New Roman"/>
              </a:rPr>
              <a:t>A</a:t>
            </a:r>
            <a:r>
              <a:rPr sz="1800" spc="15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frequent</a:t>
            </a:r>
            <a:r>
              <a:rPr sz="1800" spc="26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application</a:t>
            </a:r>
            <a:r>
              <a:rPr sz="1800" spc="254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of</a:t>
            </a:r>
            <a:r>
              <a:rPr sz="1800" spc="250" dirty="0">
                <a:latin typeface="Times New Roman"/>
                <a:cs typeface="Times New Roman"/>
              </a:rPr>
              <a:t> </a:t>
            </a:r>
            <a:r>
              <a:rPr sz="1800" b="1" dirty="0">
                <a:latin typeface="Times New Roman"/>
                <a:cs typeface="Times New Roman"/>
              </a:rPr>
              <a:t>image</a:t>
            </a:r>
            <a:r>
              <a:rPr sz="1800" b="1" spc="254" dirty="0">
                <a:latin typeface="Times New Roman"/>
                <a:cs typeface="Times New Roman"/>
              </a:rPr>
              <a:t> </a:t>
            </a:r>
            <a:r>
              <a:rPr sz="1800" b="1" dirty="0">
                <a:latin typeface="Times New Roman"/>
                <a:cs typeface="Times New Roman"/>
              </a:rPr>
              <a:t>subtraction</a:t>
            </a:r>
            <a:r>
              <a:rPr sz="1800" b="1" spc="254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is</a:t>
            </a:r>
            <a:r>
              <a:rPr sz="1800" spc="24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in</a:t>
            </a:r>
            <a:r>
              <a:rPr sz="1800" spc="25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the</a:t>
            </a:r>
            <a:r>
              <a:rPr sz="1800" spc="26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enhancement</a:t>
            </a:r>
            <a:r>
              <a:rPr sz="1800" spc="26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of</a:t>
            </a:r>
            <a:r>
              <a:rPr sz="1800" spc="25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including</a:t>
            </a:r>
            <a:r>
              <a:rPr sz="1800" spc="26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correcting</a:t>
            </a:r>
            <a:r>
              <a:rPr sz="1800" spc="254" dirty="0">
                <a:latin typeface="Times New Roman"/>
                <a:cs typeface="Times New Roman"/>
              </a:rPr>
              <a:t> </a:t>
            </a:r>
            <a:r>
              <a:rPr sz="1800" spc="-10" dirty="0">
                <a:latin typeface="Times New Roman"/>
                <a:cs typeface="Times New Roman"/>
              </a:rPr>
              <a:t>uneven 	</a:t>
            </a:r>
            <a:r>
              <a:rPr sz="1800" dirty="0">
                <a:latin typeface="Times New Roman"/>
                <a:cs typeface="Times New Roman"/>
              </a:rPr>
              <a:t>illuminance</a:t>
            </a:r>
            <a:r>
              <a:rPr sz="1800" spc="-6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and</a:t>
            </a:r>
            <a:r>
              <a:rPr sz="1800" spc="-4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comparing</a:t>
            </a:r>
            <a:r>
              <a:rPr sz="1800" spc="-4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two</a:t>
            </a:r>
            <a:r>
              <a:rPr sz="1800" spc="-30" dirty="0">
                <a:latin typeface="Times New Roman"/>
                <a:cs typeface="Times New Roman"/>
              </a:rPr>
              <a:t> </a:t>
            </a:r>
            <a:r>
              <a:rPr sz="1800" spc="-10" dirty="0">
                <a:latin typeface="Times New Roman"/>
                <a:cs typeface="Times New Roman"/>
              </a:rPr>
              <a:t>images.</a:t>
            </a:r>
            <a:endParaRPr sz="1800" dirty="0">
              <a:latin typeface="Times New Roman"/>
              <a:cs typeface="Times New Roman"/>
            </a:endParaRPr>
          </a:p>
          <a:p>
            <a:pPr marL="299085" indent="-286385">
              <a:lnSpc>
                <a:spcPct val="100000"/>
              </a:lnSpc>
              <a:spcBef>
                <a:spcPts val="1080"/>
              </a:spcBef>
              <a:buFont typeface="Wingdings"/>
              <a:buChar char=""/>
              <a:tabLst>
                <a:tab pos="299085" algn="l"/>
              </a:tabLst>
            </a:pPr>
            <a:r>
              <a:rPr sz="1800" dirty="0">
                <a:latin typeface="Times New Roman"/>
                <a:cs typeface="Times New Roman"/>
              </a:rPr>
              <a:t>Mask</a:t>
            </a:r>
            <a:r>
              <a:rPr sz="1800" spc="-1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mode</a:t>
            </a:r>
            <a:r>
              <a:rPr sz="1800" spc="-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radiography</a:t>
            </a:r>
            <a:r>
              <a:rPr sz="1800" spc="-3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in</a:t>
            </a:r>
            <a:r>
              <a:rPr sz="1800" spc="-1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medical</a:t>
            </a:r>
            <a:r>
              <a:rPr sz="1800" spc="-10" dirty="0">
                <a:latin typeface="Times New Roman"/>
                <a:cs typeface="Times New Roman"/>
              </a:rPr>
              <a:t> imaging.</a:t>
            </a:r>
            <a:endParaRPr sz="1800" dirty="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dirty="0"/>
              <a:t>23</a:t>
            </a:r>
            <a:r>
              <a:rPr spc="-5" dirty="0"/>
              <a:t> </a:t>
            </a:r>
            <a:r>
              <a:rPr dirty="0"/>
              <a:t>May</a:t>
            </a:r>
            <a:r>
              <a:rPr spc="-5" dirty="0"/>
              <a:t> </a:t>
            </a:r>
            <a:r>
              <a:rPr spc="-20" dirty="0"/>
              <a:t>2024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pc="-10" dirty="0"/>
              <a:t>MATHEMATICAL</a:t>
            </a:r>
            <a:r>
              <a:rPr spc="10" dirty="0"/>
              <a:t> </a:t>
            </a:r>
            <a:r>
              <a:rPr dirty="0"/>
              <a:t>TOOLS</a:t>
            </a:r>
            <a:r>
              <a:rPr spc="-15" dirty="0"/>
              <a:t> </a:t>
            </a:r>
            <a:r>
              <a:rPr dirty="0"/>
              <a:t>USED</a:t>
            </a:r>
            <a:r>
              <a:rPr spc="-30" dirty="0"/>
              <a:t> </a:t>
            </a:r>
            <a:r>
              <a:rPr dirty="0"/>
              <a:t>IN</a:t>
            </a:r>
            <a:r>
              <a:rPr spc="-30" dirty="0"/>
              <a:t> </a:t>
            </a:r>
            <a:r>
              <a:rPr dirty="0"/>
              <a:t>DIGITAL</a:t>
            </a:r>
            <a:r>
              <a:rPr spc="5" dirty="0"/>
              <a:t> </a:t>
            </a:r>
            <a:r>
              <a:rPr dirty="0"/>
              <a:t>IMAGE</a:t>
            </a:r>
            <a:r>
              <a:rPr spc="-5" dirty="0"/>
              <a:t> </a:t>
            </a:r>
            <a:r>
              <a:rPr spc="-10" dirty="0"/>
              <a:t>PROCESSING</a:t>
            </a:r>
          </a:p>
        </p:txBody>
      </p:sp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55"/>
              </a:lnSpc>
            </a:pPr>
            <a:fld id="{81D60167-4931-47E6-BA6A-407CBD079E47}" type="slidenum">
              <a:rPr spc="-25" dirty="0"/>
              <a:t>16</a:t>
            </a:fld>
            <a:endParaRPr spc="-25"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40" dirty="0"/>
              <a:t>Arithmetic</a:t>
            </a:r>
            <a:r>
              <a:rPr spc="-235" dirty="0"/>
              <a:t> </a:t>
            </a:r>
            <a:r>
              <a:rPr spc="-45" dirty="0"/>
              <a:t>Operation</a:t>
            </a:r>
            <a:r>
              <a:rPr spc="-229" dirty="0"/>
              <a:t> </a:t>
            </a:r>
            <a:r>
              <a:rPr spc="-30" dirty="0"/>
              <a:t>(Subtraction)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40" dirty="0"/>
              <a:t>Arithmetic</a:t>
            </a:r>
            <a:r>
              <a:rPr spc="-235" dirty="0"/>
              <a:t> </a:t>
            </a:r>
            <a:r>
              <a:rPr spc="-45" dirty="0"/>
              <a:t>Operation</a:t>
            </a:r>
            <a:r>
              <a:rPr spc="-229" dirty="0"/>
              <a:t> </a:t>
            </a:r>
            <a:r>
              <a:rPr spc="-30" dirty="0"/>
              <a:t>(Subtraction)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dirty="0"/>
              <a:t>23</a:t>
            </a:r>
            <a:r>
              <a:rPr spc="-5" dirty="0"/>
              <a:t> </a:t>
            </a:r>
            <a:r>
              <a:rPr dirty="0"/>
              <a:t>May</a:t>
            </a:r>
            <a:r>
              <a:rPr spc="-5" dirty="0"/>
              <a:t> </a:t>
            </a:r>
            <a:r>
              <a:rPr spc="-20" dirty="0"/>
              <a:t>2024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pc="-10" dirty="0"/>
              <a:t>MATHEMATICAL</a:t>
            </a:r>
            <a:r>
              <a:rPr spc="10" dirty="0"/>
              <a:t> </a:t>
            </a:r>
            <a:r>
              <a:rPr dirty="0"/>
              <a:t>TOOLS</a:t>
            </a:r>
            <a:r>
              <a:rPr spc="-15" dirty="0"/>
              <a:t> </a:t>
            </a:r>
            <a:r>
              <a:rPr dirty="0"/>
              <a:t>USED</a:t>
            </a:r>
            <a:r>
              <a:rPr spc="-30" dirty="0"/>
              <a:t> </a:t>
            </a:r>
            <a:r>
              <a:rPr dirty="0"/>
              <a:t>IN</a:t>
            </a:r>
            <a:r>
              <a:rPr spc="-30" dirty="0"/>
              <a:t> </a:t>
            </a:r>
            <a:r>
              <a:rPr dirty="0"/>
              <a:t>DIGITAL</a:t>
            </a:r>
            <a:r>
              <a:rPr spc="5" dirty="0"/>
              <a:t> </a:t>
            </a:r>
            <a:r>
              <a:rPr dirty="0"/>
              <a:t>IMAGE</a:t>
            </a:r>
            <a:r>
              <a:rPr spc="-5" dirty="0"/>
              <a:t> </a:t>
            </a:r>
            <a:r>
              <a:rPr spc="-10" dirty="0"/>
              <a:t>PROCESSING</a:t>
            </a:r>
          </a:p>
        </p:txBody>
      </p:sp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55"/>
              </a:lnSpc>
            </a:pPr>
            <a:fld id="{81D60167-4931-47E6-BA6A-407CBD079E47}" type="slidenum">
              <a:rPr spc="-25" dirty="0"/>
              <a:t>17</a:t>
            </a:fld>
            <a:endParaRPr spc="-25" dirty="0"/>
          </a:p>
        </p:txBody>
      </p:sp>
      <p:sp>
        <p:nvSpPr>
          <p:cNvPr id="3" name="object 3"/>
          <p:cNvSpPr txBox="1"/>
          <p:nvPr/>
        </p:nvSpPr>
        <p:spPr>
          <a:xfrm>
            <a:off x="1176019" y="1957832"/>
            <a:ext cx="9902825" cy="36118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31470" indent="-285750">
              <a:lnSpc>
                <a:spcPct val="100000"/>
              </a:lnSpc>
              <a:spcBef>
                <a:spcPts val="100"/>
              </a:spcBef>
              <a:buFont typeface="Wingdings"/>
              <a:buChar char=""/>
              <a:tabLst>
                <a:tab pos="331470" algn="l"/>
              </a:tabLst>
            </a:pPr>
            <a:r>
              <a:rPr sz="1800" dirty="0">
                <a:latin typeface="Times New Roman"/>
                <a:cs typeface="Times New Roman"/>
              </a:rPr>
              <a:t>Image</a:t>
            </a:r>
            <a:r>
              <a:rPr sz="1800" spc="-3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subtraction</a:t>
            </a:r>
            <a:r>
              <a:rPr sz="1800" spc="-4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in</a:t>
            </a:r>
            <a:r>
              <a:rPr sz="1800" spc="-3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medical</a:t>
            </a:r>
            <a:r>
              <a:rPr sz="1800" spc="-4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imaging</a:t>
            </a:r>
            <a:r>
              <a:rPr sz="1800" spc="-2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is</a:t>
            </a:r>
            <a:r>
              <a:rPr sz="1800" spc="-3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called</a:t>
            </a:r>
            <a:r>
              <a:rPr sz="1800" spc="-20" dirty="0">
                <a:latin typeface="Times New Roman"/>
                <a:cs typeface="Times New Roman"/>
              </a:rPr>
              <a:t> </a:t>
            </a:r>
            <a:r>
              <a:rPr sz="1800" b="1" i="1" dirty="0">
                <a:latin typeface="Times New Roman"/>
                <a:cs typeface="Times New Roman"/>
              </a:rPr>
              <a:t>mask</a:t>
            </a:r>
            <a:r>
              <a:rPr sz="1800" b="1" i="1" spc="-40" dirty="0">
                <a:latin typeface="Times New Roman"/>
                <a:cs typeface="Times New Roman"/>
              </a:rPr>
              <a:t> </a:t>
            </a:r>
            <a:r>
              <a:rPr sz="1800" b="1" i="1" dirty="0">
                <a:latin typeface="Times New Roman"/>
                <a:cs typeface="Times New Roman"/>
              </a:rPr>
              <a:t>mode</a:t>
            </a:r>
            <a:r>
              <a:rPr sz="1800" b="1" i="1" spc="-30" dirty="0">
                <a:latin typeface="Times New Roman"/>
                <a:cs typeface="Times New Roman"/>
              </a:rPr>
              <a:t> </a:t>
            </a:r>
            <a:r>
              <a:rPr sz="1800" b="1" i="1" spc="-10" dirty="0">
                <a:latin typeface="Times New Roman"/>
                <a:cs typeface="Times New Roman"/>
              </a:rPr>
              <a:t>radiography</a:t>
            </a:r>
            <a:endParaRPr sz="18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969"/>
              </a:spcBef>
              <a:buFont typeface="Wingdings"/>
              <a:buChar char=""/>
            </a:pPr>
            <a:endParaRPr sz="1800" dirty="0">
              <a:latin typeface="Times New Roman"/>
              <a:cs typeface="Times New Roman"/>
            </a:endParaRPr>
          </a:p>
          <a:p>
            <a:pPr marL="3886835">
              <a:lnSpc>
                <a:spcPct val="100000"/>
              </a:lnSpc>
            </a:pPr>
            <a:r>
              <a:rPr sz="2050" b="1" i="1" dirty="0">
                <a:latin typeface="Times New Roman"/>
                <a:cs typeface="Times New Roman"/>
              </a:rPr>
              <a:t>g</a:t>
            </a:r>
            <a:r>
              <a:rPr sz="2050" i="1" dirty="0">
                <a:latin typeface="Times New Roman"/>
                <a:cs typeface="Times New Roman"/>
              </a:rPr>
              <a:t>(</a:t>
            </a:r>
            <a:r>
              <a:rPr sz="2050" i="1" spc="-10" dirty="0">
                <a:latin typeface="Times New Roman"/>
                <a:cs typeface="Times New Roman"/>
              </a:rPr>
              <a:t> </a:t>
            </a:r>
            <a:r>
              <a:rPr sz="2050" b="1" i="1" spc="95" dirty="0">
                <a:latin typeface="Times New Roman"/>
                <a:cs typeface="Times New Roman"/>
              </a:rPr>
              <a:t>x</a:t>
            </a:r>
            <a:r>
              <a:rPr sz="2050" i="1" spc="95" dirty="0">
                <a:latin typeface="Times New Roman"/>
                <a:cs typeface="Times New Roman"/>
              </a:rPr>
              <a:t>,</a:t>
            </a:r>
            <a:r>
              <a:rPr sz="2050" i="1" spc="-220" dirty="0">
                <a:latin typeface="Times New Roman"/>
                <a:cs typeface="Times New Roman"/>
              </a:rPr>
              <a:t> </a:t>
            </a:r>
            <a:r>
              <a:rPr sz="2050" b="1" i="1" dirty="0">
                <a:latin typeface="Times New Roman"/>
                <a:cs typeface="Times New Roman"/>
              </a:rPr>
              <a:t>y</a:t>
            </a:r>
            <a:r>
              <a:rPr sz="2050" b="1" i="1" spc="-204" dirty="0">
                <a:latin typeface="Times New Roman"/>
                <a:cs typeface="Times New Roman"/>
              </a:rPr>
              <a:t> </a:t>
            </a:r>
            <a:r>
              <a:rPr sz="2050" i="1" dirty="0">
                <a:latin typeface="Times New Roman"/>
                <a:cs typeface="Times New Roman"/>
              </a:rPr>
              <a:t>)</a:t>
            </a:r>
            <a:r>
              <a:rPr sz="2050" i="1" spc="-95" dirty="0">
                <a:latin typeface="Times New Roman"/>
                <a:cs typeface="Times New Roman"/>
              </a:rPr>
              <a:t> </a:t>
            </a:r>
            <a:r>
              <a:rPr sz="2050" dirty="0">
                <a:latin typeface="Symbol"/>
                <a:cs typeface="Symbol"/>
              </a:rPr>
              <a:t></a:t>
            </a:r>
            <a:r>
              <a:rPr sz="2050" spc="395" dirty="0">
                <a:latin typeface="Times New Roman"/>
                <a:cs typeface="Times New Roman"/>
              </a:rPr>
              <a:t> </a:t>
            </a:r>
            <a:r>
              <a:rPr sz="2050" b="1" i="1" dirty="0">
                <a:latin typeface="Times New Roman"/>
                <a:cs typeface="Times New Roman"/>
              </a:rPr>
              <a:t>f</a:t>
            </a:r>
            <a:r>
              <a:rPr sz="2050" b="1" i="1" spc="-204" dirty="0">
                <a:latin typeface="Times New Roman"/>
                <a:cs typeface="Times New Roman"/>
              </a:rPr>
              <a:t> </a:t>
            </a:r>
            <a:r>
              <a:rPr sz="2050" i="1" dirty="0">
                <a:latin typeface="Times New Roman"/>
                <a:cs typeface="Times New Roman"/>
              </a:rPr>
              <a:t>(</a:t>
            </a:r>
            <a:r>
              <a:rPr sz="2050" i="1" spc="-5" dirty="0">
                <a:latin typeface="Times New Roman"/>
                <a:cs typeface="Times New Roman"/>
              </a:rPr>
              <a:t> </a:t>
            </a:r>
            <a:r>
              <a:rPr sz="2050" b="1" i="1" spc="90" dirty="0">
                <a:latin typeface="Times New Roman"/>
                <a:cs typeface="Times New Roman"/>
              </a:rPr>
              <a:t>x</a:t>
            </a:r>
            <a:r>
              <a:rPr sz="2050" i="1" spc="90" dirty="0">
                <a:latin typeface="Times New Roman"/>
                <a:cs typeface="Times New Roman"/>
              </a:rPr>
              <a:t>,</a:t>
            </a:r>
            <a:r>
              <a:rPr sz="2050" i="1" spc="-225" dirty="0">
                <a:latin typeface="Times New Roman"/>
                <a:cs typeface="Times New Roman"/>
              </a:rPr>
              <a:t> </a:t>
            </a:r>
            <a:r>
              <a:rPr sz="2050" b="1" i="1" dirty="0">
                <a:latin typeface="Times New Roman"/>
                <a:cs typeface="Times New Roman"/>
              </a:rPr>
              <a:t>y</a:t>
            </a:r>
            <a:r>
              <a:rPr sz="2050" b="1" i="1" spc="-204" dirty="0">
                <a:latin typeface="Times New Roman"/>
                <a:cs typeface="Times New Roman"/>
              </a:rPr>
              <a:t> </a:t>
            </a:r>
            <a:r>
              <a:rPr sz="2050" i="1" dirty="0">
                <a:latin typeface="Times New Roman"/>
                <a:cs typeface="Times New Roman"/>
              </a:rPr>
              <a:t>)</a:t>
            </a:r>
            <a:r>
              <a:rPr sz="2050" i="1" spc="-204" dirty="0">
                <a:latin typeface="Times New Roman"/>
                <a:cs typeface="Times New Roman"/>
              </a:rPr>
              <a:t> </a:t>
            </a:r>
            <a:r>
              <a:rPr sz="2050" dirty="0">
                <a:latin typeface="Symbol"/>
                <a:cs typeface="Symbol"/>
              </a:rPr>
              <a:t></a:t>
            </a:r>
            <a:r>
              <a:rPr sz="2050" spc="-125" dirty="0">
                <a:latin typeface="Times New Roman"/>
                <a:cs typeface="Times New Roman"/>
              </a:rPr>
              <a:t> </a:t>
            </a:r>
            <a:r>
              <a:rPr sz="2050" b="1" i="1" spc="-20" dirty="0">
                <a:latin typeface="Times New Roman"/>
                <a:cs typeface="Times New Roman"/>
              </a:rPr>
              <a:t>h</a:t>
            </a:r>
            <a:r>
              <a:rPr sz="2050" i="1" spc="-20" dirty="0">
                <a:latin typeface="Times New Roman"/>
                <a:cs typeface="Times New Roman"/>
              </a:rPr>
              <a:t>(</a:t>
            </a:r>
            <a:r>
              <a:rPr sz="2050" i="1" spc="-10" dirty="0">
                <a:latin typeface="Times New Roman"/>
                <a:cs typeface="Times New Roman"/>
              </a:rPr>
              <a:t> </a:t>
            </a:r>
            <a:r>
              <a:rPr sz="2050" b="1" i="1" spc="90" dirty="0">
                <a:latin typeface="Times New Roman"/>
                <a:cs typeface="Times New Roman"/>
              </a:rPr>
              <a:t>x</a:t>
            </a:r>
            <a:r>
              <a:rPr sz="2050" i="1" spc="90" dirty="0">
                <a:latin typeface="Times New Roman"/>
                <a:cs typeface="Times New Roman"/>
              </a:rPr>
              <a:t>,</a:t>
            </a:r>
            <a:r>
              <a:rPr sz="2050" i="1" spc="-220" dirty="0">
                <a:latin typeface="Times New Roman"/>
                <a:cs typeface="Times New Roman"/>
              </a:rPr>
              <a:t> </a:t>
            </a:r>
            <a:r>
              <a:rPr sz="2050" b="1" i="1" dirty="0">
                <a:latin typeface="Times New Roman"/>
                <a:cs typeface="Times New Roman"/>
              </a:rPr>
              <a:t>y</a:t>
            </a:r>
            <a:r>
              <a:rPr sz="2050" b="1" i="1" spc="-200" dirty="0">
                <a:latin typeface="Times New Roman"/>
                <a:cs typeface="Times New Roman"/>
              </a:rPr>
              <a:t> </a:t>
            </a:r>
            <a:r>
              <a:rPr sz="2050" i="1" spc="-50" dirty="0">
                <a:latin typeface="Times New Roman"/>
                <a:cs typeface="Times New Roman"/>
              </a:rPr>
              <a:t>)</a:t>
            </a:r>
            <a:endParaRPr sz="2050" dirty="0">
              <a:latin typeface="Times New Roman"/>
              <a:cs typeface="Times New Roman"/>
            </a:endParaRPr>
          </a:p>
          <a:p>
            <a:pPr marL="299085" indent="-286385">
              <a:lnSpc>
                <a:spcPct val="100000"/>
              </a:lnSpc>
              <a:spcBef>
                <a:spcPts val="1375"/>
              </a:spcBef>
              <a:buFont typeface="Wingdings"/>
              <a:buChar char=""/>
              <a:tabLst>
                <a:tab pos="299085" algn="l"/>
              </a:tabLst>
            </a:pPr>
            <a:r>
              <a:rPr sz="1600" dirty="0">
                <a:latin typeface="Times New Roman"/>
                <a:cs typeface="Times New Roman"/>
              </a:rPr>
              <a:t>In</a:t>
            </a:r>
            <a:r>
              <a:rPr sz="1600" spc="-2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this</a:t>
            </a:r>
            <a:r>
              <a:rPr sz="1600" spc="-1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case</a:t>
            </a:r>
            <a:r>
              <a:rPr sz="1600" spc="-20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h(x,</a:t>
            </a:r>
            <a:r>
              <a:rPr sz="1600" b="1" spc="-30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y</a:t>
            </a:r>
            <a:r>
              <a:rPr sz="1600" dirty="0">
                <a:latin typeface="Times New Roman"/>
                <a:cs typeface="Times New Roman"/>
              </a:rPr>
              <a:t>),</a:t>
            </a:r>
            <a:r>
              <a:rPr sz="1600" spc="-25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the</a:t>
            </a:r>
            <a:r>
              <a:rPr sz="1600" b="1" spc="-5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mask</a:t>
            </a:r>
            <a:r>
              <a:rPr sz="1600" dirty="0">
                <a:latin typeface="Times New Roman"/>
                <a:cs typeface="Times New Roman"/>
              </a:rPr>
              <a:t>,</a:t>
            </a:r>
            <a:r>
              <a:rPr sz="1600" spc="-2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is</a:t>
            </a:r>
            <a:r>
              <a:rPr sz="1600" spc="-1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an</a:t>
            </a:r>
            <a:r>
              <a:rPr sz="1600" spc="-15" dirty="0">
                <a:latin typeface="Times New Roman"/>
                <a:cs typeface="Times New Roman"/>
              </a:rPr>
              <a:t> </a:t>
            </a:r>
            <a:r>
              <a:rPr sz="1600" spc="-10" dirty="0">
                <a:latin typeface="Times New Roman"/>
                <a:cs typeface="Times New Roman"/>
              </a:rPr>
              <a:t>X-</a:t>
            </a:r>
            <a:r>
              <a:rPr sz="1600" dirty="0">
                <a:latin typeface="Times New Roman"/>
                <a:cs typeface="Times New Roman"/>
              </a:rPr>
              <a:t>ray</a:t>
            </a:r>
            <a:r>
              <a:rPr sz="1600" spc="-1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image</a:t>
            </a:r>
            <a:r>
              <a:rPr sz="1600" spc="-1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of</a:t>
            </a:r>
            <a:r>
              <a:rPr sz="1600" spc="-2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a</a:t>
            </a:r>
            <a:r>
              <a:rPr sz="1600" spc="-1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region</a:t>
            </a:r>
            <a:r>
              <a:rPr sz="1600" spc="-2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of</a:t>
            </a:r>
            <a:r>
              <a:rPr sz="1600" spc="-2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a</a:t>
            </a:r>
            <a:r>
              <a:rPr sz="1600" spc="-35" dirty="0">
                <a:latin typeface="Times New Roman"/>
                <a:cs typeface="Times New Roman"/>
              </a:rPr>
              <a:t> </a:t>
            </a:r>
            <a:r>
              <a:rPr sz="1600" spc="-10" dirty="0">
                <a:latin typeface="Times New Roman"/>
                <a:cs typeface="Times New Roman"/>
              </a:rPr>
              <a:t>patient’s</a:t>
            </a:r>
            <a:r>
              <a:rPr sz="1600" spc="-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body</a:t>
            </a:r>
            <a:r>
              <a:rPr sz="1600" spc="-3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captured</a:t>
            </a:r>
            <a:r>
              <a:rPr sz="1600" spc="-2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by</a:t>
            </a:r>
            <a:r>
              <a:rPr sz="1600" spc="-1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an</a:t>
            </a:r>
            <a:r>
              <a:rPr sz="1600" spc="-2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intensified</a:t>
            </a:r>
            <a:r>
              <a:rPr sz="1600" spc="-1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TV</a:t>
            </a:r>
            <a:r>
              <a:rPr sz="1600" spc="-40" dirty="0">
                <a:latin typeface="Times New Roman"/>
                <a:cs typeface="Times New Roman"/>
              </a:rPr>
              <a:t> </a:t>
            </a:r>
            <a:r>
              <a:rPr sz="1600" spc="-10" dirty="0">
                <a:latin typeface="Times New Roman"/>
                <a:cs typeface="Times New Roman"/>
              </a:rPr>
              <a:t>camera</a:t>
            </a:r>
            <a:endParaRPr sz="1600" dirty="0">
              <a:latin typeface="Times New Roman"/>
              <a:cs typeface="Times New Roman"/>
            </a:endParaRPr>
          </a:p>
          <a:p>
            <a:pPr marL="299085">
              <a:lnSpc>
                <a:spcPct val="100000"/>
              </a:lnSpc>
              <a:spcBef>
                <a:spcPts val="960"/>
              </a:spcBef>
            </a:pPr>
            <a:r>
              <a:rPr sz="1600" dirty="0">
                <a:latin typeface="Times New Roman"/>
                <a:cs typeface="Times New Roman"/>
              </a:rPr>
              <a:t>(instead</a:t>
            </a:r>
            <a:r>
              <a:rPr sz="1600" spc="-1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of</a:t>
            </a:r>
            <a:r>
              <a:rPr sz="1600" spc="-3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traditional</a:t>
            </a:r>
            <a:r>
              <a:rPr sz="1600" spc="-5" dirty="0">
                <a:latin typeface="Times New Roman"/>
                <a:cs typeface="Times New Roman"/>
              </a:rPr>
              <a:t> </a:t>
            </a:r>
            <a:r>
              <a:rPr sz="1600" spc="-20" dirty="0">
                <a:latin typeface="Times New Roman"/>
                <a:cs typeface="Times New Roman"/>
              </a:rPr>
              <a:t>X-</a:t>
            </a:r>
            <a:r>
              <a:rPr sz="1600" dirty="0">
                <a:latin typeface="Times New Roman"/>
                <a:cs typeface="Times New Roman"/>
              </a:rPr>
              <a:t>ray</a:t>
            </a:r>
            <a:r>
              <a:rPr sz="1600" spc="-1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film)</a:t>
            </a:r>
            <a:r>
              <a:rPr sz="1600" spc="1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located</a:t>
            </a:r>
            <a:r>
              <a:rPr sz="1600" spc="-1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opposite</a:t>
            </a:r>
            <a:r>
              <a:rPr sz="1600" spc="-2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an</a:t>
            </a:r>
            <a:r>
              <a:rPr sz="1600" spc="-35" dirty="0">
                <a:latin typeface="Times New Roman"/>
                <a:cs typeface="Times New Roman"/>
              </a:rPr>
              <a:t> </a:t>
            </a:r>
            <a:r>
              <a:rPr sz="1600" spc="-20" dirty="0">
                <a:latin typeface="Times New Roman"/>
                <a:cs typeface="Times New Roman"/>
              </a:rPr>
              <a:t>X-</a:t>
            </a:r>
            <a:r>
              <a:rPr sz="1600" dirty="0">
                <a:latin typeface="Times New Roman"/>
                <a:cs typeface="Times New Roman"/>
              </a:rPr>
              <a:t>ray</a:t>
            </a:r>
            <a:r>
              <a:rPr sz="1600" spc="-15" dirty="0">
                <a:latin typeface="Times New Roman"/>
                <a:cs typeface="Times New Roman"/>
              </a:rPr>
              <a:t> </a:t>
            </a:r>
            <a:r>
              <a:rPr sz="1600" spc="-10" dirty="0">
                <a:latin typeface="Times New Roman"/>
                <a:cs typeface="Times New Roman"/>
              </a:rPr>
              <a:t>source.</a:t>
            </a:r>
            <a:endParaRPr sz="1600" dirty="0">
              <a:latin typeface="Times New Roman"/>
              <a:cs typeface="Times New Roman"/>
            </a:endParaRPr>
          </a:p>
          <a:p>
            <a:pPr marL="299085" indent="-286385">
              <a:lnSpc>
                <a:spcPct val="100000"/>
              </a:lnSpc>
              <a:spcBef>
                <a:spcPts val="960"/>
              </a:spcBef>
              <a:buFont typeface="Wingdings"/>
              <a:buChar char=""/>
              <a:tabLst>
                <a:tab pos="299085" algn="l"/>
              </a:tabLst>
            </a:pPr>
            <a:r>
              <a:rPr sz="1600" dirty="0">
                <a:latin typeface="Times New Roman"/>
                <a:cs typeface="Times New Roman"/>
              </a:rPr>
              <a:t>The</a:t>
            </a:r>
            <a:r>
              <a:rPr sz="1600" spc="24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procedure</a:t>
            </a:r>
            <a:r>
              <a:rPr sz="1600" spc="24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consists</a:t>
            </a:r>
            <a:r>
              <a:rPr sz="1600" spc="25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of</a:t>
            </a:r>
            <a:r>
              <a:rPr sz="1600" spc="25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injecting</a:t>
            </a:r>
            <a:r>
              <a:rPr sz="1600" spc="25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an</a:t>
            </a:r>
            <a:r>
              <a:rPr sz="1600" spc="250" dirty="0">
                <a:latin typeface="Times New Roman"/>
                <a:cs typeface="Times New Roman"/>
              </a:rPr>
              <a:t> </a:t>
            </a:r>
            <a:r>
              <a:rPr sz="1600" spc="-10" dirty="0">
                <a:latin typeface="Times New Roman"/>
                <a:cs typeface="Times New Roman"/>
              </a:rPr>
              <a:t>X-</a:t>
            </a:r>
            <a:r>
              <a:rPr sz="1600" dirty="0">
                <a:latin typeface="Times New Roman"/>
                <a:cs typeface="Times New Roman"/>
              </a:rPr>
              <a:t>ray</a:t>
            </a:r>
            <a:r>
              <a:rPr sz="1600" spc="23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contrast</a:t>
            </a:r>
            <a:r>
              <a:rPr sz="1600" spc="27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material</a:t>
            </a:r>
            <a:r>
              <a:rPr sz="1600" spc="26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into</a:t>
            </a:r>
            <a:r>
              <a:rPr sz="1600" spc="25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the</a:t>
            </a:r>
            <a:r>
              <a:rPr sz="1600" spc="254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patient’s</a:t>
            </a:r>
            <a:r>
              <a:rPr sz="1600" spc="25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bloodstream,</a:t>
            </a:r>
            <a:r>
              <a:rPr sz="1600" spc="26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taking</a:t>
            </a:r>
            <a:r>
              <a:rPr sz="1600" spc="25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a</a:t>
            </a:r>
            <a:r>
              <a:rPr sz="1600" spc="24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series</a:t>
            </a:r>
            <a:r>
              <a:rPr sz="1600" spc="250" dirty="0">
                <a:latin typeface="Times New Roman"/>
                <a:cs typeface="Times New Roman"/>
              </a:rPr>
              <a:t> </a:t>
            </a:r>
            <a:r>
              <a:rPr sz="1600" spc="-25" dirty="0">
                <a:latin typeface="Times New Roman"/>
                <a:cs typeface="Times New Roman"/>
              </a:rPr>
              <a:t>of</a:t>
            </a:r>
            <a:endParaRPr sz="1600" dirty="0">
              <a:latin typeface="Times New Roman"/>
              <a:cs typeface="Times New Roman"/>
            </a:endParaRPr>
          </a:p>
          <a:p>
            <a:pPr marL="299085">
              <a:lnSpc>
                <a:spcPct val="100000"/>
              </a:lnSpc>
              <a:spcBef>
                <a:spcPts val="960"/>
              </a:spcBef>
            </a:pPr>
            <a:r>
              <a:rPr sz="1600" dirty="0">
                <a:latin typeface="Times New Roman"/>
                <a:cs typeface="Times New Roman"/>
              </a:rPr>
              <a:t>images</a:t>
            </a:r>
            <a:r>
              <a:rPr sz="1600" spc="5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called</a:t>
            </a:r>
            <a:r>
              <a:rPr sz="1600" spc="45" dirty="0">
                <a:latin typeface="Times New Roman"/>
                <a:cs typeface="Times New Roman"/>
              </a:rPr>
              <a:t> </a:t>
            </a:r>
            <a:r>
              <a:rPr sz="1600" b="1" i="1" dirty="0">
                <a:latin typeface="Times New Roman"/>
                <a:cs typeface="Times New Roman"/>
              </a:rPr>
              <a:t>live</a:t>
            </a:r>
            <a:r>
              <a:rPr sz="1600" b="1" i="1" spc="50" dirty="0">
                <a:latin typeface="Times New Roman"/>
                <a:cs typeface="Times New Roman"/>
              </a:rPr>
              <a:t> </a:t>
            </a:r>
            <a:r>
              <a:rPr sz="1600" b="1" i="1" dirty="0">
                <a:latin typeface="Times New Roman"/>
                <a:cs typeface="Times New Roman"/>
              </a:rPr>
              <a:t>images,</a:t>
            </a:r>
            <a:r>
              <a:rPr sz="1600" b="1" i="1" spc="55" dirty="0">
                <a:latin typeface="Times New Roman"/>
                <a:cs typeface="Times New Roman"/>
              </a:rPr>
              <a:t> </a:t>
            </a:r>
            <a:r>
              <a:rPr sz="1600" b="1" i="1" dirty="0">
                <a:latin typeface="Times New Roman"/>
                <a:cs typeface="Times New Roman"/>
              </a:rPr>
              <a:t>f(x,</a:t>
            </a:r>
            <a:r>
              <a:rPr sz="1600" b="1" i="1" spc="50" dirty="0">
                <a:latin typeface="Times New Roman"/>
                <a:cs typeface="Times New Roman"/>
              </a:rPr>
              <a:t> </a:t>
            </a:r>
            <a:r>
              <a:rPr sz="1600" b="1" i="1" dirty="0">
                <a:latin typeface="Times New Roman"/>
                <a:cs typeface="Times New Roman"/>
              </a:rPr>
              <a:t>y),</a:t>
            </a:r>
            <a:r>
              <a:rPr sz="1600" b="1" i="1" spc="3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samples</a:t>
            </a:r>
            <a:r>
              <a:rPr sz="1600" spc="5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of</a:t>
            </a:r>
            <a:r>
              <a:rPr sz="1600" spc="4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which</a:t>
            </a:r>
            <a:r>
              <a:rPr sz="1600" spc="4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are</a:t>
            </a:r>
            <a:r>
              <a:rPr sz="1600" spc="4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denoted</a:t>
            </a:r>
            <a:r>
              <a:rPr sz="1600" spc="5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as</a:t>
            </a:r>
            <a:r>
              <a:rPr sz="1600" spc="55" dirty="0">
                <a:latin typeface="Times New Roman"/>
                <a:cs typeface="Times New Roman"/>
              </a:rPr>
              <a:t> </a:t>
            </a:r>
            <a:r>
              <a:rPr sz="1600" i="1" dirty="0">
                <a:latin typeface="Times New Roman"/>
                <a:cs typeface="Times New Roman"/>
              </a:rPr>
              <a:t>f</a:t>
            </a:r>
            <a:r>
              <a:rPr sz="1600" dirty="0">
                <a:latin typeface="Times New Roman"/>
                <a:cs typeface="Times New Roman"/>
              </a:rPr>
              <a:t>(</a:t>
            </a:r>
            <a:r>
              <a:rPr sz="1600" i="1" dirty="0">
                <a:latin typeface="Times New Roman"/>
                <a:cs typeface="Times New Roman"/>
              </a:rPr>
              <a:t>x</a:t>
            </a:r>
            <a:r>
              <a:rPr sz="1600" dirty="0">
                <a:latin typeface="Times New Roman"/>
                <a:cs typeface="Times New Roman"/>
              </a:rPr>
              <a:t>,</a:t>
            </a:r>
            <a:r>
              <a:rPr sz="1600" spc="45" dirty="0">
                <a:latin typeface="Times New Roman"/>
                <a:cs typeface="Times New Roman"/>
              </a:rPr>
              <a:t> </a:t>
            </a:r>
            <a:r>
              <a:rPr sz="1600" i="1" dirty="0">
                <a:latin typeface="Times New Roman"/>
                <a:cs typeface="Times New Roman"/>
              </a:rPr>
              <a:t>y</a:t>
            </a:r>
            <a:r>
              <a:rPr sz="1600" dirty="0">
                <a:latin typeface="Times New Roman"/>
                <a:cs typeface="Times New Roman"/>
              </a:rPr>
              <a:t>)]</a:t>
            </a:r>
            <a:r>
              <a:rPr sz="1600" spc="3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of</a:t>
            </a:r>
            <a:r>
              <a:rPr sz="1600" spc="5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the</a:t>
            </a:r>
            <a:r>
              <a:rPr sz="1600" spc="4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same</a:t>
            </a:r>
            <a:r>
              <a:rPr sz="1600" spc="5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anatomical</a:t>
            </a:r>
            <a:r>
              <a:rPr sz="1600" spc="6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region</a:t>
            </a:r>
            <a:r>
              <a:rPr sz="1600" spc="6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as</a:t>
            </a:r>
            <a:r>
              <a:rPr sz="1600" spc="40" dirty="0">
                <a:latin typeface="Times New Roman"/>
                <a:cs typeface="Times New Roman"/>
              </a:rPr>
              <a:t> </a:t>
            </a:r>
            <a:r>
              <a:rPr sz="1600" i="1" dirty="0">
                <a:latin typeface="Times New Roman"/>
                <a:cs typeface="Times New Roman"/>
              </a:rPr>
              <a:t>h</a:t>
            </a:r>
            <a:r>
              <a:rPr sz="1600" dirty="0">
                <a:latin typeface="Times New Roman"/>
                <a:cs typeface="Times New Roman"/>
              </a:rPr>
              <a:t>(</a:t>
            </a:r>
            <a:r>
              <a:rPr sz="1600" i="1" dirty="0">
                <a:latin typeface="Times New Roman"/>
                <a:cs typeface="Times New Roman"/>
              </a:rPr>
              <a:t>x</a:t>
            </a:r>
            <a:r>
              <a:rPr sz="1600" dirty="0">
                <a:latin typeface="Times New Roman"/>
                <a:cs typeface="Times New Roman"/>
              </a:rPr>
              <a:t>,</a:t>
            </a:r>
            <a:r>
              <a:rPr sz="1600" spc="50" dirty="0">
                <a:latin typeface="Times New Roman"/>
                <a:cs typeface="Times New Roman"/>
              </a:rPr>
              <a:t> </a:t>
            </a:r>
            <a:r>
              <a:rPr sz="1600" i="1" spc="-25" dirty="0">
                <a:latin typeface="Times New Roman"/>
                <a:cs typeface="Times New Roman"/>
              </a:rPr>
              <a:t>y</a:t>
            </a:r>
            <a:r>
              <a:rPr sz="1600" spc="-25" dirty="0">
                <a:latin typeface="Times New Roman"/>
                <a:cs typeface="Times New Roman"/>
              </a:rPr>
              <a:t>),</a:t>
            </a:r>
            <a:endParaRPr sz="1600" dirty="0">
              <a:latin typeface="Times New Roman"/>
              <a:cs typeface="Times New Roman"/>
            </a:endParaRPr>
          </a:p>
          <a:p>
            <a:pPr marL="299085">
              <a:lnSpc>
                <a:spcPct val="100000"/>
              </a:lnSpc>
              <a:spcBef>
                <a:spcPts val="965"/>
              </a:spcBef>
            </a:pPr>
            <a:r>
              <a:rPr sz="1600" dirty="0">
                <a:latin typeface="Times New Roman"/>
                <a:cs typeface="Times New Roman"/>
              </a:rPr>
              <a:t>and</a:t>
            </a:r>
            <a:r>
              <a:rPr sz="1600" spc="-4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subtracting</a:t>
            </a:r>
            <a:r>
              <a:rPr sz="1600" spc="-1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the</a:t>
            </a:r>
            <a:r>
              <a:rPr sz="1600" spc="-3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mask</a:t>
            </a:r>
            <a:r>
              <a:rPr sz="1600" spc="1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from</a:t>
            </a:r>
            <a:r>
              <a:rPr sz="1600" spc="-3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the</a:t>
            </a:r>
            <a:r>
              <a:rPr sz="1600" spc="-3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series</a:t>
            </a:r>
            <a:r>
              <a:rPr sz="1600" spc="-1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of</a:t>
            </a:r>
            <a:r>
              <a:rPr sz="1600" spc="-4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incoming live</a:t>
            </a:r>
            <a:r>
              <a:rPr sz="1600" spc="-2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images</a:t>
            </a:r>
            <a:r>
              <a:rPr sz="1600" spc="1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after</a:t>
            </a:r>
            <a:r>
              <a:rPr sz="1600" spc="-2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injection</a:t>
            </a:r>
            <a:r>
              <a:rPr sz="1600" spc="-1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of</a:t>
            </a:r>
            <a:r>
              <a:rPr sz="1600" spc="-4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the</a:t>
            </a:r>
            <a:r>
              <a:rPr sz="1600" spc="-3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contrast</a:t>
            </a:r>
            <a:r>
              <a:rPr sz="1600" spc="-15" dirty="0">
                <a:latin typeface="Times New Roman"/>
                <a:cs typeface="Times New Roman"/>
              </a:rPr>
              <a:t> </a:t>
            </a:r>
            <a:r>
              <a:rPr sz="1600" spc="-10" dirty="0">
                <a:latin typeface="Times New Roman"/>
                <a:cs typeface="Times New Roman"/>
              </a:rPr>
              <a:t>material.</a:t>
            </a:r>
            <a:endParaRPr sz="1600" dirty="0">
              <a:latin typeface="Times New Roman"/>
              <a:cs typeface="Times New Roman"/>
            </a:endParaRPr>
          </a:p>
          <a:p>
            <a:pPr marL="299085" marR="5080" indent="-287020">
              <a:lnSpc>
                <a:spcPct val="150000"/>
              </a:lnSpc>
              <a:buFont typeface="Wingdings"/>
              <a:buChar char=""/>
              <a:tabLst>
                <a:tab pos="299085" algn="l"/>
              </a:tabLst>
            </a:pPr>
            <a:r>
              <a:rPr sz="1600" dirty="0">
                <a:latin typeface="Times New Roman"/>
                <a:cs typeface="Times New Roman"/>
              </a:rPr>
              <a:t>The</a:t>
            </a:r>
            <a:r>
              <a:rPr sz="1600" spc="1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net</a:t>
            </a:r>
            <a:r>
              <a:rPr sz="1600" spc="1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effect</a:t>
            </a:r>
            <a:r>
              <a:rPr sz="1600" spc="1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of</a:t>
            </a:r>
            <a:r>
              <a:rPr sz="1600" spc="2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subtracting</a:t>
            </a:r>
            <a:r>
              <a:rPr sz="1600" spc="2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the</a:t>
            </a:r>
            <a:r>
              <a:rPr sz="1600" spc="3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mask</a:t>
            </a:r>
            <a:r>
              <a:rPr sz="1600" spc="2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from each</a:t>
            </a:r>
            <a:r>
              <a:rPr sz="1600" spc="2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sample</a:t>
            </a:r>
            <a:r>
              <a:rPr sz="1600" spc="1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live</a:t>
            </a:r>
            <a:r>
              <a:rPr sz="1600" spc="3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image</a:t>
            </a:r>
            <a:r>
              <a:rPr sz="1600" spc="2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is</a:t>
            </a:r>
            <a:r>
              <a:rPr sz="1600" spc="2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that</a:t>
            </a:r>
            <a:r>
              <a:rPr sz="1600" spc="1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the</a:t>
            </a:r>
            <a:r>
              <a:rPr sz="1600" spc="1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areas</a:t>
            </a:r>
            <a:r>
              <a:rPr sz="1600" spc="3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that</a:t>
            </a:r>
            <a:r>
              <a:rPr sz="1600" spc="1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are</a:t>
            </a:r>
            <a:r>
              <a:rPr sz="1600" spc="2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different</a:t>
            </a:r>
            <a:r>
              <a:rPr sz="1600" spc="1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between</a:t>
            </a:r>
            <a:r>
              <a:rPr sz="1600" spc="30" dirty="0">
                <a:latin typeface="Times New Roman"/>
                <a:cs typeface="Times New Roman"/>
              </a:rPr>
              <a:t> </a:t>
            </a:r>
            <a:r>
              <a:rPr sz="1600" i="1" dirty="0">
                <a:latin typeface="Times New Roman"/>
                <a:cs typeface="Times New Roman"/>
              </a:rPr>
              <a:t>f</a:t>
            </a:r>
            <a:r>
              <a:rPr sz="1600" dirty="0">
                <a:latin typeface="Times New Roman"/>
                <a:cs typeface="Times New Roman"/>
              </a:rPr>
              <a:t>(</a:t>
            </a:r>
            <a:r>
              <a:rPr sz="1600" i="1" dirty="0">
                <a:latin typeface="Times New Roman"/>
                <a:cs typeface="Times New Roman"/>
              </a:rPr>
              <a:t>x</a:t>
            </a:r>
            <a:r>
              <a:rPr sz="1600" dirty="0">
                <a:latin typeface="Times New Roman"/>
                <a:cs typeface="Times New Roman"/>
              </a:rPr>
              <a:t>,</a:t>
            </a:r>
            <a:r>
              <a:rPr sz="1600" spc="10" dirty="0">
                <a:latin typeface="Times New Roman"/>
                <a:cs typeface="Times New Roman"/>
              </a:rPr>
              <a:t> </a:t>
            </a:r>
            <a:r>
              <a:rPr sz="1600" i="1" spc="-25" dirty="0">
                <a:latin typeface="Times New Roman"/>
                <a:cs typeface="Times New Roman"/>
              </a:rPr>
              <a:t>y</a:t>
            </a:r>
            <a:r>
              <a:rPr sz="1600" spc="-25" dirty="0">
                <a:latin typeface="Times New Roman"/>
                <a:cs typeface="Times New Roman"/>
              </a:rPr>
              <a:t>) </a:t>
            </a:r>
            <a:r>
              <a:rPr sz="1600" dirty="0">
                <a:latin typeface="Times New Roman"/>
                <a:cs typeface="Times New Roman"/>
              </a:rPr>
              <a:t>and</a:t>
            </a:r>
            <a:r>
              <a:rPr sz="1600" spc="-35" dirty="0">
                <a:latin typeface="Times New Roman"/>
                <a:cs typeface="Times New Roman"/>
              </a:rPr>
              <a:t> </a:t>
            </a:r>
            <a:r>
              <a:rPr sz="1600" i="1" dirty="0">
                <a:latin typeface="Times New Roman"/>
                <a:cs typeface="Times New Roman"/>
              </a:rPr>
              <a:t>h</a:t>
            </a:r>
            <a:r>
              <a:rPr sz="1600" dirty="0">
                <a:latin typeface="Times New Roman"/>
                <a:cs typeface="Times New Roman"/>
              </a:rPr>
              <a:t>(</a:t>
            </a:r>
            <a:r>
              <a:rPr sz="1600" i="1" dirty="0">
                <a:latin typeface="Times New Roman"/>
                <a:cs typeface="Times New Roman"/>
              </a:rPr>
              <a:t>x</a:t>
            </a:r>
            <a:r>
              <a:rPr sz="1600" dirty="0">
                <a:latin typeface="Times New Roman"/>
                <a:cs typeface="Times New Roman"/>
              </a:rPr>
              <a:t>,</a:t>
            </a:r>
            <a:r>
              <a:rPr sz="1600" spc="-20" dirty="0">
                <a:latin typeface="Times New Roman"/>
                <a:cs typeface="Times New Roman"/>
              </a:rPr>
              <a:t> </a:t>
            </a:r>
            <a:r>
              <a:rPr sz="1600" i="1" dirty="0">
                <a:latin typeface="Times New Roman"/>
                <a:cs typeface="Times New Roman"/>
              </a:rPr>
              <a:t>y</a:t>
            </a:r>
            <a:r>
              <a:rPr sz="1600" dirty="0">
                <a:latin typeface="Times New Roman"/>
                <a:cs typeface="Times New Roman"/>
              </a:rPr>
              <a:t>)</a:t>
            </a:r>
            <a:r>
              <a:rPr sz="1600" spc="-3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appear</a:t>
            </a:r>
            <a:r>
              <a:rPr sz="1600" spc="-2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in</a:t>
            </a:r>
            <a:r>
              <a:rPr sz="1600" spc="-3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the</a:t>
            </a:r>
            <a:r>
              <a:rPr sz="1600" spc="-3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output</a:t>
            </a:r>
            <a:r>
              <a:rPr sz="1600" spc="-2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image,</a:t>
            </a:r>
            <a:r>
              <a:rPr sz="1600" spc="10" dirty="0">
                <a:latin typeface="Times New Roman"/>
                <a:cs typeface="Times New Roman"/>
              </a:rPr>
              <a:t> </a:t>
            </a:r>
            <a:r>
              <a:rPr sz="1600" i="1" dirty="0">
                <a:latin typeface="Times New Roman"/>
                <a:cs typeface="Times New Roman"/>
              </a:rPr>
              <a:t>g</a:t>
            </a:r>
            <a:r>
              <a:rPr sz="1600" dirty="0">
                <a:latin typeface="Times New Roman"/>
                <a:cs typeface="Times New Roman"/>
              </a:rPr>
              <a:t>(</a:t>
            </a:r>
            <a:r>
              <a:rPr sz="1600" i="1" dirty="0">
                <a:latin typeface="Times New Roman"/>
                <a:cs typeface="Times New Roman"/>
              </a:rPr>
              <a:t>x</a:t>
            </a:r>
            <a:r>
              <a:rPr sz="1600" dirty="0">
                <a:latin typeface="Times New Roman"/>
                <a:cs typeface="Times New Roman"/>
              </a:rPr>
              <a:t>,</a:t>
            </a:r>
            <a:r>
              <a:rPr sz="1600" spc="-30" dirty="0">
                <a:latin typeface="Times New Roman"/>
                <a:cs typeface="Times New Roman"/>
              </a:rPr>
              <a:t> </a:t>
            </a:r>
            <a:r>
              <a:rPr sz="1600" i="1" dirty="0">
                <a:latin typeface="Times New Roman"/>
                <a:cs typeface="Times New Roman"/>
              </a:rPr>
              <a:t>y</a:t>
            </a:r>
            <a:r>
              <a:rPr sz="1600" dirty="0">
                <a:latin typeface="Times New Roman"/>
                <a:cs typeface="Times New Roman"/>
              </a:rPr>
              <a:t>),</a:t>
            </a:r>
            <a:r>
              <a:rPr sz="1600" spc="-2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as</a:t>
            </a:r>
            <a:r>
              <a:rPr sz="1600" spc="-2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enhanced</a:t>
            </a:r>
            <a:r>
              <a:rPr sz="1600" spc="-25" dirty="0">
                <a:latin typeface="Times New Roman"/>
                <a:cs typeface="Times New Roman"/>
              </a:rPr>
              <a:t> </a:t>
            </a:r>
            <a:r>
              <a:rPr sz="1600" spc="-10" dirty="0">
                <a:latin typeface="Times New Roman"/>
                <a:cs typeface="Times New Roman"/>
              </a:rPr>
              <a:t>detail.</a:t>
            </a:r>
            <a:endParaRPr sz="16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40" dirty="0"/>
              <a:t>Arithmetic</a:t>
            </a:r>
            <a:r>
              <a:rPr spc="-215" dirty="0"/>
              <a:t> </a:t>
            </a:r>
            <a:r>
              <a:rPr spc="-50" dirty="0"/>
              <a:t>Operation</a:t>
            </a:r>
            <a:r>
              <a:rPr spc="-245" dirty="0"/>
              <a:t> </a:t>
            </a:r>
            <a:r>
              <a:rPr spc="-30" dirty="0"/>
              <a:t>(</a:t>
            </a:r>
            <a:r>
              <a:rPr b="0" spc="-30" dirty="0">
                <a:latin typeface="Times New Roman"/>
                <a:cs typeface="Times New Roman"/>
              </a:rPr>
              <a:t>Subtraction</a:t>
            </a:r>
            <a:r>
              <a:rPr spc="-30" dirty="0"/>
              <a:t>)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168140" y="1801367"/>
            <a:ext cx="3988506" cy="4023360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91233" y="1823466"/>
            <a:ext cx="391063" cy="428625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3223005" y="5853785"/>
            <a:ext cx="5739765" cy="4527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614680" marR="5080" indent="-601980">
              <a:lnSpc>
                <a:spcPct val="100000"/>
              </a:lnSpc>
              <a:spcBef>
                <a:spcPts val="100"/>
              </a:spcBef>
            </a:pPr>
            <a:r>
              <a:rPr sz="1400" b="1" dirty="0">
                <a:latin typeface="Times New Roman"/>
                <a:cs typeface="Times New Roman"/>
              </a:rPr>
              <a:t>Figure</a:t>
            </a:r>
            <a:r>
              <a:rPr sz="1400" b="1" spc="-55" dirty="0">
                <a:latin typeface="Times New Roman"/>
                <a:cs typeface="Times New Roman"/>
              </a:rPr>
              <a:t> </a:t>
            </a:r>
            <a:r>
              <a:rPr sz="1400" b="1" dirty="0">
                <a:latin typeface="Times New Roman"/>
                <a:cs typeface="Times New Roman"/>
              </a:rPr>
              <a:t>3:</a:t>
            </a:r>
            <a:r>
              <a:rPr sz="1400" b="1" spc="-2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Digital</a:t>
            </a:r>
            <a:r>
              <a:rPr sz="1400" spc="-5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subtraction</a:t>
            </a:r>
            <a:r>
              <a:rPr sz="1400" spc="-55" dirty="0">
                <a:latin typeface="Times New Roman"/>
                <a:cs typeface="Times New Roman"/>
              </a:rPr>
              <a:t> </a:t>
            </a:r>
            <a:r>
              <a:rPr sz="1400" spc="-10" dirty="0">
                <a:latin typeface="Times New Roman"/>
                <a:cs typeface="Times New Roman"/>
              </a:rPr>
              <a:t>angiography.</a:t>
            </a:r>
            <a:r>
              <a:rPr sz="1400" spc="-3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(a)</a:t>
            </a:r>
            <a:r>
              <a:rPr sz="1400" spc="-1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Mask</a:t>
            </a:r>
            <a:r>
              <a:rPr sz="1400" spc="-2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image.</a:t>
            </a:r>
            <a:r>
              <a:rPr sz="1400" spc="-1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(b)</a:t>
            </a:r>
            <a:r>
              <a:rPr sz="1400" spc="-10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A</a:t>
            </a:r>
            <a:r>
              <a:rPr sz="1400" spc="-8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live</a:t>
            </a:r>
            <a:r>
              <a:rPr sz="1400" spc="-3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image.</a:t>
            </a:r>
            <a:r>
              <a:rPr sz="1400" spc="-15" dirty="0">
                <a:latin typeface="Times New Roman"/>
                <a:cs typeface="Times New Roman"/>
              </a:rPr>
              <a:t> </a:t>
            </a:r>
            <a:r>
              <a:rPr sz="1400" spc="-25" dirty="0">
                <a:latin typeface="Times New Roman"/>
                <a:cs typeface="Times New Roman"/>
              </a:rPr>
              <a:t>(c) </a:t>
            </a:r>
            <a:r>
              <a:rPr sz="1400" dirty="0">
                <a:latin typeface="Times New Roman"/>
                <a:cs typeface="Times New Roman"/>
              </a:rPr>
              <a:t>Difference</a:t>
            </a:r>
            <a:r>
              <a:rPr sz="1400" spc="-4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between</a:t>
            </a:r>
            <a:r>
              <a:rPr sz="1400" spc="-1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(b)</a:t>
            </a:r>
            <a:r>
              <a:rPr sz="1400" spc="-4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and</a:t>
            </a:r>
            <a:r>
              <a:rPr sz="1400" spc="-2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(a).</a:t>
            </a:r>
            <a:r>
              <a:rPr sz="1400" spc="-2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(d)</a:t>
            </a:r>
            <a:r>
              <a:rPr sz="1400" spc="-4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Enhanced</a:t>
            </a:r>
            <a:r>
              <a:rPr sz="1400" spc="-3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difference</a:t>
            </a:r>
            <a:r>
              <a:rPr sz="1400" spc="-55" dirty="0">
                <a:latin typeface="Times New Roman"/>
                <a:cs typeface="Times New Roman"/>
              </a:rPr>
              <a:t> </a:t>
            </a:r>
            <a:r>
              <a:rPr sz="1400" spc="-10" dirty="0">
                <a:latin typeface="Times New Roman"/>
                <a:cs typeface="Times New Roman"/>
              </a:rPr>
              <a:t>image.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dirty="0"/>
              <a:t>23</a:t>
            </a:r>
            <a:r>
              <a:rPr spc="-5" dirty="0"/>
              <a:t> </a:t>
            </a:r>
            <a:r>
              <a:rPr dirty="0"/>
              <a:t>May</a:t>
            </a:r>
            <a:r>
              <a:rPr spc="-5" dirty="0"/>
              <a:t> </a:t>
            </a:r>
            <a:r>
              <a:rPr spc="-20" dirty="0"/>
              <a:t>2024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pc="-10" dirty="0"/>
              <a:t>MATHEMATICAL</a:t>
            </a:r>
            <a:r>
              <a:rPr spc="10" dirty="0"/>
              <a:t> </a:t>
            </a:r>
            <a:r>
              <a:rPr dirty="0"/>
              <a:t>TOOLS</a:t>
            </a:r>
            <a:r>
              <a:rPr spc="-15" dirty="0"/>
              <a:t> </a:t>
            </a:r>
            <a:r>
              <a:rPr dirty="0"/>
              <a:t>USED</a:t>
            </a:r>
            <a:r>
              <a:rPr spc="-30" dirty="0"/>
              <a:t> </a:t>
            </a:r>
            <a:r>
              <a:rPr dirty="0"/>
              <a:t>IN</a:t>
            </a:r>
            <a:r>
              <a:rPr spc="-30" dirty="0"/>
              <a:t> </a:t>
            </a:r>
            <a:r>
              <a:rPr dirty="0"/>
              <a:t>DIGITAL</a:t>
            </a:r>
            <a:r>
              <a:rPr spc="5" dirty="0"/>
              <a:t> </a:t>
            </a:r>
            <a:r>
              <a:rPr dirty="0"/>
              <a:t>IMAGE</a:t>
            </a:r>
            <a:r>
              <a:rPr spc="-5" dirty="0"/>
              <a:t> </a:t>
            </a:r>
            <a:r>
              <a:rPr spc="-10" dirty="0"/>
              <a:t>PROCESSING</a:t>
            </a:r>
          </a:p>
        </p:txBody>
      </p:sp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55"/>
              </a:lnSpc>
            </a:pPr>
            <a:fld id="{81D60167-4931-47E6-BA6A-407CBD079E47}" type="slidenum">
              <a:rPr spc="-25" dirty="0"/>
              <a:t>18</a:t>
            </a:fld>
            <a:endParaRPr spc="-25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01676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-50" dirty="0"/>
              <a:t>Arithmetic</a:t>
            </a:r>
            <a:r>
              <a:rPr sz="3600" spc="-140" dirty="0"/>
              <a:t> </a:t>
            </a:r>
            <a:r>
              <a:rPr sz="3600" spc="-50" dirty="0"/>
              <a:t>Operation</a:t>
            </a:r>
            <a:r>
              <a:rPr sz="3600" spc="-170" dirty="0"/>
              <a:t> </a:t>
            </a:r>
            <a:r>
              <a:rPr sz="3600" spc="-55" dirty="0"/>
              <a:t>(Multiplication</a:t>
            </a:r>
            <a:r>
              <a:rPr sz="3600" spc="-140" dirty="0"/>
              <a:t> </a:t>
            </a:r>
            <a:r>
              <a:rPr sz="3600" dirty="0"/>
              <a:t>and</a:t>
            </a:r>
            <a:r>
              <a:rPr sz="3600" spc="-140" dirty="0"/>
              <a:t> </a:t>
            </a:r>
            <a:r>
              <a:rPr sz="3600" spc="-10" dirty="0"/>
              <a:t>Division)</a:t>
            </a:r>
            <a:endParaRPr sz="3600"/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dirty="0"/>
              <a:t>23</a:t>
            </a:r>
            <a:r>
              <a:rPr spc="-5" dirty="0"/>
              <a:t> </a:t>
            </a:r>
            <a:r>
              <a:rPr dirty="0"/>
              <a:t>May</a:t>
            </a:r>
            <a:r>
              <a:rPr spc="-5" dirty="0"/>
              <a:t> </a:t>
            </a:r>
            <a:r>
              <a:rPr spc="-20" dirty="0"/>
              <a:t>2024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pc="-10" dirty="0"/>
              <a:t>MATHEMATICAL</a:t>
            </a:r>
            <a:r>
              <a:rPr spc="10" dirty="0"/>
              <a:t> </a:t>
            </a:r>
            <a:r>
              <a:rPr dirty="0"/>
              <a:t>TOOLS</a:t>
            </a:r>
            <a:r>
              <a:rPr spc="-15" dirty="0"/>
              <a:t> </a:t>
            </a:r>
            <a:r>
              <a:rPr dirty="0"/>
              <a:t>USED</a:t>
            </a:r>
            <a:r>
              <a:rPr spc="-30" dirty="0"/>
              <a:t> </a:t>
            </a:r>
            <a:r>
              <a:rPr dirty="0"/>
              <a:t>IN</a:t>
            </a:r>
            <a:r>
              <a:rPr spc="-30" dirty="0"/>
              <a:t> </a:t>
            </a:r>
            <a:r>
              <a:rPr dirty="0"/>
              <a:t>DIGITAL</a:t>
            </a:r>
            <a:r>
              <a:rPr spc="5" dirty="0"/>
              <a:t> </a:t>
            </a:r>
            <a:r>
              <a:rPr dirty="0"/>
              <a:t>IMAGE</a:t>
            </a:r>
            <a:r>
              <a:rPr spc="-5" dirty="0"/>
              <a:t> </a:t>
            </a:r>
            <a:r>
              <a:rPr spc="-10" dirty="0"/>
              <a:t>PROCESSING</a:t>
            </a:r>
          </a:p>
        </p:txBody>
      </p:sp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55"/>
              </a:lnSpc>
            </a:pPr>
            <a:fld id="{81D60167-4931-47E6-BA6A-407CBD079E47}" type="slidenum">
              <a:rPr spc="-25" dirty="0"/>
              <a:t>19</a:t>
            </a:fld>
            <a:endParaRPr spc="-25" dirty="0"/>
          </a:p>
        </p:txBody>
      </p:sp>
      <p:sp>
        <p:nvSpPr>
          <p:cNvPr id="3" name="object 3"/>
          <p:cNvSpPr txBox="1"/>
          <p:nvPr/>
        </p:nvSpPr>
        <p:spPr>
          <a:xfrm>
            <a:off x="1268349" y="1844167"/>
            <a:ext cx="8397240" cy="2298700"/>
          </a:xfrm>
          <a:prstGeom prst="rect">
            <a:avLst/>
          </a:prstGeom>
        </p:spPr>
        <p:txBody>
          <a:bodyPr vert="horz" wrap="square" lIns="0" tIns="149860" rIns="0" bIns="0" rtlCol="0">
            <a:spAutoFit/>
          </a:bodyPr>
          <a:lstStyle/>
          <a:p>
            <a:pPr marL="299085" indent="-286385">
              <a:lnSpc>
                <a:spcPct val="100000"/>
              </a:lnSpc>
              <a:spcBef>
                <a:spcPts val="1180"/>
              </a:spcBef>
              <a:buFont typeface="Wingdings"/>
              <a:buChar char=""/>
              <a:tabLst>
                <a:tab pos="299085" algn="l"/>
              </a:tabLst>
            </a:pPr>
            <a:r>
              <a:rPr sz="1800" dirty="0">
                <a:latin typeface="Times New Roman"/>
                <a:cs typeface="Times New Roman"/>
              </a:rPr>
              <a:t>An</a:t>
            </a:r>
            <a:r>
              <a:rPr sz="1800" spc="-2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important</a:t>
            </a:r>
            <a:r>
              <a:rPr sz="1800" spc="-2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application</a:t>
            </a:r>
            <a:r>
              <a:rPr sz="1800" spc="-4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of</a:t>
            </a:r>
            <a:r>
              <a:rPr sz="1800" spc="-3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image</a:t>
            </a:r>
            <a:r>
              <a:rPr sz="1800" spc="-10" dirty="0">
                <a:latin typeface="Times New Roman"/>
                <a:cs typeface="Times New Roman"/>
              </a:rPr>
              <a:t> </a:t>
            </a:r>
            <a:r>
              <a:rPr sz="1800" b="1" dirty="0">
                <a:latin typeface="Times New Roman"/>
                <a:cs typeface="Times New Roman"/>
              </a:rPr>
              <a:t>multiplication</a:t>
            </a:r>
            <a:r>
              <a:rPr sz="1800" b="1" spc="-40" dirty="0">
                <a:latin typeface="Times New Roman"/>
                <a:cs typeface="Times New Roman"/>
              </a:rPr>
              <a:t> </a:t>
            </a:r>
            <a:r>
              <a:rPr sz="1800" b="1" dirty="0">
                <a:latin typeface="Times New Roman"/>
                <a:cs typeface="Times New Roman"/>
              </a:rPr>
              <a:t>(and</a:t>
            </a:r>
            <a:r>
              <a:rPr sz="1800" b="1" spc="-25" dirty="0">
                <a:latin typeface="Times New Roman"/>
                <a:cs typeface="Times New Roman"/>
              </a:rPr>
              <a:t> </a:t>
            </a:r>
            <a:r>
              <a:rPr sz="1800" b="1" dirty="0">
                <a:latin typeface="Times New Roman"/>
                <a:cs typeface="Times New Roman"/>
              </a:rPr>
              <a:t>division)</a:t>
            </a:r>
            <a:r>
              <a:rPr sz="1800" b="1" spc="-2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is</a:t>
            </a:r>
            <a:r>
              <a:rPr sz="1800" spc="-35" dirty="0">
                <a:latin typeface="Times New Roman"/>
                <a:cs typeface="Times New Roman"/>
              </a:rPr>
              <a:t> </a:t>
            </a:r>
            <a:r>
              <a:rPr sz="1800" b="1" i="1" dirty="0">
                <a:latin typeface="Times New Roman"/>
                <a:cs typeface="Times New Roman"/>
              </a:rPr>
              <a:t>shading</a:t>
            </a:r>
            <a:r>
              <a:rPr sz="1800" b="1" i="1" spc="-20" dirty="0">
                <a:latin typeface="Times New Roman"/>
                <a:cs typeface="Times New Roman"/>
              </a:rPr>
              <a:t> </a:t>
            </a:r>
            <a:r>
              <a:rPr sz="1800" b="1" i="1" spc="-10" dirty="0">
                <a:latin typeface="Times New Roman"/>
                <a:cs typeface="Times New Roman"/>
              </a:rPr>
              <a:t>correction</a:t>
            </a:r>
            <a:r>
              <a:rPr sz="1800" spc="-10" dirty="0">
                <a:latin typeface="Times New Roman"/>
                <a:cs typeface="Times New Roman"/>
              </a:rPr>
              <a:t>.</a:t>
            </a:r>
            <a:endParaRPr sz="1800" dirty="0">
              <a:latin typeface="Times New Roman"/>
              <a:cs typeface="Times New Roman"/>
            </a:endParaRPr>
          </a:p>
          <a:p>
            <a:pPr marL="355600" indent="-342900">
              <a:lnSpc>
                <a:spcPct val="100000"/>
              </a:lnSpc>
              <a:spcBef>
                <a:spcPts val="1080"/>
              </a:spcBef>
              <a:buFont typeface="Wingdings"/>
              <a:buChar char=""/>
              <a:tabLst>
                <a:tab pos="355600" algn="l"/>
              </a:tabLst>
            </a:pPr>
            <a:r>
              <a:rPr sz="1800" dirty="0">
                <a:latin typeface="Times New Roman"/>
                <a:cs typeface="Times New Roman"/>
              </a:rPr>
              <a:t>Suppose</a:t>
            </a:r>
            <a:r>
              <a:rPr sz="1800" spc="-3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that</a:t>
            </a:r>
            <a:r>
              <a:rPr sz="1800" spc="-4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an</a:t>
            </a:r>
            <a:r>
              <a:rPr sz="1800" spc="-4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imaging</a:t>
            </a:r>
            <a:r>
              <a:rPr sz="1800" spc="-4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sensor</a:t>
            </a:r>
            <a:r>
              <a:rPr sz="1800" spc="-4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produces</a:t>
            </a:r>
            <a:r>
              <a:rPr sz="1800" spc="-4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images,</a:t>
            </a:r>
            <a:r>
              <a:rPr sz="1800" spc="-40" dirty="0">
                <a:latin typeface="Times New Roman"/>
                <a:cs typeface="Times New Roman"/>
              </a:rPr>
              <a:t> </a:t>
            </a:r>
            <a:r>
              <a:rPr sz="1800" b="1" i="1" spc="-10" dirty="0">
                <a:latin typeface="Times New Roman"/>
                <a:cs typeface="Times New Roman"/>
              </a:rPr>
              <a:t>g(x,y),</a:t>
            </a:r>
            <a:endParaRPr sz="18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70"/>
              </a:spcBef>
            </a:pPr>
            <a:endParaRPr sz="1800" dirty="0">
              <a:latin typeface="Times New Roman"/>
              <a:cs typeface="Times New Roman"/>
            </a:endParaRPr>
          </a:p>
          <a:p>
            <a:pPr marL="3766820">
              <a:lnSpc>
                <a:spcPct val="100000"/>
              </a:lnSpc>
              <a:spcBef>
                <a:spcPts val="5"/>
              </a:spcBef>
            </a:pPr>
            <a:r>
              <a:rPr sz="1950" b="1" i="1" dirty="0">
                <a:latin typeface="Times New Roman"/>
                <a:cs typeface="Times New Roman"/>
              </a:rPr>
              <a:t>g</a:t>
            </a:r>
            <a:r>
              <a:rPr sz="1950" i="1" dirty="0">
                <a:latin typeface="Times New Roman"/>
                <a:cs typeface="Times New Roman"/>
              </a:rPr>
              <a:t>(</a:t>
            </a:r>
            <a:r>
              <a:rPr sz="1950" i="1" spc="-15" dirty="0">
                <a:latin typeface="Times New Roman"/>
                <a:cs typeface="Times New Roman"/>
              </a:rPr>
              <a:t> </a:t>
            </a:r>
            <a:r>
              <a:rPr sz="1950" b="1" i="1" spc="80" dirty="0">
                <a:latin typeface="Times New Roman"/>
                <a:cs typeface="Times New Roman"/>
              </a:rPr>
              <a:t>x</a:t>
            </a:r>
            <a:r>
              <a:rPr sz="1950" i="1" spc="80" dirty="0">
                <a:latin typeface="Times New Roman"/>
                <a:cs typeface="Times New Roman"/>
              </a:rPr>
              <a:t>,</a:t>
            </a:r>
            <a:r>
              <a:rPr sz="1950" i="1" spc="-215" dirty="0">
                <a:latin typeface="Times New Roman"/>
                <a:cs typeface="Times New Roman"/>
              </a:rPr>
              <a:t> </a:t>
            </a:r>
            <a:r>
              <a:rPr sz="1950" b="1" i="1" dirty="0">
                <a:latin typeface="Times New Roman"/>
                <a:cs typeface="Times New Roman"/>
              </a:rPr>
              <a:t>y</a:t>
            </a:r>
            <a:r>
              <a:rPr sz="1950" b="1" i="1" spc="-195" dirty="0">
                <a:latin typeface="Times New Roman"/>
                <a:cs typeface="Times New Roman"/>
              </a:rPr>
              <a:t> </a:t>
            </a:r>
            <a:r>
              <a:rPr sz="1950" i="1" dirty="0">
                <a:latin typeface="Times New Roman"/>
                <a:cs typeface="Times New Roman"/>
              </a:rPr>
              <a:t>)</a:t>
            </a:r>
            <a:r>
              <a:rPr sz="1950" i="1" spc="-95" dirty="0">
                <a:latin typeface="Times New Roman"/>
                <a:cs typeface="Times New Roman"/>
              </a:rPr>
              <a:t> </a:t>
            </a:r>
            <a:r>
              <a:rPr sz="1950" dirty="0">
                <a:latin typeface="Symbol"/>
                <a:cs typeface="Symbol"/>
              </a:rPr>
              <a:t></a:t>
            </a:r>
            <a:r>
              <a:rPr sz="1950" spc="365" dirty="0">
                <a:latin typeface="Times New Roman"/>
                <a:cs typeface="Times New Roman"/>
              </a:rPr>
              <a:t> </a:t>
            </a:r>
            <a:r>
              <a:rPr sz="1950" b="1" i="1" dirty="0">
                <a:latin typeface="Times New Roman"/>
                <a:cs typeface="Times New Roman"/>
              </a:rPr>
              <a:t>f</a:t>
            </a:r>
            <a:r>
              <a:rPr sz="1950" b="1" i="1" spc="-195" dirty="0">
                <a:latin typeface="Times New Roman"/>
                <a:cs typeface="Times New Roman"/>
              </a:rPr>
              <a:t> </a:t>
            </a:r>
            <a:r>
              <a:rPr sz="1950" i="1" dirty="0">
                <a:latin typeface="Times New Roman"/>
                <a:cs typeface="Times New Roman"/>
              </a:rPr>
              <a:t>(</a:t>
            </a:r>
            <a:r>
              <a:rPr sz="1950" i="1" spc="-10" dirty="0">
                <a:latin typeface="Times New Roman"/>
                <a:cs typeface="Times New Roman"/>
              </a:rPr>
              <a:t> </a:t>
            </a:r>
            <a:r>
              <a:rPr sz="1950" b="1" i="1" spc="80" dirty="0">
                <a:latin typeface="Times New Roman"/>
                <a:cs typeface="Times New Roman"/>
              </a:rPr>
              <a:t>x</a:t>
            </a:r>
            <a:r>
              <a:rPr sz="1950" i="1" spc="80" dirty="0">
                <a:latin typeface="Times New Roman"/>
                <a:cs typeface="Times New Roman"/>
              </a:rPr>
              <a:t>,</a:t>
            </a:r>
            <a:r>
              <a:rPr sz="1950" i="1" spc="-215" dirty="0">
                <a:latin typeface="Times New Roman"/>
                <a:cs typeface="Times New Roman"/>
              </a:rPr>
              <a:t> </a:t>
            </a:r>
            <a:r>
              <a:rPr sz="1950" b="1" i="1" dirty="0">
                <a:latin typeface="Times New Roman"/>
                <a:cs typeface="Times New Roman"/>
              </a:rPr>
              <a:t>y</a:t>
            </a:r>
            <a:r>
              <a:rPr sz="1950" b="1" i="1" spc="-190" dirty="0">
                <a:latin typeface="Times New Roman"/>
                <a:cs typeface="Times New Roman"/>
              </a:rPr>
              <a:t> </a:t>
            </a:r>
            <a:r>
              <a:rPr sz="1950" i="1" spc="-30" dirty="0">
                <a:latin typeface="Times New Roman"/>
                <a:cs typeface="Times New Roman"/>
              </a:rPr>
              <a:t>)</a:t>
            </a:r>
            <a:r>
              <a:rPr sz="1950" b="1" i="1" spc="-30" dirty="0">
                <a:latin typeface="Times New Roman"/>
                <a:cs typeface="Times New Roman"/>
              </a:rPr>
              <a:t>h</a:t>
            </a:r>
            <a:r>
              <a:rPr sz="1950" i="1" spc="-30" dirty="0">
                <a:latin typeface="Times New Roman"/>
                <a:cs typeface="Times New Roman"/>
              </a:rPr>
              <a:t>(</a:t>
            </a:r>
            <a:r>
              <a:rPr sz="1950" i="1" spc="-15" dirty="0">
                <a:latin typeface="Times New Roman"/>
                <a:cs typeface="Times New Roman"/>
              </a:rPr>
              <a:t> </a:t>
            </a:r>
            <a:r>
              <a:rPr sz="1950" b="1" i="1" spc="80" dirty="0">
                <a:latin typeface="Times New Roman"/>
                <a:cs typeface="Times New Roman"/>
              </a:rPr>
              <a:t>x</a:t>
            </a:r>
            <a:r>
              <a:rPr sz="1950" i="1" spc="80" dirty="0">
                <a:latin typeface="Times New Roman"/>
                <a:cs typeface="Times New Roman"/>
              </a:rPr>
              <a:t>,</a:t>
            </a:r>
            <a:r>
              <a:rPr sz="1950" i="1" spc="-215" dirty="0">
                <a:latin typeface="Times New Roman"/>
                <a:cs typeface="Times New Roman"/>
              </a:rPr>
              <a:t> </a:t>
            </a:r>
            <a:r>
              <a:rPr sz="1950" b="1" i="1" dirty="0">
                <a:latin typeface="Times New Roman"/>
                <a:cs typeface="Times New Roman"/>
              </a:rPr>
              <a:t>y</a:t>
            </a:r>
            <a:r>
              <a:rPr sz="1950" b="1" i="1" spc="-195" dirty="0">
                <a:latin typeface="Times New Roman"/>
                <a:cs typeface="Times New Roman"/>
              </a:rPr>
              <a:t> </a:t>
            </a:r>
            <a:r>
              <a:rPr sz="1950" i="1" spc="-50" dirty="0">
                <a:latin typeface="Times New Roman"/>
                <a:cs typeface="Times New Roman"/>
              </a:rPr>
              <a:t>)</a:t>
            </a:r>
            <a:endParaRPr sz="195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65"/>
              </a:spcBef>
            </a:pPr>
            <a:endParaRPr sz="1950" dirty="0">
              <a:latin typeface="Times New Roman"/>
              <a:cs typeface="Times New Roman"/>
            </a:endParaRPr>
          </a:p>
          <a:p>
            <a:pPr marL="145415">
              <a:lnSpc>
                <a:spcPct val="100000"/>
              </a:lnSpc>
              <a:spcBef>
                <a:spcPts val="5"/>
              </a:spcBef>
            </a:pPr>
            <a:r>
              <a:rPr sz="1800" spc="-10" dirty="0">
                <a:latin typeface="Times New Roman"/>
                <a:cs typeface="Times New Roman"/>
              </a:rPr>
              <a:t>-</a:t>
            </a:r>
            <a:r>
              <a:rPr sz="1800" b="1" i="1" dirty="0">
                <a:latin typeface="Times New Roman"/>
                <a:cs typeface="Times New Roman"/>
              </a:rPr>
              <a:t>f(x,y)</a:t>
            </a:r>
            <a:r>
              <a:rPr sz="1800" b="1" i="1" spc="-4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indicates</a:t>
            </a:r>
            <a:r>
              <a:rPr sz="1800" spc="-50" dirty="0">
                <a:latin typeface="Times New Roman"/>
                <a:cs typeface="Times New Roman"/>
              </a:rPr>
              <a:t> </a:t>
            </a:r>
            <a:r>
              <a:rPr sz="1800" b="1" dirty="0">
                <a:latin typeface="Times New Roman"/>
                <a:cs typeface="Times New Roman"/>
              </a:rPr>
              <a:t>perfect</a:t>
            </a:r>
            <a:r>
              <a:rPr sz="1800" b="1" spc="-25" dirty="0">
                <a:latin typeface="Times New Roman"/>
                <a:cs typeface="Times New Roman"/>
              </a:rPr>
              <a:t> </a:t>
            </a:r>
            <a:r>
              <a:rPr sz="1800" b="1" spc="-10" dirty="0">
                <a:latin typeface="Times New Roman"/>
                <a:cs typeface="Times New Roman"/>
              </a:rPr>
              <a:t>image</a:t>
            </a:r>
            <a:endParaRPr sz="1800" dirty="0">
              <a:latin typeface="Times New Roman"/>
              <a:cs typeface="Times New Roman"/>
            </a:endParaRPr>
          </a:p>
          <a:p>
            <a:pPr marL="145415">
              <a:lnSpc>
                <a:spcPct val="100000"/>
              </a:lnSpc>
            </a:pPr>
            <a:r>
              <a:rPr sz="1800" spc="-10" dirty="0">
                <a:latin typeface="Times New Roman"/>
                <a:cs typeface="Times New Roman"/>
              </a:rPr>
              <a:t>-</a:t>
            </a:r>
            <a:r>
              <a:rPr sz="1800" b="1" i="1" dirty="0">
                <a:latin typeface="Times New Roman"/>
                <a:cs typeface="Times New Roman"/>
              </a:rPr>
              <a:t>h(x,y)</a:t>
            </a:r>
            <a:r>
              <a:rPr sz="1800" b="1" i="1" spc="-2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indicates</a:t>
            </a:r>
            <a:r>
              <a:rPr sz="1800" spc="-30" dirty="0">
                <a:latin typeface="Times New Roman"/>
                <a:cs typeface="Times New Roman"/>
              </a:rPr>
              <a:t> </a:t>
            </a:r>
            <a:r>
              <a:rPr sz="1800" b="1" dirty="0">
                <a:latin typeface="Times New Roman"/>
                <a:cs typeface="Times New Roman"/>
              </a:rPr>
              <a:t>a</a:t>
            </a:r>
            <a:r>
              <a:rPr sz="1800" b="1" spc="-20" dirty="0">
                <a:latin typeface="Times New Roman"/>
                <a:cs typeface="Times New Roman"/>
              </a:rPr>
              <a:t> </a:t>
            </a:r>
            <a:r>
              <a:rPr sz="1800" b="1" dirty="0">
                <a:latin typeface="Times New Roman"/>
                <a:cs typeface="Times New Roman"/>
              </a:rPr>
              <a:t>shading</a:t>
            </a:r>
            <a:r>
              <a:rPr sz="1800" b="1" spc="5" dirty="0">
                <a:latin typeface="Times New Roman"/>
                <a:cs typeface="Times New Roman"/>
              </a:rPr>
              <a:t> </a:t>
            </a:r>
            <a:r>
              <a:rPr sz="1800" b="1" spc="-10" dirty="0">
                <a:latin typeface="Times New Roman"/>
                <a:cs typeface="Times New Roman"/>
              </a:rPr>
              <a:t>function</a:t>
            </a:r>
            <a:endParaRPr sz="18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01676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-50" dirty="0"/>
              <a:t>Arithmetic</a:t>
            </a:r>
            <a:r>
              <a:rPr sz="3600" spc="-140" dirty="0"/>
              <a:t> </a:t>
            </a:r>
            <a:r>
              <a:rPr sz="3600" spc="-50" dirty="0"/>
              <a:t>Operation</a:t>
            </a:r>
            <a:r>
              <a:rPr sz="3600" spc="-170" dirty="0"/>
              <a:t> </a:t>
            </a:r>
            <a:r>
              <a:rPr sz="3600" spc="-55" dirty="0"/>
              <a:t>(Multiplication</a:t>
            </a:r>
            <a:r>
              <a:rPr sz="3600" spc="-140" dirty="0"/>
              <a:t> </a:t>
            </a:r>
            <a:r>
              <a:rPr sz="3600" dirty="0"/>
              <a:t>and</a:t>
            </a:r>
            <a:r>
              <a:rPr sz="3600" spc="-140" dirty="0"/>
              <a:t> </a:t>
            </a:r>
            <a:r>
              <a:rPr sz="3600" spc="-10" dirty="0"/>
              <a:t>Division)</a:t>
            </a:r>
            <a:endParaRPr sz="3600"/>
          </a:p>
        </p:txBody>
      </p:sp>
      <p:grpSp>
        <p:nvGrpSpPr>
          <p:cNvPr id="3" name="object 3"/>
          <p:cNvGrpSpPr/>
          <p:nvPr/>
        </p:nvGrpSpPr>
        <p:grpSpPr>
          <a:xfrm>
            <a:off x="3829811" y="2057400"/>
            <a:ext cx="4711065" cy="1158240"/>
            <a:chOff x="3829811" y="2057400"/>
            <a:chExt cx="4711065" cy="1158240"/>
          </a:xfrm>
        </p:grpSpPr>
        <p:sp>
          <p:nvSpPr>
            <p:cNvPr id="4" name="object 4"/>
            <p:cNvSpPr/>
            <p:nvPr/>
          </p:nvSpPr>
          <p:spPr>
            <a:xfrm>
              <a:off x="3908932" y="2065020"/>
              <a:ext cx="4624070" cy="285750"/>
            </a:xfrm>
            <a:custGeom>
              <a:avLst/>
              <a:gdLst/>
              <a:ahLst/>
              <a:cxnLst/>
              <a:rect l="l" t="t" r="r" b="b"/>
              <a:pathLst>
                <a:path w="4624070" h="285750">
                  <a:moveTo>
                    <a:pt x="35687" y="178562"/>
                  </a:moveTo>
                  <a:lnTo>
                    <a:pt x="21752" y="181371"/>
                  </a:lnTo>
                  <a:lnTo>
                    <a:pt x="10413" y="189039"/>
                  </a:lnTo>
                  <a:lnTo>
                    <a:pt x="2790" y="200421"/>
                  </a:lnTo>
                  <a:lnTo>
                    <a:pt x="0" y="214375"/>
                  </a:lnTo>
                  <a:lnTo>
                    <a:pt x="0" y="285750"/>
                  </a:lnTo>
                  <a:lnTo>
                    <a:pt x="27761" y="280134"/>
                  </a:lnTo>
                  <a:lnTo>
                    <a:pt x="50450" y="264826"/>
                  </a:lnTo>
                  <a:lnTo>
                    <a:pt x="65758" y="242137"/>
                  </a:lnTo>
                  <a:lnTo>
                    <a:pt x="71374" y="214375"/>
                  </a:lnTo>
                  <a:lnTo>
                    <a:pt x="68566" y="200421"/>
                  </a:lnTo>
                  <a:lnTo>
                    <a:pt x="60912" y="189039"/>
                  </a:lnTo>
                  <a:lnTo>
                    <a:pt x="49567" y="181371"/>
                  </a:lnTo>
                  <a:lnTo>
                    <a:pt x="35687" y="178562"/>
                  </a:lnTo>
                  <a:close/>
                </a:path>
                <a:path w="4624070" h="285750">
                  <a:moveTo>
                    <a:pt x="4623943" y="71500"/>
                  </a:moveTo>
                  <a:lnTo>
                    <a:pt x="4552442" y="71500"/>
                  </a:lnTo>
                  <a:lnTo>
                    <a:pt x="4552442" y="142875"/>
                  </a:lnTo>
                  <a:lnTo>
                    <a:pt x="4580276" y="137259"/>
                  </a:lnTo>
                  <a:lnTo>
                    <a:pt x="4603003" y="121951"/>
                  </a:lnTo>
                  <a:lnTo>
                    <a:pt x="4618325" y="99262"/>
                  </a:lnTo>
                  <a:lnTo>
                    <a:pt x="4623943" y="71500"/>
                  </a:lnTo>
                  <a:close/>
                </a:path>
                <a:path w="4624070" h="285750">
                  <a:moveTo>
                    <a:pt x="4552442" y="0"/>
                  </a:moveTo>
                  <a:lnTo>
                    <a:pt x="4524680" y="5617"/>
                  </a:lnTo>
                  <a:lnTo>
                    <a:pt x="4501991" y="20939"/>
                  </a:lnTo>
                  <a:lnTo>
                    <a:pt x="4486683" y="43666"/>
                  </a:lnTo>
                  <a:lnTo>
                    <a:pt x="4481068" y="71500"/>
                  </a:lnTo>
                  <a:lnTo>
                    <a:pt x="4483875" y="85381"/>
                  </a:lnTo>
                  <a:lnTo>
                    <a:pt x="4491529" y="96726"/>
                  </a:lnTo>
                  <a:lnTo>
                    <a:pt x="4502874" y="104380"/>
                  </a:lnTo>
                  <a:lnTo>
                    <a:pt x="4516755" y="107187"/>
                  </a:lnTo>
                  <a:lnTo>
                    <a:pt x="4530689" y="104380"/>
                  </a:lnTo>
                  <a:lnTo>
                    <a:pt x="4542028" y="96726"/>
                  </a:lnTo>
                  <a:lnTo>
                    <a:pt x="4549651" y="85381"/>
                  </a:lnTo>
                  <a:lnTo>
                    <a:pt x="4552442" y="71500"/>
                  </a:lnTo>
                  <a:lnTo>
                    <a:pt x="4623943" y="71500"/>
                  </a:lnTo>
                  <a:lnTo>
                    <a:pt x="4618325" y="43666"/>
                  </a:lnTo>
                  <a:lnTo>
                    <a:pt x="4603003" y="20939"/>
                  </a:lnTo>
                  <a:lnTo>
                    <a:pt x="4580276" y="5617"/>
                  </a:lnTo>
                  <a:lnTo>
                    <a:pt x="4552442" y="0"/>
                  </a:lnTo>
                  <a:close/>
                </a:path>
              </a:pathLst>
            </a:custGeom>
            <a:solidFill>
              <a:srgbClr val="CDCDC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3837431" y="2065020"/>
              <a:ext cx="4695825" cy="1143000"/>
            </a:xfrm>
            <a:custGeom>
              <a:avLst/>
              <a:gdLst/>
              <a:ahLst/>
              <a:cxnLst/>
              <a:rect l="l" t="t" r="r" b="b"/>
              <a:pathLst>
                <a:path w="4695825" h="1143000">
                  <a:moveTo>
                    <a:pt x="0" y="214375"/>
                  </a:moveTo>
                  <a:lnTo>
                    <a:pt x="5617" y="186541"/>
                  </a:lnTo>
                  <a:lnTo>
                    <a:pt x="20939" y="163814"/>
                  </a:lnTo>
                  <a:lnTo>
                    <a:pt x="43666" y="148492"/>
                  </a:lnTo>
                  <a:lnTo>
                    <a:pt x="71500" y="142875"/>
                  </a:lnTo>
                  <a:lnTo>
                    <a:pt x="4552569" y="142875"/>
                  </a:lnTo>
                  <a:lnTo>
                    <a:pt x="4552569" y="71500"/>
                  </a:lnTo>
                  <a:lnTo>
                    <a:pt x="4558184" y="43666"/>
                  </a:lnTo>
                  <a:lnTo>
                    <a:pt x="4573492" y="20939"/>
                  </a:lnTo>
                  <a:lnTo>
                    <a:pt x="4596181" y="5617"/>
                  </a:lnTo>
                  <a:lnTo>
                    <a:pt x="4623943" y="0"/>
                  </a:lnTo>
                  <a:lnTo>
                    <a:pt x="4651777" y="5617"/>
                  </a:lnTo>
                  <a:lnTo>
                    <a:pt x="4674504" y="20939"/>
                  </a:lnTo>
                  <a:lnTo>
                    <a:pt x="4689826" y="43666"/>
                  </a:lnTo>
                  <a:lnTo>
                    <a:pt x="4695444" y="71500"/>
                  </a:lnTo>
                  <a:lnTo>
                    <a:pt x="4695444" y="928624"/>
                  </a:lnTo>
                  <a:lnTo>
                    <a:pt x="4689826" y="956458"/>
                  </a:lnTo>
                  <a:lnTo>
                    <a:pt x="4674504" y="979185"/>
                  </a:lnTo>
                  <a:lnTo>
                    <a:pt x="4651777" y="994507"/>
                  </a:lnTo>
                  <a:lnTo>
                    <a:pt x="4623943" y="1000125"/>
                  </a:lnTo>
                  <a:lnTo>
                    <a:pt x="142875" y="1000125"/>
                  </a:lnTo>
                  <a:lnTo>
                    <a:pt x="142875" y="1071499"/>
                  </a:lnTo>
                  <a:lnTo>
                    <a:pt x="137259" y="1099333"/>
                  </a:lnTo>
                  <a:lnTo>
                    <a:pt x="121951" y="1122060"/>
                  </a:lnTo>
                  <a:lnTo>
                    <a:pt x="99262" y="1137382"/>
                  </a:lnTo>
                  <a:lnTo>
                    <a:pt x="71500" y="1143000"/>
                  </a:lnTo>
                  <a:lnTo>
                    <a:pt x="43666" y="1137382"/>
                  </a:lnTo>
                  <a:lnTo>
                    <a:pt x="20939" y="1122060"/>
                  </a:lnTo>
                  <a:lnTo>
                    <a:pt x="5617" y="1099333"/>
                  </a:lnTo>
                  <a:lnTo>
                    <a:pt x="0" y="1071499"/>
                  </a:lnTo>
                  <a:lnTo>
                    <a:pt x="0" y="214375"/>
                  </a:lnTo>
                  <a:close/>
                </a:path>
              </a:pathLst>
            </a:custGeom>
            <a:ln w="1524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382380" y="2128901"/>
              <a:ext cx="158115" cy="86614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829811" y="2235962"/>
              <a:ext cx="158115" cy="122428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3980306" y="2279395"/>
              <a:ext cx="0" cy="786130"/>
            </a:xfrm>
            <a:custGeom>
              <a:avLst/>
              <a:gdLst/>
              <a:ahLst/>
              <a:cxnLst/>
              <a:rect l="l" t="t" r="r" b="b"/>
              <a:pathLst>
                <a:path h="786130">
                  <a:moveTo>
                    <a:pt x="0" y="0"/>
                  </a:moveTo>
                  <a:lnTo>
                    <a:pt x="0" y="785749"/>
                  </a:lnTo>
                </a:path>
              </a:pathLst>
            </a:custGeom>
            <a:ln w="1524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4417821" y="2366848"/>
            <a:ext cx="3816350" cy="134556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dirty="0">
                <a:latin typeface="Times New Roman"/>
                <a:cs typeface="Times New Roman"/>
              </a:rPr>
              <a:t>If h(x,</a:t>
            </a:r>
            <a:r>
              <a:rPr sz="3200" spc="-30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imes New Roman"/>
                <a:cs typeface="Times New Roman"/>
              </a:rPr>
              <a:t>y) is </a:t>
            </a:r>
            <a:r>
              <a:rPr sz="3200" spc="-10" dirty="0">
                <a:latin typeface="Times New Roman"/>
                <a:cs typeface="Times New Roman"/>
              </a:rPr>
              <a:t>known!!!!</a:t>
            </a:r>
            <a:endParaRPr sz="3200">
              <a:latin typeface="Times New Roman"/>
              <a:cs typeface="Times New Roman"/>
            </a:endParaRPr>
          </a:p>
          <a:p>
            <a:pPr marL="154940">
              <a:lnSpc>
                <a:spcPct val="100000"/>
              </a:lnSpc>
              <a:spcBef>
                <a:spcPts val="3419"/>
              </a:spcBef>
            </a:pPr>
            <a:r>
              <a:rPr sz="2600" b="1" i="1" dirty="0">
                <a:latin typeface="Times New Roman"/>
                <a:cs typeface="Times New Roman"/>
              </a:rPr>
              <a:t>f</a:t>
            </a:r>
            <a:r>
              <a:rPr sz="2600" b="1" i="1" spc="-254" dirty="0">
                <a:latin typeface="Times New Roman"/>
                <a:cs typeface="Times New Roman"/>
              </a:rPr>
              <a:t> </a:t>
            </a:r>
            <a:r>
              <a:rPr sz="2600" i="1" dirty="0">
                <a:latin typeface="Times New Roman"/>
                <a:cs typeface="Times New Roman"/>
              </a:rPr>
              <a:t>(</a:t>
            </a:r>
            <a:r>
              <a:rPr sz="2600" i="1" spc="-10" dirty="0">
                <a:latin typeface="Times New Roman"/>
                <a:cs typeface="Times New Roman"/>
              </a:rPr>
              <a:t> </a:t>
            </a:r>
            <a:r>
              <a:rPr sz="2600" b="1" i="1" spc="120" dirty="0">
                <a:latin typeface="Times New Roman"/>
                <a:cs typeface="Times New Roman"/>
              </a:rPr>
              <a:t>x</a:t>
            </a:r>
            <a:r>
              <a:rPr sz="2600" i="1" spc="120" dirty="0">
                <a:latin typeface="Times New Roman"/>
                <a:cs typeface="Times New Roman"/>
              </a:rPr>
              <a:t>,</a:t>
            </a:r>
            <a:r>
              <a:rPr sz="2600" i="1" spc="-285" dirty="0">
                <a:latin typeface="Times New Roman"/>
                <a:cs typeface="Times New Roman"/>
              </a:rPr>
              <a:t> </a:t>
            </a:r>
            <a:r>
              <a:rPr sz="2600" b="1" i="1" dirty="0">
                <a:latin typeface="Times New Roman"/>
                <a:cs typeface="Times New Roman"/>
              </a:rPr>
              <a:t>y</a:t>
            </a:r>
            <a:r>
              <a:rPr sz="2600" b="1" i="1" spc="-260" dirty="0">
                <a:latin typeface="Times New Roman"/>
                <a:cs typeface="Times New Roman"/>
              </a:rPr>
              <a:t> </a:t>
            </a:r>
            <a:r>
              <a:rPr sz="2600" i="1" dirty="0">
                <a:latin typeface="Times New Roman"/>
                <a:cs typeface="Times New Roman"/>
              </a:rPr>
              <a:t>)</a:t>
            </a:r>
            <a:r>
              <a:rPr sz="2600" i="1" spc="-125" dirty="0">
                <a:latin typeface="Times New Roman"/>
                <a:cs typeface="Times New Roman"/>
              </a:rPr>
              <a:t> </a:t>
            </a:r>
            <a:r>
              <a:rPr sz="2600" spc="55" dirty="0">
                <a:latin typeface="Symbol"/>
                <a:cs typeface="Symbol"/>
              </a:rPr>
              <a:t></a:t>
            </a:r>
            <a:r>
              <a:rPr sz="2600" spc="155" dirty="0">
                <a:latin typeface="Times New Roman"/>
                <a:cs typeface="Times New Roman"/>
              </a:rPr>
              <a:t> </a:t>
            </a:r>
            <a:r>
              <a:rPr sz="2600" b="1" i="1" dirty="0">
                <a:latin typeface="Times New Roman"/>
                <a:cs typeface="Times New Roman"/>
              </a:rPr>
              <a:t>g</a:t>
            </a:r>
            <a:r>
              <a:rPr sz="2600" i="1" dirty="0">
                <a:latin typeface="Times New Roman"/>
                <a:cs typeface="Times New Roman"/>
              </a:rPr>
              <a:t>(</a:t>
            </a:r>
            <a:r>
              <a:rPr sz="2600" i="1" spc="-10" dirty="0">
                <a:latin typeface="Times New Roman"/>
                <a:cs typeface="Times New Roman"/>
              </a:rPr>
              <a:t> </a:t>
            </a:r>
            <a:r>
              <a:rPr sz="2600" b="1" i="1" spc="114" dirty="0">
                <a:latin typeface="Times New Roman"/>
                <a:cs typeface="Times New Roman"/>
              </a:rPr>
              <a:t>x</a:t>
            </a:r>
            <a:r>
              <a:rPr sz="2600" i="1" spc="114" dirty="0">
                <a:latin typeface="Times New Roman"/>
                <a:cs typeface="Times New Roman"/>
              </a:rPr>
              <a:t>,</a:t>
            </a:r>
            <a:r>
              <a:rPr sz="2600" i="1" spc="-280" dirty="0">
                <a:latin typeface="Times New Roman"/>
                <a:cs typeface="Times New Roman"/>
              </a:rPr>
              <a:t> </a:t>
            </a:r>
            <a:r>
              <a:rPr sz="2600" b="1" i="1" dirty="0">
                <a:latin typeface="Times New Roman"/>
                <a:cs typeface="Times New Roman"/>
              </a:rPr>
              <a:t>y</a:t>
            </a:r>
            <a:r>
              <a:rPr sz="2600" b="1" i="1" spc="-260" dirty="0">
                <a:latin typeface="Times New Roman"/>
                <a:cs typeface="Times New Roman"/>
              </a:rPr>
              <a:t> </a:t>
            </a:r>
            <a:r>
              <a:rPr sz="2600" i="1" dirty="0">
                <a:latin typeface="Times New Roman"/>
                <a:cs typeface="Times New Roman"/>
              </a:rPr>
              <a:t>)</a:t>
            </a:r>
            <a:r>
              <a:rPr sz="2600" i="1" spc="-265" dirty="0">
                <a:latin typeface="Times New Roman"/>
                <a:cs typeface="Times New Roman"/>
              </a:rPr>
              <a:t> </a:t>
            </a:r>
            <a:r>
              <a:rPr sz="2600" spc="55" dirty="0">
                <a:latin typeface="Symbol"/>
                <a:cs typeface="Symbol"/>
              </a:rPr>
              <a:t></a:t>
            </a:r>
            <a:r>
              <a:rPr sz="2600" spc="-160" dirty="0">
                <a:latin typeface="Times New Roman"/>
                <a:cs typeface="Times New Roman"/>
              </a:rPr>
              <a:t> </a:t>
            </a:r>
            <a:r>
              <a:rPr sz="2600" b="1" i="1" spc="-10" dirty="0">
                <a:latin typeface="Times New Roman"/>
                <a:cs typeface="Times New Roman"/>
              </a:rPr>
              <a:t>h</a:t>
            </a:r>
            <a:r>
              <a:rPr sz="2600" i="1" spc="-10" dirty="0">
                <a:latin typeface="Times New Roman"/>
                <a:cs typeface="Times New Roman"/>
              </a:rPr>
              <a:t>( </a:t>
            </a:r>
            <a:r>
              <a:rPr sz="2600" b="1" i="1" spc="114" dirty="0">
                <a:latin typeface="Times New Roman"/>
                <a:cs typeface="Times New Roman"/>
              </a:rPr>
              <a:t>x</a:t>
            </a:r>
            <a:r>
              <a:rPr sz="2600" i="1" spc="114" dirty="0">
                <a:latin typeface="Times New Roman"/>
                <a:cs typeface="Times New Roman"/>
              </a:rPr>
              <a:t>,</a:t>
            </a:r>
            <a:r>
              <a:rPr sz="2600" i="1" spc="-280" dirty="0">
                <a:latin typeface="Times New Roman"/>
                <a:cs typeface="Times New Roman"/>
              </a:rPr>
              <a:t> </a:t>
            </a:r>
            <a:r>
              <a:rPr sz="2600" b="1" i="1" dirty="0">
                <a:latin typeface="Times New Roman"/>
                <a:cs typeface="Times New Roman"/>
              </a:rPr>
              <a:t>y</a:t>
            </a:r>
            <a:r>
              <a:rPr sz="2600" b="1" i="1" spc="-260" dirty="0">
                <a:latin typeface="Times New Roman"/>
                <a:cs typeface="Times New Roman"/>
              </a:rPr>
              <a:t> </a:t>
            </a:r>
            <a:r>
              <a:rPr sz="2600" i="1" spc="-50" dirty="0">
                <a:latin typeface="Times New Roman"/>
                <a:cs typeface="Times New Roman"/>
              </a:rPr>
              <a:t>)</a:t>
            </a:r>
            <a:endParaRPr sz="2600">
              <a:latin typeface="Times New Roman"/>
              <a:cs typeface="Times New Roman"/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dirty="0"/>
              <a:t>23</a:t>
            </a:r>
            <a:r>
              <a:rPr spc="-5" dirty="0"/>
              <a:t> </a:t>
            </a:r>
            <a:r>
              <a:rPr dirty="0"/>
              <a:t>May</a:t>
            </a:r>
            <a:r>
              <a:rPr spc="-5" dirty="0"/>
              <a:t> </a:t>
            </a:r>
            <a:r>
              <a:rPr spc="-20" dirty="0"/>
              <a:t>2024</a:t>
            </a:r>
          </a:p>
        </p:txBody>
      </p:sp>
      <p:sp>
        <p:nvSpPr>
          <p:cNvPr id="12" name="object 12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pc="-10" dirty="0"/>
              <a:t>MATHEMATICAL</a:t>
            </a:r>
            <a:r>
              <a:rPr spc="10" dirty="0"/>
              <a:t> </a:t>
            </a:r>
            <a:r>
              <a:rPr dirty="0"/>
              <a:t>TOOLS</a:t>
            </a:r>
            <a:r>
              <a:rPr spc="-15" dirty="0"/>
              <a:t> </a:t>
            </a:r>
            <a:r>
              <a:rPr dirty="0"/>
              <a:t>USED</a:t>
            </a:r>
            <a:r>
              <a:rPr spc="-30" dirty="0"/>
              <a:t> </a:t>
            </a:r>
            <a:r>
              <a:rPr dirty="0"/>
              <a:t>IN</a:t>
            </a:r>
            <a:r>
              <a:rPr spc="-30" dirty="0"/>
              <a:t> </a:t>
            </a:r>
            <a:r>
              <a:rPr dirty="0"/>
              <a:t>DIGITAL</a:t>
            </a:r>
            <a:r>
              <a:rPr spc="5" dirty="0"/>
              <a:t> </a:t>
            </a:r>
            <a:r>
              <a:rPr dirty="0"/>
              <a:t>IMAGE</a:t>
            </a:r>
            <a:r>
              <a:rPr spc="-5" dirty="0"/>
              <a:t> </a:t>
            </a:r>
            <a:r>
              <a:rPr spc="-10" dirty="0"/>
              <a:t>PROCESSING</a:t>
            </a:r>
          </a:p>
        </p:txBody>
      </p:sp>
      <p:sp>
        <p:nvSpPr>
          <p:cNvPr id="13" name="object 1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55"/>
              </a:lnSpc>
            </a:pPr>
            <a:fld id="{81D60167-4931-47E6-BA6A-407CBD079E47}" type="slidenum">
              <a:rPr spc="-25" dirty="0"/>
              <a:t>20</a:t>
            </a:fld>
            <a:endParaRPr spc="-25" dirty="0"/>
          </a:p>
        </p:txBody>
      </p:sp>
      <p:sp>
        <p:nvSpPr>
          <p:cNvPr id="10" name="object 10"/>
          <p:cNvSpPr txBox="1"/>
          <p:nvPr/>
        </p:nvSpPr>
        <p:spPr>
          <a:xfrm>
            <a:off x="3308096" y="4063110"/>
            <a:ext cx="580834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Times New Roman"/>
                <a:cs typeface="Times New Roman"/>
              </a:rPr>
              <a:t>-</a:t>
            </a:r>
            <a:r>
              <a:rPr sz="1800" spc="-1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multiplying</a:t>
            </a:r>
            <a:r>
              <a:rPr sz="1800" spc="-6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the</a:t>
            </a:r>
            <a:r>
              <a:rPr sz="1800" spc="-2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sensed</a:t>
            </a:r>
            <a:r>
              <a:rPr sz="1800" spc="-1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image</a:t>
            </a:r>
            <a:r>
              <a:rPr sz="1800" spc="-2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g(x,</a:t>
            </a:r>
            <a:r>
              <a:rPr sz="1800" spc="-1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y)</a:t>
            </a:r>
            <a:r>
              <a:rPr sz="1800" spc="-4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by</a:t>
            </a:r>
            <a:r>
              <a:rPr sz="1800" spc="-3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the</a:t>
            </a:r>
            <a:r>
              <a:rPr sz="1800" spc="5" dirty="0">
                <a:latin typeface="Times New Roman"/>
                <a:cs typeface="Times New Roman"/>
              </a:rPr>
              <a:t> </a:t>
            </a:r>
            <a:r>
              <a:rPr sz="1800" b="1" dirty="0">
                <a:latin typeface="Times New Roman"/>
                <a:cs typeface="Times New Roman"/>
              </a:rPr>
              <a:t>inverse</a:t>
            </a:r>
            <a:r>
              <a:rPr sz="1800" b="1" spc="-2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of</a:t>
            </a:r>
            <a:r>
              <a:rPr sz="1800" spc="-2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h(x,</a:t>
            </a:r>
            <a:r>
              <a:rPr sz="1800" spc="-15" dirty="0">
                <a:latin typeface="Times New Roman"/>
                <a:cs typeface="Times New Roman"/>
              </a:rPr>
              <a:t> </a:t>
            </a:r>
            <a:r>
              <a:rPr sz="1800" spc="-25" dirty="0">
                <a:latin typeface="Times New Roman"/>
                <a:cs typeface="Times New Roman"/>
              </a:rPr>
              <a:t>y)</a:t>
            </a:r>
            <a:endParaRPr sz="18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01676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-50" dirty="0"/>
              <a:t>Arithmetic</a:t>
            </a:r>
            <a:r>
              <a:rPr sz="3600" spc="-140" dirty="0"/>
              <a:t> </a:t>
            </a:r>
            <a:r>
              <a:rPr sz="3600" spc="-50" dirty="0"/>
              <a:t>Operation</a:t>
            </a:r>
            <a:r>
              <a:rPr sz="3600" spc="-170" dirty="0"/>
              <a:t> </a:t>
            </a:r>
            <a:r>
              <a:rPr sz="3600" spc="-55" dirty="0"/>
              <a:t>(Multiplication</a:t>
            </a:r>
            <a:r>
              <a:rPr sz="3600" spc="-140" dirty="0"/>
              <a:t> </a:t>
            </a:r>
            <a:r>
              <a:rPr sz="3600" dirty="0"/>
              <a:t>and</a:t>
            </a:r>
            <a:r>
              <a:rPr sz="3600" spc="-140" dirty="0"/>
              <a:t> </a:t>
            </a:r>
            <a:r>
              <a:rPr sz="3600" spc="-10" dirty="0"/>
              <a:t>Division)</a:t>
            </a:r>
            <a:endParaRPr sz="3600"/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776974" y="2092451"/>
            <a:ext cx="8685670" cy="2971800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3511422" y="5168646"/>
            <a:ext cx="6023610" cy="4527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dirty="0">
                <a:latin typeface="Times New Roman"/>
                <a:cs typeface="Times New Roman"/>
              </a:rPr>
              <a:t>Figure</a:t>
            </a:r>
            <a:r>
              <a:rPr sz="1400" b="1" spc="-40" dirty="0">
                <a:latin typeface="Times New Roman"/>
                <a:cs typeface="Times New Roman"/>
              </a:rPr>
              <a:t> </a:t>
            </a:r>
            <a:r>
              <a:rPr sz="1400" b="1" dirty="0">
                <a:latin typeface="Times New Roman"/>
                <a:cs typeface="Times New Roman"/>
              </a:rPr>
              <a:t>4:</a:t>
            </a:r>
            <a:r>
              <a:rPr sz="1400" b="1" spc="-1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Shading</a:t>
            </a:r>
            <a:r>
              <a:rPr sz="1400" spc="-4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correction.</a:t>
            </a:r>
            <a:r>
              <a:rPr sz="1400" spc="-5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(a)</a:t>
            </a:r>
            <a:r>
              <a:rPr sz="1400" spc="-2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Shaded</a:t>
            </a:r>
            <a:r>
              <a:rPr sz="1400" spc="-3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test</a:t>
            </a:r>
            <a:r>
              <a:rPr sz="1400" spc="-2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pattern.</a:t>
            </a:r>
            <a:r>
              <a:rPr sz="1400" spc="-5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(b)</a:t>
            </a:r>
            <a:r>
              <a:rPr sz="1400" spc="-2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Estimated</a:t>
            </a:r>
            <a:r>
              <a:rPr sz="1400" spc="-1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shading</a:t>
            </a:r>
            <a:r>
              <a:rPr sz="1400" spc="-50" dirty="0">
                <a:latin typeface="Times New Roman"/>
                <a:cs typeface="Times New Roman"/>
              </a:rPr>
              <a:t> </a:t>
            </a:r>
            <a:r>
              <a:rPr sz="1400" spc="-10" dirty="0">
                <a:latin typeface="Times New Roman"/>
                <a:cs typeface="Times New Roman"/>
              </a:rPr>
              <a:t>pattern.</a:t>
            </a:r>
            <a:endParaRPr sz="1400" dirty="0">
              <a:latin typeface="Times New Roman"/>
              <a:cs typeface="Times New Roman"/>
            </a:endParaRPr>
          </a:p>
          <a:p>
            <a:pPr marL="1536700">
              <a:lnSpc>
                <a:spcPct val="100000"/>
              </a:lnSpc>
              <a:spcBef>
                <a:spcPts val="5"/>
              </a:spcBef>
            </a:pPr>
            <a:r>
              <a:rPr sz="1400" dirty="0">
                <a:latin typeface="Times New Roman"/>
                <a:cs typeface="Times New Roman"/>
              </a:rPr>
              <a:t>(c)</a:t>
            </a:r>
            <a:r>
              <a:rPr sz="1400" spc="-2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Product</a:t>
            </a:r>
            <a:r>
              <a:rPr sz="1400" spc="-3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of</a:t>
            </a:r>
            <a:r>
              <a:rPr sz="1400" spc="-1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(a)</a:t>
            </a:r>
            <a:r>
              <a:rPr sz="1400" spc="-1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by</a:t>
            </a:r>
            <a:r>
              <a:rPr sz="1400" spc="-1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the</a:t>
            </a:r>
            <a:r>
              <a:rPr sz="1400" spc="-1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reciprocal</a:t>
            </a:r>
            <a:r>
              <a:rPr sz="1400" spc="-3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of</a:t>
            </a:r>
            <a:r>
              <a:rPr sz="1400" spc="-15" dirty="0">
                <a:latin typeface="Times New Roman"/>
                <a:cs typeface="Times New Roman"/>
              </a:rPr>
              <a:t> </a:t>
            </a:r>
            <a:r>
              <a:rPr sz="1400" spc="-20" dirty="0">
                <a:latin typeface="Times New Roman"/>
                <a:cs typeface="Times New Roman"/>
              </a:rPr>
              <a:t>(b).</a:t>
            </a:r>
            <a:endParaRPr sz="1400" dirty="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dirty="0"/>
              <a:t>23</a:t>
            </a:r>
            <a:r>
              <a:rPr spc="-5" dirty="0"/>
              <a:t> </a:t>
            </a:r>
            <a:r>
              <a:rPr dirty="0"/>
              <a:t>May</a:t>
            </a:r>
            <a:r>
              <a:rPr spc="-5" dirty="0"/>
              <a:t> </a:t>
            </a:r>
            <a:r>
              <a:rPr spc="-20" dirty="0"/>
              <a:t>2024</a:t>
            </a:r>
          </a:p>
        </p:txBody>
      </p:sp>
      <p:sp>
        <p:nvSpPr>
          <p:cNvPr id="6" name="object 6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pc="-10" dirty="0"/>
              <a:t>MATHEMATICAL</a:t>
            </a:r>
            <a:r>
              <a:rPr spc="10" dirty="0"/>
              <a:t> </a:t>
            </a:r>
            <a:r>
              <a:rPr dirty="0"/>
              <a:t>TOOLS</a:t>
            </a:r>
            <a:r>
              <a:rPr spc="-15" dirty="0"/>
              <a:t> </a:t>
            </a:r>
            <a:r>
              <a:rPr dirty="0"/>
              <a:t>USED</a:t>
            </a:r>
            <a:r>
              <a:rPr spc="-30" dirty="0"/>
              <a:t> </a:t>
            </a:r>
            <a:r>
              <a:rPr dirty="0"/>
              <a:t>IN</a:t>
            </a:r>
            <a:r>
              <a:rPr spc="-30" dirty="0"/>
              <a:t> </a:t>
            </a:r>
            <a:r>
              <a:rPr dirty="0"/>
              <a:t>DIGITAL</a:t>
            </a:r>
            <a:r>
              <a:rPr spc="5" dirty="0"/>
              <a:t> </a:t>
            </a:r>
            <a:r>
              <a:rPr dirty="0"/>
              <a:t>IMAGE</a:t>
            </a:r>
            <a:r>
              <a:rPr spc="-5" dirty="0"/>
              <a:t> </a:t>
            </a:r>
            <a:r>
              <a:rPr spc="-10" dirty="0"/>
              <a:t>PROCESSING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55"/>
              </a:lnSpc>
            </a:pPr>
            <a:fld id="{81D60167-4931-47E6-BA6A-407CBD079E47}" type="slidenum">
              <a:rPr spc="-25" dirty="0"/>
              <a:t>21</a:t>
            </a:fld>
            <a:endParaRPr spc="-25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01676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-50" dirty="0"/>
              <a:t>Arithmetic</a:t>
            </a:r>
            <a:r>
              <a:rPr sz="3600" spc="-140" dirty="0"/>
              <a:t> </a:t>
            </a:r>
            <a:r>
              <a:rPr sz="3600" spc="-50" dirty="0"/>
              <a:t>Operation</a:t>
            </a:r>
            <a:r>
              <a:rPr sz="3600" spc="-170" dirty="0"/>
              <a:t> </a:t>
            </a:r>
            <a:r>
              <a:rPr sz="3600" spc="-55" dirty="0"/>
              <a:t>(Multiplication</a:t>
            </a:r>
            <a:r>
              <a:rPr sz="3600" spc="-140" dirty="0"/>
              <a:t> </a:t>
            </a:r>
            <a:r>
              <a:rPr sz="3600" dirty="0"/>
              <a:t>and</a:t>
            </a:r>
            <a:r>
              <a:rPr sz="3600" spc="-140" dirty="0"/>
              <a:t> </a:t>
            </a:r>
            <a:r>
              <a:rPr sz="3600" spc="-10" dirty="0"/>
              <a:t>Division)</a:t>
            </a:r>
            <a:endParaRPr sz="3600"/>
          </a:p>
        </p:txBody>
      </p:sp>
      <p:sp>
        <p:nvSpPr>
          <p:cNvPr id="3" name="object 3"/>
          <p:cNvSpPr txBox="1"/>
          <p:nvPr/>
        </p:nvSpPr>
        <p:spPr>
          <a:xfrm>
            <a:off x="1133043" y="1706251"/>
            <a:ext cx="9279890" cy="756920"/>
          </a:xfrm>
          <a:prstGeom prst="rect">
            <a:avLst/>
          </a:prstGeom>
        </p:spPr>
        <p:txBody>
          <a:bodyPr vert="horz" wrap="square" lIns="0" tIns="133985" rIns="0" bIns="0" rtlCol="0">
            <a:spAutoFit/>
          </a:bodyPr>
          <a:lstStyle/>
          <a:p>
            <a:pPr marL="299085" indent="-286385">
              <a:lnSpc>
                <a:spcPct val="100000"/>
              </a:lnSpc>
              <a:spcBef>
                <a:spcPts val="1055"/>
              </a:spcBef>
              <a:buFont typeface="Wingdings"/>
              <a:buChar char=""/>
              <a:tabLst>
                <a:tab pos="299085" algn="l"/>
              </a:tabLst>
            </a:pPr>
            <a:r>
              <a:rPr sz="1600" dirty="0">
                <a:latin typeface="Times New Roman"/>
                <a:cs typeface="Times New Roman"/>
              </a:rPr>
              <a:t>Another</a:t>
            </a:r>
            <a:r>
              <a:rPr sz="1600" spc="-5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common</a:t>
            </a:r>
            <a:r>
              <a:rPr sz="1600" spc="-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use</a:t>
            </a:r>
            <a:r>
              <a:rPr sz="1600" spc="-5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of</a:t>
            </a:r>
            <a:r>
              <a:rPr sz="1600" spc="-4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image</a:t>
            </a:r>
            <a:r>
              <a:rPr sz="1600" spc="-1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multiplication is</a:t>
            </a:r>
            <a:r>
              <a:rPr sz="1600" spc="-4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in</a:t>
            </a:r>
            <a:r>
              <a:rPr sz="1600" spc="-15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masking</a:t>
            </a:r>
            <a:r>
              <a:rPr sz="1600" dirty="0">
                <a:latin typeface="Times New Roman"/>
                <a:cs typeface="Times New Roman"/>
              </a:rPr>
              <a:t>,</a:t>
            </a:r>
            <a:r>
              <a:rPr sz="1600" spc="-2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also</a:t>
            </a:r>
            <a:r>
              <a:rPr sz="1600" spc="-3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called</a:t>
            </a:r>
            <a:r>
              <a:rPr sz="1600" spc="-25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region</a:t>
            </a:r>
            <a:r>
              <a:rPr sz="1600" b="1" spc="-45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of</a:t>
            </a:r>
            <a:r>
              <a:rPr sz="1600" b="1" spc="-45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interest</a:t>
            </a:r>
            <a:r>
              <a:rPr sz="1600" b="1" spc="-30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(ROI)</a:t>
            </a:r>
            <a:r>
              <a:rPr sz="1600" dirty="0">
                <a:latin typeface="Times New Roman"/>
                <a:cs typeface="Times New Roman"/>
              </a:rPr>
              <a:t>,</a:t>
            </a:r>
            <a:r>
              <a:rPr sz="1600" spc="-25" dirty="0">
                <a:latin typeface="Times New Roman"/>
                <a:cs typeface="Times New Roman"/>
              </a:rPr>
              <a:t> </a:t>
            </a:r>
            <a:r>
              <a:rPr sz="1600" spc="-10" dirty="0">
                <a:latin typeface="Times New Roman"/>
                <a:cs typeface="Times New Roman"/>
              </a:rPr>
              <a:t>operations.</a:t>
            </a:r>
            <a:endParaRPr sz="1600">
              <a:latin typeface="Times New Roman"/>
              <a:cs typeface="Times New Roman"/>
            </a:endParaRPr>
          </a:p>
          <a:p>
            <a:pPr marL="299085" indent="-286385">
              <a:lnSpc>
                <a:spcPct val="100000"/>
              </a:lnSpc>
              <a:spcBef>
                <a:spcPts val="960"/>
              </a:spcBef>
              <a:buFont typeface="Wingdings"/>
              <a:buChar char=""/>
              <a:tabLst>
                <a:tab pos="299085" algn="l"/>
              </a:tabLst>
            </a:pPr>
            <a:r>
              <a:rPr sz="1600" dirty="0">
                <a:latin typeface="Times New Roman"/>
                <a:cs typeface="Times New Roman"/>
              </a:rPr>
              <a:t>Multiplying</a:t>
            </a:r>
            <a:r>
              <a:rPr sz="1600" spc="-2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a</a:t>
            </a:r>
            <a:r>
              <a:rPr sz="1600" spc="-4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given</a:t>
            </a:r>
            <a:r>
              <a:rPr sz="1600" spc="-4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image</a:t>
            </a:r>
            <a:r>
              <a:rPr sz="1600" spc="-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by</a:t>
            </a:r>
            <a:r>
              <a:rPr sz="1600" spc="-4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a</a:t>
            </a:r>
            <a:r>
              <a:rPr sz="1600" spc="-20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mask</a:t>
            </a:r>
            <a:r>
              <a:rPr sz="1600" b="1" spc="-2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image</a:t>
            </a:r>
            <a:r>
              <a:rPr sz="1600" spc="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that</a:t>
            </a:r>
            <a:r>
              <a:rPr sz="1600" spc="-30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has</a:t>
            </a:r>
            <a:r>
              <a:rPr sz="1600" b="1" spc="-45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1’s</a:t>
            </a:r>
            <a:r>
              <a:rPr sz="1600" b="1" spc="-35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in</a:t>
            </a:r>
            <a:r>
              <a:rPr sz="1600" b="1" spc="-40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the</a:t>
            </a:r>
            <a:r>
              <a:rPr sz="1600" b="1" spc="-40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ROI</a:t>
            </a:r>
            <a:r>
              <a:rPr sz="1600" b="1" spc="-2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and</a:t>
            </a:r>
            <a:r>
              <a:rPr sz="1600" spc="-40" dirty="0">
                <a:latin typeface="Times New Roman"/>
                <a:cs typeface="Times New Roman"/>
              </a:rPr>
              <a:t> </a:t>
            </a:r>
            <a:r>
              <a:rPr sz="1600" spc="-10" dirty="0">
                <a:latin typeface="Times New Roman"/>
                <a:cs typeface="Times New Roman"/>
              </a:rPr>
              <a:t>0’s</a:t>
            </a:r>
            <a:r>
              <a:rPr sz="1600" spc="-45" dirty="0">
                <a:latin typeface="Times New Roman"/>
                <a:cs typeface="Times New Roman"/>
              </a:rPr>
              <a:t> </a:t>
            </a:r>
            <a:r>
              <a:rPr sz="1600" spc="-10" dirty="0">
                <a:latin typeface="Times New Roman"/>
                <a:cs typeface="Times New Roman"/>
              </a:rPr>
              <a:t>elsewhere.</a:t>
            </a:r>
            <a:endParaRPr sz="1600">
              <a:latin typeface="Times New Roman"/>
              <a:cs typeface="Times New Roman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815074" y="2785872"/>
            <a:ext cx="8609470" cy="2438400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3305302" y="5179822"/>
            <a:ext cx="5638800" cy="6667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lnSpc>
                <a:spcPct val="100000"/>
              </a:lnSpc>
              <a:spcBef>
                <a:spcPts val="100"/>
              </a:spcBef>
            </a:pPr>
            <a:r>
              <a:rPr sz="1400" b="1" dirty="0">
                <a:latin typeface="Times New Roman"/>
                <a:cs typeface="Times New Roman"/>
              </a:rPr>
              <a:t>Figure</a:t>
            </a:r>
            <a:r>
              <a:rPr sz="1400" b="1" spc="-40" dirty="0">
                <a:latin typeface="Times New Roman"/>
                <a:cs typeface="Times New Roman"/>
              </a:rPr>
              <a:t> </a:t>
            </a:r>
            <a:r>
              <a:rPr sz="1400" b="1" dirty="0">
                <a:latin typeface="Times New Roman"/>
                <a:cs typeface="Times New Roman"/>
              </a:rPr>
              <a:t>5:</a:t>
            </a:r>
            <a:r>
              <a:rPr sz="1400" b="1" spc="-2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(a)</a:t>
            </a:r>
            <a:r>
              <a:rPr sz="1400" spc="-1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Digital</a:t>
            </a:r>
            <a:r>
              <a:rPr sz="1400" spc="-4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dental</a:t>
            </a:r>
            <a:r>
              <a:rPr sz="1400" spc="-4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X-ray</a:t>
            </a:r>
            <a:r>
              <a:rPr sz="1400" spc="-2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image.</a:t>
            </a:r>
            <a:r>
              <a:rPr sz="1400" spc="-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(b)</a:t>
            </a:r>
            <a:r>
              <a:rPr sz="1400" spc="-2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ROI</a:t>
            </a:r>
            <a:r>
              <a:rPr sz="1400" spc="-1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mask for</a:t>
            </a:r>
            <a:r>
              <a:rPr sz="1400" spc="-2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isolating</a:t>
            </a:r>
            <a:r>
              <a:rPr sz="1400" spc="-4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teeth</a:t>
            </a:r>
            <a:r>
              <a:rPr sz="1400" spc="-35" dirty="0">
                <a:latin typeface="Times New Roman"/>
                <a:cs typeface="Times New Roman"/>
              </a:rPr>
              <a:t> </a:t>
            </a:r>
            <a:r>
              <a:rPr sz="1400" spc="-20" dirty="0">
                <a:latin typeface="Times New Roman"/>
                <a:cs typeface="Times New Roman"/>
              </a:rPr>
              <a:t>with </a:t>
            </a:r>
            <a:r>
              <a:rPr sz="1400" dirty="0">
                <a:latin typeface="Times New Roman"/>
                <a:cs typeface="Times New Roman"/>
              </a:rPr>
              <a:t>fillings</a:t>
            </a:r>
            <a:r>
              <a:rPr sz="1400" spc="-4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(white</a:t>
            </a:r>
            <a:r>
              <a:rPr sz="1400" spc="-4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corresponds</a:t>
            </a:r>
            <a:r>
              <a:rPr sz="1400" spc="-4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to</a:t>
            </a:r>
            <a:r>
              <a:rPr sz="1400" spc="-2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1</a:t>
            </a:r>
            <a:r>
              <a:rPr sz="1400" spc="-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and</a:t>
            </a:r>
            <a:r>
              <a:rPr sz="1400" spc="-2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black</a:t>
            </a:r>
            <a:r>
              <a:rPr sz="1400" spc="-2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corresponds</a:t>
            </a:r>
            <a:r>
              <a:rPr sz="1400" spc="-4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to</a:t>
            </a:r>
            <a:r>
              <a:rPr sz="1400" spc="-2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0).</a:t>
            </a:r>
            <a:r>
              <a:rPr sz="1400" spc="-30" dirty="0">
                <a:latin typeface="Times New Roman"/>
                <a:cs typeface="Times New Roman"/>
              </a:rPr>
              <a:t> </a:t>
            </a:r>
            <a:r>
              <a:rPr sz="1400" spc="-25" dirty="0">
                <a:latin typeface="Times New Roman"/>
                <a:cs typeface="Times New Roman"/>
              </a:rPr>
              <a:t>(c)</a:t>
            </a:r>
            <a:endParaRPr sz="1400">
              <a:latin typeface="Times New Roman"/>
              <a:cs typeface="Times New Roman"/>
            </a:endParaRPr>
          </a:p>
          <a:p>
            <a:pPr marL="3810" algn="ctr">
              <a:lnSpc>
                <a:spcPct val="100000"/>
              </a:lnSpc>
              <a:spcBef>
                <a:spcPts val="5"/>
              </a:spcBef>
            </a:pPr>
            <a:r>
              <a:rPr sz="1400" dirty="0">
                <a:latin typeface="Times New Roman"/>
                <a:cs typeface="Times New Roman"/>
              </a:rPr>
              <a:t>Product</a:t>
            </a:r>
            <a:r>
              <a:rPr sz="1400" spc="-1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of</a:t>
            </a:r>
            <a:r>
              <a:rPr sz="1400" spc="-3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(a)</a:t>
            </a:r>
            <a:r>
              <a:rPr sz="1400" spc="-1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and</a:t>
            </a:r>
            <a:r>
              <a:rPr sz="1400" spc="-10" dirty="0">
                <a:latin typeface="Times New Roman"/>
                <a:cs typeface="Times New Roman"/>
              </a:rPr>
              <a:t> </a:t>
            </a:r>
            <a:r>
              <a:rPr sz="1400" spc="-20" dirty="0">
                <a:latin typeface="Times New Roman"/>
                <a:cs typeface="Times New Roman"/>
              </a:rPr>
              <a:t>(b).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dirty="0"/>
              <a:t>23</a:t>
            </a:r>
            <a:r>
              <a:rPr spc="-5" dirty="0"/>
              <a:t> </a:t>
            </a:r>
            <a:r>
              <a:rPr dirty="0"/>
              <a:t>May</a:t>
            </a:r>
            <a:r>
              <a:rPr spc="-5" dirty="0"/>
              <a:t> </a:t>
            </a:r>
            <a:r>
              <a:rPr spc="-20" dirty="0"/>
              <a:t>2024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pc="-10" dirty="0"/>
              <a:t>MATHEMATICAL</a:t>
            </a:r>
            <a:r>
              <a:rPr spc="10" dirty="0"/>
              <a:t> </a:t>
            </a:r>
            <a:r>
              <a:rPr dirty="0"/>
              <a:t>TOOLS</a:t>
            </a:r>
            <a:r>
              <a:rPr spc="-15" dirty="0"/>
              <a:t> </a:t>
            </a:r>
            <a:r>
              <a:rPr dirty="0"/>
              <a:t>USED</a:t>
            </a:r>
            <a:r>
              <a:rPr spc="-30" dirty="0"/>
              <a:t> </a:t>
            </a:r>
            <a:r>
              <a:rPr dirty="0"/>
              <a:t>IN</a:t>
            </a:r>
            <a:r>
              <a:rPr spc="-30" dirty="0"/>
              <a:t> </a:t>
            </a:r>
            <a:r>
              <a:rPr dirty="0"/>
              <a:t>DIGITAL</a:t>
            </a:r>
            <a:r>
              <a:rPr spc="5" dirty="0"/>
              <a:t> </a:t>
            </a:r>
            <a:r>
              <a:rPr dirty="0"/>
              <a:t>IMAGE</a:t>
            </a:r>
            <a:r>
              <a:rPr spc="-5" dirty="0"/>
              <a:t> </a:t>
            </a:r>
            <a:r>
              <a:rPr spc="-10" dirty="0"/>
              <a:t>PROCESSING</a:t>
            </a:r>
          </a:p>
        </p:txBody>
      </p:sp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55"/>
              </a:lnSpc>
            </a:pPr>
            <a:fld id="{81D60167-4931-47E6-BA6A-407CBD079E47}" type="slidenum">
              <a:rPr spc="-25" dirty="0"/>
              <a:t>22</a:t>
            </a:fld>
            <a:endParaRPr spc="-25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Set</a:t>
            </a:r>
            <a:r>
              <a:rPr spc="-245" dirty="0"/>
              <a:t> </a:t>
            </a:r>
            <a:r>
              <a:rPr spc="-40" dirty="0"/>
              <a:t>Operations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9623" y="1952610"/>
            <a:ext cx="5001331" cy="3943007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dirty="0"/>
              <a:t>23</a:t>
            </a:r>
            <a:r>
              <a:rPr spc="-5" dirty="0"/>
              <a:t> </a:t>
            </a:r>
            <a:r>
              <a:rPr dirty="0"/>
              <a:t>May</a:t>
            </a:r>
            <a:r>
              <a:rPr spc="-5" dirty="0"/>
              <a:t> </a:t>
            </a:r>
            <a:r>
              <a:rPr spc="-20" dirty="0"/>
              <a:t>2024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pc="-10" dirty="0"/>
              <a:t>MATHEMATICAL</a:t>
            </a:r>
            <a:r>
              <a:rPr spc="10" dirty="0"/>
              <a:t> </a:t>
            </a:r>
            <a:r>
              <a:rPr dirty="0"/>
              <a:t>TOOLS</a:t>
            </a:r>
            <a:r>
              <a:rPr spc="-15" dirty="0"/>
              <a:t> </a:t>
            </a:r>
            <a:r>
              <a:rPr dirty="0"/>
              <a:t>USED</a:t>
            </a:r>
            <a:r>
              <a:rPr spc="-30" dirty="0"/>
              <a:t> </a:t>
            </a:r>
            <a:r>
              <a:rPr dirty="0"/>
              <a:t>IN</a:t>
            </a:r>
            <a:r>
              <a:rPr spc="-30" dirty="0"/>
              <a:t> </a:t>
            </a:r>
            <a:r>
              <a:rPr dirty="0"/>
              <a:t>DIGITAL</a:t>
            </a:r>
            <a:r>
              <a:rPr spc="5" dirty="0"/>
              <a:t> </a:t>
            </a:r>
            <a:r>
              <a:rPr dirty="0"/>
              <a:t>IMAGE</a:t>
            </a:r>
            <a:r>
              <a:rPr spc="-5" dirty="0"/>
              <a:t> </a:t>
            </a:r>
            <a:r>
              <a:rPr spc="-10" dirty="0"/>
              <a:t>PROCESSING</a:t>
            </a:r>
          </a:p>
        </p:txBody>
      </p:sp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55"/>
              </a:lnSpc>
            </a:pPr>
            <a:fld id="{81D60167-4931-47E6-BA6A-407CBD079E47}" type="slidenum">
              <a:rPr spc="-25" dirty="0"/>
              <a:t>23</a:t>
            </a:fld>
            <a:endParaRPr spc="-25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176019" y="926033"/>
            <a:ext cx="4225290" cy="757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Image</a:t>
            </a:r>
            <a:r>
              <a:rPr spc="-260" dirty="0"/>
              <a:t> </a:t>
            </a:r>
            <a:r>
              <a:rPr spc="-30" dirty="0"/>
              <a:t>Negatives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019" y="1872437"/>
            <a:ext cx="9952990" cy="7556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99085" indent="-286385">
              <a:lnSpc>
                <a:spcPct val="100000"/>
              </a:lnSpc>
              <a:spcBef>
                <a:spcPts val="95"/>
              </a:spcBef>
              <a:buFont typeface="Wingdings"/>
              <a:buChar char=""/>
              <a:tabLst>
                <a:tab pos="299085" algn="l"/>
              </a:tabLst>
            </a:pPr>
            <a:r>
              <a:rPr sz="1600" b="1" dirty="0">
                <a:latin typeface="Times New Roman"/>
                <a:cs typeface="Times New Roman"/>
              </a:rPr>
              <a:t>Set</a:t>
            </a:r>
            <a:r>
              <a:rPr sz="1600" b="1" spc="-6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operations</a:t>
            </a:r>
            <a:r>
              <a:rPr sz="1600" spc="-3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involving</a:t>
            </a:r>
            <a:r>
              <a:rPr sz="1600" spc="-5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image</a:t>
            </a:r>
            <a:r>
              <a:rPr sz="1600" spc="-5" dirty="0">
                <a:latin typeface="Times New Roman"/>
                <a:cs typeface="Times New Roman"/>
              </a:rPr>
              <a:t> </a:t>
            </a:r>
            <a:r>
              <a:rPr sz="1600" b="1" spc="-10" dirty="0">
                <a:latin typeface="Times New Roman"/>
                <a:cs typeface="Times New Roman"/>
              </a:rPr>
              <a:t>intensities</a:t>
            </a:r>
            <a:r>
              <a:rPr sz="1600" spc="-10" dirty="0">
                <a:latin typeface="Times New Roman"/>
                <a:cs typeface="Times New Roman"/>
              </a:rPr>
              <a:t>.</a:t>
            </a:r>
            <a:endParaRPr sz="1600" dirty="0">
              <a:latin typeface="Times New Roman"/>
              <a:cs typeface="Times New Roman"/>
            </a:endParaRPr>
          </a:p>
          <a:p>
            <a:pPr marL="299085" indent="-286385">
              <a:lnSpc>
                <a:spcPts val="1914"/>
              </a:lnSpc>
              <a:spcBef>
                <a:spcPts val="5"/>
              </a:spcBef>
              <a:buFont typeface="Wingdings"/>
              <a:buChar char=""/>
              <a:tabLst>
                <a:tab pos="299085" algn="l"/>
              </a:tabLst>
            </a:pPr>
            <a:r>
              <a:rPr sz="1600" dirty="0">
                <a:latin typeface="Times New Roman"/>
                <a:cs typeface="Times New Roman"/>
              </a:rPr>
              <a:t>Let</a:t>
            </a:r>
            <a:r>
              <a:rPr sz="1600" spc="-3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the</a:t>
            </a:r>
            <a:r>
              <a:rPr sz="1600" spc="-2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elements</a:t>
            </a:r>
            <a:r>
              <a:rPr sz="1600" spc="3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of</a:t>
            </a:r>
            <a:r>
              <a:rPr sz="1600" spc="-2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a</a:t>
            </a:r>
            <a:r>
              <a:rPr sz="1600" spc="-4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grayscale</a:t>
            </a:r>
            <a:r>
              <a:rPr sz="1600" spc="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image</a:t>
            </a:r>
            <a:r>
              <a:rPr sz="1600" spc="1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be</a:t>
            </a:r>
            <a:r>
              <a:rPr sz="1600" spc="-2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represented by</a:t>
            </a:r>
            <a:r>
              <a:rPr sz="1600" spc="-4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a</a:t>
            </a:r>
            <a:r>
              <a:rPr sz="1600" spc="-3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set</a:t>
            </a:r>
            <a:r>
              <a:rPr sz="1600" spc="15" dirty="0">
                <a:latin typeface="Times New Roman"/>
                <a:cs typeface="Times New Roman"/>
              </a:rPr>
              <a:t> </a:t>
            </a:r>
            <a:r>
              <a:rPr sz="1600" i="1" dirty="0">
                <a:latin typeface="Times New Roman"/>
                <a:cs typeface="Times New Roman"/>
              </a:rPr>
              <a:t>A</a:t>
            </a:r>
            <a:r>
              <a:rPr sz="1600" i="1" spc="-6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whose</a:t>
            </a:r>
            <a:r>
              <a:rPr sz="1600" spc="-3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elements</a:t>
            </a:r>
            <a:r>
              <a:rPr sz="1600" spc="3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are</a:t>
            </a:r>
            <a:r>
              <a:rPr sz="1600" spc="-2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triplets</a:t>
            </a:r>
            <a:r>
              <a:rPr sz="1600" spc="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of</a:t>
            </a:r>
            <a:r>
              <a:rPr sz="1600" spc="-3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the</a:t>
            </a:r>
            <a:r>
              <a:rPr sz="1600" spc="-2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form</a:t>
            </a:r>
            <a:r>
              <a:rPr sz="1600" spc="-3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(</a:t>
            </a:r>
            <a:r>
              <a:rPr sz="1600" i="1" dirty="0">
                <a:latin typeface="Times New Roman"/>
                <a:cs typeface="Times New Roman"/>
              </a:rPr>
              <a:t>x</a:t>
            </a:r>
            <a:r>
              <a:rPr sz="1600" dirty="0">
                <a:latin typeface="Times New Roman"/>
                <a:cs typeface="Times New Roman"/>
              </a:rPr>
              <a:t>,</a:t>
            </a:r>
            <a:r>
              <a:rPr sz="1600" spc="-15" dirty="0">
                <a:latin typeface="Times New Roman"/>
                <a:cs typeface="Times New Roman"/>
              </a:rPr>
              <a:t> </a:t>
            </a:r>
            <a:r>
              <a:rPr sz="1600" i="1" dirty="0">
                <a:latin typeface="Times New Roman"/>
                <a:cs typeface="Times New Roman"/>
              </a:rPr>
              <a:t>y</a:t>
            </a:r>
            <a:r>
              <a:rPr sz="1600" dirty="0">
                <a:latin typeface="Times New Roman"/>
                <a:cs typeface="Times New Roman"/>
              </a:rPr>
              <a:t>,</a:t>
            </a:r>
            <a:r>
              <a:rPr sz="1600" spc="-25" dirty="0">
                <a:latin typeface="Times New Roman"/>
                <a:cs typeface="Times New Roman"/>
              </a:rPr>
              <a:t> </a:t>
            </a:r>
            <a:r>
              <a:rPr sz="1600" i="1" dirty="0">
                <a:latin typeface="Times New Roman"/>
                <a:cs typeface="Times New Roman"/>
              </a:rPr>
              <a:t>z</a:t>
            </a:r>
            <a:r>
              <a:rPr sz="1600" dirty="0">
                <a:latin typeface="Times New Roman"/>
                <a:cs typeface="Times New Roman"/>
              </a:rPr>
              <a:t>),</a:t>
            </a:r>
            <a:r>
              <a:rPr sz="1600" spc="-25" dirty="0">
                <a:latin typeface="Times New Roman"/>
                <a:cs typeface="Times New Roman"/>
              </a:rPr>
              <a:t> </a:t>
            </a:r>
            <a:r>
              <a:rPr sz="1600" spc="-10" dirty="0">
                <a:latin typeface="Times New Roman"/>
                <a:cs typeface="Times New Roman"/>
              </a:rPr>
              <a:t>where</a:t>
            </a:r>
            <a:endParaRPr sz="1600" dirty="0">
              <a:latin typeface="Times New Roman"/>
              <a:cs typeface="Times New Roman"/>
            </a:endParaRPr>
          </a:p>
          <a:p>
            <a:pPr marL="299085">
              <a:lnSpc>
                <a:spcPts val="1914"/>
              </a:lnSpc>
            </a:pPr>
            <a:r>
              <a:rPr sz="1600" i="1" dirty="0">
                <a:latin typeface="Times New Roman"/>
                <a:cs typeface="Times New Roman"/>
              </a:rPr>
              <a:t>x</a:t>
            </a:r>
            <a:r>
              <a:rPr sz="1600" i="1" spc="-3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and</a:t>
            </a:r>
            <a:r>
              <a:rPr sz="1600" spc="-30" dirty="0">
                <a:latin typeface="Times New Roman"/>
                <a:cs typeface="Times New Roman"/>
              </a:rPr>
              <a:t> </a:t>
            </a:r>
            <a:r>
              <a:rPr sz="1600" i="1" dirty="0">
                <a:latin typeface="Times New Roman"/>
                <a:cs typeface="Times New Roman"/>
              </a:rPr>
              <a:t>y</a:t>
            </a:r>
            <a:r>
              <a:rPr sz="1600" i="1" spc="-3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are</a:t>
            </a:r>
            <a:r>
              <a:rPr sz="1600" spc="-2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spatial</a:t>
            </a:r>
            <a:r>
              <a:rPr sz="1600" spc="-1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coordinates,</a:t>
            </a:r>
            <a:r>
              <a:rPr sz="1600" spc="-1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and</a:t>
            </a:r>
            <a:r>
              <a:rPr sz="1600" spc="-15" dirty="0">
                <a:latin typeface="Times New Roman"/>
                <a:cs typeface="Times New Roman"/>
              </a:rPr>
              <a:t> </a:t>
            </a:r>
            <a:r>
              <a:rPr sz="1600" i="1" dirty="0">
                <a:latin typeface="Times New Roman"/>
                <a:cs typeface="Times New Roman"/>
              </a:rPr>
              <a:t>z</a:t>
            </a:r>
            <a:r>
              <a:rPr sz="1600" i="1" spc="-3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denotes</a:t>
            </a:r>
            <a:r>
              <a:rPr sz="1600" spc="-3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intensity</a:t>
            </a:r>
            <a:r>
              <a:rPr sz="1600" spc="-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values.</a:t>
            </a:r>
            <a:r>
              <a:rPr sz="1600" spc="-50" dirty="0">
                <a:latin typeface="Times New Roman"/>
                <a:cs typeface="Times New Roman"/>
              </a:rPr>
              <a:t> We</a:t>
            </a:r>
            <a:r>
              <a:rPr sz="1600" spc="-2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define</a:t>
            </a:r>
            <a:r>
              <a:rPr sz="1600" spc="-2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the </a:t>
            </a:r>
            <a:r>
              <a:rPr sz="1600" i="1" dirty="0">
                <a:latin typeface="Times New Roman"/>
                <a:cs typeface="Times New Roman"/>
              </a:rPr>
              <a:t>complement</a:t>
            </a:r>
            <a:r>
              <a:rPr sz="1600" i="1" spc="-2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of</a:t>
            </a:r>
            <a:r>
              <a:rPr sz="1600" spc="-40" dirty="0">
                <a:latin typeface="Times New Roman"/>
                <a:cs typeface="Times New Roman"/>
              </a:rPr>
              <a:t> </a:t>
            </a:r>
            <a:r>
              <a:rPr sz="1600" i="1" dirty="0">
                <a:latin typeface="Times New Roman"/>
                <a:cs typeface="Times New Roman"/>
              </a:rPr>
              <a:t>A</a:t>
            </a:r>
            <a:r>
              <a:rPr sz="1600" i="1" spc="-5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as</a:t>
            </a:r>
            <a:r>
              <a:rPr sz="1600" spc="-3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the</a:t>
            </a:r>
            <a:r>
              <a:rPr sz="1600" spc="-25" dirty="0">
                <a:latin typeface="Times New Roman"/>
                <a:cs typeface="Times New Roman"/>
              </a:rPr>
              <a:t> </a:t>
            </a:r>
            <a:r>
              <a:rPr sz="1600" spc="-20" dirty="0">
                <a:latin typeface="Times New Roman"/>
                <a:cs typeface="Times New Roman"/>
              </a:rPr>
              <a:t>set,</a:t>
            </a:r>
            <a:endParaRPr sz="1600" dirty="0">
              <a:latin typeface="Times New Roman"/>
              <a:cs typeface="Times New Roman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075837" y="2775491"/>
            <a:ext cx="1860579" cy="3475957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575561" y="4080764"/>
            <a:ext cx="37528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125" dirty="0">
                <a:latin typeface="Trebuchet MS"/>
                <a:cs typeface="Trebuchet MS"/>
              </a:rPr>
              <a:t>A</a:t>
            </a:r>
            <a:r>
              <a:rPr sz="1800" spc="-45" dirty="0">
                <a:latin typeface="Trebuchet MS"/>
                <a:cs typeface="Trebuchet MS"/>
              </a:rPr>
              <a:t> </a:t>
            </a:r>
            <a:r>
              <a:rPr sz="1800" spc="35" dirty="0">
                <a:latin typeface="Trebuchet MS"/>
                <a:cs typeface="Trebuchet MS"/>
              </a:rPr>
              <a:t>=</a:t>
            </a:r>
            <a:endParaRPr sz="1800">
              <a:latin typeface="Trebuchet MS"/>
              <a:cs typeface="Trebuchet MS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031059" y="3836255"/>
            <a:ext cx="3060700" cy="737235"/>
          </a:xfrm>
          <a:prstGeom prst="rect">
            <a:avLst/>
          </a:prstGeom>
        </p:spPr>
        <p:txBody>
          <a:bodyPr vert="horz" wrap="square" lIns="0" tIns="108585" rIns="0" bIns="0" rtlCol="0">
            <a:spAutoFit/>
          </a:bodyPr>
          <a:lstStyle/>
          <a:p>
            <a:pPr marL="71120">
              <a:lnSpc>
                <a:spcPct val="100000"/>
              </a:lnSpc>
              <a:spcBef>
                <a:spcPts val="855"/>
              </a:spcBef>
            </a:pPr>
            <a:r>
              <a:rPr sz="1700" b="1" i="1" dirty="0">
                <a:latin typeface="Times New Roman"/>
                <a:cs typeface="Times New Roman"/>
              </a:rPr>
              <a:t>A</a:t>
            </a:r>
            <a:r>
              <a:rPr sz="1500" b="1" i="1" baseline="41666" dirty="0">
                <a:latin typeface="Times New Roman"/>
                <a:cs typeface="Times New Roman"/>
              </a:rPr>
              <a:t>c</a:t>
            </a:r>
            <a:r>
              <a:rPr sz="1500" b="1" i="1" spc="585" baseline="41666" dirty="0">
                <a:latin typeface="Times New Roman"/>
                <a:cs typeface="Times New Roman"/>
              </a:rPr>
              <a:t> </a:t>
            </a:r>
            <a:r>
              <a:rPr sz="1700" dirty="0">
                <a:latin typeface="Symbol"/>
                <a:cs typeface="Symbol"/>
              </a:rPr>
              <a:t></a:t>
            </a:r>
            <a:r>
              <a:rPr sz="1700" spc="-85" dirty="0">
                <a:latin typeface="Times New Roman"/>
                <a:cs typeface="Times New Roman"/>
              </a:rPr>
              <a:t> </a:t>
            </a:r>
            <a:r>
              <a:rPr sz="1700" i="1" dirty="0">
                <a:latin typeface="Times New Roman"/>
                <a:cs typeface="Times New Roman"/>
              </a:rPr>
              <a:t>{(</a:t>
            </a:r>
            <a:r>
              <a:rPr sz="1700" i="1" spc="-30" dirty="0">
                <a:latin typeface="Times New Roman"/>
                <a:cs typeface="Times New Roman"/>
              </a:rPr>
              <a:t> </a:t>
            </a:r>
            <a:r>
              <a:rPr sz="1700" b="1" i="1" spc="75" dirty="0">
                <a:latin typeface="Times New Roman"/>
                <a:cs typeface="Times New Roman"/>
              </a:rPr>
              <a:t>x</a:t>
            </a:r>
            <a:r>
              <a:rPr sz="1700" i="1" spc="75" dirty="0">
                <a:latin typeface="Times New Roman"/>
                <a:cs typeface="Times New Roman"/>
              </a:rPr>
              <a:t>,</a:t>
            </a:r>
            <a:r>
              <a:rPr sz="1700" i="1" spc="-170" dirty="0">
                <a:latin typeface="Times New Roman"/>
                <a:cs typeface="Times New Roman"/>
              </a:rPr>
              <a:t> </a:t>
            </a:r>
            <a:r>
              <a:rPr sz="1700" b="1" i="1" spc="80" dirty="0">
                <a:latin typeface="Times New Roman"/>
                <a:cs typeface="Times New Roman"/>
              </a:rPr>
              <a:t>y</a:t>
            </a:r>
            <a:r>
              <a:rPr sz="1700" i="1" spc="80" dirty="0">
                <a:latin typeface="Times New Roman"/>
                <a:cs typeface="Times New Roman"/>
              </a:rPr>
              <a:t>,</a:t>
            </a:r>
            <a:r>
              <a:rPr sz="1700" b="1" i="1" spc="80" dirty="0">
                <a:latin typeface="Times New Roman"/>
                <a:cs typeface="Times New Roman"/>
              </a:rPr>
              <a:t>K</a:t>
            </a:r>
            <a:r>
              <a:rPr sz="1700" b="1" i="1" spc="105" dirty="0">
                <a:latin typeface="Times New Roman"/>
                <a:cs typeface="Times New Roman"/>
              </a:rPr>
              <a:t> </a:t>
            </a:r>
            <a:r>
              <a:rPr sz="1700" dirty="0">
                <a:latin typeface="Symbol"/>
                <a:cs typeface="Symbol"/>
              </a:rPr>
              <a:t></a:t>
            </a:r>
            <a:r>
              <a:rPr sz="1700" spc="-20" dirty="0">
                <a:latin typeface="Times New Roman"/>
                <a:cs typeface="Times New Roman"/>
              </a:rPr>
              <a:t> </a:t>
            </a:r>
            <a:r>
              <a:rPr sz="1700" b="1" i="1" dirty="0">
                <a:latin typeface="Times New Roman"/>
                <a:cs typeface="Times New Roman"/>
              </a:rPr>
              <a:t>z</a:t>
            </a:r>
            <a:r>
              <a:rPr sz="1700" b="1" i="1" spc="-85" dirty="0">
                <a:latin typeface="Times New Roman"/>
                <a:cs typeface="Times New Roman"/>
              </a:rPr>
              <a:t> </a:t>
            </a:r>
            <a:r>
              <a:rPr sz="1700" i="1" dirty="0">
                <a:latin typeface="Times New Roman"/>
                <a:cs typeface="Times New Roman"/>
              </a:rPr>
              <a:t>)</a:t>
            </a:r>
            <a:r>
              <a:rPr sz="1700" i="1" spc="-260" dirty="0">
                <a:latin typeface="Times New Roman"/>
                <a:cs typeface="Times New Roman"/>
              </a:rPr>
              <a:t> </a:t>
            </a:r>
            <a:r>
              <a:rPr sz="1700" i="1" spc="85" dirty="0">
                <a:latin typeface="Times New Roman"/>
                <a:cs typeface="Times New Roman"/>
              </a:rPr>
              <a:t>|(</a:t>
            </a:r>
            <a:r>
              <a:rPr sz="1700" i="1" spc="15" dirty="0">
                <a:latin typeface="Times New Roman"/>
                <a:cs typeface="Times New Roman"/>
              </a:rPr>
              <a:t> </a:t>
            </a:r>
            <a:r>
              <a:rPr sz="1700" b="1" i="1" spc="75" dirty="0">
                <a:latin typeface="Times New Roman"/>
                <a:cs typeface="Times New Roman"/>
              </a:rPr>
              <a:t>x</a:t>
            </a:r>
            <a:r>
              <a:rPr sz="1700" i="1" spc="75" dirty="0">
                <a:latin typeface="Times New Roman"/>
                <a:cs typeface="Times New Roman"/>
              </a:rPr>
              <a:t>,</a:t>
            </a:r>
            <a:r>
              <a:rPr sz="1700" i="1" spc="-170" dirty="0">
                <a:latin typeface="Times New Roman"/>
                <a:cs typeface="Times New Roman"/>
              </a:rPr>
              <a:t> </a:t>
            </a:r>
            <a:r>
              <a:rPr sz="1700" b="1" i="1" spc="70" dirty="0">
                <a:latin typeface="Times New Roman"/>
                <a:cs typeface="Times New Roman"/>
              </a:rPr>
              <a:t>y</a:t>
            </a:r>
            <a:r>
              <a:rPr sz="1700" i="1" spc="70" dirty="0">
                <a:latin typeface="Times New Roman"/>
                <a:cs typeface="Times New Roman"/>
              </a:rPr>
              <a:t>,</a:t>
            </a:r>
            <a:r>
              <a:rPr sz="1700" b="1" i="1" spc="70" dirty="0">
                <a:latin typeface="Times New Roman"/>
                <a:cs typeface="Times New Roman"/>
              </a:rPr>
              <a:t>z</a:t>
            </a:r>
            <a:r>
              <a:rPr sz="1700" b="1" i="1" spc="-90" dirty="0">
                <a:latin typeface="Times New Roman"/>
                <a:cs typeface="Times New Roman"/>
              </a:rPr>
              <a:t> </a:t>
            </a:r>
            <a:r>
              <a:rPr sz="1700" i="1" dirty="0">
                <a:latin typeface="Times New Roman"/>
                <a:cs typeface="Times New Roman"/>
              </a:rPr>
              <a:t>)</a:t>
            </a:r>
            <a:r>
              <a:rPr sz="1700" i="1" spc="-260" dirty="0">
                <a:latin typeface="Times New Roman"/>
                <a:cs typeface="Times New Roman"/>
              </a:rPr>
              <a:t> </a:t>
            </a:r>
            <a:r>
              <a:rPr sz="1700" dirty="0">
                <a:latin typeface="Symbol"/>
                <a:cs typeface="Symbol"/>
              </a:rPr>
              <a:t></a:t>
            </a:r>
            <a:r>
              <a:rPr sz="1700" spc="-45" dirty="0">
                <a:latin typeface="Times New Roman"/>
                <a:cs typeface="Times New Roman"/>
              </a:rPr>
              <a:t> </a:t>
            </a:r>
            <a:r>
              <a:rPr sz="1700" b="1" i="1" dirty="0">
                <a:latin typeface="Times New Roman"/>
                <a:cs typeface="Times New Roman"/>
              </a:rPr>
              <a:t>A</a:t>
            </a:r>
            <a:r>
              <a:rPr sz="1700" b="1" i="1" spc="-229" dirty="0">
                <a:latin typeface="Times New Roman"/>
                <a:cs typeface="Times New Roman"/>
              </a:rPr>
              <a:t> </a:t>
            </a:r>
            <a:r>
              <a:rPr sz="1700" i="1" spc="-50" dirty="0">
                <a:latin typeface="Times New Roman"/>
                <a:cs typeface="Times New Roman"/>
              </a:rPr>
              <a:t>}</a:t>
            </a:r>
            <a:endParaRPr sz="1700" dirty="0">
              <a:latin typeface="Times New Roman"/>
              <a:cs typeface="Times New Roman"/>
            </a:endParaRPr>
          </a:p>
          <a:p>
            <a:pPr marL="63500">
              <a:lnSpc>
                <a:spcPct val="100000"/>
              </a:lnSpc>
              <a:spcBef>
                <a:spcPts val="760"/>
              </a:spcBef>
              <a:tabLst>
                <a:tab pos="1183640" algn="l"/>
              </a:tabLst>
            </a:pPr>
            <a:r>
              <a:rPr sz="1700" b="1" i="1" dirty="0">
                <a:latin typeface="Times New Roman"/>
                <a:cs typeface="Times New Roman"/>
              </a:rPr>
              <a:t>K</a:t>
            </a:r>
            <a:r>
              <a:rPr sz="1700" b="1" i="1" spc="200" dirty="0">
                <a:latin typeface="Times New Roman"/>
                <a:cs typeface="Times New Roman"/>
              </a:rPr>
              <a:t> </a:t>
            </a:r>
            <a:r>
              <a:rPr sz="1700" dirty="0">
                <a:latin typeface="Symbol"/>
                <a:cs typeface="Symbol"/>
              </a:rPr>
              <a:t></a:t>
            </a:r>
            <a:r>
              <a:rPr sz="1700" spc="35" dirty="0">
                <a:latin typeface="Times New Roman"/>
                <a:cs typeface="Times New Roman"/>
              </a:rPr>
              <a:t> </a:t>
            </a:r>
            <a:r>
              <a:rPr sz="1700" i="1" dirty="0">
                <a:latin typeface="Times New Roman"/>
                <a:cs typeface="Times New Roman"/>
              </a:rPr>
              <a:t>2</a:t>
            </a:r>
            <a:r>
              <a:rPr sz="1500" b="1" i="1" baseline="41666" dirty="0">
                <a:latin typeface="Times New Roman"/>
                <a:cs typeface="Times New Roman"/>
              </a:rPr>
              <a:t>k</a:t>
            </a:r>
            <a:r>
              <a:rPr sz="1500" b="1" i="1" spc="465" baseline="41666" dirty="0">
                <a:latin typeface="Times New Roman"/>
                <a:cs typeface="Times New Roman"/>
              </a:rPr>
              <a:t> </a:t>
            </a:r>
            <a:r>
              <a:rPr sz="1700" dirty="0">
                <a:latin typeface="Symbol"/>
                <a:cs typeface="Symbol"/>
              </a:rPr>
              <a:t></a:t>
            </a:r>
            <a:r>
              <a:rPr sz="1700" spc="-160" dirty="0">
                <a:latin typeface="Times New Roman"/>
                <a:cs typeface="Times New Roman"/>
              </a:rPr>
              <a:t> </a:t>
            </a:r>
            <a:r>
              <a:rPr sz="1700" i="1" spc="-25" dirty="0">
                <a:latin typeface="Times New Roman"/>
                <a:cs typeface="Times New Roman"/>
              </a:rPr>
              <a:t>1</a:t>
            </a:r>
            <a:r>
              <a:rPr sz="1700" b="1" spc="-25" dirty="0">
                <a:latin typeface="Times New Roman"/>
                <a:cs typeface="Times New Roman"/>
              </a:rPr>
              <a:t>,</a:t>
            </a:r>
            <a:r>
              <a:rPr sz="1700" b="1" dirty="0">
                <a:latin typeface="Times New Roman"/>
                <a:cs typeface="Times New Roman"/>
              </a:rPr>
              <a:t>	</a:t>
            </a:r>
            <a:r>
              <a:rPr sz="1700" b="1" i="1" dirty="0">
                <a:latin typeface="Times New Roman"/>
                <a:cs typeface="Times New Roman"/>
              </a:rPr>
              <a:t>k-</a:t>
            </a:r>
            <a:r>
              <a:rPr sz="1700" b="1" i="1" spc="55" dirty="0">
                <a:latin typeface="Times New Roman"/>
                <a:cs typeface="Times New Roman"/>
              </a:rPr>
              <a:t> numberof</a:t>
            </a:r>
            <a:r>
              <a:rPr sz="1700" b="1" i="1" spc="60" dirty="0">
                <a:latin typeface="Times New Roman"/>
                <a:cs typeface="Times New Roman"/>
              </a:rPr>
              <a:t> </a:t>
            </a:r>
            <a:r>
              <a:rPr sz="1700" b="1" i="1" spc="-20" dirty="0">
                <a:latin typeface="Times New Roman"/>
                <a:cs typeface="Times New Roman"/>
              </a:rPr>
              <a:t>bits</a:t>
            </a:r>
            <a:endParaRPr sz="1700" dirty="0">
              <a:latin typeface="Times New Roman"/>
              <a:cs typeface="Times New Roman"/>
            </a:endParaRPr>
          </a:p>
        </p:txBody>
      </p:sp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481527" y="2827020"/>
            <a:ext cx="1641787" cy="3394123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8771508" y="4342841"/>
            <a:ext cx="49212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Trebuchet MS"/>
                <a:cs typeface="Trebuchet MS"/>
              </a:rPr>
              <a:t>A</a:t>
            </a:r>
            <a:r>
              <a:rPr sz="1800" baseline="25462" dirty="0">
                <a:latin typeface="Trebuchet MS"/>
                <a:cs typeface="Trebuchet MS"/>
              </a:rPr>
              <a:t>c</a:t>
            </a:r>
            <a:r>
              <a:rPr sz="1800" spc="277" baseline="25462" dirty="0">
                <a:latin typeface="Trebuchet MS"/>
                <a:cs typeface="Trebuchet MS"/>
              </a:rPr>
              <a:t> </a:t>
            </a:r>
            <a:r>
              <a:rPr sz="1800" spc="45" dirty="0">
                <a:latin typeface="Trebuchet MS"/>
                <a:cs typeface="Trebuchet MS"/>
              </a:rPr>
              <a:t>=</a:t>
            </a:r>
            <a:endParaRPr sz="1800">
              <a:latin typeface="Trebuchet MS"/>
              <a:cs typeface="Trebuchet MS"/>
            </a:endParaRPr>
          </a:p>
        </p:txBody>
      </p:sp>
      <p:sp>
        <p:nvSpPr>
          <p:cNvPr id="9" name="object 9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dirty="0"/>
              <a:t>23</a:t>
            </a:r>
            <a:r>
              <a:rPr spc="-5" dirty="0"/>
              <a:t> </a:t>
            </a:r>
            <a:r>
              <a:rPr dirty="0"/>
              <a:t>May</a:t>
            </a:r>
            <a:r>
              <a:rPr spc="-5" dirty="0"/>
              <a:t> </a:t>
            </a:r>
            <a:r>
              <a:rPr spc="-20" dirty="0"/>
              <a:t>2024</a:t>
            </a:r>
          </a:p>
        </p:txBody>
      </p:sp>
      <p:sp>
        <p:nvSpPr>
          <p:cNvPr id="10" name="object 10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pc="-10" dirty="0"/>
              <a:t>MATHEMATICAL</a:t>
            </a:r>
            <a:r>
              <a:rPr spc="10" dirty="0"/>
              <a:t> </a:t>
            </a:r>
            <a:r>
              <a:rPr dirty="0"/>
              <a:t>TOOLS</a:t>
            </a:r>
            <a:r>
              <a:rPr spc="-15" dirty="0"/>
              <a:t> </a:t>
            </a:r>
            <a:r>
              <a:rPr dirty="0"/>
              <a:t>USED</a:t>
            </a:r>
            <a:r>
              <a:rPr spc="-30" dirty="0"/>
              <a:t> </a:t>
            </a:r>
            <a:r>
              <a:rPr dirty="0"/>
              <a:t>IN</a:t>
            </a:r>
            <a:r>
              <a:rPr spc="-30" dirty="0"/>
              <a:t> </a:t>
            </a:r>
            <a:r>
              <a:rPr dirty="0"/>
              <a:t>DIGITAL</a:t>
            </a:r>
            <a:r>
              <a:rPr spc="5" dirty="0"/>
              <a:t> </a:t>
            </a:r>
            <a:r>
              <a:rPr dirty="0"/>
              <a:t>IMAGE</a:t>
            </a:r>
            <a:r>
              <a:rPr spc="-5" dirty="0"/>
              <a:t> </a:t>
            </a:r>
            <a:r>
              <a:rPr spc="-10" dirty="0"/>
              <a:t>PROCESSING</a:t>
            </a: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55"/>
              </a:lnSpc>
            </a:pPr>
            <a:fld id="{81D60167-4931-47E6-BA6A-407CBD079E47}" type="slidenum">
              <a:rPr spc="-25" dirty="0"/>
              <a:t>24</a:t>
            </a:fld>
            <a:endParaRPr spc="-25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5" dirty="0"/>
              <a:t>Logical</a:t>
            </a:r>
            <a:r>
              <a:rPr spc="-265" dirty="0"/>
              <a:t> </a:t>
            </a:r>
            <a:r>
              <a:rPr spc="-40" dirty="0"/>
              <a:t>Operations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dirty="0"/>
              <a:t>23</a:t>
            </a:r>
            <a:r>
              <a:rPr spc="-5" dirty="0"/>
              <a:t> </a:t>
            </a:r>
            <a:r>
              <a:rPr dirty="0"/>
              <a:t>May</a:t>
            </a:r>
            <a:r>
              <a:rPr spc="-5" dirty="0"/>
              <a:t> </a:t>
            </a:r>
            <a:r>
              <a:rPr spc="-20" dirty="0"/>
              <a:t>2024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pc="-10" dirty="0"/>
              <a:t>MATHEMATICAL</a:t>
            </a:r>
            <a:r>
              <a:rPr spc="10" dirty="0"/>
              <a:t> </a:t>
            </a:r>
            <a:r>
              <a:rPr dirty="0"/>
              <a:t>TOOLS</a:t>
            </a:r>
            <a:r>
              <a:rPr spc="-15" dirty="0"/>
              <a:t> </a:t>
            </a:r>
            <a:r>
              <a:rPr dirty="0"/>
              <a:t>USED</a:t>
            </a:r>
            <a:r>
              <a:rPr spc="-30" dirty="0"/>
              <a:t> </a:t>
            </a:r>
            <a:r>
              <a:rPr dirty="0"/>
              <a:t>IN</a:t>
            </a:r>
            <a:r>
              <a:rPr spc="-30" dirty="0"/>
              <a:t> </a:t>
            </a:r>
            <a:r>
              <a:rPr dirty="0"/>
              <a:t>DIGITAL</a:t>
            </a:r>
            <a:r>
              <a:rPr spc="5" dirty="0"/>
              <a:t> </a:t>
            </a:r>
            <a:r>
              <a:rPr dirty="0"/>
              <a:t>IMAGE</a:t>
            </a:r>
            <a:r>
              <a:rPr spc="-5" dirty="0"/>
              <a:t> </a:t>
            </a:r>
            <a:r>
              <a:rPr spc="-10" dirty="0"/>
              <a:t>PROCESSING</a:t>
            </a:r>
          </a:p>
        </p:txBody>
      </p:sp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55"/>
              </a:lnSpc>
            </a:pPr>
            <a:fld id="{81D60167-4931-47E6-BA6A-407CBD079E47}" type="slidenum">
              <a:rPr spc="-25" dirty="0"/>
              <a:t>25</a:t>
            </a:fld>
            <a:endParaRPr spc="-25" dirty="0"/>
          </a:p>
        </p:txBody>
      </p:sp>
      <p:sp>
        <p:nvSpPr>
          <p:cNvPr id="3" name="object 3"/>
          <p:cNvSpPr txBox="1"/>
          <p:nvPr/>
        </p:nvSpPr>
        <p:spPr>
          <a:xfrm>
            <a:off x="1277492" y="1802028"/>
            <a:ext cx="9802495" cy="36836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marR="6985" indent="-285750" algn="just">
              <a:lnSpc>
                <a:spcPct val="150000"/>
              </a:lnSpc>
              <a:spcBef>
                <a:spcPts val="100"/>
              </a:spcBef>
              <a:buFont typeface="Wingdings"/>
              <a:buChar char=""/>
              <a:tabLst>
                <a:tab pos="299085" algn="l"/>
              </a:tabLst>
            </a:pPr>
            <a:r>
              <a:rPr sz="1600" dirty="0">
                <a:latin typeface="Times New Roman"/>
                <a:cs typeface="Times New Roman"/>
              </a:rPr>
              <a:t>Logical</a:t>
            </a:r>
            <a:r>
              <a:rPr sz="1600" spc="17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operations</a:t>
            </a:r>
            <a:r>
              <a:rPr sz="1600" spc="18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deal</a:t>
            </a:r>
            <a:r>
              <a:rPr sz="1600" spc="19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with</a:t>
            </a:r>
            <a:r>
              <a:rPr sz="1600" spc="18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TRUE</a:t>
            </a:r>
            <a:r>
              <a:rPr sz="1600" spc="19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(typically</a:t>
            </a:r>
            <a:r>
              <a:rPr sz="1600" spc="17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denoted</a:t>
            </a:r>
            <a:r>
              <a:rPr sz="1600" spc="20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by</a:t>
            </a:r>
            <a:r>
              <a:rPr sz="1600" spc="17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1)</a:t>
            </a:r>
            <a:r>
              <a:rPr sz="1600" spc="18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and</a:t>
            </a:r>
            <a:r>
              <a:rPr sz="1600" spc="18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FALSE</a:t>
            </a:r>
            <a:r>
              <a:rPr sz="1600" spc="18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(typically</a:t>
            </a:r>
            <a:r>
              <a:rPr sz="1600" spc="19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denoted</a:t>
            </a:r>
            <a:r>
              <a:rPr sz="1600" spc="18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by</a:t>
            </a:r>
            <a:r>
              <a:rPr sz="1600" spc="18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0)</a:t>
            </a:r>
            <a:r>
              <a:rPr sz="1600" spc="18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variables</a:t>
            </a:r>
            <a:r>
              <a:rPr sz="1600" spc="195" dirty="0">
                <a:latin typeface="Times New Roman"/>
                <a:cs typeface="Times New Roman"/>
              </a:rPr>
              <a:t> </a:t>
            </a:r>
            <a:r>
              <a:rPr sz="1600" spc="-25" dirty="0">
                <a:latin typeface="Times New Roman"/>
                <a:cs typeface="Times New Roman"/>
              </a:rPr>
              <a:t>and 	</a:t>
            </a:r>
            <a:r>
              <a:rPr sz="1600" spc="-10" dirty="0">
                <a:latin typeface="Times New Roman"/>
                <a:cs typeface="Times New Roman"/>
              </a:rPr>
              <a:t>expressions.</a:t>
            </a:r>
            <a:endParaRPr sz="1600" dirty="0">
              <a:latin typeface="Times New Roman"/>
              <a:cs typeface="Times New Roman"/>
            </a:endParaRPr>
          </a:p>
          <a:p>
            <a:pPr marL="299085" indent="-286385">
              <a:lnSpc>
                <a:spcPct val="100000"/>
              </a:lnSpc>
              <a:spcBef>
                <a:spcPts val="960"/>
              </a:spcBef>
              <a:buFont typeface="Wingdings"/>
              <a:buChar char=""/>
              <a:tabLst>
                <a:tab pos="299085" algn="l"/>
              </a:tabLst>
            </a:pPr>
            <a:r>
              <a:rPr sz="1600" dirty="0">
                <a:latin typeface="Times New Roman"/>
                <a:cs typeface="Times New Roman"/>
              </a:rPr>
              <a:t>When</a:t>
            </a:r>
            <a:r>
              <a:rPr sz="1600" spc="204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dealing</a:t>
            </a:r>
            <a:r>
              <a:rPr sz="1600" spc="21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with</a:t>
            </a:r>
            <a:r>
              <a:rPr sz="1600" spc="204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binary</a:t>
            </a:r>
            <a:r>
              <a:rPr sz="1600" spc="21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images,</a:t>
            </a:r>
            <a:r>
              <a:rPr sz="1600" spc="22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we</a:t>
            </a:r>
            <a:r>
              <a:rPr sz="1600" spc="20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can</a:t>
            </a:r>
            <a:r>
              <a:rPr sz="1600" spc="204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think</a:t>
            </a:r>
            <a:r>
              <a:rPr sz="1600" spc="21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of</a:t>
            </a:r>
            <a:r>
              <a:rPr sz="1600" spc="220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foreground</a:t>
            </a:r>
            <a:r>
              <a:rPr sz="1600" b="1" spc="210" dirty="0">
                <a:latin typeface="Times New Roman"/>
                <a:cs typeface="Times New Roman"/>
              </a:rPr>
              <a:t> </a:t>
            </a:r>
            <a:r>
              <a:rPr sz="1600" b="1" spc="-20" dirty="0">
                <a:latin typeface="Times New Roman"/>
                <a:cs typeface="Times New Roman"/>
              </a:rPr>
              <a:t>(1-</a:t>
            </a:r>
            <a:r>
              <a:rPr sz="1600" b="1" dirty="0">
                <a:latin typeface="Times New Roman"/>
                <a:cs typeface="Times New Roman"/>
              </a:rPr>
              <a:t>valued)</a:t>
            </a:r>
            <a:r>
              <a:rPr sz="1600" b="1" spc="21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and</a:t>
            </a:r>
            <a:r>
              <a:rPr sz="1600" spc="204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background</a:t>
            </a:r>
            <a:r>
              <a:rPr sz="1600" b="1" spc="204" dirty="0">
                <a:latin typeface="Times New Roman"/>
                <a:cs typeface="Times New Roman"/>
              </a:rPr>
              <a:t> </a:t>
            </a:r>
            <a:r>
              <a:rPr sz="1600" b="1" spc="-10" dirty="0">
                <a:latin typeface="Times New Roman"/>
                <a:cs typeface="Times New Roman"/>
              </a:rPr>
              <a:t>(0-</a:t>
            </a:r>
            <a:r>
              <a:rPr sz="1600" b="1" dirty="0">
                <a:latin typeface="Times New Roman"/>
                <a:cs typeface="Times New Roman"/>
              </a:rPr>
              <a:t>valued)</a:t>
            </a:r>
            <a:r>
              <a:rPr sz="1600" b="1" spc="21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sets</a:t>
            </a:r>
            <a:r>
              <a:rPr sz="1600" spc="204" dirty="0">
                <a:latin typeface="Times New Roman"/>
                <a:cs typeface="Times New Roman"/>
              </a:rPr>
              <a:t> </a:t>
            </a:r>
            <a:r>
              <a:rPr sz="1600" spc="-25" dirty="0">
                <a:latin typeface="Times New Roman"/>
                <a:cs typeface="Times New Roman"/>
              </a:rPr>
              <a:t>of</a:t>
            </a:r>
            <a:endParaRPr sz="1600" dirty="0">
              <a:latin typeface="Times New Roman"/>
              <a:cs typeface="Times New Roman"/>
            </a:endParaRPr>
          </a:p>
          <a:p>
            <a:pPr marL="299085">
              <a:lnSpc>
                <a:spcPct val="100000"/>
              </a:lnSpc>
              <a:spcBef>
                <a:spcPts val="960"/>
              </a:spcBef>
            </a:pPr>
            <a:r>
              <a:rPr sz="1600" spc="-10" dirty="0">
                <a:latin typeface="Times New Roman"/>
                <a:cs typeface="Times New Roman"/>
              </a:rPr>
              <a:t>pixels.</a:t>
            </a:r>
            <a:endParaRPr sz="1600" dirty="0">
              <a:latin typeface="Times New Roman"/>
              <a:cs typeface="Times New Roman"/>
            </a:endParaRPr>
          </a:p>
          <a:p>
            <a:pPr marL="297815" marR="5080" indent="-285750" algn="just">
              <a:lnSpc>
                <a:spcPct val="150000"/>
              </a:lnSpc>
              <a:buFont typeface="Wingdings"/>
              <a:buChar char=""/>
              <a:tabLst>
                <a:tab pos="299085" algn="l"/>
              </a:tabLst>
            </a:pPr>
            <a:r>
              <a:rPr sz="1600" dirty="0">
                <a:latin typeface="Times New Roman"/>
                <a:cs typeface="Times New Roman"/>
              </a:rPr>
              <a:t>We</a:t>
            </a:r>
            <a:r>
              <a:rPr sz="1600" spc="12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work</a:t>
            </a:r>
            <a:r>
              <a:rPr sz="1600" spc="12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with</a:t>
            </a:r>
            <a:r>
              <a:rPr sz="1600" spc="14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set</a:t>
            </a:r>
            <a:r>
              <a:rPr sz="1600" spc="14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and</a:t>
            </a:r>
            <a:r>
              <a:rPr sz="1600" spc="13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logical</a:t>
            </a:r>
            <a:r>
              <a:rPr sz="1600" spc="14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operators</a:t>
            </a:r>
            <a:r>
              <a:rPr sz="1600" spc="13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on</a:t>
            </a:r>
            <a:r>
              <a:rPr sz="1600" spc="12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binary</a:t>
            </a:r>
            <a:r>
              <a:rPr sz="1600" spc="13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images</a:t>
            </a:r>
            <a:r>
              <a:rPr sz="1600" spc="13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using</a:t>
            </a:r>
            <a:r>
              <a:rPr sz="1600" spc="13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one</a:t>
            </a:r>
            <a:r>
              <a:rPr sz="1600" spc="13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of</a:t>
            </a:r>
            <a:r>
              <a:rPr sz="1600" spc="14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two</a:t>
            </a:r>
            <a:r>
              <a:rPr sz="1600" spc="13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basic</a:t>
            </a:r>
            <a:r>
              <a:rPr sz="1600" spc="13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approaches:</a:t>
            </a:r>
            <a:r>
              <a:rPr sz="1600" spc="14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(1)</a:t>
            </a:r>
            <a:r>
              <a:rPr sz="1600" spc="13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we</a:t>
            </a:r>
            <a:r>
              <a:rPr sz="1600" spc="13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can</a:t>
            </a:r>
            <a:r>
              <a:rPr sz="1600" spc="12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use</a:t>
            </a:r>
            <a:r>
              <a:rPr sz="1600" spc="135" dirty="0">
                <a:latin typeface="Times New Roman"/>
                <a:cs typeface="Times New Roman"/>
              </a:rPr>
              <a:t> </a:t>
            </a:r>
            <a:r>
              <a:rPr sz="1600" spc="-25" dirty="0">
                <a:latin typeface="Times New Roman"/>
                <a:cs typeface="Times New Roman"/>
              </a:rPr>
              <a:t>the 	</a:t>
            </a:r>
            <a:r>
              <a:rPr sz="1600" i="1" dirty="0">
                <a:latin typeface="Times New Roman"/>
                <a:cs typeface="Times New Roman"/>
              </a:rPr>
              <a:t>coordinates</a:t>
            </a:r>
            <a:r>
              <a:rPr sz="1600" i="1" spc="14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of</a:t>
            </a:r>
            <a:r>
              <a:rPr sz="1600" spc="14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individual</a:t>
            </a:r>
            <a:r>
              <a:rPr sz="1600" spc="15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regions</a:t>
            </a:r>
            <a:r>
              <a:rPr sz="1600" spc="13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of</a:t>
            </a:r>
            <a:r>
              <a:rPr sz="1600" spc="14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foreground</a:t>
            </a:r>
            <a:r>
              <a:rPr sz="1600" spc="14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pixels</a:t>
            </a:r>
            <a:r>
              <a:rPr sz="1600" spc="15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in</a:t>
            </a:r>
            <a:r>
              <a:rPr sz="1600" spc="14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a</a:t>
            </a:r>
            <a:r>
              <a:rPr sz="1600" spc="13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single</a:t>
            </a:r>
            <a:r>
              <a:rPr sz="1600" spc="15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image</a:t>
            </a:r>
            <a:r>
              <a:rPr sz="1600" spc="16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as</a:t>
            </a:r>
            <a:r>
              <a:rPr sz="1600" spc="13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sets,</a:t>
            </a:r>
            <a:r>
              <a:rPr sz="1600" spc="13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or</a:t>
            </a:r>
            <a:r>
              <a:rPr sz="1600" spc="14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(2)</a:t>
            </a:r>
            <a:r>
              <a:rPr sz="1600" spc="13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we</a:t>
            </a:r>
            <a:r>
              <a:rPr sz="1600" spc="14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can</a:t>
            </a:r>
            <a:r>
              <a:rPr sz="1600" spc="14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work</a:t>
            </a:r>
            <a:r>
              <a:rPr sz="1600" spc="13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with</a:t>
            </a:r>
            <a:r>
              <a:rPr sz="1600" spc="14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one</a:t>
            </a:r>
            <a:r>
              <a:rPr sz="1600" spc="130" dirty="0">
                <a:latin typeface="Times New Roman"/>
                <a:cs typeface="Times New Roman"/>
              </a:rPr>
              <a:t> </a:t>
            </a:r>
            <a:r>
              <a:rPr sz="1600" spc="-25" dirty="0">
                <a:latin typeface="Times New Roman"/>
                <a:cs typeface="Times New Roman"/>
              </a:rPr>
              <a:t>or 	</a:t>
            </a:r>
            <a:r>
              <a:rPr sz="1600" dirty="0">
                <a:latin typeface="Times New Roman"/>
                <a:cs typeface="Times New Roman"/>
              </a:rPr>
              <a:t>more</a:t>
            </a:r>
            <a:r>
              <a:rPr sz="1600" spc="-1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images</a:t>
            </a:r>
            <a:r>
              <a:rPr sz="1600" spc="1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of</a:t>
            </a:r>
            <a:r>
              <a:rPr sz="1600" spc="-4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the</a:t>
            </a:r>
            <a:r>
              <a:rPr sz="1600" spc="-3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same</a:t>
            </a:r>
            <a:r>
              <a:rPr sz="1600" spc="-1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size</a:t>
            </a:r>
            <a:r>
              <a:rPr sz="1600" spc="-2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and</a:t>
            </a:r>
            <a:r>
              <a:rPr sz="1600" spc="-4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perform</a:t>
            </a:r>
            <a:r>
              <a:rPr sz="1600" spc="-3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logical</a:t>
            </a:r>
            <a:r>
              <a:rPr sz="1600" spc="-2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operations</a:t>
            </a:r>
            <a:r>
              <a:rPr sz="1600" spc="-2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between</a:t>
            </a:r>
            <a:r>
              <a:rPr sz="1600" spc="-3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corresponding</a:t>
            </a:r>
            <a:r>
              <a:rPr sz="1600" spc="-2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pixels</a:t>
            </a:r>
            <a:r>
              <a:rPr sz="1600" spc="-3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in</a:t>
            </a:r>
            <a:r>
              <a:rPr sz="1600" spc="-4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those</a:t>
            </a:r>
            <a:r>
              <a:rPr sz="1600" spc="-35" dirty="0">
                <a:latin typeface="Times New Roman"/>
                <a:cs typeface="Times New Roman"/>
              </a:rPr>
              <a:t> </a:t>
            </a:r>
            <a:r>
              <a:rPr sz="1600" spc="-10" dirty="0">
                <a:latin typeface="Times New Roman"/>
                <a:cs typeface="Times New Roman"/>
              </a:rPr>
              <a:t>arrays.</a:t>
            </a:r>
            <a:endParaRPr sz="1600" dirty="0">
              <a:latin typeface="Times New Roman"/>
              <a:cs typeface="Times New Roman"/>
            </a:endParaRPr>
          </a:p>
          <a:p>
            <a:pPr marL="297815" marR="5715" indent="-285750" algn="just">
              <a:lnSpc>
                <a:spcPct val="150000"/>
              </a:lnSpc>
              <a:spcBef>
                <a:spcPts val="5"/>
              </a:spcBef>
              <a:buFont typeface="Wingdings"/>
              <a:buChar char=""/>
              <a:tabLst>
                <a:tab pos="299085" algn="l"/>
              </a:tabLst>
            </a:pPr>
            <a:r>
              <a:rPr sz="1600" dirty="0">
                <a:latin typeface="Times New Roman"/>
                <a:cs typeface="Times New Roman"/>
              </a:rPr>
              <a:t>When</a:t>
            </a:r>
            <a:r>
              <a:rPr sz="1600" spc="11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dealing</a:t>
            </a:r>
            <a:r>
              <a:rPr sz="1600" spc="12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with</a:t>
            </a:r>
            <a:r>
              <a:rPr sz="1600" spc="114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binary</a:t>
            </a:r>
            <a:r>
              <a:rPr sz="1600" spc="12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images,</a:t>
            </a:r>
            <a:r>
              <a:rPr sz="1600" spc="12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it</a:t>
            </a:r>
            <a:r>
              <a:rPr sz="1600" spc="12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is</a:t>
            </a:r>
            <a:r>
              <a:rPr sz="1600" spc="12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common</a:t>
            </a:r>
            <a:r>
              <a:rPr sz="1600" spc="13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practice</a:t>
            </a:r>
            <a:r>
              <a:rPr sz="1600" spc="12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to</a:t>
            </a:r>
            <a:r>
              <a:rPr sz="1600" spc="14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refer</a:t>
            </a:r>
            <a:r>
              <a:rPr sz="1600" spc="12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to</a:t>
            </a:r>
            <a:r>
              <a:rPr sz="1600" spc="125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union</a:t>
            </a:r>
            <a:r>
              <a:rPr sz="1600" dirty="0">
                <a:latin typeface="Times New Roman"/>
                <a:cs typeface="Times New Roman"/>
              </a:rPr>
              <a:t>,</a:t>
            </a:r>
            <a:r>
              <a:rPr sz="1600" spc="105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intersection</a:t>
            </a:r>
            <a:r>
              <a:rPr sz="1600" dirty="0">
                <a:latin typeface="Times New Roman"/>
                <a:cs typeface="Times New Roman"/>
              </a:rPr>
              <a:t>,</a:t>
            </a:r>
            <a:r>
              <a:rPr sz="1600" spc="12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and</a:t>
            </a:r>
            <a:r>
              <a:rPr sz="1600" spc="114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complement</a:t>
            </a:r>
            <a:r>
              <a:rPr sz="1600" b="1" spc="13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as</a:t>
            </a:r>
            <a:r>
              <a:rPr sz="1600" spc="120" dirty="0">
                <a:latin typeface="Times New Roman"/>
                <a:cs typeface="Times New Roman"/>
              </a:rPr>
              <a:t> </a:t>
            </a:r>
            <a:r>
              <a:rPr sz="1600" spc="-25" dirty="0">
                <a:latin typeface="Times New Roman"/>
                <a:cs typeface="Times New Roman"/>
              </a:rPr>
              <a:t>the 	</a:t>
            </a:r>
            <a:r>
              <a:rPr sz="1600" b="1" dirty="0">
                <a:latin typeface="Times New Roman"/>
                <a:cs typeface="Times New Roman"/>
              </a:rPr>
              <a:t>OR</a:t>
            </a:r>
            <a:r>
              <a:rPr sz="1600" dirty="0">
                <a:latin typeface="Times New Roman"/>
                <a:cs typeface="Times New Roman"/>
              </a:rPr>
              <a:t>,</a:t>
            </a:r>
            <a:r>
              <a:rPr sz="1600" spc="35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AND</a:t>
            </a:r>
            <a:r>
              <a:rPr sz="1600" dirty="0">
                <a:latin typeface="Times New Roman"/>
                <a:cs typeface="Times New Roman"/>
              </a:rPr>
              <a:t>,</a:t>
            </a:r>
            <a:r>
              <a:rPr sz="1600" spc="4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and</a:t>
            </a:r>
            <a:r>
              <a:rPr sz="1600" spc="35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NOT</a:t>
            </a:r>
            <a:r>
              <a:rPr sz="1600" b="1" spc="4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logical</a:t>
            </a:r>
            <a:r>
              <a:rPr sz="1600" spc="5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operations,</a:t>
            </a:r>
            <a:r>
              <a:rPr sz="1600" spc="4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where</a:t>
            </a:r>
            <a:r>
              <a:rPr sz="1600" spc="3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“logical”</a:t>
            </a:r>
            <a:r>
              <a:rPr sz="1600" spc="5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arises</a:t>
            </a:r>
            <a:r>
              <a:rPr sz="1600" spc="4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from</a:t>
            </a:r>
            <a:r>
              <a:rPr sz="1600" spc="2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logic</a:t>
            </a:r>
            <a:r>
              <a:rPr sz="1600" spc="4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theory</a:t>
            </a:r>
            <a:r>
              <a:rPr sz="1600" spc="4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in</a:t>
            </a:r>
            <a:r>
              <a:rPr sz="1600" spc="4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which</a:t>
            </a:r>
            <a:r>
              <a:rPr sz="1600" spc="6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1</a:t>
            </a:r>
            <a:r>
              <a:rPr sz="1600" spc="3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and</a:t>
            </a:r>
            <a:r>
              <a:rPr sz="1600" spc="3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0</a:t>
            </a:r>
            <a:r>
              <a:rPr sz="1600" spc="4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denote</a:t>
            </a:r>
            <a:r>
              <a:rPr sz="1600" spc="4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true</a:t>
            </a:r>
            <a:r>
              <a:rPr sz="1600" spc="40" dirty="0">
                <a:latin typeface="Times New Roman"/>
                <a:cs typeface="Times New Roman"/>
              </a:rPr>
              <a:t> </a:t>
            </a:r>
            <a:r>
              <a:rPr sz="1600" spc="-25" dirty="0">
                <a:latin typeface="Times New Roman"/>
                <a:cs typeface="Times New Roman"/>
              </a:rPr>
              <a:t>and 	</a:t>
            </a:r>
            <a:r>
              <a:rPr sz="1600" dirty="0">
                <a:latin typeface="Times New Roman"/>
                <a:cs typeface="Times New Roman"/>
              </a:rPr>
              <a:t>false,</a:t>
            </a:r>
            <a:r>
              <a:rPr sz="1600" spc="-15" dirty="0">
                <a:latin typeface="Times New Roman"/>
                <a:cs typeface="Times New Roman"/>
              </a:rPr>
              <a:t> </a:t>
            </a:r>
            <a:r>
              <a:rPr sz="1600" spc="-10" dirty="0">
                <a:latin typeface="Times New Roman"/>
                <a:cs typeface="Times New Roman"/>
              </a:rPr>
              <a:t>respectively.</a:t>
            </a:r>
            <a:endParaRPr sz="16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5" dirty="0"/>
              <a:t>Logical</a:t>
            </a:r>
            <a:r>
              <a:rPr spc="-265" dirty="0"/>
              <a:t> </a:t>
            </a:r>
            <a:r>
              <a:rPr spc="-40" dirty="0"/>
              <a:t>Operations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63168" y="1912402"/>
            <a:ext cx="5169429" cy="4308811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dirty="0"/>
              <a:t>23</a:t>
            </a:r>
            <a:r>
              <a:rPr spc="-5" dirty="0"/>
              <a:t> </a:t>
            </a:r>
            <a:r>
              <a:rPr dirty="0"/>
              <a:t>May</a:t>
            </a:r>
            <a:r>
              <a:rPr spc="-5" dirty="0"/>
              <a:t> </a:t>
            </a:r>
            <a:r>
              <a:rPr spc="-20" dirty="0"/>
              <a:t>2024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pc="-10" dirty="0"/>
              <a:t>MATHEMATICAL</a:t>
            </a:r>
            <a:r>
              <a:rPr spc="10" dirty="0"/>
              <a:t> </a:t>
            </a:r>
            <a:r>
              <a:rPr dirty="0"/>
              <a:t>TOOLS</a:t>
            </a:r>
            <a:r>
              <a:rPr spc="-15" dirty="0"/>
              <a:t> </a:t>
            </a:r>
            <a:r>
              <a:rPr dirty="0"/>
              <a:t>USED</a:t>
            </a:r>
            <a:r>
              <a:rPr spc="-30" dirty="0"/>
              <a:t> </a:t>
            </a:r>
            <a:r>
              <a:rPr dirty="0"/>
              <a:t>IN</a:t>
            </a:r>
            <a:r>
              <a:rPr spc="-30" dirty="0"/>
              <a:t> </a:t>
            </a:r>
            <a:r>
              <a:rPr dirty="0"/>
              <a:t>DIGITAL</a:t>
            </a:r>
            <a:r>
              <a:rPr spc="5" dirty="0"/>
              <a:t> </a:t>
            </a:r>
            <a:r>
              <a:rPr dirty="0"/>
              <a:t>IMAGE</a:t>
            </a:r>
            <a:r>
              <a:rPr spc="-5" dirty="0"/>
              <a:t> </a:t>
            </a:r>
            <a:r>
              <a:rPr spc="-10" dirty="0"/>
              <a:t>PROCESSING</a:t>
            </a:r>
          </a:p>
        </p:txBody>
      </p:sp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55"/>
              </a:lnSpc>
            </a:pPr>
            <a:fld id="{81D60167-4931-47E6-BA6A-407CBD079E47}" type="slidenum">
              <a:rPr spc="-25" dirty="0"/>
              <a:t>26</a:t>
            </a:fld>
            <a:endParaRPr spc="-25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261617" y="1799289"/>
            <a:ext cx="6926580" cy="2084705"/>
          </a:xfrm>
          <a:prstGeom prst="rect">
            <a:avLst/>
          </a:prstGeom>
        </p:spPr>
        <p:txBody>
          <a:bodyPr vert="horz" wrap="square" lIns="0" tIns="150495" rIns="0" bIns="0" rtlCol="0">
            <a:spAutoFit/>
          </a:bodyPr>
          <a:lstStyle/>
          <a:p>
            <a:pPr marL="299085" indent="-286385">
              <a:lnSpc>
                <a:spcPct val="100000"/>
              </a:lnSpc>
              <a:spcBef>
                <a:spcPts val="1185"/>
              </a:spcBef>
              <a:buFont typeface="Wingdings"/>
              <a:buChar char=""/>
              <a:tabLst>
                <a:tab pos="299085" algn="l"/>
              </a:tabLst>
            </a:pPr>
            <a:r>
              <a:rPr sz="1800" dirty="0">
                <a:latin typeface="Times New Roman"/>
                <a:cs typeface="Times New Roman"/>
              </a:rPr>
              <a:t>Spatial</a:t>
            </a:r>
            <a:r>
              <a:rPr sz="1800" spc="-3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operations</a:t>
            </a:r>
            <a:r>
              <a:rPr sz="1800" spc="-1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are</a:t>
            </a:r>
            <a:r>
              <a:rPr sz="1800" spc="-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performed directly</a:t>
            </a:r>
            <a:r>
              <a:rPr sz="1800" spc="-2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on</a:t>
            </a:r>
            <a:r>
              <a:rPr sz="1800" spc="-1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the</a:t>
            </a:r>
            <a:r>
              <a:rPr sz="1800" spc="-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pixels</a:t>
            </a:r>
            <a:r>
              <a:rPr sz="1800" spc="-1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of a</a:t>
            </a:r>
            <a:r>
              <a:rPr sz="1800" spc="-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given </a:t>
            </a:r>
            <a:r>
              <a:rPr sz="1800" spc="-10" dirty="0">
                <a:latin typeface="Times New Roman"/>
                <a:cs typeface="Times New Roman"/>
              </a:rPr>
              <a:t>image.</a:t>
            </a:r>
            <a:endParaRPr sz="1800">
              <a:latin typeface="Times New Roman"/>
              <a:cs typeface="Times New Roman"/>
            </a:endParaRPr>
          </a:p>
          <a:p>
            <a:pPr marL="298450" indent="-285750">
              <a:lnSpc>
                <a:spcPct val="100000"/>
              </a:lnSpc>
              <a:spcBef>
                <a:spcPts val="1080"/>
              </a:spcBef>
              <a:buFont typeface="Wingdings"/>
              <a:buChar char=""/>
              <a:tabLst>
                <a:tab pos="298450" algn="l"/>
              </a:tabLst>
            </a:pPr>
            <a:r>
              <a:rPr sz="1800" dirty="0">
                <a:latin typeface="Times New Roman"/>
                <a:cs typeface="Times New Roman"/>
              </a:rPr>
              <a:t>Classifications</a:t>
            </a:r>
            <a:r>
              <a:rPr sz="1800" spc="-6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of</a:t>
            </a:r>
            <a:r>
              <a:rPr sz="1800" spc="-3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spatial</a:t>
            </a:r>
            <a:r>
              <a:rPr sz="1800" spc="-35" dirty="0">
                <a:latin typeface="Times New Roman"/>
                <a:cs typeface="Times New Roman"/>
              </a:rPr>
              <a:t> </a:t>
            </a:r>
            <a:r>
              <a:rPr sz="1800" spc="-10" dirty="0">
                <a:latin typeface="Times New Roman"/>
                <a:cs typeface="Times New Roman"/>
              </a:rPr>
              <a:t>operations:</a:t>
            </a:r>
            <a:endParaRPr sz="1800">
              <a:latin typeface="Times New Roman"/>
              <a:cs typeface="Times New Roman"/>
            </a:endParaRPr>
          </a:p>
          <a:p>
            <a:pPr marL="354965" indent="-342265">
              <a:lnSpc>
                <a:spcPct val="100000"/>
              </a:lnSpc>
              <a:spcBef>
                <a:spcPts val="1080"/>
              </a:spcBef>
              <a:buAutoNum type="arabicPeriod"/>
              <a:tabLst>
                <a:tab pos="354965" algn="l"/>
              </a:tabLst>
            </a:pPr>
            <a:r>
              <a:rPr sz="1800" b="1" dirty="0">
                <a:latin typeface="Times New Roman"/>
                <a:cs typeface="Times New Roman"/>
              </a:rPr>
              <a:t>Single</a:t>
            </a:r>
            <a:r>
              <a:rPr sz="1800" b="1" spc="-20" dirty="0">
                <a:latin typeface="Times New Roman"/>
                <a:cs typeface="Times New Roman"/>
              </a:rPr>
              <a:t> </a:t>
            </a:r>
            <a:r>
              <a:rPr sz="1800" b="1" dirty="0">
                <a:latin typeface="Times New Roman"/>
                <a:cs typeface="Times New Roman"/>
              </a:rPr>
              <a:t>pixel</a:t>
            </a:r>
            <a:r>
              <a:rPr sz="1800" b="1" spc="-15" dirty="0">
                <a:latin typeface="Times New Roman"/>
                <a:cs typeface="Times New Roman"/>
              </a:rPr>
              <a:t> </a:t>
            </a:r>
            <a:r>
              <a:rPr sz="1800" b="1" spc="-10" dirty="0">
                <a:latin typeface="Times New Roman"/>
                <a:cs typeface="Times New Roman"/>
              </a:rPr>
              <a:t>operations</a:t>
            </a:r>
            <a:endParaRPr sz="1800">
              <a:latin typeface="Times New Roman"/>
              <a:cs typeface="Times New Roman"/>
            </a:endParaRPr>
          </a:p>
          <a:p>
            <a:pPr marL="354965" indent="-342265">
              <a:lnSpc>
                <a:spcPct val="100000"/>
              </a:lnSpc>
              <a:spcBef>
                <a:spcPts val="1080"/>
              </a:spcBef>
              <a:buAutoNum type="arabicPeriod"/>
              <a:tabLst>
                <a:tab pos="354965" algn="l"/>
              </a:tabLst>
            </a:pPr>
            <a:r>
              <a:rPr sz="1800" b="1" dirty="0">
                <a:latin typeface="Times New Roman"/>
                <a:cs typeface="Times New Roman"/>
              </a:rPr>
              <a:t>Neighborhood</a:t>
            </a:r>
            <a:r>
              <a:rPr sz="1800" b="1" spc="-45" dirty="0">
                <a:latin typeface="Times New Roman"/>
                <a:cs typeface="Times New Roman"/>
              </a:rPr>
              <a:t> </a:t>
            </a:r>
            <a:r>
              <a:rPr sz="1800" b="1" spc="-10" dirty="0">
                <a:latin typeface="Times New Roman"/>
                <a:cs typeface="Times New Roman"/>
              </a:rPr>
              <a:t>operations</a:t>
            </a:r>
            <a:endParaRPr sz="1800">
              <a:latin typeface="Times New Roman"/>
              <a:cs typeface="Times New Roman"/>
            </a:endParaRPr>
          </a:p>
          <a:p>
            <a:pPr marL="354965" indent="-342265">
              <a:lnSpc>
                <a:spcPct val="100000"/>
              </a:lnSpc>
              <a:spcBef>
                <a:spcPts val="1085"/>
              </a:spcBef>
              <a:buAutoNum type="arabicPeriod"/>
              <a:tabLst>
                <a:tab pos="354965" algn="l"/>
              </a:tabLst>
            </a:pPr>
            <a:r>
              <a:rPr sz="1800" b="1" dirty="0">
                <a:latin typeface="Times New Roman"/>
                <a:cs typeface="Times New Roman"/>
              </a:rPr>
              <a:t>Geometric</a:t>
            </a:r>
            <a:r>
              <a:rPr sz="1800" b="1" spc="-90" dirty="0">
                <a:latin typeface="Times New Roman"/>
                <a:cs typeface="Times New Roman"/>
              </a:rPr>
              <a:t> </a:t>
            </a:r>
            <a:r>
              <a:rPr sz="1800" b="1" dirty="0">
                <a:latin typeface="Times New Roman"/>
                <a:cs typeface="Times New Roman"/>
              </a:rPr>
              <a:t>spatial</a:t>
            </a:r>
            <a:r>
              <a:rPr sz="1800" b="1" spc="-50" dirty="0">
                <a:latin typeface="Times New Roman"/>
                <a:cs typeface="Times New Roman"/>
              </a:rPr>
              <a:t> </a:t>
            </a:r>
            <a:r>
              <a:rPr sz="1800" b="1" spc="-10" dirty="0">
                <a:latin typeface="Times New Roman"/>
                <a:cs typeface="Times New Roman"/>
              </a:rPr>
              <a:t>transformations</a:t>
            </a:r>
            <a:endParaRPr sz="180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dirty="0"/>
              <a:t>23</a:t>
            </a:r>
            <a:r>
              <a:rPr spc="-5" dirty="0"/>
              <a:t> </a:t>
            </a:r>
            <a:r>
              <a:rPr dirty="0"/>
              <a:t>May</a:t>
            </a:r>
            <a:r>
              <a:rPr spc="-5" dirty="0"/>
              <a:t> </a:t>
            </a:r>
            <a:r>
              <a:rPr spc="-20" dirty="0"/>
              <a:t>2024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pc="-10" dirty="0"/>
              <a:t>MATHEMATICAL</a:t>
            </a:r>
            <a:r>
              <a:rPr spc="10" dirty="0"/>
              <a:t> </a:t>
            </a:r>
            <a:r>
              <a:rPr dirty="0"/>
              <a:t>TOOLS</a:t>
            </a:r>
            <a:r>
              <a:rPr spc="-15" dirty="0"/>
              <a:t> </a:t>
            </a:r>
            <a:r>
              <a:rPr dirty="0"/>
              <a:t>USED</a:t>
            </a:r>
            <a:r>
              <a:rPr spc="-30" dirty="0"/>
              <a:t> </a:t>
            </a:r>
            <a:r>
              <a:rPr dirty="0"/>
              <a:t>IN</a:t>
            </a:r>
            <a:r>
              <a:rPr spc="-30" dirty="0"/>
              <a:t> </a:t>
            </a:r>
            <a:r>
              <a:rPr dirty="0"/>
              <a:t>DIGITAL</a:t>
            </a:r>
            <a:r>
              <a:rPr spc="5" dirty="0"/>
              <a:t> </a:t>
            </a:r>
            <a:r>
              <a:rPr dirty="0"/>
              <a:t>IMAGE</a:t>
            </a:r>
            <a:r>
              <a:rPr spc="-5" dirty="0"/>
              <a:t> </a:t>
            </a:r>
            <a:r>
              <a:rPr spc="-10" dirty="0"/>
              <a:t>PROCESSING</a:t>
            </a:r>
          </a:p>
        </p:txBody>
      </p:sp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55"/>
              </a:lnSpc>
            </a:pPr>
            <a:fld id="{81D60167-4931-47E6-BA6A-407CBD079E47}" type="slidenum">
              <a:rPr spc="-25" dirty="0"/>
              <a:t>27</a:t>
            </a:fld>
            <a:endParaRPr spc="-25"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35" dirty="0"/>
              <a:t>Spatial</a:t>
            </a:r>
            <a:r>
              <a:rPr spc="-240" dirty="0"/>
              <a:t> </a:t>
            </a:r>
            <a:r>
              <a:rPr spc="-35" dirty="0"/>
              <a:t>Operations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35" dirty="0"/>
              <a:t>Spatial</a:t>
            </a:r>
            <a:r>
              <a:rPr spc="-240" dirty="0"/>
              <a:t> </a:t>
            </a:r>
            <a:r>
              <a:rPr spc="-35" dirty="0"/>
              <a:t>Operations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019" y="1785620"/>
            <a:ext cx="5042535" cy="1671955"/>
          </a:xfrm>
          <a:prstGeom prst="rect">
            <a:avLst/>
          </a:prstGeom>
        </p:spPr>
        <p:txBody>
          <a:bodyPr vert="horz" wrap="square" lIns="0" tIns="149860" rIns="0" bIns="0" rtlCol="0">
            <a:spAutoFit/>
          </a:bodyPr>
          <a:lstStyle/>
          <a:p>
            <a:pPr marL="298450" indent="-285750">
              <a:lnSpc>
                <a:spcPct val="100000"/>
              </a:lnSpc>
              <a:spcBef>
                <a:spcPts val="1180"/>
              </a:spcBef>
              <a:buFont typeface="Wingdings"/>
              <a:buChar char=""/>
              <a:tabLst>
                <a:tab pos="298450" algn="l"/>
              </a:tabLst>
            </a:pPr>
            <a:r>
              <a:rPr sz="1800" b="1" dirty="0">
                <a:latin typeface="Times New Roman"/>
                <a:cs typeface="Times New Roman"/>
              </a:rPr>
              <a:t>Single</a:t>
            </a:r>
            <a:r>
              <a:rPr sz="1800" b="1" spc="-35" dirty="0">
                <a:latin typeface="Times New Roman"/>
                <a:cs typeface="Times New Roman"/>
              </a:rPr>
              <a:t> </a:t>
            </a:r>
            <a:r>
              <a:rPr sz="1800" b="1" dirty="0">
                <a:latin typeface="Times New Roman"/>
                <a:cs typeface="Times New Roman"/>
              </a:rPr>
              <a:t>Pixel</a:t>
            </a:r>
            <a:r>
              <a:rPr sz="1800" b="1" spc="-45" dirty="0">
                <a:latin typeface="Times New Roman"/>
                <a:cs typeface="Times New Roman"/>
              </a:rPr>
              <a:t> </a:t>
            </a:r>
            <a:r>
              <a:rPr sz="1800" b="1" spc="-10" dirty="0">
                <a:latin typeface="Times New Roman"/>
                <a:cs typeface="Times New Roman"/>
              </a:rPr>
              <a:t>Operations</a:t>
            </a:r>
            <a:endParaRPr sz="1800" dirty="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080"/>
              </a:spcBef>
            </a:pPr>
            <a:r>
              <a:rPr sz="1800" spc="-10" dirty="0">
                <a:latin typeface="Times New Roman"/>
                <a:cs typeface="Times New Roman"/>
              </a:rPr>
              <a:t>-</a:t>
            </a:r>
            <a:r>
              <a:rPr sz="1800" dirty="0">
                <a:latin typeface="Times New Roman"/>
                <a:cs typeface="Times New Roman"/>
              </a:rPr>
              <a:t>Alter</a:t>
            </a:r>
            <a:r>
              <a:rPr sz="1800" spc="-2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the</a:t>
            </a:r>
            <a:r>
              <a:rPr sz="1800" spc="-2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values</a:t>
            </a:r>
            <a:r>
              <a:rPr sz="1800" spc="-4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of</a:t>
            </a:r>
            <a:r>
              <a:rPr sz="1800" spc="-2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an</a:t>
            </a:r>
            <a:r>
              <a:rPr sz="1800" spc="-2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image</a:t>
            </a:r>
            <a:r>
              <a:rPr sz="1800" spc="-2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pixels</a:t>
            </a:r>
            <a:r>
              <a:rPr sz="1800" spc="-3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based</a:t>
            </a:r>
            <a:r>
              <a:rPr sz="1800" spc="-3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on</a:t>
            </a:r>
            <a:r>
              <a:rPr sz="1800" spc="-25" dirty="0">
                <a:latin typeface="Times New Roman"/>
                <a:cs typeface="Times New Roman"/>
              </a:rPr>
              <a:t> </a:t>
            </a:r>
            <a:r>
              <a:rPr sz="1800" spc="-10" dirty="0">
                <a:latin typeface="Times New Roman"/>
                <a:cs typeface="Times New Roman"/>
              </a:rPr>
              <a:t>intensity.</a:t>
            </a:r>
            <a:endParaRPr sz="1800" dirty="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080"/>
              </a:spcBef>
            </a:pPr>
            <a:r>
              <a:rPr sz="1800" spc="-10" dirty="0">
                <a:latin typeface="Times New Roman"/>
                <a:cs typeface="Times New Roman"/>
              </a:rPr>
              <a:t>-</a:t>
            </a:r>
            <a:r>
              <a:rPr sz="1800" dirty="0">
                <a:latin typeface="Times New Roman"/>
                <a:cs typeface="Times New Roman"/>
              </a:rPr>
              <a:t>Finding</a:t>
            </a:r>
            <a:r>
              <a:rPr sz="1800" spc="-2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the</a:t>
            </a:r>
            <a:r>
              <a:rPr sz="1800" spc="-2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negative</a:t>
            </a:r>
            <a:r>
              <a:rPr sz="1800" spc="-3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of</a:t>
            </a:r>
            <a:r>
              <a:rPr sz="1800" spc="-2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a</a:t>
            </a:r>
            <a:r>
              <a:rPr sz="1800" spc="-2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given</a:t>
            </a:r>
            <a:r>
              <a:rPr sz="1800" spc="-35" dirty="0">
                <a:latin typeface="Times New Roman"/>
                <a:cs typeface="Times New Roman"/>
              </a:rPr>
              <a:t> </a:t>
            </a:r>
            <a:r>
              <a:rPr sz="1800" spc="-10" dirty="0">
                <a:latin typeface="Times New Roman"/>
                <a:cs typeface="Times New Roman"/>
              </a:rPr>
              <a:t>image.</a:t>
            </a:r>
            <a:endParaRPr sz="1800" dirty="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080"/>
              </a:spcBef>
            </a:pPr>
            <a:r>
              <a:rPr sz="1800" spc="-10" dirty="0">
                <a:latin typeface="Times New Roman"/>
                <a:cs typeface="Times New Roman"/>
              </a:rPr>
              <a:t>-</a:t>
            </a:r>
            <a:r>
              <a:rPr sz="1800" dirty="0">
                <a:latin typeface="Times New Roman"/>
                <a:cs typeface="Times New Roman"/>
              </a:rPr>
              <a:t>Example:</a:t>
            </a:r>
            <a:r>
              <a:rPr sz="1800" spc="-35" dirty="0">
                <a:latin typeface="Times New Roman"/>
                <a:cs typeface="Times New Roman"/>
              </a:rPr>
              <a:t> </a:t>
            </a:r>
            <a:r>
              <a:rPr sz="1800" b="1" dirty="0">
                <a:latin typeface="Times New Roman"/>
                <a:cs typeface="Times New Roman"/>
              </a:rPr>
              <a:t>NOT</a:t>
            </a:r>
            <a:r>
              <a:rPr sz="1800" b="1" spc="-60" dirty="0">
                <a:latin typeface="Times New Roman"/>
                <a:cs typeface="Times New Roman"/>
              </a:rPr>
              <a:t> </a:t>
            </a:r>
            <a:r>
              <a:rPr sz="1800" spc="-10" dirty="0">
                <a:latin typeface="Times New Roman"/>
                <a:cs typeface="Times New Roman"/>
              </a:rPr>
              <a:t>operation.</a:t>
            </a:r>
            <a:endParaRPr sz="1800" dirty="0">
              <a:latin typeface="Times New Roman"/>
              <a:cs typeface="Times New Roman"/>
            </a:endParaRPr>
          </a:p>
        </p:txBody>
      </p:sp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2531872" y="4035425"/>
          <a:ext cx="2669539" cy="185293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673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3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73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6738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20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800" spc="-50" dirty="0">
                          <a:latin typeface="Times New Roman"/>
                          <a:cs typeface="Times New Roman"/>
                        </a:rPr>
                        <a:t>0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87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800" spc="-50" dirty="0">
                          <a:latin typeface="Times New Roman"/>
                          <a:cs typeface="Times New Roman"/>
                        </a:rPr>
                        <a:t>0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87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800" spc="-50" dirty="0">
                          <a:latin typeface="Times New Roman"/>
                          <a:cs typeface="Times New Roman"/>
                        </a:rPr>
                        <a:t>0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87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800" spc="-50" dirty="0">
                          <a:latin typeface="Times New Roman"/>
                          <a:cs typeface="Times New Roman"/>
                        </a:rPr>
                        <a:t>0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87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800" spc="-50" dirty="0">
                          <a:latin typeface="Times New Roman"/>
                          <a:cs typeface="Times New Roman"/>
                        </a:rPr>
                        <a:t>0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87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800" spc="-50" dirty="0">
                          <a:latin typeface="Times New Roman"/>
                          <a:cs typeface="Times New Roman"/>
                        </a:rPr>
                        <a:t>1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87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800" spc="-50" dirty="0">
                          <a:latin typeface="Times New Roman"/>
                          <a:cs typeface="Times New Roman"/>
                        </a:rPr>
                        <a:t>1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87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800" spc="-50" dirty="0">
                          <a:latin typeface="Times New Roman"/>
                          <a:cs typeface="Times New Roman"/>
                        </a:rPr>
                        <a:t>0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87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09"/>
                        </a:spcBef>
                      </a:pPr>
                      <a:r>
                        <a:rPr sz="1800" spc="-50" dirty="0">
                          <a:latin typeface="Times New Roman"/>
                          <a:cs typeface="Times New Roman"/>
                        </a:rPr>
                        <a:t>0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93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09"/>
                        </a:spcBef>
                      </a:pPr>
                      <a:r>
                        <a:rPr sz="1800" spc="-50" dirty="0">
                          <a:latin typeface="Times New Roman"/>
                          <a:cs typeface="Times New Roman"/>
                        </a:rPr>
                        <a:t>1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93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09"/>
                        </a:spcBef>
                      </a:pPr>
                      <a:r>
                        <a:rPr sz="1800" spc="-50" dirty="0">
                          <a:latin typeface="Times New Roman"/>
                          <a:cs typeface="Times New Roman"/>
                        </a:rPr>
                        <a:t>1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93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09"/>
                        </a:spcBef>
                      </a:pPr>
                      <a:r>
                        <a:rPr sz="1800" spc="-50" dirty="0">
                          <a:latin typeface="Times New Roman"/>
                          <a:cs typeface="Times New Roman"/>
                        </a:rPr>
                        <a:t>0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93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800" spc="-50" dirty="0">
                          <a:latin typeface="Times New Roman"/>
                          <a:cs typeface="Times New Roman"/>
                        </a:rPr>
                        <a:t>0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937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800" spc="-50" dirty="0">
                          <a:latin typeface="Times New Roman"/>
                          <a:cs typeface="Times New Roman"/>
                        </a:rPr>
                        <a:t>1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937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800" spc="-50" dirty="0">
                          <a:latin typeface="Times New Roman"/>
                          <a:cs typeface="Times New Roman"/>
                        </a:rPr>
                        <a:t>1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937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800" spc="-50" dirty="0">
                          <a:latin typeface="Times New Roman"/>
                          <a:cs typeface="Times New Roman"/>
                        </a:rPr>
                        <a:t>0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937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800" spc="-50" dirty="0">
                          <a:latin typeface="Times New Roman"/>
                          <a:cs typeface="Times New Roman"/>
                        </a:rPr>
                        <a:t>0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937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800" spc="-50" dirty="0">
                          <a:latin typeface="Times New Roman"/>
                          <a:cs typeface="Times New Roman"/>
                        </a:rPr>
                        <a:t>0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937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800" spc="-50" dirty="0">
                          <a:latin typeface="Times New Roman"/>
                          <a:cs typeface="Times New Roman"/>
                        </a:rPr>
                        <a:t>0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937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800" spc="-50" dirty="0">
                          <a:latin typeface="Times New Roman"/>
                          <a:cs typeface="Times New Roman"/>
                        </a:rPr>
                        <a:t>0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937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5" name="object 5"/>
          <p:cNvGrpSpPr/>
          <p:nvPr/>
        </p:nvGrpSpPr>
        <p:grpSpPr>
          <a:xfrm>
            <a:off x="5969508" y="4538471"/>
            <a:ext cx="661670" cy="861060"/>
            <a:chOff x="5969508" y="4538471"/>
            <a:chExt cx="661670" cy="861060"/>
          </a:xfrm>
        </p:grpSpPr>
        <p:sp>
          <p:nvSpPr>
            <p:cNvPr id="6" name="object 6"/>
            <p:cNvSpPr/>
            <p:nvPr/>
          </p:nvSpPr>
          <p:spPr>
            <a:xfrm>
              <a:off x="5977128" y="4546091"/>
              <a:ext cx="646430" cy="845819"/>
            </a:xfrm>
            <a:custGeom>
              <a:avLst/>
              <a:gdLst/>
              <a:ahLst/>
              <a:cxnLst/>
              <a:rect l="l" t="t" r="r" b="b"/>
              <a:pathLst>
                <a:path w="646429" h="845820">
                  <a:moveTo>
                    <a:pt x="323088" y="0"/>
                  </a:moveTo>
                  <a:lnTo>
                    <a:pt x="323088" y="211454"/>
                  </a:lnTo>
                  <a:lnTo>
                    <a:pt x="0" y="211454"/>
                  </a:lnTo>
                  <a:lnTo>
                    <a:pt x="0" y="634364"/>
                  </a:lnTo>
                  <a:lnTo>
                    <a:pt x="323088" y="634364"/>
                  </a:lnTo>
                  <a:lnTo>
                    <a:pt x="323088" y="845819"/>
                  </a:lnTo>
                  <a:lnTo>
                    <a:pt x="646176" y="422909"/>
                  </a:lnTo>
                  <a:lnTo>
                    <a:pt x="323088" y="0"/>
                  </a:lnTo>
                  <a:close/>
                </a:path>
              </a:pathLst>
            </a:custGeom>
            <a:solidFill>
              <a:srgbClr val="E3831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977128" y="4546091"/>
              <a:ext cx="646430" cy="845819"/>
            </a:xfrm>
            <a:custGeom>
              <a:avLst/>
              <a:gdLst/>
              <a:ahLst/>
              <a:cxnLst/>
              <a:rect l="l" t="t" r="r" b="b"/>
              <a:pathLst>
                <a:path w="646429" h="845820">
                  <a:moveTo>
                    <a:pt x="0" y="211454"/>
                  </a:moveTo>
                  <a:lnTo>
                    <a:pt x="323088" y="211454"/>
                  </a:lnTo>
                  <a:lnTo>
                    <a:pt x="323088" y="0"/>
                  </a:lnTo>
                  <a:lnTo>
                    <a:pt x="646176" y="422909"/>
                  </a:lnTo>
                  <a:lnTo>
                    <a:pt x="323088" y="845819"/>
                  </a:lnTo>
                  <a:lnTo>
                    <a:pt x="323088" y="634364"/>
                  </a:lnTo>
                  <a:lnTo>
                    <a:pt x="0" y="634364"/>
                  </a:lnTo>
                  <a:lnTo>
                    <a:pt x="0" y="211454"/>
                  </a:lnTo>
                  <a:close/>
                </a:path>
              </a:pathLst>
            </a:custGeom>
            <a:ln w="15240">
              <a:solidFill>
                <a:srgbClr val="A75F0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8" name="object 8"/>
          <p:cNvGraphicFramePr>
            <a:graphicFrameLocks noGrp="1"/>
          </p:cNvGraphicFramePr>
          <p:nvPr/>
        </p:nvGraphicFramePr>
        <p:xfrm>
          <a:off x="7119619" y="4035425"/>
          <a:ext cx="2669539" cy="185293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673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3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73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6738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205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800" spc="-50" dirty="0">
                          <a:latin typeface="Times New Roman"/>
                          <a:cs typeface="Times New Roman"/>
                        </a:rPr>
                        <a:t>1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87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800" spc="-50" dirty="0">
                          <a:latin typeface="Times New Roman"/>
                          <a:cs typeface="Times New Roman"/>
                        </a:rPr>
                        <a:t>1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87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800" spc="-50" dirty="0">
                          <a:latin typeface="Times New Roman"/>
                          <a:cs typeface="Times New Roman"/>
                        </a:rPr>
                        <a:t>1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87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800" spc="-50" dirty="0">
                          <a:latin typeface="Times New Roman"/>
                          <a:cs typeface="Times New Roman"/>
                        </a:rPr>
                        <a:t>1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87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800" spc="-50" dirty="0">
                          <a:latin typeface="Times New Roman"/>
                          <a:cs typeface="Times New Roman"/>
                        </a:rPr>
                        <a:t>1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87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800" spc="-50" dirty="0">
                          <a:latin typeface="Times New Roman"/>
                          <a:cs typeface="Times New Roman"/>
                        </a:rPr>
                        <a:t>0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87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800" spc="-50" dirty="0">
                          <a:latin typeface="Times New Roman"/>
                          <a:cs typeface="Times New Roman"/>
                        </a:rPr>
                        <a:t>0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87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800" spc="-50" dirty="0">
                          <a:latin typeface="Times New Roman"/>
                          <a:cs typeface="Times New Roman"/>
                        </a:rPr>
                        <a:t>1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87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09"/>
                        </a:spcBef>
                      </a:pPr>
                      <a:r>
                        <a:rPr sz="1800" spc="-50" dirty="0">
                          <a:latin typeface="Times New Roman"/>
                          <a:cs typeface="Times New Roman"/>
                        </a:rPr>
                        <a:t>1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93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09"/>
                        </a:spcBef>
                      </a:pPr>
                      <a:r>
                        <a:rPr sz="1800" spc="-50" dirty="0">
                          <a:latin typeface="Times New Roman"/>
                          <a:cs typeface="Times New Roman"/>
                        </a:rPr>
                        <a:t>0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93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09"/>
                        </a:spcBef>
                      </a:pPr>
                      <a:r>
                        <a:rPr sz="1800" spc="-50" dirty="0">
                          <a:latin typeface="Times New Roman"/>
                          <a:cs typeface="Times New Roman"/>
                        </a:rPr>
                        <a:t>0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93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09"/>
                        </a:spcBef>
                      </a:pPr>
                      <a:r>
                        <a:rPr sz="1800" spc="-50" dirty="0">
                          <a:latin typeface="Times New Roman"/>
                          <a:cs typeface="Times New Roman"/>
                        </a:rPr>
                        <a:t>1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93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800" spc="-50" dirty="0">
                          <a:latin typeface="Times New Roman"/>
                          <a:cs typeface="Times New Roman"/>
                        </a:rPr>
                        <a:t>1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937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800" spc="-50" dirty="0">
                          <a:latin typeface="Times New Roman"/>
                          <a:cs typeface="Times New Roman"/>
                        </a:rPr>
                        <a:t>0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937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800" spc="-50" dirty="0">
                          <a:latin typeface="Times New Roman"/>
                          <a:cs typeface="Times New Roman"/>
                        </a:rPr>
                        <a:t>0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937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800" spc="-50" dirty="0">
                          <a:latin typeface="Times New Roman"/>
                          <a:cs typeface="Times New Roman"/>
                        </a:rPr>
                        <a:t>1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937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800" spc="-50" dirty="0">
                          <a:latin typeface="Times New Roman"/>
                          <a:cs typeface="Times New Roman"/>
                        </a:rPr>
                        <a:t>1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937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800" spc="-50" dirty="0">
                          <a:latin typeface="Times New Roman"/>
                          <a:cs typeface="Times New Roman"/>
                        </a:rPr>
                        <a:t>1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937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800" spc="-50" dirty="0">
                          <a:latin typeface="Times New Roman"/>
                          <a:cs typeface="Times New Roman"/>
                        </a:rPr>
                        <a:t>1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937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800" spc="-50" dirty="0">
                          <a:latin typeface="Times New Roman"/>
                          <a:cs typeface="Times New Roman"/>
                        </a:rPr>
                        <a:t>1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937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object 9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dirty="0"/>
              <a:t>23</a:t>
            </a:r>
            <a:r>
              <a:rPr spc="-5" dirty="0"/>
              <a:t> </a:t>
            </a:r>
            <a:r>
              <a:rPr dirty="0"/>
              <a:t>May</a:t>
            </a:r>
            <a:r>
              <a:rPr spc="-5" dirty="0"/>
              <a:t> </a:t>
            </a:r>
            <a:r>
              <a:rPr spc="-20" dirty="0"/>
              <a:t>2024</a:t>
            </a:r>
          </a:p>
        </p:txBody>
      </p:sp>
      <p:sp>
        <p:nvSpPr>
          <p:cNvPr id="10" name="object 10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pc="-10" dirty="0"/>
              <a:t>MATHEMATICAL</a:t>
            </a:r>
            <a:r>
              <a:rPr spc="10" dirty="0"/>
              <a:t> </a:t>
            </a:r>
            <a:r>
              <a:rPr dirty="0"/>
              <a:t>TOOLS</a:t>
            </a:r>
            <a:r>
              <a:rPr spc="-15" dirty="0"/>
              <a:t> </a:t>
            </a:r>
            <a:r>
              <a:rPr dirty="0"/>
              <a:t>USED</a:t>
            </a:r>
            <a:r>
              <a:rPr spc="-30" dirty="0"/>
              <a:t> </a:t>
            </a:r>
            <a:r>
              <a:rPr dirty="0"/>
              <a:t>IN</a:t>
            </a:r>
            <a:r>
              <a:rPr spc="-30" dirty="0"/>
              <a:t> </a:t>
            </a:r>
            <a:r>
              <a:rPr dirty="0"/>
              <a:t>DIGITAL</a:t>
            </a:r>
            <a:r>
              <a:rPr spc="5" dirty="0"/>
              <a:t> </a:t>
            </a:r>
            <a:r>
              <a:rPr dirty="0"/>
              <a:t>IMAGE</a:t>
            </a:r>
            <a:r>
              <a:rPr spc="-5" dirty="0"/>
              <a:t> </a:t>
            </a:r>
            <a:r>
              <a:rPr spc="-10" dirty="0"/>
              <a:t>PROCESSING</a:t>
            </a: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55"/>
              </a:lnSpc>
            </a:pPr>
            <a:fld id="{81D60167-4931-47E6-BA6A-407CBD079E47}" type="slidenum">
              <a:rPr spc="-25" dirty="0"/>
              <a:t>28</a:t>
            </a:fld>
            <a:endParaRPr spc="-25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35" dirty="0"/>
              <a:t>Spatial</a:t>
            </a:r>
            <a:r>
              <a:rPr spc="-240" dirty="0"/>
              <a:t> </a:t>
            </a:r>
            <a:r>
              <a:rPr spc="-35" dirty="0"/>
              <a:t>Operations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019" y="1844421"/>
            <a:ext cx="259842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8450" indent="-285750">
              <a:lnSpc>
                <a:spcPct val="100000"/>
              </a:lnSpc>
              <a:spcBef>
                <a:spcPts val="100"/>
              </a:spcBef>
              <a:buFont typeface="Wingdings"/>
              <a:buChar char=""/>
              <a:tabLst>
                <a:tab pos="298450" algn="l"/>
              </a:tabLst>
            </a:pPr>
            <a:r>
              <a:rPr sz="1800" b="1" dirty="0">
                <a:latin typeface="Times New Roman"/>
                <a:cs typeface="Times New Roman"/>
              </a:rPr>
              <a:t>Single</a:t>
            </a:r>
            <a:r>
              <a:rPr sz="1800" b="1" spc="-35" dirty="0">
                <a:latin typeface="Times New Roman"/>
                <a:cs typeface="Times New Roman"/>
              </a:rPr>
              <a:t> </a:t>
            </a:r>
            <a:r>
              <a:rPr sz="1800" b="1" dirty="0">
                <a:latin typeface="Times New Roman"/>
                <a:cs typeface="Times New Roman"/>
              </a:rPr>
              <a:t>Pixel</a:t>
            </a:r>
            <a:r>
              <a:rPr sz="1800" b="1" spc="-45" dirty="0">
                <a:latin typeface="Times New Roman"/>
                <a:cs typeface="Times New Roman"/>
              </a:rPr>
              <a:t> </a:t>
            </a:r>
            <a:r>
              <a:rPr sz="1800" b="1" spc="-10" dirty="0">
                <a:latin typeface="Times New Roman"/>
                <a:cs typeface="Times New Roman"/>
              </a:rPr>
              <a:t>Operations</a:t>
            </a:r>
            <a:endParaRPr sz="1800">
              <a:latin typeface="Times New Roman"/>
              <a:cs typeface="Times New Roman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04516" y="2255520"/>
            <a:ext cx="6982968" cy="3553967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4990338" y="5967476"/>
            <a:ext cx="1965325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dirty="0">
                <a:latin typeface="Times New Roman"/>
                <a:cs typeface="Times New Roman"/>
              </a:rPr>
              <a:t>Figure</a:t>
            </a:r>
            <a:r>
              <a:rPr sz="1400" b="1" spc="-50" dirty="0">
                <a:latin typeface="Times New Roman"/>
                <a:cs typeface="Times New Roman"/>
              </a:rPr>
              <a:t> </a:t>
            </a:r>
            <a:r>
              <a:rPr sz="1400" b="1" dirty="0">
                <a:latin typeface="Times New Roman"/>
                <a:cs typeface="Times New Roman"/>
              </a:rPr>
              <a:t>6:</a:t>
            </a:r>
            <a:r>
              <a:rPr sz="1400" b="1" spc="-3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Image</a:t>
            </a:r>
            <a:r>
              <a:rPr sz="1400" spc="-15" dirty="0">
                <a:latin typeface="Times New Roman"/>
                <a:cs typeface="Times New Roman"/>
              </a:rPr>
              <a:t> </a:t>
            </a:r>
            <a:r>
              <a:rPr sz="1400" spc="-10" dirty="0">
                <a:latin typeface="Times New Roman"/>
                <a:cs typeface="Times New Roman"/>
              </a:rPr>
              <a:t>Negatives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dirty="0"/>
              <a:t>23</a:t>
            </a:r>
            <a:r>
              <a:rPr spc="-5" dirty="0"/>
              <a:t> </a:t>
            </a:r>
            <a:r>
              <a:rPr dirty="0"/>
              <a:t>May</a:t>
            </a:r>
            <a:r>
              <a:rPr spc="-5" dirty="0"/>
              <a:t> </a:t>
            </a:r>
            <a:r>
              <a:rPr spc="-20" dirty="0"/>
              <a:t>2024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pc="-10" dirty="0"/>
              <a:t>MATHEMATICAL</a:t>
            </a:r>
            <a:r>
              <a:rPr spc="10" dirty="0"/>
              <a:t> </a:t>
            </a:r>
            <a:r>
              <a:rPr dirty="0"/>
              <a:t>TOOLS</a:t>
            </a:r>
            <a:r>
              <a:rPr spc="-15" dirty="0"/>
              <a:t> </a:t>
            </a:r>
            <a:r>
              <a:rPr dirty="0"/>
              <a:t>USED</a:t>
            </a:r>
            <a:r>
              <a:rPr spc="-30" dirty="0"/>
              <a:t> </a:t>
            </a:r>
            <a:r>
              <a:rPr dirty="0"/>
              <a:t>IN</a:t>
            </a:r>
            <a:r>
              <a:rPr spc="-30" dirty="0"/>
              <a:t> </a:t>
            </a:r>
            <a:r>
              <a:rPr dirty="0"/>
              <a:t>DIGITAL</a:t>
            </a:r>
            <a:r>
              <a:rPr spc="5" dirty="0"/>
              <a:t> </a:t>
            </a:r>
            <a:r>
              <a:rPr dirty="0"/>
              <a:t>IMAGE</a:t>
            </a:r>
            <a:r>
              <a:rPr spc="-5" dirty="0"/>
              <a:t> </a:t>
            </a:r>
            <a:r>
              <a:rPr spc="-10" dirty="0"/>
              <a:t>PROCESSING</a:t>
            </a:r>
          </a:p>
        </p:txBody>
      </p:sp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55"/>
              </a:lnSpc>
            </a:pPr>
            <a:fld id="{81D60167-4931-47E6-BA6A-407CBD079E47}" type="slidenum">
              <a:rPr spc="-25" dirty="0"/>
              <a:t>29</a:t>
            </a:fld>
            <a:endParaRPr spc="-25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35" dirty="0"/>
              <a:t>Spatial</a:t>
            </a:r>
            <a:r>
              <a:rPr spc="-240" dirty="0"/>
              <a:t> </a:t>
            </a:r>
            <a:r>
              <a:rPr spc="-35" dirty="0"/>
              <a:t>Operations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019" y="1912746"/>
            <a:ext cx="2874645" cy="1579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8450" indent="-285750">
              <a:lnSpc>
                <a:spcPct val="100000"/>
              </a:lnSpc>
              <a:spcBef>
                <a:spcPts val="100"/>
              </a:spcBef>
              <a:buFont typeface="Wingdings"/>
              <a:buChar char=""/>
              <a:tabLst>
                <a:tab pos="298450" algn="l"/>
              </a:tabLst>
            </a:pPr>
            <a:r>
              <a:rPr sz="1800" b="1" dirty="0">
                <a:latin typeface="Times New Roman"/>
                <a:cs typeface="Times New Roman"/>
              </a:rPr>
              <a:t>Neighborhood</a:t>
            </a:r>
            <a:r>
              <a:rPr sz="1800" b="1" spc="-10" dirty="0">
                <a:latin typeface="Times New Roman"/>
                <a:cs typeface="Times New Roman"/>
              </a:rPr>
              <a:t> Operations</a:t>
            </a:r>
            <a:endParaRPr sz="18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525"/>
              </a:spcBef>
            </a:pPr>
            <a:endParaRPr sz="1800">
              <a:latin typeface="Times New Roman"/>
              <a:cs typeface="Times New Roman"/>
            </a:endParaRPr>
          </a:p>
          <a:p>
            <a:pPr marL="291465" marR="5080" algn="just">
              <a:lnSpc>
                <a:spcPct val="100000"/>
              </a:lnSpc>
            </a:pPr>
            <a:r>
              <a:rPr sz="1800" dirty="0">
                <a:latin typeface="Times New Roman"/>
                <a:cs typeface="Times New Roman"/>
              </a:rPr>
              <a:t>-</a:t>
            </a:r>
            <a:r>
              <a:rPr sz="1800" spc="340" dirty="0">
                <a:latin typeface="Times New Roman"/>
                <a:cs typeface="Times New Roman"/>
              </a:rPr>
              <a:t>  </a:t>
            </a:r>
            <a:r>
              <a:rPr sz="1800" dirty="0">
                <a:latin typeface="Times New Roman"/>
                <a:cs typeface="Times New Roman"/>
              </a:rPr>
              <a:t>The</a:t>
            </a:r>
            <a:r>
              <a:rPr sz="1800" spc="345" dirty="0">
                <a:latin typeface="Times New Roman"/>
                <a:cs typeface="Times New Roman"/>
              </a:rPr>
              <a:t>  </a:t>
            </a:r>
            <a:r>
              <a:rPr sz="1800" dirty="0">
                <a:latin typeface="Times New Roman"/>
                <a:cs typeface="Times New Roman"/>
              </a:rPr>
              <a:t>net</a:t>
            </a:r>
            <a:r>
              <a:rPr sz="1800" spc="335" dirty="0">
                <a:latin typeface="Times New Roman"/>
                <a:cs typeface="Times New Roman"/>
              </a:rPr>
              <a:t>  </a:t>
            </a:r>
            <a:r>
              <a:rPr sz="1800" dirty="0">
                <a:latin typeface="Times New Roman"/>
                <a:cs typeface="Times New Roman"/>
              </a:rPr>
              <a:t>effect</a:t>
            </a:r>
            <a:r>
              <a:rPr sz="1800" spc="340" dirty="0">
                <a:latin typeface="Times New Roman"/>
                <a:cs typeface="Times New Roman"/>
              </a:rPr>
              <a:t>  </a:t>
            </a:r>
            <a:r>
              <a:rPr sz="1800" dirty="0">
                <a:latin typeface="Times New Roman"/>
                <a:cs typeface="Times New Roman"/>
              </a:rPr>
              <a:t>is</a:t>
            </a:r>
            <a:r>
              <a:rPr sz="1800" spc="340" dirty="0">
                <a:latin typeface="Times New Roman"/>
                <a:cs typeface="Times New Roman"/>
              </a:rPr>
              <a:t>  </a:t>
            </a:r>
            <a:r>
              <a:rPr sz="1800" spc="-25" dirty="0">
                <a:latin typeface="Times New Roman"/>
                <a:cs typeface="Times New Roman"/>
              </a:rPr>
              <a:t>to </a:t>
            </a:r>
            <a:r>
              <a:rPr sz="1800" dirty="0">
                <a:latin typeface="Times New Roman"/>
                <a:cs typeface="Times New Roman"/>
              </a:rPr>
              <a:t>perform</a:t>
            </a:r>
            <a:r>
              <a:rPr sz="1800" spc="490" dirty="0">
                <a:latin typeface="Times New Roman"/>
                <a:cs typeface="Times New Roman"/>
              </a:rPr>
              <a:t> </a:t>
            </a:r>
            <a:r>
              <a:rPr sz="1800" b="1" dirty="0">
                <a:latin typeface="Times New Roman"/>
                <a:cs typeface="Times New Roman"/>
              </a:rPr>
              <a:t>local</a:t>
            </a:r>
            <a:r>
              <a:rPr sz="1800" b="1" spc="484" dirty="0">
                <a:latin typeface="Times New Roman"/>
                <a:cs typeface="Times New Roman"/>
              </a:rPr>
              <a:t> </a:t>
            </a:r>
            <a:r>
              <a:rPr sz="1800" b="1" dirty="0">
                <a:latin typeface="Times New Roman"/>
                <a:cs typeface="Times New Roman"/>
              </a:rPr>
              <a:t>blurring</a:t>
            </a:r>
            <a:r>
              <a:rPr sz="1800" b="1" spc="25" dirty="0">
                <a:latin typeface="Times New Roman"/>
                <a:cs typeface="Times New Roman"/>
              </a:rPr>
              <a:t>  </a:t>
            </a:r>
            <a:r>
              <a:rPr sz="1800" spc="-25" dirty="0">
                <a:latin typeface="Times New Roman"/>
                <a:cs typeface="Times New Roman"/>
              </a:rPr>
              <a:t>in </a:t>
            </a:r>
            <a:r>
              <a:rPr sz="1800" dirty="0">
                <a:latin typeface="Times New Roman"/>
                <a:cs typeface="Times New Roman"/>
              </a:rPr>
              <a:t>the</a:t>
            </a:r>
            <a:r>
              <a:rPr sz="1800" spc="-4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original</a:t>
            </a:r>
            <a:r>
              <a:rPr sz="1800" spc="-45" dirty="0">
                <a:latin typeface="Times New Roman"/>
                <a:cs typeface="Times New Roman"/>
              </a:rPr>
              <a:t> </a:t>
            </a:r>
            <a:r>
              <a:rPr sz="1800" spc="-10" dirty="0">
                <a:latin typeface="Times New Roman"/>
                <a:cs typeface="Times New Roman"/>
              </a:rPr>
              <a:t>image.</a:t>
            </a:r>
            <a:endParaRPr sz="1800">
              <a:latin typeface="Times New Roman"/>
              <a:cs typeface="Times New Roman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173979" y="1805939"/>
            <a:ext cx="5117591" cy="3730017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5498719" y="5590133"/>
            <a:ext cx="5326380" cy="6667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100"/>
              </a:spcBef>
            </a:pPr>
            <a:r>
              <a:rPr sz="1400" b="1" dirty="0">
                <a:latin typeface="Times New Roman"/>
                <a:cs typeface="Times New Roman"/>
              </a:rPr>
              <a:t>Figure</a:t>
            </a:r>
            <a:r>
              <a:rPr sz="1400" b="1" spc="-35" dirty="0">
                <a:latin typeface="Times New Roman"/>
                <a:cs typeface="Times New Roman"/>
              </a:rPr>
              <a:t> </a:t>
            </a:r>
            <a:r>
              <a:rPr sz="1400" b="1" dirty="0">
                <a:latin typeface="Times New Roman"/>
                <a:cs typeface="Times New Roman"/>
              </a:rPr>
              <a:t>6:</a:t>
            </a:r>
            <a:r>
              <a:rPr sz="1400" b="1" spc="-1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Local</a:t>
            </a:r>
            <a:r>
              <a:rPr sz="1400" spc="-1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averaging</a:t>
            </a:r>
            <a:r>
              <a:rPr sz="1400" spc="-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using</a:t>
            </a:r>
            <a:r>
              <a:rPr sz="1400" spc="-1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neighborhood processing.</a:t>
            </a:r>
            <a:r>
              <a:rPr sz="1400" spc="-2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The</a:t>
            </a:r>
            <a:r>
              <a:rPr sz="1400" spc="-25" dirty="0">
                <a:latin typeface="Times New Roman"/>
                <a:cs typeface="Times New Roman"/>
              </a:rPr>
              <a:t> </a:t>
            </a:r>
            <a:r>
              <a:rPr sz="1400" spc="-10" dirty="0">
                <a:latin typeface="Times New Roman"/>
                <a:cs typeface="Times New Roman"/>
              </a:rPr>
              <a:t>procedure </a:t>
            </a:r>
            <a:r>
              <a:rPr sz="1400" dirty="0">
                <a:latin typeface="Times New Roman"/>
                <a:cs typeface="Times New Roman"/>
              </a:rPr>
              <a:t>is</a:t>
            </a:r>
            <a:r>
              <a:rPr sz="1400" spc="10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illustrated</a:t>
            </a:r>
            <a:r>
              <a:rPr sz="1400" spc="10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in</a:t>
            </a:r>
            <a:r>
              <a:rPr sz="1400" spc="10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(a)</a:t>
            </a:r>
            <a:r>
              <a:rPr sz="1400" spc="10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and</a:t>
            </a:r>
            <a:r>
              <a:rPr sz="1400" spc="11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(b)</a:t>
            </a:r>
            <a:r>
              <a:rPr sz="1400" spc="10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for</a:t>
            </a:r>
            <a:r>
              <a:rPr sz="1400" spc="11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a</a:t>
            </a:r>
            <a:r>
              <a:rPr sz="1400" spc="11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rectangular</a:t>
            </a:r>
            <a:r>
              <a:rPr sz="1400" spc="10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neighborhood.</a:t>
            </a:r>
            <a:r>
              <a:rPr sz="1400" spc="10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(c)</a:t>
            </a:r>
            <a:r>
              <a:rPr sz="1400" spc="10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An</a:t>
            </a:r>
            <a:r>
              <a:rPr sz="1400" spc="110" dirty="0">
                <a:latin typeface="Times New Roman"/>
                <a:cs typeface="Times New Roman"/>
              </a:rPr>
              <a:t> </a:t>
            </a:r>
            <a:r>
              <a:rPr sz="1400" spc="-10" dirty="0">
                <a:latin typeface="Times New Roman"/>
                <a:cs typeface="Times New Roman"/>
              </a:rPr>
              <a:t>aortic </a:t>
            </a:r>
            <a:r>
              <a:rPr sz="1400" dirty="0">
                <a:latin typeface="Times New Roman"/>
                <a:cs typeface="Times New Roman"/>
              </a:rPr>
              <a:t>angiogram</a:t>
            </a:r>
            <a:r>
              <a:rPr sz="1400" spc="-4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(d)</a:t>
            </a:r>
            <a:r>
              <a:rPr sz="1400" spc="-4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The</a:t>
            </a:r>
            <a:r>
              <a:rPr sz="1400" spc="-1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result</a:t>
            </a:r>
            <a:r>
              <a:rPr sz="1400" spc="-2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of</a:t>
            </a:r>
            <a:r>
              <a:rPr sz="1400" spc="-2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using</a:t>
            </a:r>
            <a:r>
              <a:rPr sz="1400" spc="-4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neighborhood</a:t>
            </a:r>
            <a:r>
              <a:rPr sz="1400" spc="-20" dirty="0">
                <a:latin typeface="Times New Roman"/>
                <a:cs typeface="Times New Roman"/>
              </a:rPr>
              <a:t> </a:t>
            </a:r>
            <a:r>
              <a:rPr sz="1400" spc="-10" dirty="0">
                <a:latin typeface="Times New Roman"/>
                <a:cs typeface="Times New Roman"/>
              </a:rPr>
              <a:t>operations.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dirty="0"/>
              <a:t>23</a:t>
            </a:r>
            <a:r>
              <a:rPr spc="-5" dirty="0"/>
              <a:t> </a:t>
            </a:r>
            <a:r>
              <a:rPr dirty="0"/>
              <a:t>May</a:t>
            </a:r>
            <a:r>
              <a:rPr spc="-5" dirty="0"/>
              <a:t> </a:t>
            </a:r>
            <a:r>
              <a:rPr spc="-20" dirty="0"/>
              <a:t>2024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pc="-10" dirty="0"/>
              <a:t>MATHEMATICAL</a:t>
            </a:r>
            <a:r>
              <a:rPr spc="10" dirty="0"/>
              <a:t> </a:t>
            </a:r>
            <a:r>
              <a:rPr dirty="0"/>
              <a:t>TOOLS</a:t>
            </a:r>
            <a:r>
              <a:rPr spc="-15" dirty="0"/>
              <a:t> </a:t>
            </a:r>
            <a:r>
              <a:rPr dirty="0"/>
              <a:t>USED</a:t>
            </a:r>
            <a:r>
              <a:rPr spc="-30" dirty="0"/>
              <a:t> </a:t>
            </a:r>
            <a:r>
              <a:rPr dirty="0"/>
              <a:t>IN</a:t>
            </a:r>
            <a:r>
              <a:rPr spc="-30" dirty="0"/>
              <a:t> </a:t>
            </a:r>
            <a:r>
              <a:rPr dirty="0"/>
              <a:t>DIGITAL</a:t>
            </a:r>
            <a:r>
              <a:rPr spc="5" dirty="0"/>
              <a:t> </a:t>
            </a:r>
            <a:r>
              <a:rPr dirty="0"/>
              <a:t>IMAGE</a:t>
            </a:r>
            <a:r>
              <a:rPr spc="-5" dirty="0"/>
              <a:t> </a:t>
            </a:r>
            <a:r>
              <a:rPr spc="-10" dirty="0"/>
              <a:t>PROCESSING</a:t>
            </a:r>
          </a:p>
        </p:txBody>
      </p:sp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55"/>
              </a:lnSpc>
            </a:pPr>
            <a:fld id="{81D60167-4931-47E6-BA6A-407CBD079E47}" type="slidenum">
              <a:rPr spc="-25" dirty="0"/>
              <a:t>30</a:t>
            </a:fld>
            <a:endParaRPr spc="-25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35" dirty="0"/>
              <a:t>Spatial</a:t>
            </a:r>
            <a:r>
              <a:rPr spc="-240" dirty="0"/>
              <a:t> </a:t>
            </a:r>
            <a:r>
              <a:rPr spc="-35" dirty="0"/>
              <a:t>Operations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dirty="0"/>
              <a:t>23</a:t>
            </a:r>
            <a:r>
              <a:rPr spc="-5" dirty="0"/>
              <a:t> </a:t>
            </a:r>
            <a:r>
              <a:rPr dirty="0"/>
              <a:t>May</a:t>
            </a:r>
            <a:r>
              <a:rPr spc="-5" dirty="0"/>
              <a:t> </a:t>
            </a:r>
            <a:r>
              <a:rPr spc="-20" dirty="0"/>
              <a:t>2024</a:t>
            </a:r>
          </a:p>
        </p:txBody>
      </p:sp>
      <p:sp>
        <p:nvSpPr>
          <p:cNvPr id="6" name="object 6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pc="-10" dirty="0"/>
              <a:t>MATHEMATICAL</a:t>
            </a:r>
            <a:r>
              <a:rPr spc="10" dirty="0"/>
              <a:t> </a:t>
            </a:r>
            <a:r>
              <a:rPr dirty="0"/>
              <a:t>TOOLS</a:t>
            </a:r>
            <a:r>
              <a:rPr spc="-15" dirty="0"/>
              <a:t> </a:t>
            </a:r>
            <a:r>
              <a:rPr dirty="0"/>
              <a:t>USED</a:t>
            </a:r>
            <a:r>
              <a:rPr spc="-30" dirty="0"/>
              <a:t> </a:t>
            </a:r>
            <a:r>
              <a:rPr dirty="0"/>
              <a:t>IN</a:t>
            </a:r>
            <a:r>
              <a:rPr spc="-30" dirty="0"/>
              <a:t> </a:t>
            </a:r>
            <a:r>
              <a:rPr dirty="0"/>
              <a:t>DIGITAL</a:t>
            </a:r>
            <a:r>
              <a:rPr spc="5" dirty="0"/>
              <a:t> </a:t>
            </a:r>
            <a:r>
              <a:rPr dirty="0"/>
              <a:t>IMAGE</a:t>
            </a:r>
            <a:r>
              <a:rPr spc="-5" dirty="0"/>
              <a:t> </a:t>
            </a:r>
            <a:r>
              <a:rPr spc="-10" dirty="0"/>
              <a:t>PROCESSING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55"/>
              </a:lnSpc>
            </a:pPr>
            <a:fld id="{81D60167-4931-47E6-BA6A-407CBD079E47}" type="slidenum">
              <a:rPr spc="-25" dirty="0"/>
              <a:t>31</a:t>
            </a:fld>
            <a:endParaRPr spc="-25" dirty="0"/>
          </a:p>
        </p:txBody>
      </p:sp>
      <p:sp>
        <p:nvSpPr>
          <p:cNvPr id="3" name="object 3"/>
          <p:cNvSpPr txBox="1"/>
          <p:nvPr/>
        </p:nvSpPr>
        <p:spPr>
          <a:xfrm>
            <a:off x="1241856" y="1825904"/>
            <a:ext cx="9484360" cy="1122680"/>
          </a:xfrm>
          <a:prstGeom prst="rect">
            <a:avLst/>
          </a:prstGeom>
        </p:spPr>
        <p:txBody>
          <a:bodyPr vert="horz" wrap="square" lIns="0" tIns="134620" rIns="0" bIns="0" rtlCol="0">
            <a:spAutoFit/>
          </a:bodyPr>
          <a:lstStyle/>
          <a:p>
            <a:pPr marL="299085" indent="-286385">
              <a:lnSpc>
                <a:spcPct val="100000"/>
              </a:lnSpc>
              <a:spcBef>
                <a:spcPts val="1060"/>
              </a:spcBef>
              <a:buFont typeface="Wingdings"/>
              <a:buChar char=""/>
              <a:tabLst>
                <a:tab pos="299085" algn="l"/>
              </a:tabLst>
            </a:pPr>
            <a:r>
              <a:rPr sz="1600" b="1" dirty="0">
                <a:latin typeface="Times New Roman"/>
                <a:cs typeface="Times New Roman"/>
              </a:rPr>
              <a:t>Neighborhood</a:t>
            </a:r>
            <a:r>
              <a:rPr sz="1600" b="1" spc="-90" dirty="0">
                <a:latin typeface="Times New Roman"/>
                <a:cs typeface="Times New Roman"/>
              </a:rPr>
              <a:t> </a:t>
            </a:r>
            <a:r>
              <a:rPr sz="1600" b="1" spc="-10" dirty="0">
                <a:latin typeface="Times New Roman"/>
                <a:cs typeface="Times New Roman"/>
              </a:rPr>
              <a:t>operations</a:t>
            </a:r>
            <a:endParaRPr sz="1600">
              <a:latin typeface="Times New Roman"/>
              <a:cs typeface="Times New Roman"/>
            </a:endParaRPr>
          </a:p>
          <a:p>
            <a:pPr marL="12700" marR="5080">
              <a:lnSpc>
                <a:spcPct val="150000"/>
              </a:lnSpc>
            </a:pPr>
            <a:r>
              <a:rPr sz="1600" dirty="0">
                <a:latin typeface="Times New Roman"/>
                <a:cs typeface="Times New Roman"/>
              </a:rPr>
              <a:t>At</a:t>
            </a:r>
            <a:r>
              <a:rPr sz="1600" spc="-3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first</a:t>
            </a:r>
            <a:r>
              <a:rPr sz="1600" spc="-2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we</a:t>
            </a:r>
            <a:r>
              <a:rPr sz="1600" spc="-4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need</a:t>
            </a:r>
            <a:r>
              <a:rPr sz="1600" spc="-2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to</a:t>
            </a:r>
            <a:r>
              <a:rPr sz="1600" spc="-3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select</a:t>
            </a:r>
            <a:r>
              <a:rPr sz="1600" spc="-1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the</a:t>
            </a:r>
            <a:r>
              <a:rPr sz="1600" spc="-3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center</a:t>
            </a:r>
            <a:r>
              <a:rPr sz="1600" spc="-3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pixel</a:t>
            </a:r>
            <a:r>
              <a:rPr sz="1600" spc="-3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and</a:t>
            </a:r>
            <a:r>
              <a:rPr sz="1600" spc="-3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find</a:t>
            </a:r>
            <a:r>
              <a:rPr sz="1600" spc="-35" dirty="0">
                <a:latin typeface="Times New Roman"/>
                <a:cs typeface="Times New Roman"/>
              </a:rPr>
              <a:t> </a:t>
            </a:r>
            <a:r>
              <a:rPr sz="1600" spc="-10" dirty="0">
                <a:latin typeface="Times New Roman"/>
                <a:cs typeface="Times New Roman"/>
              </a:rPr>
              <a:t>it’s</a:t>
            </a:r>
            <a:r>
              <a:rPr sz="1600" spc="-1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3x3</a:t>
            </a:r>
            <a:r>
              <a:rPr sz="1600" spc="-5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neighbors</a:t>
            </a:r>
            <a:r>
              <a:rPr sz="1600" spc="-3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and</a:t>
            </a:r>
            <a:r>
              <a:rPr sz="1600" spc="-3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calculate</a:t>
            </a:r>
            <a:r>
              <a:rPr sz="1600" spc="-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the</a:t>
            </a:r>
            <a:r>
              <a:rPr sz="1600" spc="-3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average</a:t>
            </a:r>
            <a:r>
              <a:rPr sz="1600" spc="-2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of</a:t>
            </a:r>
            <a:r>
              <a:rPr sz="1600" spc="-3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all</a:t>
            </a:r>
            <a:r>
              <a:rPr sz="1600" spc="-3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neighbor</a:t>
            </a:r>
            <a:r>
              <a:rPr sz="1600" spc="-35" dirty="0">
                <a:latin typeface="Times New Roman"/>
                <a:cs typeface="Times New Roman"/>
              </a:rPr>
              <a:t> </a:t>
            </a:r>
            <a:r>
              <a:rPr sz="1600" spc="-10" dirty="0">
                <a:latin typeface="Times New Roman"/>
                <a:cs typeface="Times New Roman"/>
              </a:rPr>
              <a:t>pixels </a:t>
            </a:r>
            <a:r>
              <a:rPr sz="1600" dirty="0">
                <a:latin typeface="Times New Roman"/>
                <a:cs typeface="Times New Roman"/>
              </a:rPr>
              <a:t>and</a:t>
            </a:r>
            <a:r>
              <a:rPr sz="1600" spc="-3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update</a:t>
            </a:r>
            <a:r>
              <a:rPr sz="1600" spc="-2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the</a:t>
            </a:r>
            <a:r>
              <a:rPr sz="1600" spc="-3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center</a:t>
            </a:r>
            <a:r>
              <a:rPr sz="1600" spc="-5" dirty="0">
                <a:latin typeface="Times New Roman"/>
                <a:cs typeface="Times New Roman"/>
              </a:rPr>
              <a:t> </a:t>
            </a:r>
            <a:r>
              <a:rPr sz="1600" spc="-10" dirty="0">
                <a:latin typeface="Times New Roman"/>
                <a:cs typeface="Times New Roman"/>
              </a:rPr>
              <a:t>pixel.</a:t>
            </a:r>
            <a:endParaRPr sz="1600">
              <a:latin typeface="Times New Roman"/>
              <a:cs typeface="Times New Roman"/>
            </a:endParaRPr>
          </a:p>
        </p:txBody>
      </p:sp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3130550" y="3190875"/>
          <a:ext cx="6094094" cy="296481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705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05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705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058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7058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7058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7058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7020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7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064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5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064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2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064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7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064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2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064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1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064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5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064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1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064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5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064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b="1" spc="-50" dirty="0">
                          <a:solidFill>
                            <a:srgbClr val="00AF50"/>
                          </a:solidFill>
                          <a:latin typeface="Times New Roman"/>
                          <a:cs typeface="Times New Roman"/>
                        </a:rPr>
                        <a:t>2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064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b="1" spc="-50" dirty="0">
                          <a:solidFill>
                            <a:srgbClr val="00AF50"/>
                          </a:solidFill>
                          <a:latin typeface="Times New Roman"/>
                          <a:cs typeface="Times New Roman"/>
                        </a:rPr>
                        <a:t>9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064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b="1" spc="-50" dirty="0">
                          <a:solidFill>
                            <a:srgbClr val="00AF50"/>
                          </a:solidFill>
                          <a:latin typeface="Times New Roman"/>
                          <a:cs typeface="Times New Roman"/>
                        </a:rPr>
                        <a:t>2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064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8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064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8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064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7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4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b="1" spc="-50" dirty="0">
                          <a:solidFill>
                            <a:srgbClr val="00AF50"/>
                          </a:solidFill>
                          <a:latin typeface="Times New Roman"/>
                          <a:cs typeface="Times New Roman"/>
                        </a:rPr>
                        <a:t>1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b="1" spc="-50" dirty="0">
                          <a:solidFill>
                            <a:srgbClr val="FF0000"/>
                          </a:solidFill>
                          <a:latin typeface="Times New Roman"/>
                          <a:cs typeface="Times New Roman"/>
                        </a:rPr>
                        <a:t>8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b="1" spc="-50" dirty="0">
                          <a:solidFill>
                            <a:srgbClr val="00AF50"/>
                          </a:solidFill>
                          <a:latin typeface="Times New Roman"/>
                          <a:cs typeface="Times New Roman"/>
                        </a:rPr>
                        <a:t>1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4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5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6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4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b="1" spc="-50" dirty="0">
                          <a:solidFill>
                            <a:srgbClr val="00AF50"/>
                          </a:solidFill>
                          <a:latin typeface="Times New Roman"/>
                          <a:cs typeface="Times New Roman"/>
                        </a:rPr>
                        <a:t>2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b="1" spc="-50" dirty="0">
                          <a:solidFill>
                            <a:srgbClr val="00AF50"/>
                          </a:solidFill>
                          <a:latin typeface="Times New Roman"/>
                          <a:cs typeface="Times New Roman"/>
                        </a:rPr>
                        <a:t>7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b="1" spc="-50" dirty="0">
                          <a:solidFill>
                            <a:srgbClr val="00AF50"/>
                          </a:solidFill>
                          <a:latin typeface="Times New Roman"/>
                          <a:cs typeface="Times New Roman"/>
                        </a:rPr>
                        <a:t>2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2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5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6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5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2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4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2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1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5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5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5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2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5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2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8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4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5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4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2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2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2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5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5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5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4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3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4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3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6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2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268349" y="1869185"/>
            <a:ext cx="9808845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8450" indent="-285750">
              <a:lnSpc>
                <a:spcPct val="100000"/>
              </a:lnSpc>
              <a:spcBef>
                <a:spcPts val="100"/>
              </a:spcBef>
              <a:buFont typeface="Wingdings"/>
              <a:buChar char=""/>
              <a:tabLst>
                <a:tab pos="298450" algn="l"/>
              </a:tabLst>
            </a:pPr>
            <a:r>
              <a:rPr sz="1800" b="1" dirty="0">
                <a:latin typeface="Times New Roman"/>
                <a:cs typeface="Times New Roman"/>
              </a:rPr>
              <a:t>Neighborhood</a:t>
            </a:r>
            <a:r>
              <a:rPr sz="1800" b="1" spc="-10" dirty="0">
                <a:latin typeface="Times New Roman"/>
                <a:cs typeface="Times New Roman"/>
              </a:rPr>
              <a:t> operations</a:t>
            </a:r>
            <a:endParaRPr sz="1800">
              <a:latin typeface="Times New Roman"/>
              <a:cs typeface="Times New Roman"/>
            </a:endParaRPr>
          </a:p>
          <a:p>
            <a:pPr marL="12700" marR="5080">
              <a:lnSpc>
                <a:spcPct val="100000"/>
              </a:lnSpc>
            </a:pPr>
            <a:r>
              <a:rPr sz="1800" dirty="0">
                <a:latin typeface="Times New Roman"/>
                <a:cs typeface="Times New Roman"/>
              </a:rPr>
              <a:t>At</a:t>
            </a:r>
            <a:r>
              <a:rPr sz="1800" spc="-2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first</a:t>
            </a:r>
            <a:r>
              <a:rPr sz="1800" spc="-2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we</a:t>
            </a:r>
            <a:r>
              <a:rPr sz="1800" spc="-1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need</a:t>
            </a:r>
            <a:r>
              <a:rPr sz="1800" spc="-3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to</a:t>
            </a:r>
            <a:r>
              <a:rPr sz="1800" spc="-1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select</a:t>
            </a:r>
            <a:r>
              <a:rPr sz="1800" spc="-2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the</a:t>
            </a:r>
            <a:r>
              <a:rPr sz="1800" spc="-1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border</a:t>
            </a:r>
            <a:r>
              <a:rPr sz="1800" spc="-1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pixel</a:t>
            </a:r>
            <a:r>
              <a:rPr sz="1800" spc="-1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as</a:t>
            </a:r>
            <a:r>
              <a:rPr sz="1800" spc="-3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the</a:t>
            </a:r>
            <a:r>
              <a:rPr sz="1800" spc="-1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center</a:t>
            </a:r>
            <a:r>
              <a:rPr sz="1800" spc="-2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pixel</a:t>
            </a:r>
            <a:r>
              <a:rPr sz="1800" spc="-2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and</a:t>
            </a:r>
            <a:r>
              <a:rPr sz="1800" spc="-2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to</a:t>
            </a:r>
            <a:r>
              <a:rPr sz="1800" spc="-1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find</a:t>
            </a:r>
            <a:r>
              <a:rPr sz="1800" spc="-2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it’s</a:t>
            </a:r>
            <a:r>
              <a:rPr sz="1800" spc="-3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3x3</a:t>
            </a:r>
            <a:r>
              <a:rPr sz="1800" spc="-1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neighbors,</a:t>
            </a:r>
            <a:r>
              <a:rPr sz="1800" spc="-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zero</a:t>
            </a:r>
            <a:r>
              <a:rPr sz="1800" spc="-1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padding</a:t>
            </a:r>
            <a:r>
              <a:rPr sz="1800" spc="-5" dirty="0">
                <a:latin typeface="Times New Roman"/>
                <a:cs typeface="Times New Roman"/>
              </a:rPr>
              <a:t> </a:t>
            </a:r>
            <a:r>
              <a:rPr sz="1800" spc="-25" dirty="0">
                <a:latin typeface="Times New Roman"/>
                <a:cs typeface="Times New Roman"/>
              </a:rPr>
              <a:t>is </a:t>
            </a:r>
            <a:r>
              <a:rPr sz="1800" dirty="0">
                <a:latin typeface="Times New Roman"/>
                <a:cs typeface="Times New Roman"/>
              </a:rPr>
              <a:t>needed</a:t>
            </a:r>
            <a:r>
              <a:rPr sz="1800" spc="-4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and</a:t>
            </a:r>
            <a:r>
              <a:rPr sz="1800" spc="-2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calculate</a:t>
            </a:r>
            <a:r>
              <a:rPr sz="1800" spc="-4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the</a:t>
            </a:r>
            <a:r>
              <a:rPr sz="1800" spc="-4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average</a:t>
            </a:r>
            <a:r>
              <a:rPr sz="1800" spc="-2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of</a:t>
            </a:r>
            <a:r>
              <a:rPr sz="1800" spc="-4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all</a:t>
            </a:r>
            <a:r>
              <a:rPr sz="1800" spc="-4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neighbor</a:t>
            </a:r>
            <a:r>
              <a:rPr sz="1800" spc="-5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pixels</a:t>
            </a:r>
            <a:r>
              <a:rPr sz="1800" spc="-3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and</a:t>
            </a:r>
            <a:r>
              <a:rPr sz="1800" spc="-3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update</a:t>
            </a:r>
            <a:r>
              <a:rPr sz="1800" spc="-3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the</a:t>
            </a:r>
            <a:r>
              <a:rPr sz="1800" spc="-3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center</a:t>
            </a:r>
            <a:r>
              <a:rPr sz="1800" spc="-50" dirty="0">
                <a:latin typeface="Times New Roman"/>
                <a:cs typeface="Times New Roman"/>
              </a:rPr>
              <a:t> </a:t>
            </a:r>
            <a:r>
              <a:rPr sz="1800" spc="-10" dirty="0">
                <a:latin typeface="Times New Roman"/>
                <a:cs typeface="Times New Roman"/>
              </a:rPr>
              <a:t>pixel.</a:t>
            </a:r>
            <a:endParaRPr sz="180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dirty="0"/>
              <a:t>23</a:t>
            </a:r>
            <a:r>
              <a:rPr spc="-5" dirty="0"/>
              <a:t> </a:t>
            </a:r>
            <a:r>
              <a:rPr dirty="0"/>
              <a:t>May</a:t>
            </a:r>
            <a:r>
              <a:rPr spc="-5" dirty="0"/>
              <a:t> </a:t>
            </a:r>
            <a:r>
              <a:rPr spc="-20" dirty="0"/>
              <a:t>2024</a:t>
            </a:r>
          </a:p>
        </p:txBody>
      </p:sp>
      <p:sp>
        <p:nvSpPr>
          <p:cNvPr id="6" name="object 6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pc="-10" dirty="0"/>
              <a:t>MATHEMATICAL</a:t>
            </a:r>
            <a:r>
              <a:rPr spc="10" dirty="0"/>
              <a:t> </a:t>
            </a:r>
            <a:r>
              <a:rPr dirty="0"/>
              <a:t>TOOLS</a:t>
            </a:r>
            <a:r>
              <a:rPr spc="-15" dirty="0"/>
              <a:t> </a:t>
            </a:r>
            <a:r>
              <a:rPr dirty="0"/>
              <a:t>USED</a:t>
            </a:r>
            <a:r>
              <a:rPr spc="-30" dirty="0"/>
              <a:t> </a:t>
            </a:r>
            <a:r>
              <a:rPr dirty="0"/>
              <a:t>IN</a:t>
            </a:r>
            <a:r>
              <a:rPr spc="-30" dirty="0"/>
              <a:t> </a:t>
            </a:r>
            <a:r>
              <a:rPr dirty="0"/>
              <a:t>DIGITAL</a:t>
            </a:r>
            <a:r>
              <a:rPr spc="5" dirty="0"/>
              <a:t> </a:t>
            </a:r>
            <a:r>
              <a:rPr dirty="0"/>
              <a:t>IMAGE</a:t>
            </a:r>
            <a:r>
              <a:rPr spc="-5" dirty="0"/>
              <a:t> </a:t>
            </a:r>
            <a:r>
              <a:rPr spc="-10" dirty="0"/>
              <a:t>PROCESSING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55"/>
              </a:lnSpc>
            </a:pPr>
            <a:fld id="{81D60167-4931-47E6-BA6A-407CBD079E47}" type="slidenum">
              <a:rPr spc="-25" dirty="0"/>
              <a:t>32</a:t>
            </a:fld>
            <a:endParaRPr spc="-25" dirty="0"/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3130550" y="3043301"/>
          <a:ext cx="5920739" cy="304673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578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78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78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78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78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78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78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578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78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b="1" spc="-50" dirty="0">
                          <a:solidFill>
                            <a:srgbClr val="00AF50"/>
                          </a:solidFill>
                          <a:latin typeface="Times New Roman"/>
                          <a:cs typeface="Times New Roman"/>
                        </a:rPr>
                        <a:t>0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064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b="1" spc="-50" dirty="0">
                          <a:solidFill>
                            <a:srgbClr val="00AF50"/>
                          </a:solidFill>
                          <a:latin typeface="Times New Roman"/>
                          <a:cs typeface="Times New Roman"/>
                        </a:rPr>
                        <a:t>0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064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b="1" spc="-50" dirty="0">
                          <a:solidFill>
                            <a:srgbClr val="00AF50"/>
                          </a:solidFill>
                          <a:latin typeface="Times New Roman"/>
                          <a:cs typeface="Times New Roman"/>
                        </a:rPr>
                        <a:t>0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064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0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064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0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064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0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064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0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064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0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064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0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064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b="1" spc="-50" dirty="0">
                          <a:solidFill>
                            <a:srgbClr val="00AF50"/>
                          </a:solidFill>
                          <a:latin typeface="Times New Roman"/>
                          <a:cs typeface="Times New Roman"/>
                        </a:rPr>
                        <a:t>0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064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b="1" spc="-50" dirty="0">
                          <a:solidFill>
                            <a:srgbClr val="FF0000"/>
                          </a:solidFill>
                          <a:latin typeface="Times New Roman"/>
                          <a:cs typeface="Times New Roman"/>
                        </a:rPr>
                        <a:t>7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064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b="1" spc="-50" dirty="0">
                          <a:solidFill>
                            <a:srgbClr val="00AF50"/>
                          </a:solidFill>
                          <a:latin typeface="Times New Roman"/>
                          <a:cs typeface="Times New Roman"/>
                        </a:rPr>
                        <a:t>5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064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2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064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7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064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2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064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1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064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5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064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0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064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b="1" spc="-50" dirty="0">
                          <a:solidFill>
                            <a:srgbClr val="00AF50"/>
                          </a:solidFill>
                          <a:latin typeface="Times New Roman"/>
                          <a:cs typeface="Times New Roman"/>
                        </a:rPr>
                        <a:t>0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064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b="1" spc="-50" dirty="0">
                          <a:solidFill>
                            <a:srgbClr val="00AF50"/>
                          </a:solidFill>
                          <a:latin typeface="Times New Roman"/>
                          <a:cs typeface="Times New Roman"/>
                        </a:rPr>
                        <a:t>1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064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b="1" spc="-50" dirty="0">
                          <a:solidFill>
                            <a:srgbClr val="00AF50"/>
                          </a:solidFill>
                          <a:latin typeface="Times New Roman"/>
                          <a:cs typeface="Times New Roman"/>
                        </a:rPr>
                        <a:t>5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064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2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064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9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064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2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064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8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064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8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064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0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064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0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7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4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1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8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1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4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5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0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0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6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4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2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7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2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2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5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0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416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0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6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5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2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4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2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1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5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0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0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5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5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2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5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2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8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4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0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0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5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4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2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2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2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5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5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0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416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0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5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4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3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4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3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6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2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0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0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0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0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0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0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0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0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0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0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35" dirty="0"/>
              <a:t>Spatial</a:t>
            </a:r>
            <a:r>
              <a:rPr spc="-240" dirty="0"/>
              <a:t> </a:t>
            </a:r>
            <a:r>
              <a:rPr spc="-35" dirty="0"/>
              <a:t>Operations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295146" y="1735049"/>
            <a:ext cx="8994775" cy="3119755"/>
          </a:xfrm>
          <a:prstGeom prst="rect">
            <a:avLst/>
          </a:prstGeom>
        </p:spPr>
        <p:txBody>
          <a:bodyPr vert="horz" wrap="square" lIns="0" tIns="146685" rIns="0" bIns="0" rtlCol="0">
            <a:spAutoFit/>
          </a:bodyPr>
          <a:lstStyle/>
          <a:p>
            <a:pPr marL="298450" indent="-285750">
              <a:lnSpc>
                <a:spcPct val="100000"/>
              </a:lnSpc>
              <a:spcBef>
                <a:spcPts val="1155"/>
              </a:spcBef>
              <a:buFont typeface="Wingdings"/>
              <a:buChar char=""/>
              <a:tabLst>
                <a:tab pos="298450" algn="l"/>
              </a:tabLst>
            </a:pPr>
            <a:r>
              <a:rPr sz="1800" b="1" dirty="0">
                <a:latin typeface="Times New Roman"/>
                <a:cs typeface="Times New Roman"/>
              </a:rPr>
              <a:t>Geometric</a:t>
            </a:r>
            <a:r>
              <a:rPr sz="1800" b="1" spc="-90" dirty="0">
                <a:latin typeface="Times New Roman"/>
                <a:cs typeface="Times New Roman"/>
              </a:rPr>
              <a:t> </a:t>
            </a:r>
            <a:r>
              <a:rPr sz="1800" b="1" dirty="0">
                <a:latin typeface="Times New Roman"/>
                <a:cs typeface="Times New Roman"/>
              </a:rPr>
              <a:t>spatial</a:t>
            </a:r>
            <a:r>
              <a:rPr sz="1800" b="1" spc="-50" dirty="0">
                <a:latin typeface="Times New Roman"/>
                <a:cs typeface="Times New Roman"/>
              </a:rPr>
              <a:t> </a:t>
            </a:r>
            <a:r>
              <a:rPr sz="1800" b="1" spc="-10" dirty="0">
                <a:latin typeface="Times New Roman"/>
                <a:cs typeface="Times New Roman"/>
              </a:rPr>
              <a:t>transformations</a:t>
            </a:r>
            <a:endParaRPr sz="18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060"/>
              </a:spcBef>
            </a:pPr>
            <a:r>
              <a:rPr sz="1800" spc="-10" dirty="0">
                <a:latin typeface="Times New Roman"/>
                <a:cs typeface="Times New Roman"/>
              </a:rPr>
              <a:t>-</a:t>
            </a:r>
            <a:r>
              <a:rPr sz="1800" dirty="0">
                <a:latin typeface="Times New Roman"/>
                <a:cs typeface="Times New Roman"/>
              </a:rPr>
              <a:t>Spatial</a:t>
            </a:r>
            <a:r>
              <a:rPr sz="1800" spc="-2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transformation</a:t>
            </a:r>
            <a:r>
              <a:rPr sz="1800" spc="-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of an</a:t>
            </a:r>
            <a:r>
              <a:rPr sz="1800" spc="-1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image</a:t>
            </a:r>
            <a:r>
              <a:rPr sz="1800" spc="-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is</a:t>
            </a:r>
            <a:r>
              <a:rPr sz="1800" spc="-2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a</a:t>
            </a:r>
            <a:r>
              <a:rPr sz="1800" spc="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geometric</a:t>
            </a:r>
            <a:r>
              <a:rPr sz="1800" spc="-1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transformation</a:t>
            </a:r>
            <a:r>
              <a:rPr sz="1800" spc="-1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of</a:t>
            </a:r>
            <a:r>
              <a:rPr sz="1800" spc="-1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the</a:t>
            </a:r>
            <a:r>
              <a:rPr sz="1800" spc="-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image</a:t>
            </a:r>
            <a:r>
              <a:rPr sz="1800" spc="-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coordinate</a:t>
            </a:r>
            <a:r>
              <a:rPr sz="1800" spc="-25" dirty="0">
                <a:latin typeface="Times New Roman"/>
                <a:cs typeface="Times New Roman"/>
              </a:rPr>
              <a:t> </a:t>
            </a:r>
            <a:r>
              <a:rPr sz="1800" spc="-10" dirty="0">
                <a:latin typeface="Times New Roman"/>
                <a:cs typeface="Times New Roman"/>
              </a:rPr>
              <a:t>system.</a:t>
            </a:r>
            <a:endParaRPr sz="18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8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440"/>
              </a:spcBef>
            </a:pPr>
            <a:endParaRPr sz="1800">
              <a:latin typeface="Times New Roman"/>
              <a:cs typeface="Times New Roman"/>
            </a:endParaRPr>
          </a:p>
          <a:p>
            <a:pPr marL="4048125">
              <a:lnSpc>
                <a:spcPct val="100000"/>
              </a:lnSpc>
            </a:pPr>
            <a:r>
              <a:rPr sz="2350" dirty="0">
                <a:latin typeface="Times New Roman"/>
                <a:cs typeface="Times New Roman"/>
              </a:rPr>
              <a:t>(</a:t>
            </a:r>
            <a:r>
              <a:rPr sz="2350" i="1" dirty="0">
                <a:latin typeface="Times New Roman"/>
                <a:cs typeface="Times New Roman"/>
              </a:rPr>
              <a:t>v</a:t>
            </a:r>
            <a:r>
              <a:rPr sz="2350" dirty="0">
                <a:latin typeface="Times New Roman"/>
                <a:cs typeface="Times New Roman"/>
              </a:rPr>
              <a:t>,</a:t>
            </a:r>
            <a:r>
              <a:rPr sz="2350" spc="-225" dirty="0">
                <a:latin typeface="Times New Roman"/>
                <a:cs typeface="Times New Roman"/>
              </a:rPr>
              <a:t> </a:t>
            </a:r>
            <a:r>
              <a:rPr sz="2350" i="1" dirty="0">
                <a:latin typeface="Times New Roman"/>
                <a:cs typeface="Times New Roman"/>
              </a:rPr>
              <a:t>w</a:t>
            </a:r>
            <a:r>
              <a:rPr sz="2350" dirty="0">
                <a:latin typeface="Times New Roman"/>
                <a:cs typeface="Times New Roman"/>
              </a:rPr>
              <a:t>)</a:t>
            </a:r>
            <a:r>
              <a:rPr sz="2350" spc="20" dirty="0">
                <a:latin typeface="Times New Roman"/>
                <a:cs typeface="Times New Roman"/>
              </a:rPr>
              <a:t> </a:t>
            </a:r>
            <a:r>
              <a:rPr sz="2350" dirty="0">
                <a:latin typeface="Symbol"/>
                <a:cs typeface="Symbol"/>
              </a:rPr>
              <a:t></a:t>
            </a:r>
            <a:r>
              <a:rPr sz="2350" spc="-145" dirty="0">
                <a:latin typeface="Times New Roman"/>
                <a:cs typeface="Times New Roman"/>
              </a:rPr>
              <a:t> </a:t>
            </a:r>
            <a:r>
              <a:rPr sz="2350" i="1" spc="85" dirty="0">
                <a:latin typeface="Times New Roman"/>
                <a:cs typeface="Times New Roman"/>
              </a:rPr>
              <a:t>T</a:t>
            </a:r>
            <a:r>
              <a:rPr sz="2350" spc="85" dirty="0">
                <a:latin typeface="Times New Roman"/>
                <a:cs typeface="Times New Roman"/>
              </a:rPr>
              <a:t>{(</a:t>
            </a:r>
            <a:r>
              <a:rPr sz="2350" i="1" spc="85" dirty="0">
                <a:latin typeface="Times New Roman"/>
                <a:cs typeface="Times New Roman"/>
              </a:rPr>
              <a:t>x</a:t>
            </a:r>
            <a:r>
              <a:rPr sz="2350" spc="85" dirty="0">
                <a:latin typeface="Times New Roman"/>
                <a:cs typeface="Times New Roman"/>
              </a:rPr>
              <a:t>,</a:t>
            </a:r>
            <a:r>
              <a:rPr sz="2350" spc="-15" dirty="0">
                <a:latin typeface="Times New Roman"/>
                <a:cs typeface="Times New Roman"/>
              </a:rPr>
              <a:t> </a:t>
            </a:r>
            <a:r>
              <a:rPr sz="2350" i="1" spc="30" dirty="0">
                <a:latin typeface="Times New Roman"/>
                <a:cs typeface="Times New Roman"/>
              </a:rPr>
              <a:t>y</a:t>
            </a:r>
            <a:r>
              <a:rPr sz="2350" spc="30" dirty="0">
                <a:latin typeface="Times New Roman"/>
                <a:cs typeface="Times New Roman"/>
              </a:rPr>
              <a:t>)}</a:t>
            </a:r>
            <a:endParaRPr sz="235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345"/>
              </a:spcBef>
            </a:pPr>
            <a:endParaRPr sz="235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1800" spc="-10" dirty="0">
                <a:latin typeface="Times New Roman"/>
                <a:cs typeface="Times New Roman"/>
              </a:rPr>
              <a:t>Where,</a:t>
            </a:r>
            <a:endParaRPr sz="18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1800" dirty="0">
                <a:latin typeface="Times New Roman"/>
                <a:cs typeface="Times New Roman"/>
              </a:rPr>
              <a:t>(x,</a:t>
            </a:r>
            <a:r>
              <a:rPr sz="1800" spc="-2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y)</a:t>
            </a:r>
            <a:r>
              <a:rPr sz="1800" spc="-4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-</a:t>
            </a:r>
            <a:r>
              <a:rPr sz="1800" spc="-1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pixel</a:t>
            </a:r>
            <a:r>
              <a:rPr sz="1800" spc="-3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coordinates</a:t>
            </a:r>
            <a:r>
              <a:rPr sz="1800" spc="-3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in</a:t>
            </a:r>
            <a:r>
              <a:rPr sz="1800" spc="-2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the</a:t>
            </a:r>
            <a:r>
              <a:rPr sz="1800" spc="-5" dirty="0">
                <a:latin typeface="Times New Roman"/>
                <a:cs typeface="Times New Roman"/>
              </a:rPr>
              <a:t> </a:t>
            </a:r>
            <a:r>
              <a:rPr sz="1800" b="1" dirty="0">
                <a:latin typeface="Times New Roman"/>
                <a:cs typeface="Times New Roman"/>
              </a:rPr>
              <a:t>original</a:t>
            </a:r>
            <a:r>
              <a:rPr sz="1800" b="1" spc="-35" dirty="0">
                <a:latin typeface="Times New Roman"/>
                <a:cs typeface="Times New Roman"/>
              </a:rPr>
              <a:t> </a:t>
            </a:r>
            <a:r>
              <a:rPr sz="1800" spc="-10" dirty="0">
                <a:latin typeface="Times New Roman"/>
                <a:cs typeface="Times New Roman"/>
              </a:rPr>
              <a:t>image</a:t>
            </a:r>
            <a:endParaRPr sz="18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1800" spc="-10" dirty="0">
                <a:latin typeface="Times New Roman"/>
                <a:cs typeface="Times New Roman"/>
              </a:rPr>
              <a:t>(v,</a:t>
            </a:r>
            <a:r>
              <a:rPr sz="1800" spc="-5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w)</a:t>
            </a:r>
            <a:r>
              <a:rPr sz="1800" spc="-45" dirty="0">
                <a:latin typeface="Times New Roman"/>
                <a:cs typeface="Times New Roman"/>
              </a:rPr>
              <a:t> </a:t>
            </a:r>
            <a:r>
              <a:rPr sz="1800" spc="-10" dirty="0">
                <a:latin typeface="Times New Roman"/>
                <a:cs typeface="Times New Roman"/>
              </a:rPr>
              <a:t>-</a:t>
            </a:r>
            <a:r>
              <a:rPr sz="1800" dirty="0">
                <a:latin typeface="Times New Roman"/>
                <a:cs typeface="Times New Roman"/>
              </a:rPr>
              <a:t>The</a:t>
            </a:r>
            <a:r>
              <a:rPr sz="1800" spc="-4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corresponding</a:t>
            </a:r>
            <a:r>
              <a:rPr sz="1800" spc="-5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pixel</a:t>
            </a:r>
            <a:r>
              <a:rPr sz="1800" spc="-6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coordinates</a:t>
            </a:r>
            <a:r>
              <a:rPr sz="1800" spc="-7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in</a:t>
            </a:r>
            <a:r>
              <a:rPr sz="1800" spc="-4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the</a:t>
            </a:r>
            <a:r>
              <a:rPr sz="1800" spc="-35" dirty="0">
                <a:latin typeface="Times New Roman"/>
                <a:cs typeface="Times New Roman"/>
              </a:rPr>
              <a:t> </a:t>
            </a:r>
            <a:r>
              <a:rPr sz="1800" b="1" dirty="0">
                <a:latin typeface="Times New Roman"/>
                <a:cs typeface="Times New Roman"/>
              </a:rPr>
              <a:t>transformed</a:t>
            </a:r>
            <a:r>
              <a:rPr sz="1800" b="1" spc="-45" dirty="0">
                <a:latin typeface="Times New Roman"/>
                <a:cs typeface="Times New Roman"/>
              </a:rPr>
              <a:t> </a:t>
            </a:r>
            <a:r>
              <a:rPr sz="1800" spc="-10" dirty="0">
                <a:latin typeface="Times New Roman"/>
                <a:cs typeface="Times New Roman"/>
              </a:rPr>
              <a:t>image</a:t>
            </a:r>
            <a:endParaRPr sz="180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dirty="0"/>
              <a:t>23</a:t>
            </a:r>
            <a:r>
              <a:rPr spc="-5" dirty="0"/>
              <a:t> </a:t>
            </a:r>
            <a:r>
              <a:rPr dirty="0"/>
              <a:t>May</a:t>
            </a:r>
            <a:r>
              <a:rPr spc="-5" dirty="0"/>
              <a:t> </a:t>
            </a:r>
            <a:r>
              <a:rPr spc="-20" dirty="0"/>
              <a:t>2024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pc="-10" dirty="0"/>
              <a:t>MATHEMATICAL</a:t>
            </a:r>
            <a:r>
              <a:rPr spc="10" dirty="0"/>
              <a:t> </a:t>
            </a:r>
            <a:r>
              <a:rPr dirty="0"/>
              <a:t>TOOLS</a:t>
            </a:r>
            <a:r>
              <a:rPr spc="-15" dirty="0"/>
              <a:t> </a:t>
            </a:r>
            <a:r>
              <a:rPr dirty="0"/>
              <a:t>USED</a:t>
            </a:r>
            <a:r>
              <a:rPr spc="-30" dirty="0"/>
              <a:t> </a:t>
            </a:r>
            <a:r>
              <a:rPr dirty="0"/>
              <a:t>IN</a:t>
            </a:r>
            <a:r>
              <a:rPr spc="-30" dirty="0"/>
              <a:t> </a:t>
            </a:r>
            <a:r>
              <a:rPr dirty="0"/>
              <a:t>DIGITAL</a:t>
            </a:r>
            <a:r>
              <a:rPr spc="5" dirty="0"/>
              <a:t> </a:t>
            </a:r>
            <a:r>
              <a:rPr dirty="0"/>
              <a:t>IMAGE</a:t>
            </a:r>
            <a:r>
              <a:rPr spc="-5" dirty="0"/>
              <a:t> </a:t>
            </a:r>
            <a:r>
              <a:rPr spc="-10" dirty="0"/>
              <a:t>PROCESSING</a:t>
            </a:r>
          </a:p>
        </p:txBody>
      </p:sp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55"/>
              </a:lnSpc>
            </a:pPr>
            <a:fld id="{81D60167-4931-47E6-BA6A-407CBD079E47}" type="slidenum">
              <a:rPr spc="-25" dirty="0"/>
              <a:t>33</a:t>
            </a:fld>
            <a:endParaRPr spc="-25"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35" dirty="0"/>
              <a:t>Spatial</a:t>
            </a:r>
            <a:r>
              <a:rPr spc="-240" dirty="0"/>
              <a:t> </a:t>
            </a:r>
            <a:r>
              <a:rPr spc="-35" dirty="0"/>
              <a:t>Operations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35" dirty="0"/>
              <a:t>Spatial</a:t>
            </a:r>
            <a:r>
              <a:rPr spc="-240" dirty="0"/>
              <a:t> </a:t>
            </a:r>
            <a:r>
              <a:rPr spc="-35" dirty="0"/>
              <a:t>Operations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019" y="1868551"/>
            <a:ext cx="367601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8450" indent="-285750">
              <a:lnSpc>
                <a:spcPct val="100000"/>
              </a:lnSpc>
              <a:spcBef>
                <a:spcPts val="100"/>
              </a:spcBef>
              <a:buFont typeface="Wingdings"/>
              <a:buChar char=""/>
              <a:tabLst>
                <a:tab pos="298450" algn="l"/>
              </a:tabLst>
            </a:pPr>
            <a:r>
              <a:rPr sz="1800" b="1" dirty="0">
                <a:latin typeface="Times New Roman"/>
                <a:cs typeface="Times New Roman"/>
              </a:rPr>
              <a:t>Geometric</a:t>
            </a:r>
            <a:r>
              <a:rPr sz="1800" b="1" spc="-90" dirty="0">
                <a:latin typeface="Times New Roman"/>
                <a:cs typeface="Times New Roman"/>
              </a:rPr>
              <a:t> </a:t>
            </a:r>
            <a:r>
              <a:rPr sz="1800" b="1" dirty="0">
                <a:latin typeface="Times New Roman"/>
                <a:cs typeface="Times New Roman"/>
              </a:rPr>
              <a:t>spatial</a:t>
            </a:r>
            <a:r>
              <a:rPr sz="1800" b="1" spc="-50" dirty="0">
                <a:latin typeface="Times New Roman"/>
                <a:cs typeface="Times New Roman"/>
              </a:rPr>
              <a:t> </a:t>
            </a:r>
            <a:r>
              <a:rPr sz="1800" b="1" spc="-10" dirty="0">
                <a:latin typeface="Times New Roman"/>
                <a:cs typeface="Times New Roman"/>
              </a:rPr>
              <a:t>transformations</a:t>
            </a:r>
            <a:endParaRPr sz="1800">
              <a:latin typeface="Times New Roman"/>
              <a:cs typeface="Times New Roman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441448" y="2316479"/>
            <a:ext cx="7313676" cy="3851148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dirty="0"/>
              <a:t>23</a:t>
            </a:r>
            <a:r>
              <a:rPr spc="-5" dirty="0"/>
              <a:t> </a:t>
            </a:r>
            <a:r>
              <a:rPr dirty="0"/>
              <a:t>May</a:t>
            </a:r>
            <a:r>
              <a:rPr spc="-5" dirty="0"/>
              <a:t> </a:t>
            </a:r>
            <a:r>
              <a:rPr spc="-20" dirty="0"/>
              <a:t>2024</a:t>
            </a:r>
          </a:p>
        </p:txBody>
      </p:sp>
      <p:sp>
        <p:nvSpPr>
          <p:cNvPr id="6" name="object 6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pc="-10" dirty="0"/>
              <a:t>MATHEMATICAL</a:t>
            </a:r>
            <a:r>
              <a:rPr spc="10" dirty="0"/>
              <a:t> </a:t>
            </a:r>
            <a:r>
              <a:rPr dirty="0"/>
              <a:t>TOOLS</a:t>
            </a:r>
            <a:r>
              <a:rPr spc="-15" dirty="0"/>
              <a:t> </a:t>
            </a:r>
            <a:r>
              <a:rPr dirty="0"/>
              <a:t>USED</a:t>
            </a:r>
            <a:r>
              <a:rPr spc="-30" dirty="0"/>
              <a:t> </a:t>
            </a:r>
            <a:r>
              <a:rPr dirty="0"/>
              <a:t>IN</a:t>
            </a:r>
            <a:r>
              <a:rPr spc="-30" dirty="0"/>
              <a:t> </a:t>
            </a:r>
            <a:r>
              <a:rPr dirty="0"/>
              <a:t>DIGITAL</a:t>
            </a:r>
            <a:r>
              <a:rPr spc="5" dirty="0"/>
              <a:t> </a:t>
            </a:r>
            <a:r>
              <a:rPr dirty="0"/>
              <a:t>IMAGE</a:t>
            </a:r>
            <a:r>
              <a:rPr spc="-5" dirty="0"/>
              <a:t> </a:t>
            </a:r>
            <a:r>
              <a:rPr spc="-10" dirty="0"/>
              <a:t>PROCESSING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55"/>
              </a:lnSpc>
            </a:pPr>
            <a:fld id="{81D60167-4931-47E6-BA6A-407CBD079E47}" type="slidenum">
              <a:rPr spc="-25" dirty="0"/>
              <a:t>34</a:t>
            </a:fld>
            <a:endParaRPr spc="-25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864608" y="2639567"/>
            <a:ext cx="6432803" cy="2560319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35" dirty="0"/>
              <a:t>Spatial</a:t>
            </a:r>
            <a:r>
              <a:rPr spc="-240" dirty="0"/>
              <a:t> </a:t>
            </a:r>
            <a:r>
              <a:rPr spc="-35" dirty="0"/>
              <a:t>Operations</a:t>
            </a:r>
          </a:p>
        </p:txBody>
      </p:sp>
      <p:sp>
        <p:nvSpPr>
          <p:cNvPr id="4" name="object 4"/>
          <p:cNvSpPr/>
          <p:nvPr/>
        </p:nvSpPr>
        <p:spPr>
          <a:xfrm>
            <a:off x="1253165" y="3009900"/>
            <a:ext cx="538480" cy="215900"/>
          </a:xfrm>
          <a:custGeom>
            <a:avLst/>
            <a:gdLst/>
            <a:ahLst/>
            <a:cxnLst/>
            <a:rect l="l" t="t" r="r" b="b"/>
            <a:pathLst>
              <a:path w="538480" h="215900">
                <a:moveTo>
                  <a:pt x="481400" y="0"/>
                </a:moveTo>
                <a:lnTo>
                  <a:pt x="479241" y="7112"/>
                </a:lnTo>
                <a:lnTo>
                  <a:pt x="489097" y="12279"/>
                </a:lnTo>
                <a:lnTo>
                  <a:pt x="497703" y="19780"/>
                </a:lnTo>
                <a:lnTo>
                  <a:pt x="515858" y="55852"/>
                </a:lnTo>
                <a:lnTo>
                  <a:pt x="521913" y="107823"/>
                </a:lnTo>
                <a:lnTo>
                  <a:pt x="521244" y="126730"/>
                </a:lnTo>
                <a:lnTo>
                  <a:pt x="511118" y="173736"/>
                </a:lnTo>
                <a:lnTo>
                  <a:pt x="479241" y="208279"/>
                </a:lnTo>
                <a:lnTo>
                  <a:pt x="481400" y="215391"/>
                </a:lnTo>
                <a:lnTo>
                  <a:pt x="515065" y="191960"/>
                </a:lnTo>
                <a:lnTo>
                  <a:pt x="534264" y="145827"/>
                </a:lnTo>
                <a:lnTo>
                  <a:pt x="537909" y="107823"/>
                </a:lnTo>
                <a:lnTo>
                  <a:pt x="537048" y="88896"/>
                </a:lnTo>
                <a:lnTo>
                  <a:pt x="523183" y="37084"/>
                </a:lnTo>
                <a:lnTo>
                  <a:pt x="494161" y="5026"/>
                </a:lnTo>
                <a:lnTo>
                  <a:pt x="481400" y="0"/>
                </a:lnTo>
                <a:close/>
              </a:path>
              <a:path w="538480" h="215900">
                <a:moveTo>
                  <a:pt x="56585" y="0"/>
                </a:moveTo>
                <a:lnTo>
                  <a:pt x="22806" y="23556"/>
                </a:lnTo>
                <a:lnTo>
                  <a:pt x="3670" y="69627"/>
                </a:lnTo>
                <a:lnTo>
                  <a:pt x="0" y="107823"/>
                </a:lnTo>
                <a:lnTo>
                  <a:pt x="879" y="126730"/>
                </a:lnTo>
                <a:lnTo>
                  <a:pt x="14700" y="178435"/>
                </a:lnTo>
                <a:lnTo>
                  <a:pt x="43750" y="210438"/>
                </a:lnTo>
                <a:lnTo>
                  <a:pt x="56585" y="215391"/>
                </a:lnTo>
                <a:lnTo>
                  <a:pt x="58744" y="208279"/>
                </a:lnTo>
                <a:lnTo>
                  <a:pt x="48887" y="203186"/>
                </a:lnTo>
                <a:lnTo>
                  <a:pt x="40281" y="195722"/>
                </a:lnTo>
                <a:lnTo>
                  <a:pt x="22116" y="159686"/>
                </a:lnTo>
                <a:lnTo>
                  <a:pt x="16008" y="107823"/>
                </a:lnTo>
                <a:lnTo>
                  <a:pt x="16687" y="88896"/>
                </a:lnTo>
                <a:lnTo>
                  <a:pt x="26867" y="41783"/>
                </a:lnTo>
                <a:lnTo>
                  <a:pt x="58744" y="7112"/>
                </a:lnTo>
                <a:lnTo>
                  <a:pt x="5658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3990340" y="3844289"/>
            <a:ext cx="60960" cy="676910"/>
          </a:xfrm>
          <a:custGeom>
            <a:avLst/>
            <a:gdLst/>
            <a:ahLst/>
            <a:cxnLst/>
            <a:rect l="l" t="t" r="r" b="b"/>
            <a:pathLst>
              <a:path w="60960" h="676910">
                <a:moveTo>
                  <a:pt x="60706" y="0"/>
                </a:moveTo>
                <a:lnTo>
                  <a:pt x="0" y="0"/>
                </a:lnTo>
                <a:lnTo>
                  <a:pt x="0" y="10160"/>
                </a:lnTo>
                <a:lnTo>
                  <a:pt x="37719" y="10160"/>
                </a:lnTo>
                <a:lnTo>
                  <a:pt x="37719" y="666750"/>
                </a:lnTo>
                <a:lnTo>
                  <a:pt x="0" y="666750"/>
                </a:lnTo>
                <a:lnTo>
                  <a:pt x="0" y="676910"/>
                </a:lnTo>
                <a:lnTo>
                  <a:pt x="60706" y="676910"/>
                </a:lnTo>
                <a:lnTo>
                  <a:pt x="60706" y="666750"/>
                </a:lnTo>
                <a:lnTo>
                  <a:pt x="60706" y="10160"/>
                </a:lnTo>
                <a:lnTo>
                  <a:pt x="60706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3000248" y="3844289"/>
            <a:ext cx="60960" cy="676910"/>
          </a:xfrm>
          <a:custGeom>
            <a:avLst/>
            <a:gdLst/>
            <a:ahLst/>
            <a:cxnLst/>
            <a:rect l="l" t="t" r="r" b="b"/>
            <a:pathLst>
              <a:path w="60960" h="676910">
                <a:moveTo>
                  <a:pt x="60833" y="0"/>
                </a:moveTo>
                <a:lnTo>
                  <a:pt x="0" y="0"/>
                </a:lnTo>
                <a:lnTo>
                  <a:pt x="0" y="10160"/>
                </a:lnTo>
                <a:lnTo>
                  <a:pt x="0" y="666750"/>
                </a:lnTo>
                <a:lnTo>
                  <a:pt x="0" y="676910"/>
                </a:lnTo>
                <a:lnTo>
                  <a:pt x="60833" y="676910"/>
                </a:lnTo>
                <a:lnTo>
                  <a:pt x="60833" y="666750"/>
                </a:lnTo>
                <a:lnTo>
                  <a:pt x="22987" y="666750"/>
                </a:lnTo>
                <a:lnTo>
                  <a:pt x="22987" y="10160"/>
                </a:lnTo>
                <a:lnTo>
                  <a:pt x="60833" y="10160"/>
                </a:lnTo>
                <a:lnTo>
                  <a:pt x="6083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1008380" y="1851787"/>
            <a:ext cx="3622040" cy="275780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47015" indent="-160655">
              <a:lnSpc>
                <a:spcPct val="100000"/>
              </a:lnSpc>
              <a:spcBef>
                <a:spcPts val="105"/>
              </a:spcBef>
              <a:buClr>
                <a:srgbClr val="E38312"/>
              </a:buClr>
              <a:buSzPct val="92857"/>
              <a:buFont typeface="Wingdings"/>
              <a:buChar char=""/>
              <a:tabLst>
                <a:tab pos="247015" algn="l"/>
              </a:tabLst>
            </a:pPr>
            <a:r>
              <a:rPr sz="1400" b="1" dirty="0">
                <a:solidFill>
                  <a:srgbClr val="404040"/>
                </a:solidFill>
                <a:latin typeface="Times New Roman"/>
                <a:cs typeface="Times New Roman"/>
              </a:rPr>
              <a:t>Geometric</a:t>
            </a:r>
            <a:r>
              <a:rPr sz="1400" b="1" spc="-2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400" b="1" dirty="0">
                <a:solidFill>
                  <a:srgbClr val="404040"/>
                </a:solidFill>
                <a:latin typeface="Times New Roman"/>
                <a:cs typeface="Times New Roman"/>
              </a:rPr>
              <a:t>Spatial</a:t>
            </a:r>
            <a:r>
              <a:rPr sz="1400" b="1" spc="-50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400" b="1" dirty="0">
                <a:solidFill>
                  <a:srgbClr val="404040"/>
                </a:solidFill>
                <a:latin typeface="Times New Roman"/>
                <a:cs typeface="Times New Roman"/>
              </a:rPr>
              <a:t>Operations</a:t>
            </a:r>
            <a:r>
              <a:rPr sz="1400" b="1" spc="-45" dirty="0">
                <a:solidFill>
                  <a:srgbClr val="404040"/>
                </a:solidFill>
                <a:latin typeface="Times New Roman"/>
                <a:cs typeface="Times New Roman"/>
              </a:rPr>
              <a:t> </a:t>
            </a:r>
            <a:r>
              <a:rPr sz="1400" b="1" spc="-10" dirty="0">
                <a:solidFill>
                  <a:srgbClr val="404040"/>
                </a:solidFill>
                <a:latin typeface="Times New Roman"/>
                <a:cs typeface="Times New Roman"/>
              </a:rPr>
              <a:t>(Translation)</a:t>
            </a:r>
            <a:endParaRPr sz="1400">
              <a:latin typeface="Times New Roman"/>
              <a:cs typeface="Times New Roman"/>
            </a:endParaRPr>
          </a:p>
          <a:p>
            <a:pPr marL="228600" indent="-142875">
              <a:lnSpc>
                <a:spcPct val="100000"/>
              </a:lnSpc>
              <a:spcBef>
                <a:spcPts val="1225"/>
              </a:spcBef>
              <a:buClr>
                <a:srgbClr val="E38312"/>
              </a:buClr>
              <a:buSzPct val="92857"/>
              <a:buFont typeface="Wingdings"/>
              <a:buChar char=""/>
              <a:tabLst>
                <a:tab pos="228600" algn="l"/>
              </a:tabLst>
            </a:pPr>
            <a:r>
              <a:rPr sz="1400" dirty="0">
                <a:latin typeface="Times New Roman"/>
                <a:cs typeface="Times New Roman"/>
              </a:rPr>
              <a:t>It</a:t>
            </a:r>
            <a:r>
              <a:rPr sz="1400" spc="-1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is</a:t>
            </a:r>
            <a:r>
              <a:rPr sz="1400" spc="-2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known</a:t>
            </a:r>
            <a:r>
              <a:rPr sz="1400" spc="-2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as shifting</a:t>
            </a:r>
            <a:r>
              <a:rPr sz="1400" spc="-4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of</a:t>
            </a:r>
            <a:r>
              <a:rPr sz="1400" spc="-15" dirty="0">
                <a:latin typeface="Times New Roman"/>
                <a:cs typeface="Times New Roman"/>
              </a:rPr>
              <a:t> </a:t>
            </a:r>
            <a:r>
              <a:rPr sz="1400" spc="-10" dirty="0">
                <a:latin typeface="Times New Roman"/>
                <a:cs typeface="Times New Roman"/>
              </a:rPr>
              <a:t>object’s</a:t>
            </a:r>
            <a:r>
              <a:rPr sz="1400" spc="-30" dirty="0">
                <a:latin typeface="Times New Roman"/>
                <a:cs typeface="Times New Roman"/>
              </a:rPr>
              <a:t> </a:t>
            </a:r>
            <a:r>
              <a:rPr sz="1400" spc="-10" dirty="0">
                <a:latin typeface="Times New Roman"/>
                <a:cs typeface="Times New Roman"/>
              </a:rPr>
              <a:t>location.</a:t>
            </a:r>
            <a:endParaRPr sz="1400">
              <a:latin typeface="Times New Roman"/>
              <a:cs typeface="Times New Roman"/>
            </a:endParaRPr>
          </a:p>
          <a:p>
            <a:pPr marL="228600" indent="-142875">
              <a:lnSpc>
                <a:spcPct val="100000"/>
              </a:lnSpc>
              <a:spcBef>
                <a:spcPts val="1235"/>
              </a:spcBef>
              <a:buClr>
                <a:srgbClr val="E38312"/>
              </a:buClr>
              <a:buSzPct val="92857"/>
              <a:buFont typeface="Wingdings"/>
              <a:buChar char=""/>
              <a:tabLst>
                <a:tab pos="228600" algn="l"/>
              </a:tabLst>
            </a:pPr>
            <a:r>
              <a:rPr sz="1400" dirty="0">
                <a:latin typeface="Times New Roman"/>
                <a:cs typeface="Times New Roman"/>
              </a:rPr>
              <a:t>Here,</a:t>
            </a:r>
            <a:r>
              <a:rPr sz="1400" spc="-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(x,</a:t>
            </a:r>
            <a:r>
              <a:rPr sz="1400" spc="-5" dirty="0">
                <a:latin typeface="Times New Roman"/>
                <a:cs typeface="Times New Roman"/>
              </a:rPr>
              <a:t> </a:t>
            </a:r>
            <a:r>
              <a:rPr sz="1400" spc="-10" dirty="0">
                <a:latin typeface="Times New Roman"/>
                <a:cs typeface="Times New Roman"/>
              </a:rPr>
              <a:t>y)=(0,0)</a:t>
            </a:r>
            <a:endParaRPr sz="1400">
              <a:latin typeface="Times New Roman"/>
              <a:cs typeface="Times New Roman"/>
            </a:endParaRPr>
          </a:p>
          <a:p>
            <a:pPr marL="309245" indent="-220345">
              <a:lnSpc>
                <a:spcPct val="100000"/>
              </a:lnSpc>
              <a:spcBef>
                <a:spcPts val="1355"/>
              </a:spcBef>
              <a:buClr>
                <a:srgbClr val="E38312"/>
              </a:buClr>
              <a:buSzPct val="92857"/>
              <a:buFont typeface="Wingdings"/>
              <a:buChar char=""/>
              <a:tabLst>
                <a:tab pos="309245" algn="l"/>
                <a:tab pos="847725" algn="l"/>
              </a:tabLst>
            </a:pPr>
            <a:r>
              <a:rPr sz="1400" dirty="0">
                <a:latin typeface="Cambria Math"/>
                <a:cs typeface="Cambria Math"/>
              </a:rPr>
              <a:t>𝑡</a:t>
            </a:r>
            <a:r>
              <a:rPr sz="1500" baseline="-16666" dirty="0">
                <a:latin typeface="Cambria Math"/>
                <a:cs typeface="Cambria Math"/>
              </a:rPr>
              <a:t>𝑥</a:t>
            </a:r>
            <a:r>
              <a:rPr sz="1400" dirty="0">
                <a:latin typeface="Cambria Math"/>
                <a:cs typeface="Cambria Math"/>
              </a:rPr>
              <a:t>,</a:t>
            </a:r>
            <a:r>
              <a:rPr sz="1400" spc="25" dirty="0">
                <a:latin typeface="Cambria Math"/>
                <a:cs typeface="Cambria Math"/>
              </a:rPr>
              <a:t> </a:t>
            </a:r>
            <a:r>
              <a:rPr sz="1400" spc="-25" dirty="0">
                <a:latin typeface="Cambria Math"/>
                <a:cs typeface="Cambria Math"/>
              </a:rPr>
              <a:t>𝑡</a:t>
            </a:r>
            <a:r>
              <a:rPr sz="1500" spc="-37" baseline="-16666" dirty="0">
                <a:latin typeface="Cambria Math"/>
                <a:cs typeface="Cambria Math"/>
              </a:rPr>
              <a:t>𝑦</a:t>
            </a:r>
            <a:r>
              <a:rPr sz="1500" baseline="-16666" dirty="0">
                <a:latin typeface="Cambria Math"/>
                <a:cs typeface="Cambria Math"/>
              </a:rPr>
              <a:t>	</a:t>
            </a:r>
            <a:r>
              <a:rPr sz="1400" dirty="0">
                <a:latin typeface="Cambria Math"/>
                <a:cs typeface="Cambria Math"/>
              </a:rPr>
              <a:t>=</a:t>
            </a:r>
            <a:r>
              <a:rPr sz="1400" spc="70" dirty="0">
                <a:latin typeface="Cambria Math"/>
                <a:cs typeface="Cambria Math"/>
              </a:rPr>
              <a:t> </a:t>
            </a:r>
            <a:r>
              <a:rPr sz="1400" dirty="0">
                <a:latin typeface="Cambria Math"/>
                <a:cs typeface="Cambria Math"/>
              </a:rPr>
              <a:t>(15,</a:t>
            </a:r>
            <a:r>
              <a:rPr sz="1400" spc="-85" dirty="0">
                <a:latin typeface="Cambria Math"/>
                <a:cs typeface="Cambria Math"/>
              </a:rPr>
              <a:t> </a:t>
            </a:r>
            <a:r>
              <a:rPr sz="1400" spc="-25" dirty="0">
                <a:latin typeface="Cambria Math"/>
                <a:cs typeface="Cambria Math"/>
              </a:rPr>
              <a:t>13)</a:t>
            </a:r>
            <a:endParaRPr sz="1400">
              <a:latin typeface="Cambria Math"/>
              <a:cs typeface="Cambria Math"/>
            </a:endParaRPr>
          </a:p>
          <a:p>
            <a:pPr>
              <a:lnSpc>
                <a:spcPct val="100000"/>
              </a:lnSpc>
              <a:spcBef>
                <a:spcPts val="700"/>
              </a:spcBef>
            </a:pPr>
            <a:endParaRPr sz="1400">
              <a:latin typeface="Cambria Math"/>
              <a:cs typeface="Cambria Math"/>
            </a:endParaRPr>
          </a:p>
          <a:p>
            <a:pPr marL="179705">
              <a:lnSpc>
                <a:spcPts val="2030"/>
              </a:lnSpc>
            </a:pPr>
            <a:r>
              <a:rPr sz="1800" spc="-10" dirty="0">
                <a:latin typeface="Cambria Math"/>
                <a:cs typeface="Cambria Math"/>
              </a:rPr>
              <a:t>Here,</a:t>
            </a:r>
            <a:endParaRPr sz="1800">
              <a:latin typeface="Cambria Math"/>
              <a:cs typeface="Cambria Math"/>
            </a:endParaRPr>
          </a:p>
          <a:p>
            <a:pPr marR="654685" algn="r">
              <a:lnSpc>
                <a:spcPts val="2030"/>
              </a:lnSpc>
              <a:tabLst>
                <a:tab pos="354965" algn="l"/>
                <a:tab pos="714375" algn="l"/>
              </a:tabLst>
            </a:pPr>
            <a:r>
              <a:rPr sz="1800" spc="-50" dirty="0">
                <a:latin typeface="Cambria Math"/>
                <a:cs typeface="Cambria Math"/>
              </a:rPr>
              <a:t>1</a:t>
            </a:r>
            <a:r>
              <a:rPr sz="1800" dirty="0">
                <a:latin typeface="Cambria Math"/>
                <a:cs typeface="Cambria Math"/>
              </a:rPr>
              <a:t>	</a:t>
            </a:r>
            <a:r>
              <a:rPr sz="1800" spc="-50" dirty="0">
                <a:latin typeface="Cambria Math"/>
                <a:cs typeface="Cambria Math"/>
              </a:rPr>
              <a:t>0</a:t>
            </a:r>
            <a:r>
              <a:rPr sz="1800" dirty="0">
                <a:latin typeface="Cambria Math"/>
                <a:cs typeface="Cambria Math"/>
              </a:rPr>
              <a:t>	</a:t>
            </a:r>
            <a:r>
              <a:rPr sz="1800" spc="-25" dirty="0">
                <a:latin typeface="Cambria Math"/>
                <a:cs typeface="Cambria Math"/>
              </a:rPr>
              <a:t>𝑡</a:t>
            </a:r>
            <a:r>
              <a:rPr sz="1950" spc="-37" baseline="-14957" dirty="0">
                <a:latin typeface="Cambria Math"/>
                <a:cs typeface="Cambria Math"/>
              </a:rPr>
              <a:t>𝑥</a:t>
            </a:r>
            <a:endParaRPr sz="1950" baseline="-14957">
              <a:latin typeface="Cambria Math"/>
              <a:cs typeface="Cambria Math"/>
            </a:endParaRPr>
          </a:p>
          <a:p>
            <a:pPr marR="650875" algn="r">
              <a:lnSpc>
                <a:spcPct val="100000"/>
              </a:lnSpc>
              <a:spcBef>
                <a:spcPts val="40"/>
              </a:spcBef>
              <a:tabLst>
                <a:tab pos="591185" algn="l"/>
                <a:tab pos="946150" algn="l"/>
                <a:tab pos="1302385" algn="l"/>
              </a:tabLst>
            </a:pPr>
            <a:r>
              <a:rPr sz="1800" dirty="0">
                <a:latin typeface="Cambria Math"/>
                <a:cs typeface="Cambria Math"/>
              </a:rPr>
              <a:t>𝑀</a:t>
            </a:r>
            <a:r>
              <a:rPr sz="1800" spc="135" dirty="0">
                <a:latin typeface="Cambria Math"/>
                <a:cs typeface="Cambria Math"/>
              </a:rPr>
              <a:t> </a:t>
            </a:r>
            <a:r>
              <a:rPr sz="1800" spc="-50" dirty="0">
                <a:latin typeface="Cambria Math"/>
                <a:cs typeface="Cambria Math"/>
              </a:rPr>
              <a:t>=</a:t>
            </a:r>
            <a:r>
              <a:rPr sz="1800" dirty="0">
                <a:latin typeface="Cambria Math"/>
                <a:cs typeface="Cambria Math"/>
              </a:rPr>
              <a:t>	</a:t>
            </a:r>
            <a:r>
              <a:rPr sz="2700" spc="-75" baseline="1543" dirty="0">
                <a:latin typeface="Cambria Math"/>
                <a:cs typeface="Cambria Math"/>
              </a:rPr>
              <a:t>0</a:t>
            </a:r>
            <a:r>
              <a:rPr sz="2700" baseline="1543" dirty="0">
                <a:latin typeface="Cambria Math"/>
                <a:cs typeface="Cambria Math"/>
              </a:rPr>
              <a:t>	</a:t>
            </a:r>
            <a:r>
              <a:rPr sz="2700" spc="-75" baseline="1543" dirty="0">
                <a:latin typeface="Cambria Math"/>
                <a:cs typeface="Cambria Math"/>
              </a:rPr>
              <a:t>1</a:t>
            </a:r>
            <a:r>
              <a:rPr sz="2700" baseline="1543" dirty="0">
                <a:latin typeface="Cambria Math"/>
                <a:cs typeface="Cambria Math"/>
              </a:rPr>
              <a:t>	</a:t>
            </a:r>
            <a:r>
              <a:rPr sz="2700" spc="-37" baseline="1543" dirty="0">
                <a:latin typeface="Cambria Math"/>
                <a:cs typeface="Cambria Math"/>
              </a:rPr>
              <a:t>𝑡</a:t>
            </a:r>
            <a:r>
              <a:rPr sz="1950" spc="-37" baseline="-14957" dirty="0">
                <a:latin typeface="Cambria Math"/>
                <a:cs typeface="Cambria Math"/>
              </a:rPr>
              <a:t>𝑦</a:t>
            </a:r>
            <a:endParaRPr sz="1950" baseline="-14957">
              <a:latin typeface="Cambria Math"/>
              <a:cs typeface="Cambria Math"/>
            </a:endParaRPr>
          </a:p>
          <a:p>
            <a:pPr marR="677545" algn="r">
              <a:lnSpc>
                <a:spcPct val="100000"/>
              </a:lnSpc>
              <a:spcBef>
                <a:spcPts val="215"/>
              </a:spcBef>
              <a:tabLst>
                <a:tab pos="354965" algn="l"/>
                <a:tab pos="751205" algn="l"/>
              </a:tabLst>
            </a:pPr>
            <a:r>
              <a:rPr sz="1800" spc="-50" dirty="0">
                <a:latin typeface="Cambria Math"/>
                <a:cs typeface="Cambria Math"/>
              </a:rPr>
              <a:t>0</a:t>
            </a:r>
            <a:r>
              <a:rPr sz="1800" dirty="0">
                <a:latin typeface="Cambria Math"/>
                <a:cs typeface="Cambria Math"/>
              </a:rPr>
              <a:t>	</a:t>
            </a:r>
            <a:r>
              <a:rPr sz="1800" spc="-50" dirty="0">
                <a:latin typeface="Cambria Math"/>
                <a:cs typeface="Cambria Math"/>
              </a:rPr>
              <a:t>0</a:t>
            </a:r>
            <a:r>
              <a:rPr sz="1800" dirty="0">
                <a:latin typeface="Cambria Math"/>
                <a:cs typeface="Cambria Math"/>
              </a:rPr>
              <a:t>	</a:t>
            </a:r>
            <a:r>
              <a:rPr sz="1800" spc="-50" dirty="0">
                <a:latin typeface="Cambria Math"/>
                <a:cs typeface="Cambria Math"/>
              </a:rPr>
              <a:t>1</a:t>
            </a:r>
            <a:endParaRPr sz="1800">
              <a:latin typeface="Cambria Math"/>
              <a:cs typeface="Cambria Math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264410" y="4905197"/>
            <a:ext cx="15684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latin typeface="Cambria Math"/>
                <a:cs typeface="Cambria Math"/>
              </a:rPr>
              <a:t>𝑢</a:t>
            </a:r>
            <a:endParaRPr sz="1800">
              <a:latin typeface="Cambria Math"/>
              <a:cs typeface="Cambria Math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3636772" y="4888229"/>
            <a:ext cx="60960" cy="676910"/>
          </a:xfrm>
          <a:custGeom>
            <a:avLst/>
            <a:gdLst/>
            <a:ahLst/>
            <a:cxnLst/>
            <a:rect l="l" t="t" r="r" b="b"/>
            <a:pathLst>
              <a:path w="60960" h="676910">
                <a:moveTo>
                  <a:pt x="60706" y="0"/>
                </a:moveTo>
                <a:lnTo>
                  <a:pt x="0" y="0"/>
                </a:lnTo>
                <a:lnTo>
                  <a:pt x="0" y="10160"/>
                </a:lnTo>
                <a:lnTo>
                  <a:pt x="37719" y="10160"/>
                </a:lnTo>
                <a:lnTo>
                  <a:pt x="37719" y="666750"/>
                </a:lnTo>
                <a:lnTo>
                  <a:pt x="0" y="666750"/>
                </a:lnTo>
                <a:lnTo>
                  <a:pt x="0" y="676910"/>
                </a:lnTo>
                <a:lnTo>
                  <a:pt x="60706" y="676910"/>
                </a:lnTo>
                <a:lnTo>
                  <a:pt x="60706" y="666750"/>
                </a:lnTo>
                <a:lnTo>
                  <a:pt x="60706" y="10160"/>
                </a:lnTo>
                <a:lnTo>
                  <a:pt x="60706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2648204" y="4888229"/>
            <a:ext cx="60960" cy="676910"/>
          </a:xfrm>
          <a:custGeom>
            <a:avLst/>
            <a:gdLst/>
            <a:ahLst/>
            <a:cxnLst/>
            <a:rect l="l" t="t" r="r" b="b"/>
            <a:pathLst>
              <a:path w="60960" h="676910">
                <a:moveTo>
                  <a:pt x="60833" y="0"/>
                </a:moveTo>
                <a:lnTo>
                  <a:pt x="0" y="0"/>
                </a:lnTo>
                <a:lnTo>
                  <a:pt x="0" y="10160"/>
                </a:lnTo>
                <a:lnTo>
                  <a:pt x="0" y="666750"/>
                </a:lnTo>
                <a:lnTo>
                  <a:pt x="0" y="676910"/>
                </a:lnTo>
                <a:lnTo>
                  <a:pt x="60833" y="676910"/>
                </a:lnTo>
                <a:lnTo>
                  <a:pt x="60833" y="666750"/>
                </a:lnTo>
                <a:lnTo>
                  <a:pt x="22987" y="666750"/>
                </a:lnTo>
                <a:lnTo>
                  <a:pt x="22987" y="10160"/>
                </a:lnTo>
                <a:lnTo>
                  <a:pt x="60833" y="10160"/>
                </a:lnTo>
                <a:lnTo>
                  <a:pt x="6083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2159761" y="5051501"/>
            <a:ext cx="72009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mbria Math"/>
                <a:cs typeface="Cambria Math"/>
              </a:rPr>
              <a:t>[</a:t>
            </a:r>
            <a:r>
              <a:rPr sz="2700" baseline="-29320" dirty="0">
                <a:latin typeface="Cambria Math"/>
                <a:cs typeface="Cambria Math"/>
              </a:rPr>
              <a:t>𝑣</a:t>
            </a:r>
            <a:r>
              <a:rPr sz="1800" dirty="0">
                <a:latin typeface="Cambria Math"/>
                <a:cs typeface="Cambria Math"/>
              </a:rPr>
              <a:t>]</a:t>
            </a:r>
            <a:r>
              <a:rPr sz="1800" dirty="0">
                <a:latin typeface="Times New Roman"/>
                <a:cs typeface="Times New Roman"/>
              </a:rPr>
              <a:t>=</a:t>
            </a:r>
            <a:r>
              <a:rPr sz="1800" spc="350" dirty="0">
                <a:latin typeface="Times New Roman"/>
                <a:cs typeface="Times New Roman"/>
              </a:rPr>
              <a:t> </a:t>
            </a:r>
            <a:r>
              <a:rPr sz="2700" spc="-75" baseline="1543" dirty="0">
                <a:latin typeface="Cambria Math"/>
                <a:cs typeface="Cambria Math"/>
              </a:rPr>
              <a:t>0</a:t>
            </a:r>
            <a:endParaRPr sz="2700" baseline="1543">
              <a:latin typeface="Cambria Math"/>
              <a:cs typeface="Cambria Math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2650998" y="4772914"/>
            <a:ext cx="1336040" cy="88074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63500">
              <a:lnSpc>
                <a:spcPct val="100000"/>
              </a:lnSpc>
              <a:spcBef>
                <a:spcPts val="100"/>
              </a:spcBef>
              <a:tabLst>
                <a:tab pos="418465" algn="l"/>
                <a:tab pos="777875" algn="l"/>
              </a:tabLst>
            </a:pPr>
            <a:r>
              <a:rPr sz="1800" spc="-50" dirty="0">
                <a:latin typeface="Cambria Math"/>
                <a:cs typeface="Cambria Math"/>
              </a:rPr>
              <a:t>1</a:t>
            </a:r>
            <a:r>
              <a:rPr sz="1800" dirty="0">
                <a:latin typeface="Cambria Math"/>
                <a:cs typeface="Cambria Math"/>
              </a:rPr>
              <a:t>	</a:t>
            </a:r>
            <a:r>
              <a:rPr sz="1800" spc="-50" dirty="0">
                <a:latin typeface="Cambria Math"/>
                <a:cs typeface="Cambria Math"/>
              </a:rPr>
              <a:t>0</a:t>
            </a:r>
            <a:r>
              <a:rPr sz="1800" dirty="0">
                <a:latin typeface="Cambria Math"/>
                <a:cs typeface="Cambria Math"/>
              </a:rPr>
              <a:t>	</a:t>
            </a:r>
            <a:r>
              <a:rPr sz="1800" spc="-25" dirty="0">
                <a:latin typeface="Cambria Math"/>
                <a:cs typeface="Cambria Math"/>
              </a:rPr>
              <a:t>𝑡</a:t>
            </a:r>
            <a:r>
              <a:rPr sz="1950" spc="-37" baseline="-14957" dirty="0">
                <a:latin typeface="Cambria Math"/>
                <a:cs typeface="Cambria Math"/>
              </a:rPr>
              <a:t>𝑥</a:t>
            </a:r>
            <a:endParaRPr sz="1950" baseline="-14957">
              <a:latin typeface="Cambria Math"/>
              <a:cs typeface="Cambria Math"/>
            </a:endParaRPr>
          </a:p>
          <a:p>
            <a:pPr marL="418465">
              <a:lnSpc>
                <a:spcPct val="100000"/>
              </a:lnSpc>
              <a:spcBef>
                <a:spcPts val="35"/>
              </a:spcBef>
              <a:tabLst>
                <a:tab pos="773430" algn="l"/>
                <a:tab pos="1174115" algn="l"/>
              </a:tabLst>
            </a:pPr>
            <a:r>
              <a:rPr sz="2700" spc="-75" baseline="1543" dirty="0">
                <a:latin typeface="Cambria Math"/>
                <a:cs typeface="Cambria Math"/>
              </a:rPr>
              <a:t>1</a:t>
            </a:r>
            <a:r>
              <a:rPr sz="2700" baseline="1543" dirty="0">
                <a:latin typeface="Cambria Math"/>
                <a:cs typeface="Cambria Math"/>
              </a:rPr>
              <a:t>	</a:t>
            </a:r>
            <a:r>
              <a:rPr sz="2700" spc="-37" baseline="1543" dirty="0">
                <a:latin typeface="Cambria Math"/>
                <a:cs typeface="Cambria Math"/>
              </a:rPr>
              <a:t>𝑡</a:t>
            </a:r>
            <a:r>
              <a:rPr sz="1950" spc="-37" baseline="-14957" dirty="0">
                <a:latin typeface="Cambria Math"/>
                <a:cs typeface="Cambria Math"/>
              </a:rPr>
              <a:t>𝑦</a:t>
            </a:r>
            <a:r>
              <a:rPr sz="1950" baseline="-14957" dirty="0">
                <a:latin typeface="Cambria Math"/>
                <a:cs typeface="Cambria Math"/>
              </a:rPr>
              <a:t>	</a:t>
            </a:r>
            <a:r>
              <a:rPr sz="1800" spc="-50" dirty="0">
                <a:latin typeface="Cambria Math"/>
                <a:cs typeface="Cambria Math"/>
              </a:rPr>
              <a:t>∗</a:t>
            </a:r>
            <a:endParaRPr sz="1800">
              <a:latin typeface="Cambria Math"/>
              <a:cs typeface="Cambria Math"/>
            </a:endParaRPr>
          </a:p>
          <a:p>
            <a:pPr marL="63500">
              <a:lnSpc>
                <a:spcPct val="100000"/>
              </a:lnSpc>
              <a:spcBef>
                <a:spcPts val="219"/>
              </a:spcBef>
              <a:tabLst>
                <a:tab pos="418465" algn="l"/>
                <a:tab pos="814705" algn="l"/>
              </a:tabLst>
            </a:pPr>
            <a:r>
              <a:rPr sz="1800" spc="-50" dirty="0">
                <a:latin typeface="Cambria Math"/>
                <a:cs typeface="Cambria Math"/>
              </a:rPr>
              <a:t>0</a:t>
            </a:r>
            <a:r>
              <a:rPr sz="1800" dirty="0">
                <a:latin typeface="Cambria Math"/>
                <a:cs typeface="Cambria Math"/>
              </a:rPr>
              <a:t>	</a:t>
            </a:r>
            <a:r>
              <a:rPr sz="1800" spc="-50" dirty="0">
                <a:latin typeface="Cambria Math"/>
                <a:cs typeface="Cambria Math"/>
              </a:rPr>
              <a:t>0</a:t>
            </a:r>
            <a:r>
              <a:rPr sz="1800" dirty="0">
                <a:latin typeface="Cambria Math"/>
                <a:cs typeface="Cambria Math"/>
              </a:rPr>
              <a:t>	</a:t>
            </a:r>
            <a:r>
              <a:rPr sz="1800" spc="-50" dirty="0">
                <a:latin typeface="Cambria Math"/>
                <a:cs typeface="Cambria Math"/>
              </a:rPr>
              <a:t>1</a:t>
            </a:r>
            <a:endParaRPr sz="1800">
              <a:latin typeface="Cambria Math"/>
              <a:cs typeface="Cambria Math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4266184" y="4888229"/>
            <a:ext cx="60960" cy="676910"/>
          </a:xfrm>
          <a:custGeom>
            <a:avLst/>
            <a:gdLst/>
            <a:ahLst/>
            <a:cxnLst/>
            <a:rect l="l" t="t" r="r" b="b"/>
            <a:pathLst>
              <a:path w="60960" h="676910">
                <a:moveTo>
                  <a:pt x="60706" y="0"/>
                </a:moveTo>
                <a:lnTo>
                  <a:pt x="0" y="0"/>
                </a:lnTo>
                <a:lnTo>
                  <a:pt x="0" y="10160"/>
                </a:lnTo>
                <a:lnTo>
                  <a:pt x="37719" y="10160"/>
                </a:lnTo>
                <a:lnTo>
                  <a:pt x="37719" y="666750"/>
                </a:lnTo>
                <a:lnTo>
                  <a:pt x="0" y="666750"/>
                </a:lnTo>
                <a:lnTo>
                  <a:pt x="0" y="676910"/>
                </a:lnTo>
                <a:lnTo>
                  <a:pt x="60706" y="676910"/>
                </a:lnTo>
                <a:lnTo>
                  <a:pt x="60706" y="666750"/>
                </a:lnTo>
                <a:lnTo>
                  <a:pt x="60706" y="10160"/>
                </a:lnTo>
                <a:lnTo>
                  <a:pt x="60706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4062476" y="4888229"/>
            <a:ext cx="60960" cy="676910"/>
          </a:xfrm>
          <a:custGeom>
            <a:avLst/>
            <a:gdLst/>
            <a:ahLst/>
            <a:cxnLst/>
            <a:rect l="l" t="t" r="r" b="b"/>
            <a:pathLst>
              <a:path w="60960" h="676910">
                <a:moveTo>
                  <a:pt x="60833" y="0"/>
                </a:moveTo>
                <a:lnTo>
                  <a:pt x="0" y="0"/>
                </a:lnTo>
                <a:lnTo>
                  <a:pt x="0" y="10160"/>
                </a:lnTo>
                <a:lnTo>
                  <a:pt x="0" y="666750"/>
                </a:lnTo>
                <a:lnTo>
                  <a:pt x="0" y="676910"/>
                </a:lnTo>
                <a:lnTo>
                  <a:pt x="60833" y="676910"/>
                </a:lnTo>
                <a:lnTo>
                  <a:pt x="60833" y="666750"/>
                </a:lnTo>
                <a:lnTo>
                  <a:pt x="22987" y="666750"/>
                </a:lnTo>
                <a:lnTo>
                  <a:pt x="22987" y="10160"/>
                </a:lnTo>
                <a:lnTo>
                  <a:pt x="60833" y="10160"/>
                </a:lnTo>
                <a:lnTo>
                  <a:pt x="6083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4116451" y="4768342"/>
            <a:ext cx="155575" cy="8445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3970">
              <a:lnSpc>
                <a:spcPts val="2135"/>
              </a:lnSpc>
              <a:spcBef>
                <a:spcPts val="100"/>
              </a:spcBef>
            </a:pPr>
            <a:r>
              <a:rPr sz="1800" spc="-50" dirty="0">
                <a:latin typeface="Cambria Math"/>
                <a:cs typeface="Cambria Math"/>
              </a:rPr>
              <a:t>𝑥</a:t>
            </a:r>
            <a:endParaRPr sz="1800">
              <a:latin typeface="Cambria Math"/>
              <a:cs typeface="Cambria Math"/>
            </a:endParaRPr>
          </a:p>
          <a:p>
            <a:pPr marL="12700">
              <a:lnSpc>
                <a:spcPts val="2135"/>
              </a:lnSpc>
            </a:pPr>
            <a:r>
              <a:rPr sz="1800" spc="-50" dirty="0">
                <a:latin typeface="Cambria Math"/>
                <a:cs typeface="Cambria Math"/>
              </a:rPr>
              <a:t>𝑦</a:t>
            </a:r>
            <a:endParaRPr sz="1800">
              <a:latin typeface="Cambria Math"/>
              <a:cs typeface="Cambria Math"/>
            </a:endParaRPr>
          </a:p>
          <a:p>
            <a:pPr marL="15240">
              <a:lnSpc>
                <a:spcPct val="100000"/>
              </a:lnSpc>
              <a:spcBef>
                <a:spcPts val="15"/>
              </a:spcBef>
            </a:pPr>
            <a:r>
              <a:rPr sz="1800" spc="-50" dirty="0">
                <a:latin typeface="Cambria Math"/>
                <a:cs typeface="Cambria Math"/>
              </a:rPr>
              <a:t>1</a:t>
            </a:r>
            <a:endParaRPr sz="1800">
              <a:latin typeface="Cambria Math"/>
              <a:cs typeface="Cambria Math"/>
            </a:endParaRPr>
          </a:p>
        </p:txBody>
      </p:sp>
      <p:sp>
        <p:nvSpPr>
          <p:cNvPr id="16" name="object 16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dirty="0"/>
              <a:t>23</a:t>
            </a:r>
            <a:r>
              <a:rPr spc="-5" dirty="0"/>
              <a:t> </a:t>
            </a:r>
            <a:r>
              <a:rPr dirty="0"/>
              <a:t>May</a:t>
            </a:r>
            <a:r>
              <a:rPr spc="-5" dirty="0"/>
              <a:t> </a:t>
            </a:r>
            <a:r>
              <a:rPr spc="-20" dirty="0"/>
              <a:t>2024</a:t>
            </a:r>
          </a:p>
        </p:txBody>
      </p:sp>
      <p:sp>
        <p:nvSpPr>
          <p:cNvPr id="17" name="object 17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pc="-10" dirty="0"/>
              <a:t>MATHEMATICAL</a:t>
            </a:r>
            <a:r>
              <a:rPr spc="10" dirty="0"/>
              <a:t> </a:t>
            </a:r>
            <a:r>
              <a:rPr dirty="0"/>
              <a:t>TOOLS</a:t>
            </a:r>
            <a:r>
              <a:rPr spc="-15" dirty="0"/>
              <a:t> </a:t>
            </a:r>
            <a:r>
              <a:rPr dirty="0"/>
              <a:t>USED</a:t>
            </a:r>
            <a:r>
              <a:rPr spc="-30" dirty="0"/>
              <a:t> </a:t>
            </a:r>
            <a:r>
              <a:rPr dirty="0"/>
              <a:t>IN</a:t>
            </a:r>
            <a:r>
              <a:rPr spc="-30" dirty="0"/>
              <a:t> </a:t>
            </a:r>
            <a:r>
              <a:rPr dirty="0"/>
              <a:t>DIGITAL</a:t>
            </a:r>
            <a:r>
              <a:rPr spc="5" dirty="0"/>
              <a:t> </a:t>
            </a:r>
            <a:r>
              <a:rPr dirty="0"/>
              <a:t>IMAGE</a:t>
            </a:r>
            <a:r>
              <a:rPr spc="-5" dirty="0"/>
              <a:t> </a:t>
            </a:r>
            <a:r>
              <a:rPr spc="-10" dirty="0"/>
              <a:t>PROCESSING</a:t>
            </a:r>
          </a:p>
        </p:txBody>
      </p:sp>
      <p:sp>
        <p:nvSpPr>
          <p:cNvPr id="18" name="object 1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55"/>
              </a:lnSpc>
            </a:pPr>
            <a:fld id="{81D60167-4931-47E6-BA6A-407CBD079E47}" type="slidenum">
              <a:rPr spc="-25" dirty="0"/>
              <a:t>35</a:t>
            </a:fld>
            <a:endParaRPr spc="-25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35" dirty="0"/>
              <a:t>Spatial</a:t>
            </a:r>
            <a:r>
              <a:rPr spc="-240" dirty="0"/>
              <a:t> </a:t>
            </a:r>
            <a:r>
              <a:rPr spc="-35" dirty="0"/>
              <a:t>Operations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019" y="1836546"/>
            <a:ext cx="4736465" cy="1105535"/>
          </a:xfrm>
          <a:prstGeom prst="rect">
            <a:avLst/>
          </a:prstGeom>
        </p:spPr>
        <p:txBody>
          <a:bodyPr vert="horz" wrap="square" lIns="0" tIns="165100" rIns="0" bIns="0" rtlCol="0">
            <a:spAutoFit/>
          </a:bodyPr>
          <a:lstStyle/>
          <a:p>
            <a:pPr marL="298450" indent="-285750">
              <a:lnSpc>
                <a:spcPct val="100000"/>
              </a:lnSpc>
              <a:spcBef>
                <a:spcPts val="1300"/>
              </a:spcBef>
              <a:buFont typeface="Wingdings"/>
              <a:buChar char=""/>
              <a:tabLst>
                <a:tab pos="298450" algn="l"/>
              </a:tabLst>
            </a:pPr>
            <a:r>
              <a:rPr sz="1800" b="1" dirty="0">
                <a:latin typeface="Times New Roman"/>
                <a:cs typeface="Times New Roman"/>
              </a:rPr>
              <a:t>Geometric</a:t>
            </a:r>
            <a:r>
              <a:rPr sz="1800" b="1" spc="-85" dirty="0">
                <a:latin typeface="Times New Roman"/>
                <a:cs typeface="Times New Roman"/>
              </a:rPr>
              <a:t> </a:t>
            </a:r>
            <a:r>
              <a:rPr sz="1800" b="1" dirty="0">
                <a:latin typeface="Times New Roman"/>
                <a:cs typeface="Times New Roman"/>
              </a:rPr>
              <a:t>spatial</a:t>
            </a:r>
            <a:r>
              <a:rPr sz="1800" b="1" spc="-55" dirty="0">
                <a:latin typeface="Times New Roman"/>
                <a:cs typeface="Times New Roman"/>
              </a:rPr>
              <a:t> </a:t>
            </a:r>
            <a:r>
              <a:rPr sz="1800" b="1" dirty="0">
                <a:latin typeface="Times New Roman"/>
                <a:cs typeface="Times New Roman"/>
              </a:rPr>
              <a:t>transformations</a:t>
            </a:r>
            <a:r>
              <a:rPr sz="1800" b="1" spc="-60" dirty="0">
                <a:latin typeface="Times New Roman"/>
                <a:cs typeface="Times New Roman"/>
              </a:rPr>
              <a:t> </a:t>
            </a:r>
            <a:r>
              <a:rPr sz="1800" b="1" spc="-10" dirty="0">
                <a:latin typeface="Times New Roman"/>
                <a:cs typeface="Times New Roman"/>
              </a:rPr>
              <a:t>(Rotation)</a:t>
            </a:r>
            <a:endParaRPr sz="1800">
              <a:latin typeface="Times New Roman"/>
              <a:cs typeface="Times New Roman"/>
            </a:endParaRPr>
          </a:p>
          <a:p>
            <a:pPr marL="299085" indent="-286385">
              <a:lnSpc>
                <a:spcPct val="100000"/>
              </a:lnSpc>
              <a:spcBef>
                <a:spcPts val="940"/>
              </a:spcBef>
              <a:buChar char="-"/>
              <a:tabLst>
                <a:tab pos="299085" algn="l"/>
              </a:tabLst>
            </a:pPr>
            <a:r>
              <a:rPr sz="1400" dirty="0">
                <a:latin typeface="Times New Roman"/>
                <a:cs typeface="Times New Roman"/>
              </a:rPr>
              <a:t>It</a:t>
            </a:r>
            <a:r>
              <a:rPr sz="1400" spc="-2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rotates</a:t>
            </a:r>
            <a:r>
              <a:rPr sz="1400" spc="-3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an</a:t>
            </a:r>
            <a:r>
              <a:rPr sz="1400" spc="-1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image</a:t>
            </a:r>
            <a:r>
              <a:rPr sz="1400" spc="-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by</a:t>
            </a:r>
            <a:r>
              <a:rPr sz="1400" spc="-2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a</a:t>
            </a:r>
            <a:r>
              <a:rPr sz="1400" spc="-1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specified</a:t>
            </a:r>
            <a:r>
              <a:rPr sz="1400" spc="-40" dirty="0">
                <a:latin typeface="Times New Roman"/>
                <a:cs typeface="Times New Roman"/>
              </a:rPr>
              <a:t> </a:t>
            </a:r>
            <a:r>
              <a:rPr sz="1400" spc="-10" dirty="0">
                <a:latin typeface="Times New Roman"/>
                <a:cs typeface="Times New Roman"/>
              </a:rPr>
              <a:t>angle.</a:t>
            </a:r>
            <a:endParaRPr sz="1400">
              <a:latin typeface="Times New Roman"/>
              <a:cs typeface="Times New Roman"/>
            </a:endParaRPr>
          </a:p>
          <a:p>
            <a:pPr marL="299085" indent="-286385">
              <a:lnSpc>
                <a:spcPct val="100000"/>
              </a:lnSpc>
              <a:spcBef>
                <a:spcPts val="840"/>
              </a:spcBef>
              <a:buChar char="-"/>
              <a:tabLst>
                <a:tab pos="299085" algn="l"/>
              </a:tabLst>
            </a:pPr>
            <a:r>
              <a:rPr sz="1400" spc="-10" dirty="0">
                <a:latin typeface="Times New Roman"/>
                <a:cs typeface="Times New Roman"/>
              </a:rPr>
              <a:t>Here,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176019" y="3129152"/>
            <a:ext cx="85090" cy="2393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spc="-50" dirty="0">
                <a:latin typeface="Cambria Math"/>
                <a:cs typeface="Cambria Math"/>
              </a:rPr>
              <a:t>-</a:t>
            </a:r>
            <a:endParaRPr sz="1400">
              <a:latin typeface="Cambria Math"/>
              <a:cs typeface="Cambria Math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1649857" y="3121659"/>
            <a:ext cx="41910" cy="293370"/>
          </a:xfrm>
          <a:custGeom>
            <a:avLst/>
            <a:gdLst/>
            <a:ahLst/>
            <a:cxnLst/>
            <a:rect l="l" t="t" r="r" b="b"/>
            <a:pathLst>
              <a:path w="41910" h="293370">
                <a:moveTo>
                  <a:pt x="41402" y="0"/>
                </a:moveTo>
                <a:lnTo>
                  <a:pt x="0" y="0"/>
                </a:lnTo>
                <a:lnTo>
                  <a:pt x="0" y="7620"/>
                </a:lnTo>
                <a:lnTo>
                  <a:pt x="25273" y="7620"/>
                </a:lnTo>
                <a:lnTo>
                  <a:pt x="25273" y="285750"/>
                </a:lnTo>
                <a:lnTo>
                  <a:pt x="0" y="285750"/>
                </a:lnTo>
                <a:lnTo>
                  <a:pt x="0" y="293370"/>
                </a:lnTo>
                <a:lnTo>
                  <a:pt x="41402" y="293370"/>
                </a:lnTo>
                <a:lnTo>
                  <a:pt x="41402" y="285750"/>
                </a:lnTo>
                <a:lnTo>
                  <a:pt x="41402" y="7620"/>
                </a:lnTo>
                <a:lnTo>
                  <a:pt x="41402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1495044" y="3121659"/>
            <a:ext cx="41910" cy="293370"/>
          </a:xfrm>
          <a:custGeom>
            <a:avLst/>
            <a:gdLst/>
            <a:ahLst/>
            <a:cxnLst/>
            <a:rect l="l" t="t" r="r" b="b"/>
            <a:pathLst>
              <a:path w="41909" h="293370">
                <a:moveTo>
                  <a:pt x="41402" y="0"/>
                </a:moveTo>
                <a:lnTo>
                  <a:pt x="0" y="0"/>
                </a:lnTo>
                <a:lnTo>
                  <a:pt x="0" y="7620"/>
                </a:lnTo>
                <a:lnTo>
                  <a:pt x="0" y="285750"/>
                </a:lnTo>
                <a:lnTo>
                  <a:pt x="0" y="293370"/>
                </a:lnTo>
                <a:lnTo>
                  <a:pt x="41402" y="293370"/>
                </a:lnTo>
                <a:lnTo>
                  <a:pt x="41402" y="285750"/>
                </a:lnTo>
                <a:lnTo>
                  <a:pt x="16002" y="285750"/>
                </a:lnTo>
                <a:lnTo>
                  <a:pt x="16002" y="7620"/>
                </a:lnTo>
                <a:lnTo>
                  <a:pt x="41402" y="7620"/>
                </a:lnTo>
                <a:lnTo>
                  <a:pt x="41402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1526794" y="3014852"/>
            <a:ext cx="128270" cy="4483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ts val="1660"/>
              </a:lnSpc>
              <a:spcBef>
                <a:spcPts val="105"/>
              </a:spcBef>
            </a:pPr>
            <a:r>
              <a:rPr sz="1400" spc="-50" dirty="0">
                <a:latin typeface="Cambria Math"/>
                <a:cs typeface="Cambria Math"/>
              </a:rPr>
              <a:t>𝑢</a:t>
            </a:r>
            <a:endParaRPr sz="1400">
              <a:latin typeface="Cambria Math"/>
              <a:cs typeface="Cambria Math"/>
            </a:endParaRPr>
          </a:p>
          <a:p>
            <a:pPr marL="13970">
              <a:lnSpc>
                <a:spcPts val="1660"/>
              </a:lnSpc>
            </a:pPr>
            <a:r>
              <a:rPr sz="1400" spc="-50" dirty="0">
                <a:latin typeface="Cambria Math"/>
                <a:cs typeface="Cambria Math"/>
              </a:rPr>
              <a:t>𝑣</a:t>
            </a:r>
            <a:endParaRPr sz="1400">
              <a:latin typeface="Cambria Math"/>
              <a:cs typeface="Cambria Math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747773" y="3129152"/>
            <a:ext cx="158750" cy="2393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spc="-50" dirty="0">
                <a:latin typeface="Cambria Math"/>
                <a:cs typeface="Cambria Math"/>
              </a:rPr>
              <a:t>=</a:t>
            </a:r>
            <a:endParaRPr sz="1400">
              <a:latin typeface="Cambria Math"/>
              <a:cs typeface="Cambria Math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3315589" y="3006089"/>
            <a:ext cx="47625" cy="528320"/>
          </a:xfrm>
          <a:custGeom>
            <a:avLst/>
            <a:gdLst/>
            <a:ahLst/>
            <a:cxnLst/>
            <a:rect l="l" t="t" r="r" b="b"/>
            <a:pathLst>
              <a:path w="47625" h="528320">
                <a:moveTo>
                  <a:pt x="47371" y="0"/>
                </a:moveTo>
                <a:lnTo>
                  <a:pt x="0" y="0"/>
                </a:lnTo>
                <a:lnTo>
                  <a:pt x="0" y="7620"/>
                </a:lnTo>
                <a:lnTo>
                  <a:pt x="29464" y="7620"/>
                </a:lnTo>
                <a:lnTo>
                  <a:pt x="29464" y="519430"/>
                </a:lnTo>
                <a:lnTo>
                  <a:pt x="0" y="519430"/>
                </a:lnTo>
                <a:lnTo>
                  <a:pt x="0" y="528320"/>
                </a:lnTo>
                <a:lnTo>
                  <a:pt x="47371" y="528320"/>
                </a:lnTo>
                <a:lnTo>
                  <a:pt x="47371" y="519430"/>
                </a:lnTo>
                <a:lnTo>
                  <a:pt x="47371" y="7620"/>
                </a:lnTo>
                <a:lnTo>
                  <a:pt x="47371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1962912" y="3006089"/>
            <a:ext cx="47625" cy="528320"/>
          </a:xfrm>
          <a:custGeom>
            <a:avLst/>
            <a:gdLst/>
            <a:ahLst/>
            <a:cxnLst/>
            <a:rect l="l" t="t" r="r" b="b"/>
            <a:pathLst>
              <a:path w="47625" h="528320">
                <a:moveTo>
                  <a:pt x="47371" y="0"/>
                </a:moveTo>
                <a:lnTo>
                  <a:pt x="0" y="0"/>
                </a:lnTo>
                <a:lnTo>
                  <a:pt x="0" y="7620"/>
                </a:lnTo>
                <a:lnTo>
                  <a:pt x="0" y="519430"/>
                </a:lnTo>
                <a:lnTo>
                  <a:pt x="0" y="528320"/>
                </a:lnTo>
                <a:lnTo>
                  <a:pt x="47371" y="528320"/>
                </a:lnTo>
                <a:lnTo>
                  <a:pt x="47371" y="519430"/>
                </a:lnTo>
                <a:lnTo>
                  <a:pt x="18034" y="519430"/>
                </a:lnTo>
                <a:lnTo>
                  <a:pt x="18034" y="7620"/>
                </a:lnTo>
                <a:lnTo>
                  <a:pt x="47371" y="7620"/>
                </a:lnTo>
                <a:lnTo>
                  <a:pt x="47371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2000757" y="2929508"/>
            <a:ext cx="384810" cy="6572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ts val="1660"/>
              </a:lnSpc>
              <a:spcBef>
                <a:spcPts val="105"/>
              </a:spcBef>
            </a:pPr>
            <a:r>
              <a:rPr sz="1400" spc="-20" dirty="0">
                <a:latin typeface="Cambria Math"/>
                <a:cs typeface="Cambria Math"/>
              </a:rPr>
              <a:t>𝑐𝑜𝑠𝜃</a:t>
            </a:r>
            <a:endParaRPr sz="1400">
              <a:latin typeface="Cambria Math"/>
              <a:cs typeface="Cambria Math"/>
            </a:endParaRPr>
          </a:p>
          <a:p>
            <a:pPr marL="146685" marR="13335" indent="-123825">
              <a:lnSpc>
                <a:spcPts val="1639"/>
              </a:lnSpc>
              <a:spcBef>
                <a:spcPts val="70"/>
              </a:spcBef>
            </a:pPr>
            <a:r>
              <a:rPr sz="1400" spc="-20" dirty="0">
                <a:latin typeface="Cambria Math"/>
                <a:cs typeface="Cambria Math"/>
              </a:rPr>
              <a:t>𝑠𝑖𝑛𝜃 </a:t>
            </a:r>
            <a:r>
              <a:rPr sz="1400" spc="-50" dirty="0">
                <a:latin typeface="Cambria Math"/>
                <a:cs typeface="Cambria Math"/>
              </a:rPr>
              <a:t>0</a:t>
            </a:r>
            <a:endParaRPr sz="1400">
              <a:latin typeface="Cambria Math"/>
              <a:cs typeface="Cambria Math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2544826" y="2929508"/>
            <a:ext cx="779780" cy="6572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5080" algn="r">
              <a:lnSpc>
                <a:spcPts val="1660"/>
              </a:lnSpc>
              <a:spcBef>
                <a:spcPts val="105"/>
              </a:spcBef>
              <a:tabLst>
                <a:tab pos="654685" algn="l"/>
              </a:tabLst>
            </a:pPr>
            <a:r>
              <a:rPr sz="1400" spc="-10" dirty="0">
                <a:latin typeface="Cambria Math"/>
                <a:cs typeface="Cambria Math"/>
              </a:rPr>
              <a:t>−𝑠𝑖𝑛𝜃</a:t>
            </a:r>
            <a:r>
              <a:rPr sz="1400" dirty="0">
                <a:latin typeface="Cambria Math"/>
                <a:cs typeface="Cambria Math"/>
              </a:rPr>
              <a:t>	</a:t>
            </a:r>
            <a:r>
              <a:rPr sz="1400" spc="-50" dirty="0">
                <a:latin typeface="Cambria Math"/>
                <a:cs typeface="Cambria Math"/>
              </a:rPr>
              <a:t>0</a:t>
            </a:r>
            <a:endParaRPr sz="1400">
              <a:latin typeface="Cambria Math"/>
              <a:cs typeface="Cambria Math"/>
            </a:endParaRPr>
          </a:p>
          <a:p>
            <a:pPr marR="5080" algn="r">
              <a:lnSpc>
                <a:spcPts val="1645"/>
              </a:lnSpc>
              <a:tabLst>
                <a:tab pos="598805" algn="l"/>
              </a:tabLst>
            </a:pPr>
            <a:r>
              <a:rPr sz="1400" spc="-20" dirty="0">
                <a:latin typeface="Cambria Math"/>
                <a:cs typeface="Cambria Math"/>
              </a:rPr>
              <a:t>𝑐𝑜𝑠𝜃</a:t>
            </a:r>
            <a:r>
              <a:rPr sz="1400" dirty="0">
                <a:latin typeface="Cambria Math"/>
                <a:cs typeface="Cambria Math"/>
              </a:rPr>
              <a:t>	</a:t>
            </a:r>
            <a:r>
              <a:rPr sz="1400" spc="-50" dirty="0">
                <a:latin typeface="Cambria Math"/>
                <a:cs typeface="Cambria Math"/>
              </a:rPr>
              <a:t>0</a:t>
            </a:r>
            <a:endParaRPr sz="1400">
              <a:latin typeface="Cambria Math"/>
              <a:cs typeface="Cambria Math"/>
            </a:endParaRPr>
          </a:p>
          <a:p>
            <a:pPr marR="5080" algn="r">
              <a:lnSpc>
                <a:spcPts val="1660"/>
              </a:lnSpc>
              <a:tabLst>
                <a:tab pos="466090" algn="l"/>
              </a:tabLst>
            </a:pPr>
            <a:r>
              <a:rPr sz="1400" spc="-50" dirty="0">
                <a:latin typeface="Cambria Math"/>
                <a:cs typeface="Cambria Math"/>
              </a:rPr>
              <a:t>0</a:t>
            </a:r>
            <a:r>
              <a:rPr sz="1400" dirty="0">
                <a:latin typeface="Cambria Math"/>
                <a:cs typeface="Cambria Math"/>
              </a:rPr>
              <a:t>	</a:t>
            </a:r>
            <a:r>
              <a:rPr sz="1400" spc="-50" dirty="0">
                <a:latin typeface="Cambria Math"/>
                <a:cs typeface="Cambria Math"/>
              </a:rPr>
              <a:t>1</a:t>
            </a:r>
            <a:endParaRPr sz="1400">
              <a:latin typeface="Cambria Math"/>
              <a:cs typeface="Cambria Math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3448558" y="3129152"/>
            <a:ext cx="111760" cy="2393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spc="-50" dirty="0">
                <a:latin typeface="Cambria Math"/>
                <a:cs typeface="Cambria Math"/>
              </a:rPr>
              <a:t>∗</a:t>
            </a:r>
            <a:endParaRPr sz="1400">
              <a:latin typeface="Cambria Math"/>
              <a:cs typeface="Cambria Math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3804793" y="3006089"/>
            <a:ext cx="47625" cy="528320"/>
          </a:xfrm>
          <a:custGeom>
            <a:avLst/>
            <a:gdLst/>
            <a:ahLst/>
            <a:cxnLst/>
            <a:rect l="l" t="t" r="r" b="b"/>
            <a:pathLst>
              <a:path w="47625" h="528320">
                <a:moveTo>
                  <a:pt x="47371" y="0"/>
                </a:moveTo>
                <a:lnTo>
                  <a:pt x="0" y="0"/>
                </a:lnTo>
                <a:lnTo>
                  <a:pt x="0" y="7620"/>
                </a:lnTo>
                <a:lnTo>
                  <a:pt x="29464" y="7620"/>
                </a:lnTo>
                <a:lnTo>
                  <a:pt x="29464" y="519430"/>
                </a:lnTo>
                <a:lnTo>
                  <a:pt x="0" y="519430"/>
                </a:lnTo>
                <a:lnTo>
                  <a:pt x="0" y="528320"/>
                </a:lnTo>
                <a:lnTo>
                  <a:pt x="47371" y="528320"/>
                </a:lnTo>
                <a:lnTo>
                  <a:pt x="47371" y="519430"/>
                </a:lnTo>
                <a:lnTo>
                  <a:pt x="47371" y="7620"/>
                </a:lnTo>
                <a:lnTo>
                  <a:pt x="47371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3646932" y="3006089"/>
            <a:ext cx="47625" cy="528320"/>
          </a:xfrm>
          <a:custGeom>
            <a:avLst/>
            <a:gdLst/>
            <a:ahLst/>
            <a:cxnLst/>
            <a:rect l="l" t="t" r="r" b="b"/>
            <a:pathLst>
              <a:path w="47625" h="528320">
                <a:moveTo>
                  <a:pt x="47371" y="0"/>
                </a:moveTo>
                <a:lnTo>
                  <a:pt x="0" y="0"/>
                </a:lnTo>
                <a:lnTo>
                  <a:pt x="0" y="7620"/>
                </a:lnTo>
                <a:lnTo>
                  <a:pt x="0" y="519430"/>
                </a:lnTo>
                <a:lnTo>
                  <a:pt x="0" y="528320"/>
                </a:lnTo>
                <a:lnTo>
                  <a:pt x="47371" y="528320"/>
                </a:lnTo>
                <a:lnTo>
                  <a:pt x="47371" y="519430"/>
                </a:lnTo>
                <a:lnTo>
                  <a:pt x="18034" y="519430"/>
                </a:lnTo>
                <a:lnTo>
                  <a:pt x="18034" y="7620"/>
                </a:lnTo>
                <a:lnTo>
                  <a:pt x="47371" y="7620"/>
                </a:lnTo>
                <a:lnTo>
                  <a:pt x="47371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 txBox="1"/>
          <p:nvPr/>
        </p:nvSpPr>
        <p:spPr>
          <a:xfrm>
            <a:off x="3684778" y="2909697"/>
            <a:ext cx="127635" cy="6616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3970">
              <a:lnSpc>
                <a:spcPts val="1655"/>
              </a:lnSpc>
              <a:spcBef>
                <a:spcPts val="105"/>
              </a:spcBef>
            </a:pPr>
            <a:r>
              <a:rPr sz="1400" spc="-50" dirty="0">
                <a:latin typeface="Cambria Math"/>
                <a:cs typeface="Cambria Math"/>
              </a:rPr>
              <a:t>𝑥</a:t>
            </a:r>
            <a:endParaRPr sz="1400">
              <a:latin typeface="Cambria Math"/>
              <a:cs typeface="Cambria Math"/>
            </a:endParaRPr>
          </a:p>
          <a:p>
            <a:pPr marL="15240" marR="5080" indent="-3175">
              <a:lnSpc>
                <a:spcPts val="1689"/>
              </a:lnSpc>
              <a:spcBef>
                <a:spcPts val="20"/>
              </a:spcBef>
            </a:pPr>
            <a:r>
              <a:rPr sz="1400" spc="-50" dirty="0">
                <a:latin typeface="Cambria Math"/>
                <a:cs typeface="Cambria Math"/>
              </a:rPr>
              <a:t>𝑦 1</a:t>
            </a:r>
            <a:endParaRPr sz="1400">
              <a:latin typeface="Cambria Math"/>
              <a:cs typeface="Cambria Math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176019" y="3732657"/>
            <a:ext cx="136017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299085" algn="l"/>
              </a:tabLst>
            </a:pPr>
            <a:r>
              <a:rPr sz="1400" spc="-50" dirty="0">
                <a:latin typeface="Times New Roman"/>
                <a:cs typeface="Times New Roman"/>
              </a:rPr>
              <a:t>-</a:t>
            </a:r>
            <a:r>
              <a:rPr sz="1400" dirty="0">
                <a:latin typeface="Times New Roman"/>
                <a:cs typeface="Times New Roman"/>
              </a:rPr>
              <a:t>	(x,</a:t>
            </a:r>
            <a:r>
              <a:rPr sz="1400" spc="-3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y)=(20,</a:t>
            </a:r>
            <a:r>
              <a:rPr sz="1400" spc="-25" dirty="0">
                <a:latin typeface="Times New Roman"/>
                <a:cs typeface="Times New Roman"/>
              </a:rPr>
              <a:t> 40)</a:t>
            </a:r>
            <a:endParaRPr sz="1400">
              <a:latin typeface="Times New Roman"/>
              <a:cs typeface="Times New Roman"/>
            </a:endParaRPr>
          </a:p>
        </p:txBody>
      </p:sp>
      <p:pic>
        <p:nvPicPr>
          <p:cNvPr id="18" name="object 1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54480" y="4094988"/>
            <a:ext cx="9144000" cy="2112264"/>
          </a:xfrm>
          <a:prstGeom prst="rect">
            <a:avLst/>
          </a:prstGeom>
        </p:spPr>
      </p:pic>
      <p:sp>
        <p:nvSpPr>
          <p:cNvPr id="19" name="object 19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dirty="0"/>
              <a:t>23</a:t>
            </a:r>
            <a:r>
              <a:rPr spc="-5" dirty="0"/>
              <a:t> </a:t>
            </a:r>
            <a:r>
              <a:rPr dirty="0"/>
              <a:t>May</a:t>
            </a:r>
            <a:r>
              <a:rPr spc="-5" dirty="0"/>
              <a:t> </a:t>
            </a:r>
            <a:r>
              <a:rPr spc="-20" dirty="0"/>
              <a:t>2024</a:t>
            </a:r>
          </a:p>
        </p:txBody>
      </p:sp>
      <p:sp>
        <p:nvSpPr>
          <p:cNvPr id="20" name="object 20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pc="-10" dirty="0"/>
              <a:t>MATHEMATICAL</a:t>
            </a:r>
            <a:r>
              <a:rPr spc="10" dirty="0"/>
              <a:t> </a:t>
            </a:r>
            <a:r>
              <a:rPr dirty="0"/>
              <a:t>TOOLS</a:t>
            </a:r>
            <a:r>
              <a:rPr spc="-15" dirty="0"/>
              <a:t> </a:t>
            </a:r>
            <a:r>
              <a:rPr dirty="0"/>
              <a:t>USED</a:t>
            </a:r>
            <a:r>
              <a:rPr spc="-30" dirty="0"/>
              <a:t> </a:t>
            </a:r>
            <a:r>
              <a:rPr dirty="0"/>
              <a:t>IN</a:t>
            </a:r>
            <a:r>
              <a:rPr spc="-30" dirty="0"/>
              <a:t> </a:t>
            </a:r>
            <a:r>
              <a:rPr dirty="0"/>
              <a:t>DIGITAL</a:t>
            </a:r>
            <a:r>
              <a:rPr spc="5" dirty="0"/>
              <a:t> </a:t>
            </a:r>
            <a:r>
              <a:rPr dirty="0"/>
              <a:t>IMAGE</a:t>
            </a:r>
            <a:r>
              <a:rPr spc="-5" dirty="0"/>
              <a:t> </a:t>
            </a:r>
            <a:r>
              <a:rPr spc="-10" dirty="0"/>
              <a:t>PROCESSING</a:t>
            </a:r>
          </a:p>
        </p:txBody>
      </p:sp>
      <p:sp>
        <p:nvSpPr>
          <p:cNvPr id="21" name="object 2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55"/>
              </a:lnSpc>
            </a:pPr>
            <a:fld id="{81D60167-4931-47E6-BA6A-407CBD079E47}" type="slidenum">
              <a:rPr spc="-25" dirty="0"/>
              <a:t>36</a:t>
            </a:fld>
            <a:endParaRPr spc="-25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35" dirty="0"/>
              <a:t>Spatial</a:t>
            </a:r>
            <a:r>
              <a:rPr spc="-240" dirty="0"/>
              <a:t> </a:t>
            </a:r>
            <a:r>
              <a:rPr spc="-35" dirty="0"/>
              <a:t>Operations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019" y="1796581"/>
            <a:ext cx="6913880" cy="1314450"/>
          </a:xfrm>
          <a:prstGeom prst="rect">
            <a:avLst/>
          </a:prstGeom>
        </p:spPr>
        <p:txBody>
          <a:bodyPr vert="horz" wrap="square" lIns="0" tIns="102235" rIns="0" bIns="0" rtlCol="0">
            <a:spAutoFit/>
          </a:bodyPr>
          <a:lstStyle/>
          <a:p>
            <a:pPr marL="298450" indent="-285750">
              <a:lnSpc>
                <a:spcPct val="100000"/>
              </a:lnSpc>
              <a:spcBef>
                <a:spcPts val="805"/>
              </a:spcBef>
              <a:buFont typeface="Wingdings"/>
              <a:buChar char=""/>
              <a:tabLst>
                <a:tab pos="298450" algn="l"/>
              </a:tabLst>
            </a:pPr>
            <a:r>
              <a:rPr sz="1800" b="1" dirty="0">
                <a:latin typeface="Times New Roman"/>
                <a:cs typeface="Times New Roman"/>
              </a:rPr>
              <a:t>Geometric</a:t>
            </a:r>
            <a:r>
              <a:rPr sz="1800" b="1" spc="-75" dirty="0">
                <a:latin typeface="Times New Roman"/>
                <a:cs typeface="Times New Roman"/>
              </a:rPr>
              <a:t> </a:t>
            </a:r>
            <a:r>
              <a:rPr sz="1800" b="1" dirty="0">
                <a:latin typeface="Times New Roman"/>
                <a:cs typeface="Times New Roman"/>
              </a:rPr>
              <a:t>spatial</a:t>
            </a:r>
            <a:r>
              <a:rPr sz="1800" b="1" spc="-50" dirty="0">
                <a:latin typeface="Times New Roman"/>
                <a:cs typeface="Times New Roman"/>
              </a:rPr>
              <a:t> </a:t>
            </a:r>
            <a:r>
              <a:rPr sz="1800" b="1" dirty="0">
                <a:latin typeface="Times New Roman"/>
                <a:cs typeface="Times New Roman"/>
              </a:rPr>
              <a:t>transformations</a:t>
            </a:r>
            <a:r>
              <a:rPr sz="1800" b="1" spc="-55" dirty="0">
                <a:latin typeface="Times New Roman"/>
                <a:cs typeface="Times New Roman"/>
              </a:rPr>
              <a:t> </a:t>
            </a:r>
            <a:r>
              <a:rPr sz="1800" b="1" spc="-10" dirty="0">
                <a:latin typeface="Times New Roman"/>
                <a:cs typeface="Times New Roman"/>
              </a:rPr>
              <a:t>(Scaling)</a:t>
            </a:r>
            <a:endParaRPr sz="1800">
              <a:latin typeface="Times New Roman"/>
              <a:cs typeface="Times New Roman"/>
            </a:endParaRPr>
          </a:p>
          <a:p>
            <a:pPr marL="299085" indent="-286385">
              <a:lnSpc>
                <a:spcPct val="100000"/>
              </a:lnSpc>
              <a:spcBef>
                <a:spcPts val="555"/>
              </a:spcBef>
              <a:buChar char="-"/>
              <a:tabLst>
                <a:tab pos="299085" algn="l"/>
              </a:tabLst>
            </a:pPr>
            <a:r>
              <a:rPr sz="1400" dirty="0">
                <a:latin typeface="Times New Roman"/>
                <a:cs typeface="Times New Roman"/>
              </a:rPr>
              <a:t>Scaling</a:t>
            </a:r>
            <a:r>
              <a:rPr sz="1400" spc="-4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means resize</a:t>
            </a:r>
            <a:r>
              <a:rPr sz="1400" spc="-2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of</a:t>
            </a:r>
            <a:r>
              <a:rPr sz="1400" spc="-3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an</a:t>
            </a:r>
            <a:r>
              <a:rPr sz="1400" spc="-1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image in</a:t>
            </a:r>
            <a:r>
              <a:rPr sz="1400" spc="-3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terms of</a:t>
            </a:r>
            <a:r>
              <a:rPr sz="1400" spc="-3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scaling</a:t>
            </a:r>
            <a:r>
              <a:rPr sz="1400" spc="-40" dirty="0">
                <a:latin typeface="Times New Roman"/>
                <a:cs typeface="Times New Roman"/>
              </a:rPr>
              <a:t> </a:t>
            </a:r>
            <a:r>
              <a:rPr sz="1400" spc="-10" dirty="0">
                <a:latin typeface="Times New Roman"/>
                <a:cs typeface="Times New Roman"/>
              </a:rPr>
              <a:t>factor.</a:t>
            </a:r>
            <a:endParaRPr sz="1400">
              <a:latin typeface="Times New Roman"/>
              <a:cs typeface="Times New Roman"/>
            </a:endParaRPr>
          </a:p>
          <a:p>
            <a:pPr marL="299085" indent="-286385">
              <a:lnSpc>
                <a:spcPct val="100000"/>
              </a:lnSpc>
              <a:spcBef>
                <a:spcPts val="840"/>
              </a:spcBef>
              <a:buChar char="-"/>
              <a:tabLst>
                <a:tab pos="299085" algn="l"/>
              </a:tabLst>
            </a:pPr>
            <a:r>
              <a:rPr sz="1400" dirty="0">
                <a:latin typeface="Times New Roman"/>
                <a:cs typeface="Times New Roman"/>
              </a:rPr>
              <a:t>If</a:t>
            </a:r>
            <a:r>
              <a:rPr sz="1400" spc="-2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we have</a:t>
            </a:r>
            <a:r>
              <a:rPr sz="1400" spc="-1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an</a:t>
            </a:r>
            <a:r>
              <a:rPr sz="1400" spc="-1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image</a:t>
            </a:r>
            <a:r>
              <a:rPr sz="1400" spc="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of</a:t>
            </a:r>
            <a:r>
              <a:rPr sz="1400" spc="-1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(300</a:t>
            </a:r>
            <a:r>
              <a:rPr sz="1400" spc="-3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X</a:t>
            </a:r>
            <a:r>
              <a:rPr sz="1400" spc="-1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400)</a:t>
            </a:r>
            <a:r>
              <a:rPr sz="1400" spc="-3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and</a:t>
            </a:r>
            <a:r>
              <a:rPr sz="1400" spc="-1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we want</a:t>
            </a:r>
            <a:r>
              <a:rPr sz="1400" spc="-1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to</a:t>
            </a:r>
            <a:r>
              <a:rPr sz="1400" spc="-1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transform</a:t>
            </a:r>
            <a:r>
              <a:rPr sz="1400" spc="-4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it</a:t>
            </a:r>
            <a:r>
              <a:rPr sz="1400" spc="-1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into</a:t>
            </a:r>
            <a:r>
              <a:rPr sz="1400" spc="-4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a</a:t>
            </a:r>
            <a:r>
              <a:rPr sz="1400" spc="-1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shape</a:t>
            </a:r>
            <a:r>
              <a:rPr sz="1400" spc="-1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of</a:t>
            </a:r>
            <a:r>
              <a:rPr sz="1400" spc="-2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(600</a:t>
            </a:r>
            <a:r>
              <a:rPr sz="1400" spc="-2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X</a:t>
            </a:r>
            <a:r>
              <a:rPr sz="1400" spc="-15" dirty="0">
                <a:latin typeface="Times New Roman"/>
                <a:cs typeface="Times New Roman"/>
              </a:rPr>
              <a:t> </a:t>
            </a:r>
            <a:r>
              <a:rPr sz="1400" spc="-20" dirty="0">
                <a:latin typeface="Times New Roman"/>
                <a:cs typeface="Times New Roman"/>
              </a:rPr>
              <a:t>200).</a:t>
            </a:r>
            <a:endParaRPr sz="1400">
              <a:latin typeface="Times New Roman"/>
              <a:cs typeface="Times New Roman"/>
            </a:endParaRPr>
          </a:p>
          <a:p>
            <a:pPr marL="299085" indent="-286385">
              <a:lnSpc>
                <a:spcPct val="100000"/>
              </a:lnSpc>
              <a:spcBef>
                <a:spcPts val="844"/>
              </a:spcBef>
              <a:buChar char="-"/>
              <a:tabLst>
                <a:tab pos="299085" algn="l"/>
              </a:tabLst>
            </a:pPr>
            <a:r>
              <a:rPr sz="1400" dirty="0">
                <a:latin typeface="Times New Roman"/>
                <a:cs typeface="Times New Roman"/>
              </a:rPr>
              <a:t>The</a:t>
            </a:r>
            <a:r>
              <a:rPr sz="1400" spc="-1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scaling</a:t>
            </a:r>
            <a:r>
              <a:rPr sz="1400" spc="-1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in</a:t>
            </a:r>
            <a:r>
              <a:rPr sz="1400" spc="-1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X</a:t>
            </a:r>
            <a:r>
              <a:rPr sz="1400" spc="-1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and</a:t>
            </a:r>
            <a:r>
              <a:rPr sz="1400" spc="-5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Y</a:t>
            </a:r>
            <a:r>
              <a:rPr sz="1400" spc="-6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direction</a:t>
            </a:r>
            <a:r>
              <a:rPr sz="1400" spc="-2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will</a:t>
            </a:r>
            <a:r>
              <a:rPr sz="1400" spc="-2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be</a:t>
            </a:r>
            <a:r>
              <a:rPr sz="1400" spc="-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600/300=2</a:t>
            </a:r>
            <a:r>
              <a:rPr sz="1400" spc="-45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and</a:t>
            </a:r>
            <a:r>
              <a:rPr sz="1400" spc="-10" dirty="0">
                <a:latin typeface="Times New Roman"/>
                <a:cs typeface="Times New Roman"/>
              </a:rPr>
              <a:t> </a:t>
            </a:r>
            <a:r>
              <a:rPr sz="1400" dirty="0">
                <a:latin typeface="Times New Roman"/>
                <a:cs typeface="Times New Roman"/>
              </a:rPr>
              <a:t>200/400</a:t>
            </a:r>
            <a:r>
              <a:rPr sz="1400" spc="-10" dirty="0">
                <a:latin typeface="Times New Roman"/>
                <a:cs typeface="Times New Roman"/>
              </a:rPr>
              <a:t> </a:t>
            </a:r>
            <a:r>
              <a:rPr sz="1400" spc="-20" dirty="0">
                <a:latin typeface="Times New Roman"/>
                <a:cs typeface="Times New Roman"/>
              </a:rPr>
              <a:t>=1/2</a:t>
            </a:r>
            <a:endParaRPr sz="1400">
              <a:latin typeface="Times New Roman"/>
              <a:cs typeface="Times New Roman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426463" y="3160776"/>
            <a:ext cx="9020556" cy="3048000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dirty="0"/>
              <a:t>23</a:t>
            </a:r>
            <a:r>
              <a:rPr spc="-5" dirty="0"/>
              <a:t> </a:t>
            </a:r>
            <a:r>
              <a:rPr dirty="0"/>
              <a:t>May</a:t>
            </a:r>
            <a:r>
              <a:rPr spc="-5" dirty="0"/>
              <a:t> </a:t>
            </a:r>
            <a:r>
              <a:rPr spc="-20" dirty="0"/>
              <a:t>2024</a:t>
            </a:r>
          </a:p>
        </p:txBody>
      </p:sp>
      <p:sp>
        <p:nvSpPr>
          <p:cNvPr id="6" name="object 6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pc="-10" dirty="0"/>
              <a:t>MATHEMATICAL</a:t>
            </a:r>
            <a:r>
              <a:rPr spc="10" dirty="0"/>
              <a:t> </a:t>
            </a:r>
            <a:r>
              <a:rPr dirty="0"/>
              <a:t>TOOLS</a:t>
            </a:r>
            <a:r>
              <a:rPr spc="-15" dirty="0"/>
              <a:t> </a:t>
            </a:r>
            <a:r>
              <a:rPr dirty="0"/>
              <a:t>USED</a:t>
            </a:r>
            <a:r>
              <a:rPr spc="-30" dirty="0"/>
              <a:t> </a:t>
            </a:r>
            <a:r>
              <a:rPr dirty="0"/>
              <a:t>IN</a:t>
            </a:r>
            <a:r>
              <a:rPr spc="-30" dirty="0"/>
              <a:t> </a:t>
            </a:r>
            <a:r>
              <a:rPr dirty="0"/>
              <a:t>DIGITAL</a:t>
            </a:r>
            <a:r>
              <a:rPr spc="5" dirty="0"/>
              <a:t> </a:t>
            </a:r>
            <a:r>
              <a:rPr dirty="0"/>
              <a:t>IMAGE</a:t>
            </a:r>
            <a:r>
              <a:rPr spc="-5" dirty="0"/>
              <a:t> </a:t>
            </a:r>
            <a:r>
              <a:rPr spc="-10" dirty="0"/>
              <a:t>PROCESSING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55"/>
              </a:lnSpc>
            </a:pPr>
            <a:fld id="{81D60167-4931-47E6-BA6A-407CBD079E47}" type="slidenum">
              <a:rPr spc="-25" dirty="0"/>
              <a:t>37</a:t>
            </a:fld>
            <a:endParaRPr spc="-25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35" dirty="0"/>
              <a:t>Spatial</a:t>
            </a:r>
            <a:r>
              <a:rPr spc="-240" dirty="0"/>
              <a:t> </a:t>
            </a:r>
            <a:r>
              <a:rPr spc="-35" dirty="0"/>
              <a:t>Operations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76019" y="1756451"/>
            <a:ext cx="9902190" cy="1985645"/>
          </a:xfrm>
          <a:prstGeom prst="rect">
            <a:avLst/>
          </a:prstGeom>
        </p:spPr>
        <p:txBody>
          <a:bodyPr vert="horz" wrap="square" lIns="0" tIns="100330" rIns="0" bIns="0" rtlCol="0">
            <a:spAutoFit/>
          </a:bodyPr>
          <a:lstStyle/>
          <a:p>
            <a:pPr marL="298450" indent="-285750" algn="just">
              <a:lnSpc>
                <a:spcPct val="100000"/>
              </a:lnSpc>
              <a:spcBef>
                <a:spcPts val="790"/>
              </a:spcBef>
              <a:buFont typeface="Wingdings"/>
              <a:buChar char=""/>
              <a:tabLst>
                <a:tab pos="298450" algn="l"/>
              </a:tabLst>
            </a:pPr>
            <a:r>
              <a:rPr sz="1800" b="1" dirty="0">
                <a:latin typeface="Times New Roman"/>
                <a:cs typeface="Times New Roman"/>
              </a:rPr>
              <a:t>Geometric</a:t>
            </a:r>
            <a:r>
              <a:rPr sz="1800" b="1" spc="-75" dirty="0">
                <a:latin typeface="Times New Roman"/>
                <a:cs typeface="Times New Roman"/>
              </a:rPr>
              <a:t> </a:t>
            </a:r>
            <a:r>
              <a:rPr sz="1800" b="1" dirty="0">
                <a:latin typeface="Times New Roman"/>
                <a:cs typeface="Times New Roman"/>
              </a:rPr>
              <a:t>spatial</a:t>
            </a:r>
            <a:r>
              <a:rPr sz="1800" b="1" spc="-50" dirty="0">
                <a:latin typeface="Times New Roman"/>
                <a:cs typeface="Times New Roman"/>
              </a:rPr>
              <a:t> </a:t>
            </a:r>
            <a:r>
              <a:rPr sz="1800" b="1" dirty="0">
                <a:latin typeface="Times New Roman"/>
                <a:cs typeface="Times New Roman"/>
              </a:rPr>
              <a:t>transformations</a:t>
            </a:r>
            <a:r>
              <a:rPr sz="1800" b="1" spc="-55" dirty="0">
                <a:latin typeface="Times New Roman"/>
                <a:cs typeface="Times New Roman"/>
              </a:rPr>
              <a:t> </a:t>
            </a:r>
            <a:r>
              <a:rPr sz="1800" b="1" spc="-10" dirty="0">
                <a:latin typeface="Times New Roman"/>
                <a:cs typeface="Times New Roman"/>
              </a:rPr>
              <a:t>(Shearing)</a:t>
            </a:r>
            <a:endParaRPr sz="1800">
              <a:latin typeface="Times New Roman"/>
              <a:cs typeface="Times New Roman"/>
            </a:endParaRPr>
          </a:p>
          <a:p>
            <a:pPr marL="299085" indent="-286385" algn="just">
              <a:lnSpc>
                <a:spcPct val="100000"/>
              </a:lnSpc>
              <a:spcBef>
                <a:spcPts val="695"/>
              </a:spcBef>
              <a:buFont typeface="Arial MT"/>
              <a:buChar char="•"/>
              <a:tabLst>
                <a:tab pos="299085" algn="l"/>
              </a:tabLst>
            </a:pPr>
            <a:r>
              <a:rPr sz="1800" dirty="0">
                <a:latin typeface="Times New Roman"/>
                <a:cs typeface="Times New Roman"/>
              </a:rPr>
              <a:t>Shearing</a:t>
            </a:r>
            <a:r>
              <a:rPr sz="1800" spc="-1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an</a:t>
            </a:r>
            <a:r>
              <a:rPr sz="1800" spc="-1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image</a:t>
            </a:r>
            <a:r>
              <a:rPr sz="1800" spc="-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means shifting</a:t>
            </a:r>
            <a:r>
              <a:rPr sz="1800" spc="-1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the</a:t>
            </a:r>
            <a:r>
              <a:rPr sz="1800" spc="-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pixel</a:t>
            </a:r>
            <a:r>
              <a:rPr sz="1800" spc="-1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values</a:t>
            </a:r>
            <a:r>
              <a:rPr sz="1800" spc="-1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either</a:t>
            </a:r>
            <a:r>
              <a:rPr sz="1800" spc="-2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horizontally</a:t>
            </a:r>
            <a:r>
              <a:rPr sz="1800" spc="-2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or</a:t>
            </a:r>
            <a:r>
              <a:rPr sz="1800" spc="-15" dirty="0">
                <a:latin typeface="Times New Roman"/>
                <a:cs typeface="Times New Roman"/>
              </a:rPr>
              <a:t> </a:t>
            </a:r>
            <a:r>
              <a:rPr sz="1800" spc="-10" dirty="0">
                <a:latin typeface="Times New Roman"/>
                <a:cs typeface="Times New Roman"/>
              </a:rPr>
              <a:t>vertically.</a:t>
            </a:r>
            <a:endParaRPr sz="1800">
              <a:latin typeface="Times New Roman"/>
              <a:cs typeface="Times New Roman"/>
            </a:endParaRPr>
          </a:p>
          <a:p>
            <a:pPr marL="299085" marR="5080" indent="-287020" algn="just">
              <a:lnSpc>
                <a:spcPct val="150000"/>
              </a:lnSpc>
              <a:spcBef>
                <a:spcPts val="5"/>
              </a:spcBef>
              <a:buFont typeface="Arial MT"/>
              <a:buChar char="•"/>
              <a:tabLst>
                <a:tab pos="299085" algn="l"/>
              </a:tabLst>
            </a:pPr>
            <a:r>
              <a:rPr sz="1800" dirty="0">
                <a:latin typeface="Times New Roman"/>
                <a:cs typeface="Times New Roman"/>
              </a:rPr>
              <a:t>Basically,</a:t>
            </a:r>
            <a:r>
              <a:rPr sz="1800" spc="204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this</a:t>
            </a:r>
            <a:r>
              <a:rPr sz="1800" spc="21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shifts</a:t>
            </a:r>
            <a:r>
              <a:rPr sz="1800" spc="204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some</a:t>
            </a:r>
            <a:r>
              <a:rPr sz="1800" spc="22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part</a:t>
            </a:r>
            <a:r>
              <a:rPr sz="1800" spc="20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of</a:t>
            </a:r>
            <a:r>
              <a:rPr sz="1800" spc="21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an</a:t>
            </a:r>
            <a:r>
              <a:rPr sz="1800" spc="19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image</a:t>
            </a:r>
            <a:r>
              <a:rPr sz="1800" spc="21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to</a:t>
            </a:r>
            <a:r>
              <a:rPr sz="1800" spc="20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one</a:t>
            </a:r>
            <a:r>
              <a:rPr sz="1800" spc="21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direction</a:t>
            </a:r>
            <a:r>
              <a:rPr sz="1800" spc="21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and</a:t>
            </a:r>
            <a:r>
              <a:rPr sz="1800" spc="21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other</a:t>
            </a:r>
            <a:r>
              <a:rPr sz="1800" spc="204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parts</a:t>
            </a:r>
            <a:r>
              <a:rPr sz="1800" spc="20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to</a:t>
            </a:r>
            <a:r>
              <a:rPr sz="1800" spc="19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the</a:t>
            </a:r>
            <a:r>
              <a:rPr sz="1800" spc="21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another</a:t>
            </a:r>
            <a:r>
              <a:rPr sz="1800" spc="204" dirty="0">
                <a:latin typeface="Times New Roman"/>
                <a:cs typeface="Times New Roman"/>
              </a:rPr>
              <a:t> </a:t>
            </a:r>
            <a:r>
              <a:rPr sz="1800" spc="-10" dirty="0">
                <a:latin typeface="Times New Roman"/>
                <a:cs typeface="Times New Roman"/>
              </a:rPr>
              <a:t>direction. </a:t>
            </a:r>
            <a:r>
              <a:rPr sz="1800" dirty="0">
                <a:latin typeface="Times New Roman"/>
                <a:cs typeface="Times New Roman"/>
              </a:rPr>
              <a:t>Horizontal</a:t>
            </a:r>
            <a:r>
              <a:rPr sz="1800" spc="2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shearing</a:t>
            </a:r>
            <a:r>
              <a:rPr sz="1800" spc="4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will</a:t>
            </a:r>
            <a:r>
              <a:rPr sz="1800" spc="3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shift</a:t>
            </a:r>
            <a:r>
              <a:rPr sz="1800" spc="2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the</a:t>
            </a:r>
            <a:r>
              <a:rPr sz="1800" spc="2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upper</a:t>
            </a:r>
            <a:r>
              <a:rPr sz="1800" spc="2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part</a:t>
            </a:r>
            <a:r>
              <a:rPr sz="1800" spc="2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to</a:t>
            </a:r>
            <a:r>
              <a:rPr sz="1800" spc="2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the</a:t>
            </a:r>
            <a:r>
              <a:rPr sz="1800" spc="4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right</a:t>
            </a:r>
            <a:r>
              <a:rPr sz="1800" spc="2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and</a:t>
            </a:r>
            <a:r>
              <a:rPr sz="1800" spc="2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lower</a:t>
            </a:r>
            <a:r>
              <a:rPr sz="1800" spc="3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part</a:t>
            </a:r>
            <a:r>
              <a:rPr sz="1800" spc="3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to</a:t>
            </a:r>
            <a:r>
              <a:rPr sz="1800" spc="2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the</a:t>
            </a:r>
            <a:r>
              <a:rPr sz="1800" spc="2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left.</a:t>
            </a:r>
            <a:r>
              <a:rPr sz="1800" spc="30" dirty="0">
                <a:latin typeface="Times New Roman"/>
                <a:cs typeface="Times New Roman"/>
              </a:rPr>
              <a:t> </a:t>
            </a:r>
            <a:r>
              <a:rPr sz="1800" spc="-20" dirty="0">
                <a:latin typeface="Times New Roman"/>
                <a:cs typeface="Times New Roman"/>
              </a:rPr>
              <a:t>Vertical</a:t>
            </a:r>
            <a:r>
              <a:rPr sz="1800" spc="2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shearing</a:t>
            </a:r>
            <a:r>
              <a:rPr sz="1800" spc="30" dirty="0">
                <a:latin typeface="Times New Roman"/>
                <a:cs typeface="Times New Roman"/>
              </a:rPr>
              <a:t> </a:t>
            </a:r>
            <a:r>
              <a:rPr sz="1800" spc="-20" dirty="0">
                <a:latin typeface="Times New Roman"/>
                <a:cs typeface="Times New Roman"/>
              </a:rPr>
              <a:t>will </a:t>
            </a:r>
            <a:r>
              <a:rPr sz="1800" dirty="0">
                <a:latin typeface="Times New Roman"/>
                <a:cs typeface="Times New Roman"/>
              </a:rPr>
              <a:t>shift</a:t>
            </a:r>
            <a:r>
              <a:rPr sz="1800" spc="-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left</a:t>
            </a:r>
            <a:r>
              <a:rPr sz="1800" spc="-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part</a:t>
            </a:r>
            <a:r>
              <a:rPr sz="1800" spc="-1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to</a:t>
            </a:r>
            <a:r>
              <a:rPr sz="1800" spc="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upper</a:t>
            </a:r>
            <a:r>
              <a:rPr sz="1800" spc="-1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and</a:t>
            </a:r>
            <a:r>
              <a:rPr sz="1800" spc="-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right</a:t>
            </a:r>
            <a:r>
              <a:rPr sz="1800" spc="-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part</a:t>
            </a:r>
            <a:r>
              <a:rPr sz="1800" spc="-5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to</a:t>
            </a:r>
            <a:r>
              <a:rPr sz="1800" spc="-10" dirty="0">
                <a:latin typeface="Times New Roman"/>
                <a:cs typeface="Times New Roman"/>
              </a:rPr>
              <a:t> lower.</a:t>
            </a:r>
            <a:endParaRPr sz="1800">
              <a:latin typeface="Times New Roman"/>
              <a:cs typeface="Times New Roman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984248" y="3968496"/>
            <a:ext cx="8592312" cy="2307336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dirty="0"/>
              <a:t>23</a:t>
            </a:r>
            <a:r>
              <a:rPr spc="-5" dirty="0"/>
              <a:t> </a:t>
            </a:r>
            <a:r>
              <a:rPr dirty="0"/>
              <a:t>May</a:t>
            </a:r>
            <a:r>
              <a:rPr spc="-5" dirty="0"/>
              <a:t> </a:t>
            </a:r>
            <a:r>
              <a:rPr spc="-20" dirty="0"/>
              <a:t>2024</a:t>
            </a:r>
          </a:p>
        </p:txBody>
      </p:sp>
      <p:sp>
        <p:nvSpPr>
          <p:cNvPr id="6" name="object 6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pc="-10" dirty="0"/>
              <a:t>MATHEMATICAL</a:t>
            </a:r>
            <a:r>
              <a:rPr spc="10" dirty="0"/>
              <a:t> </a:t>
            </a:r>
            <a:r>
              <a:rPr dirty="0"/>
              <a:t>TOOLS</a:t>
            </a:r>
            <a:r>
              <a:rPr spc="-15" dirty="0"/>
              <a:t> </a:t>
            </a:r>
            <a:r>
              <a:rPr dirty="0"/>
              <a:t>USED</a:t>
            </a:r>
            <a:r>
              <a:rPr spc="-30" dirty="0"/>
              <a:t> </a:t>
            </a:r>
            <a:r>
              <a:rPr dirty="0"/>
              <a:t>IN</a:t>
            </a:r>
            <a:r>
              <a:rPr spc="-30" dirty="0"/>
              <a:t> </a:t>
            </a:r>
            <a:r>
              <a:rPr dirty="0"/>
              <a:t>DIGITAL</a:t>
            </a:r>
            <a:r>
              <a:rPr spc="5" dirty="0"/>
              <a:t> </a:t>
            </a:r>
            <a:r>
              <a:rPr dirty="0"/>
              <a:t>IMAGE</a:t>
            </a:r>
            <a:r>
              <a:rPr spc="-5" dirty="0"/>
              <a:t> </a:t>
            </a:r>
            <a:r>
              <a:rPr spc="-10" dirty="0"/>
              <a:t>PROCESSING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55"/>
              </a:lnSpc>
            </a:pPr>
            <a:fld id="{81D60167-4931-47E6-BA6A-407CBD079E47}" type="slidenum">
              <a:rPr spc="-25" dirty="0"/>
              <a:t>38</a:t>
            </a:fld>
            <a:endParaRPr spc="-25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6333744"/>
            <a:ext cx="12192000" cy="524510"/>
            <a:chOff x="0" y="6333744"/>
            <a:chExt cx="12192000" cy="524510"/>
          </a:xfrm>
        </p:grpSpPr>
        <p:sp>
          <p:nvSpPr>
            <p:cNvPr id="3" name="object 3"/>
            <p:cNvSpPr/>
            <p:nvPr/>
          </p:nvSpPr>
          <p:spPr>
            <a:xfrm>
              <a:off x="3047" y="6400799"/>
              <a:ext cx="12189460" cy="457200"/>
            </a:xfrm>
            <a:custGeom>
              <a:avLst/>
              <a:gdLst/>
              <a:ahLst/>
              <a:cxnLst/>
              <a:rect l="l" t="t" r="r" b="b"/>
              <a:pathLst>
                <a:path w="12189460" h="457200">
                  <a:moveTo>
                    <a:pt x="12188952" y="0"/>
                  </a:moveTo>
                  <a:lnTo>
                    <a:pt x="0" y="0"/>
                  </a:lnTo>
                  <a:lnTo>
                    <a:pt x="0" y="457199"/>
                  </a:lnTo>
                  <a:lnTo>
                    <a:pt x="12188952" y="457199"/>
                  </a:lnTo>
                  <a:lnTo>
                    <a:pt x="12188952" y="0"/>
                  </a:lnTo>
                  <a:close/>
                </a:path>
              </a:pathLst>
            </a:custGeom>
            <a:solidFill>
              <a:srgbClr val="BC57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6333744"/>
              <a:ext cx="12189460" cy="64135"/>
            </a:xfrm>
            <a:custGeom>
              <a:avLst/>
              <a:gdLst/>
              <a:ahLst/>
              <a:cxnLst/>
              <a:rect l="l" t="t" r="r" b="b"/>
              <a:pathLst>
                <a:path w="12189460" h="64135">
                  <a:moveTo>
                    <a:pt x="12188952" y="0"/>
                  </a:moveTo>
                  <a:lnTo>
                    <a:pt x="0" y="0"/>
                  </a:lnTo>
                  <a:lnTo>
                    <a:pt x="0" y="64007"/>
                  </a:lnTo>
                  <a:lnTo>
                    <a:pt x="12188952" y="64007"/>
                  </a:lnTo>
                  <a:lnTo>
                    <a:pt x="12188952" y="0"/>
                  </a:lnTo>
                  <a:close/>
                </a:path>
              </a:pathLst>
            </a:custGeom>
            <a:solidFill>
              <a:srgbClr val="E3831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4713478" y="2800934"/>
            <a:ext cx="2533015" cy="574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b="0" dirty="0">
                <a:solidFill>
                  <a:srgbClr val="000000"/>
                </a:solidFill>
                <a:latin typeface="Times New Roman"/>
                <a:cs typeface="Times New Roman"/>
              </a:rPr>
              <a:t>Thank</a:t>
            </a:r>
            <a:r>
              <a:rPr sz="3600" b="0" spc="-204" dirty="0">
                <a:solidFill>
                  <a:srgbClr val="000000"/>
                </a:solidFill>
                <a:latin typeface="Times New Roman"/>
                <a:cs typeface="Times New Roman"/>
              </a:rPr>
              <a:t> </a:t>
            </a:r>
            <a:r>
              <a:rPr sz="3600" b="0" spc="-75" dirty="0">
                <a:solidFill>
                  <a:srgbClr val="000000"/>
                </a:solidFill>
                <a:latin typeface="Times New Roman"/>
                <a:cs typeface="Times New Roman"/>
              </a:rPr>
              <a:t>You</a:t>
            </a:r>
            <a:r>
              <a:rPr sz="3600" b="0" spc="-95" dirty="0">
                <a:solidFill>
                  <a:srgbClr val="000000"/>
                </a:solidFill>
                <a:latin typeface="Times New Roman"/>
                <a:cs typeface="Times New Roman"/>
              </a:rPr>
              <a:t> </a:t>
            </a:r>
            <a:r>
              <a:rPr sz="3600" b="0" spc="-50" dirty="0">
                <a:solidFill>
                  <a:srgbClr val="000000"/>
                </a:solidFill>
                <a:latin typeface="Wingdings"/>
                <a:cs typeface="Wingdings"/>
              </a:rPr>
              <a:t></a:t>
            </a:r>
            <a:endParaRPr sz="3600">
              <a:latin typeface="Wingdings"/>
              <a:cs typeface="Wingdings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dirty="0"/>
              <a:t>23</a:t>
            </a:r>
            <a:r>
              <a:rPr spc="-5" dirty="0"/>
              <a:t> </a:t>
            </a:r>
            <a:r>
              <a:rPr dirty="0"/>
              <a:t>May</a:t>
            </a:r>
            <a:r>
              <a:rPr spc="-5" dirty="0"/>
              <a:t> </a:t>
            </a:r>
            <a:r>
              <a:rPr spc="-20" dirty="0"/>
              <a:t>2024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pc="-10" dirty="0"/>
              <a:t>MATHEMATICAL</a:t>
            </a:r>
            <a:r>
              <a:rPr spc="10" dirty="0"/>
              <a:t> </a:t>
            </a:r>
            <a:r>
              <a:rPr dirty="0"/>
              <a:t>TOOLS</a:t>
            </a:r>
            <a:r>
              <a:rPr spc="-15" dirty="0"/>
              <a:t> </a:t>
            </a:r>
            <a:r>
              <a:rPr dirty="0"/>
              <a:t>USED</a:t>
            </a:r>
            <a:r>
              <a:rPr spc="-30" dirty="0"/>
              <a:t> </a:t>
            </a:r>
            <a:r>
              <a:rPr dirty="0"/>
              <a:t>IN</a:t>
            </a:r>
            <a:r>
              <a:rPr spc="-30" dirty="0"/>
              <a:t> </a:t>
            </a:r>
            <a:r>
              <a:rPr dirty="0"/>
              <a:t>DIGITAL</a:t>
            </a:r>
            <a:r>
              <a:rPr spc="5" dirty="0"/>
              <a:t> </a:t>
            </a:r>
            <a:r>
              <a:rPr dirty="0"/>
              <a:t>IMAGE</a:t>
            </a:r>
            <a:r>
              <a:rPr spc="-5" dirty="0"/>
              <a:t> </a:t>
            </a:r>
            <a:r>
              <a:rPr spc="-10" dirty="0"/>
              <a:t>PROCESSING</a:t>
            </a:r>
          </a:p>
        </p:txBody>
      </p:sp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255"/>
              </a:lnSpc>
            </a:pPr>
            <a:fld id="{81D60167-4931-47E6-BA6A-407CBD079E47}" type="slidenum">
              <a:rPr spc="-25" dirty="0"/>
              <a:t>39</a:t>
            </a:fld>
            <a:endParaRPr spc="-2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309</TotalTime>
  <Words>3343</Words>
  <Application>Microsoft Office PowerPoint</Application>
  <PresentationFormat>Widescreen</PresentationFormat>
  <Paragraphs>668</Paragraphs>
  <Slides>39</Slides>
  <Notes>2</Notes>
  <HiddenSlides>1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7" baseType="lpstr">
      <vt:lpstr>Arial MT</vt:lpstr>
      <vt:lpstr>Calibri</vt:lpstr>
      <vt:lpstr>Cambria Math</vt:lpstr>
      <vt:lpstr>Symbol</vt:lpstr>
      <vt:lpstr>Times New Roman</vt:lpstr>
      <vt:lpstr>Trebuchet MS</vt:lpstr>
      <vt:lpstr>Wingdings</vt:lpstr>
      <vt:lpstr>Office Theme</vt:lpstr>
      <vt:lpstr>PowerPoint Presentation</vt:lpstr>
      <vt:lpstr>Array versus Matrix Operation</vt:lpstr>
      <vt:lpstr>Array versus Matrix Operation</vt:lpstr>
      <vt:lpstr>Array versus Matrix Operation</vt:lpstr>
      <vt:lpstr>Linear versus Nonlinear Operation</vt:lpstr>
      <vt:lpstr>Linear versus Nonlinear Operation</vt:lpstr>
      <vt:lpstr>Linear versus Nonlinear Operation</vt:lpstr>
      <vt:lpstr>Linear versus Nonlinear Operation</vt:lpstr>
      <vt:lpstr>Linear versus Nonlinear Operation</vt:lpstr>
      <vt:lpstr>Linear versus Nonlinear Operation</vt:lpstr>
      <vt:lpstr>Arithmetic Operations</vt:lpstr>
      <vt:lpstr>Arithmetic Operation</vt:lpstr>
      <vt:lpstr>Arithmetic Operation</vt:lpstr>
      <vt:lpstr>Arithmetic Operation (Addition)</vt:lpstr>
      <vt:lpstr>Arithmetic Operation (Addition)</vt:lpstr>
      <vt:lpstr>Arithmetic Operation (Subtraction)</vt:lpstr>
      <vt:lpstr>Arithmetic Operation (Subtraction)</vt:lpstr>
      <vt:lpstr>Arithmetic Operation (Subtraction)</vt:lpstr>
      <vt:lpstr>Arithmetic Operation (Multiplication and Division)</vt:lpstr>
      <vt:lpstr>Arithmetic Operation (Multiplication and Division)</vt:lpstr>
      <vt:lpstr>Arithmetic Operation (Multiplication and Division)</vt:lpstr>
      <vt:lpstr>Arithmetic Operation (Multiplication and Division)</vt:lpstr>
      <vt:lpstr>Set Operations</vt:lpstr>
      <vt:lpstr>Image Negatives</vt:lpstr>
      <vt:lpstr>Logical Operations</vt:lpstr>
      <vt:lpstr>Logical Operations</vt:lpstr>
      <vt:lpstr>Spatial Operations</vt:lpstr>
      <vt:lpstr>Spatial Operations</vt:lpstr>
      <vt:lpstr>Spatial Operations</vt:lpstr>
      <vt:lpstr>Spatial Operations</vt:lpstr>
      <vt:lpstr>Spatial Operations</vt:lpstr>
      <vt:lpstr>Spatial Operations</vt:lpstr>
      <vt:lpstr>Spatial Operations</vt:lpstr>
      <vt:lpstr>Spatial Operations</vt:lpstr>
      <vt:lpstr>Spatial Operations</vt:lpstr>
      <vt:lpstr>Spatial Operations</vt:lpstr>
      <vt:lpstr>Spatial Operations</vt:lpstr>
      <vt:lpstr>Spatial Operations</vt:lpstr>
      <vt:lpstr>Thank You 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2</dc:title>
  <dc:creator>User</dc:creator>
  <cp:lastModifiedBy>Md Manirujjaman</cp:lastModifiedBy>
  <cp:revision>6</cp:revision>
  <dcterms:created xsi:type="dcterms:W3CDTF">2025-09-30T07:27:21Z</dcterms:created>
  <dcterms:modified xsi:type="dcterms:W3CDTF">2025-11-05T14:44:56Z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2024-05-23T00:00:00Z</vt:filetime>
  </property>
  <property fmtid="{D5CDD505-2E9C-101B-9397-08002B2CF9AE}" pid="3" name="Creator">
    <vt:lpwstr>Microsoft® PowerPoint® 2013</vt:lpwstr>
  </property>
  <property fmtid="{D5CDD505-2E9C-101B-9397-08002B2CF9AE}" pid="4" name="LastSaved">
    <vt:filetime>2025-09-30T00:00:00Z</vt:filetime>
  </property>
  <property fmtid="{D5CDD505-2E9C-101B-9397-08002B2CF9AE}" pid="5" name="Producer">
    <vt:lpwstr>Microsoft® PowerPoint® 2013</vt:lpwstr>
  </property>
</Properties>
</file>