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30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6D42C-C238-4C3E-BC4F-8A301C3ACB5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BBD37-71E6-4ED7-BF70-CC616BD2F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8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digital image processing, </a:t>
            </a:r>
            <a:r>
              <a:rPr lang="en-US" b="1" dirty="0"/>
              <a:t>shading</a:t>
            </a:r>
            <a:r>
              <a:rPr lang="en-US" dirty="0"/>
              <a:t> refers to </a:t>
            </a:r>
            <a:r>
              <a:rPr lang="en-US" b="1" dirty="0"/>
              <a:t>uneven brightness or intensity</a:t>
            </a:r>
            <a:r>
              <a:rPr lang="en-US" dirty="0"/>
              <a:t> across an image that is </a:t>
            </a:r>
            <a:r>
              <a:rPr lang="en-US" b="1" dirty="0"/>
              <a:t>not part of the actual scene</a:t>
            </a:r>
            <a:r>
              <a:rPr lang="en-US" dirty="0"/>
              <a:t>.</a:t>
            </a:r>
          </a:p>
          <a:p>
            <a:r>
              <a:rPr lang="en-US" dirty="0"/>
              <a:t>It is usually caused by:</a:t>
            </a:r>
          </a:p>
          <a:p>
            <a:pPr lvl="1"/>
            <a:r>
              <a:rPr lang="en-US" b="1" dirty="0"/>
              <a:t>Non-uniform illumination</a:t>
            </a:r>
            <a:r>
              <a:rPr lang="en-US" dirty="0"/>
              <a:t> (lighting is brighter in some areas and darker in others).</a:t>
            </a:r>
          </a:p>
          <a:p>
            <a:pPr lvl="1"/>
            <a:r>
              <a:rPr lang="en-US" b="1" dirty="0"/>
              <a:t>Sensor imperfections</a:t>
            </a:r>
            <a:r>
              <a:rPr lang="en-US" dirty="0"/>
              <a:t> (camera or scanner may respond differently in different regions).</a:t>
            </a:r>
          </a:p>
          <a:p>
            <a:pPr lvl="1"/>
            <a:r>
              <a:rPr lang="en-US" b="1" dirty="0"/>
              <a:t>Lens or optical effects</a:t>
            </a:r>
            <a:r>
              <a:rPr lang="en-US" dirty="0"/>
              <a:t> (vignetting in cameras).</a:t>
            </a:r>
          </a:p>
          <a:p>
            <a:r>
              <a:rPr lang="en-US" dirty="0"/>
              <a:t>If you take a photo of a white sheet of paper, ideally all pixels should have the same brightness.</a:t>
            </a:r>
          </a:p>
          <a:p>
            <a:r>
              <a:rPr lang="en-US" dirty="0"/>
              <a:t>But due to lighting or camera issues, some areas appear </a:t>
            </a:r>
            <a:r>
              <a:rPr lang="en-US" b="1" dirty="0"/>
              <a:t>darker</a:t>
            </a:r>
            <a:r>
              <a:rPr lang="en-US" dirty="0"/>
              <a:t> and some </a:t>
            </a:r>
            <a:r>
              <a:rPr lang="en-US" b="1" dirty="0"/>
              <a:t>brighter</a:t>
            </a:r>
            <a:r>
              <a:rPr lang="en-US" dirty="0"/>
              <a:t>.</a:t>
            </a:r>
          </a:p>
          <a:p>
            <a:r>
              <a:rPr lang="en-US" dirty="0"/>
              <a:t>This uneven brightness is called </a:t>
            </a:r>
            <a:r>
              <a:rPr lang="en-US" b="1" dirty="0"/>
              <a:t>shading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BD37-71E6-4ED7-BF70-CC616BD2F36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54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BD37-71E6-4ED7-BF70-CC616BD2F36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019" y="926033"/>
            <a:ext cx="896937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926033"/>
            <a:ext cx="9749790" cy="7636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2450" y="3043301"/>
            <a:ext cx="6007734" cy="3046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019" y="6570624"/>
            <a:ext cx="637539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72736" y="6570624"/>
            <a:ext cx="345122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5593" y="6560927"/>
            <a:ext cx="19812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874" y="1564937"/>
            <a:ext cx="10742525" cy="13824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r>
              <a:rPr lang="en-US" sz="4400" i="1" spc="-25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lang="en-US"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 2</a:t>
            </a:r>
            <a:r>
              <a:rPr lang="en-US" sz="4400" i="1" spc="-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~</a:t>
            </a:r>
            <a:r>
              <a:rPr lang="en-US" sz="4400" i="1" spc="-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60" dirty="0">
                <a:latin typeface="Times New Roman"/>
                <a:cs typeface="Times New Roman"/>
              </a:rPr>
              <a:t>Mathematical</a:t>
            </a:r>
            <a:r>
              <a:rPr lang="en-US" sz="4400" i="1" spc="-165" dirty="0">
                <a:latin typeface="Times New Roman"/>
                <a:cs typeface="Times New Roman"/>
              </a:rPr>
              <a:t> </a:t>
            </a:r>
            <a:r>
              <a:rPr lang="en-US" sz="4400" i="1" spc="-130" dirty="0">
                <a:latin typeface="Times New Roman"/>
                <a:cs typeface="Times New Roman"/>
              </a:rPr>
              <a:t>Tools</a:t>
            </a:r>
            <a:r>
              <a:rPr lang="en-US" sz="4400" i="1" spc="-120" dirty="0">
                <a:latin typeface="Times New Roman"/>
                <a:cs typeface="Times New Roman"/>
              </a:rPr>
              <a:t> </a:t>
            </a:r>
            <a:r>
              <a:rPr lang="en-US" sz="4400" i="1" dirty="0">
                <a:latin typeface="Times New Roman"/>
                <a:cs typeface="Times New Roman"/>
              </a:rPr>
              <a:t>in</a:t>
            </a:r>
            <a:r>
              <a:rPr lang="en-US" sz="4400" i="1" spc="-140" dirty="0">
                <a:latin typeface="Times New Roman"/>
                <a:cs typeface="Times New Roman"/>
              </a:rPr>
              <a:t> </a:t>
            </a:r>
            <a:r>
              <a:rPr lang="en-US" sz="4400" i="1" spc="-10" dirty="0">
                <a:latin typeface="Times New Roman"/>
                <a:cs typeface="Times New Roman"/>
              </a:rPr>
              <a:t>Digital </a:t>
            </a:r>
            <a:r>
              <a:rPr lang="en-US" sz="4400" i="1" spc="-40" dirty="0">
                <a:latin typeface="Times New Roman"/>
                <a:cs typeface="Times New Roman"/>
              </a:rPr>
              <a:t>Image</a:t>
            </a:r>
            <a:r>
              <a:rPr lang="en-US" sz="4400" i="1" spc="-210" dirty="0">
                <a:latin typeface="Times New Roman"/>
                <a:cs typeface="Times New Roman"/>
              </a:rPr>
              <a:t> </a:t>
            </a:r>
            <a:r>
              <a:rPr lang="en-US" sz="4400" i="1" spc="-10" dirty="0">
                <a:latin typeface="Times New Roman"/>
                <a:cs typeface="Times New Roman"/>
              </a:rPr>
              <a:t>Processing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2963629"/>
            <a:ext cx="3657600" cy="1269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Created By</a:t>
            </a:r>
          </a:p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    </a:t>
            </a:r>
            <a:r>
              <a:rPr lang="en-US" sz="2000" b="1" i="1" dirty="0" err="1">
                <a:latin typeface="Times New Roman"/>
                <a:cs typeface="Times New Roman"/>
              </a:rPr>
              <a:t>Utsha</a:t>
            </a:r>
            <a:r>
              <a:rPr lang="en-US" sz="2000" b="1" i="1" dirty="0">
                <a:latin typeface="Times New Roman"/>
                <a:cs typeface="Times New Roman"/>
              </a:rPr>
              <a:t> Das</a:t>
            </a:r>
          </a:p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Lecturer, Dept. of CSE </a:t>
            </a:r>
            <a:r>
              <a:rPr sz="2000" i="1" spc="-10" dirty="0">
                <a:latin typeface="Times New Roman"/>
                <a:cs typeface="Times New Roman"/>
              </a:rPr>
              <a:t>RUET,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Rajshahi-</a:t>
            </a:r>
            <a:r>
              <a:rPr sz="2000" i="1" dirty="0">
                <a:latin typeface="Times New Roman"/>
                <a:cs typeface="Times New Roman"/>
              </a:rPr>
              <a:t>6204,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Bangladesh.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86DCF-6AF3-867F-E1AB-83DBF3F76FBF}"/>
              </a:ext>
            </a:extLst>
          </p:cNvPr>
          <p:cNvSpPr txBox="1"/>
          <p:nvPr/>
        </p:nvSpPr>
        <p:spPr>
          <a:xfrm>
            <a:off x="4471997" y="4361379"/>
            <a:ext cx="3248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by </a:t>
            </a:r>
          </a:p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Manirujjaman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Satarkul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Badda, Dhaka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3B348-3B74-9514-55D4-C1104B33D07C}"/>
              </a:ext>
            </a:extLst>
          </p:cNvPr>
          <p:cNvCxnSpPr>
            <a:cxnSpLocks/>
          </p:cNvCxnSpPr>
          <p:nvPr/>
        </p:nvCxnSpPr>
        <p:spPr>
          <a:xfrm>
            <a:off x="1220875" y="1599777"/>
            <a:ext cx="944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F2B834-8331-0306-4C57-5805F75B9F52}"/>
              </a:ext>
            </a:extLst>
          </p:cNvPr>
          <p:cNvCxnSpPr>
            <a:cxnSpLocks/>
          </p:cNvCxnSpPr>
          <p:nvPr/>
        </p:nvCxnSpPr>
        <p:spPr>
          <a:xfrm>
            <a:off x="3581400" y="2960396"/>
            <a:ext cx="4724400" cy="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IU Logo">
            <a:extLst>
              <a:ext uri="{FF2B5EF4-FFF2-40B4-BE49-F238E27FC236}">
                <a16:creationId xmlns:a16="http://schemas.microsoft.com/office/drawing/2014/main" id="{5FD7247E-B3C0-280A-34B4-0A9709A88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413"/>
            <a:ext cx="7948982" cy="15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</a:t>
            </a:r>
            <a:r>
              <a:rPr spc="-270" dirty="0"/>
              <a:t> </a:t>
            </a:r>
            <a:r>
              <a:rPr spc="-25" dirty="0"/>
              <a:t>versus</a:t>
            </a:r>
            <a:r>
              <a:rPr spc="-260" dirty="0"/>
              <a:t> </a:t>
            </a:r>
            <a:r>
              <a:rPr spc="-20" dirty="0"/>
              <a:t>Matrix</a:t>
            </a:r>
            <a:r>
              <a:rPr spc="-260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967306"/>
            <a:ext cx="10086340" cy="269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viewed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pixels.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E38312"/>
              </a:buClr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operation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involves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 is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carried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 pixel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basis.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E38312"/>
              </a:buClr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viewed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equivalently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matrices.</a:t>
            </a:r>
            <a:endParaRPr sz="2000">
              <a:latin typeface="Times New Roman"/>
              <a:cs typeface="Times New Roman"/>
            </a:endParaRPr>
          </a:p>
          <a:p>
            <a:pPr marL="103505" marR="5080" indent="-92075">
              <a:lnSpc>
                <a:spcPct val="15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103505" algn="l"/>
                <a:tab pos="23876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There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sz="20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situations</a:t>
            </a:r>
            <a:r>
              <a:rPr sz="20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0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carried</a:t>
            </a:r>
            <a:r>
              <a:rPr sz="20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20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matrix theory.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1861184"/>
            <a:ext cx="464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following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2x2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images: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4257" y="2665860"/>
            <a:ext cx="4380265" cy="15021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3999" y="4729825"/>
            <a:ext cx="4826029" cy="7859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</a:t>
            </a:r>
            <a:r>
              <a:rPr spc="-270" dirty="0"/>
              <a:t> </a:t>
            </a:r>
            <a:r>
              <a:rPr spc="-25" dirty="0"/>
              <a:t>versus</a:t>
            </a:r>
            <a:r>
              <a:rPr spc="-260" dirty="0"/>
              <a:t> </a:t>
            </a:r>
            <a:r>
              <a:rPr spc="-20" dirty="0"/>
              <a:t>Matrix</a:t>
            </a:r>
            <a:r>
              <a:rPr spc="-260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</a:t>
            </a:r>
            <a:r>
              <a:rPr spc="-270" dirty="0"/>
              <a:t> </a:t>
            </a:r>
            <a:r>
              <a:rPr spc="-25" dirty="0"/>
              <a:t>versus</a:t>
            </a:r>
            <a:r>
              <a:rPr spc="-260" dirty="0"/>
              <a:t> </a:t>
            </a:r>
            <a:r>
              <a:rPr spc="-20" dirty="0"/>
              <a:t>Matrix</a:t>
            </a:r>
            <a:r>
              <a:rPr spc="-260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953590"/>
            <a:ext cx="4966335" cy="315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470" indent="-193675" algn="just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204470" algn="l"/>
              </a:tabLst>
            </a:pP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We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assume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17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throughout</a:t>
            </a:r>
            <a:r>
              <a:rPr sz="17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course: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Clr>
                <a:srgbClr val="E38312"/>
              </a:buClr>
              <a:buFont typeface="Wingdings"/>
              <a:buChar char=""/>
            </a:pP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endParaRPr sz="1700">
              <a:latin typeface="Times New Roman"/>
              <a:cs typeface="Times New Roman"/>
            </a:endParaRPr>
          </a:p>
          <a:p>
            <a:pPr marL="103505" marR="5080" indent="-91440" algn="just">
              <a:lnSpc>
                <a:spcPct val="150100"/>
              </a:lnSpc>
              <a:spcBef>
                <a:spcPts val="140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3505" algn="l"/>
                <a:tab pos="254000" algn="l"/>
              </a:tabLst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	When</a:t>
            </a:r>
            <a:r>
              <a:rPr sz="17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7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refer</a:t>
            </a:r>
            <a:r>
              <a:rPr sz="17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raising</a:t>
            </a:r>
            <a:r>
              <a:rPr sz="17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7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7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power,</a:t>
            </a:r>
            <a:r>
              <a:rPr sz="17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we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mean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individual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raised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power;</a:t>
            </a:r>
            <a:endParaRPr sz="1700">
              <a:latin typeface="Times New Roman"/>
              <a:cs typeface="Times New Roman"/>
            </a:endParaRPr>
          </a:p>
          <a:p>
            <a:pPr marL="103505" marR="6350" indent="-91440" algn="just">
              <a:lnSpc>
                <a:spcPct val="150000"/>
              </a:lnSpc>
              <a:spcBef>
                <a:spcPts val="1390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3505" algn="l"/>
                <a:tab pos="254000" algn="l"/>
              </a:tabLst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	When</a:t>
            </a:r>
            <a:r>
              <a:rPr sz="17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7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refer</a:t>
            </a:r>
            <a:r>
              <a:rPr sz="17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dividing</a:t>
            </a:r>
            <a:r>
              <a:rPr sz="17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7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7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another,</a:t>
            </a:r>
            <a:r>
              <a:rPr sz="17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we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mean</a:t>
            </a:r>
            <a:r>
              <a:rPr sz="17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division</a:t>
            </a:r>
            <a:r>
              <a:rPr sz="17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17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corresponding</a:t>
            </a:r>
            <a:r>
              <a:rPr sz="17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pixel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pairs,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so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on.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20" y="1845564"/>
            <a:ext cx="4937760" cy="40233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1883155"/>
            <a:ext cx="9570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operator,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g(x,y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f(x,y)</a:t>
            </a:r>
            <a:r>
              <a:rPr sz="1800" spc="-1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3394075"/>
            <a:ext cx="3441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H</a:t>
            </a:r>
            <a:r>
              <a:rPr sz="1800" b="1" i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said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if,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352" y="4043560"/>
            <a:ext cx="5275557" cy="7465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2151" y="2688019"/>
            <a:ext cx="1941876" cy="3088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50619" y="5277053"/>
            <a:ext cx="83635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Where,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i</a:t>
            </a:r>
            <a:r>
              <a:rPr sz="1800" spc="209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j</a:t>
            </a:r>
            <a:r>
              <a:rPr sz="1800" spc="22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arbitrary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dirty="0">
                <a:latin typeface="Times New Roman"/>
                <a:cs typeface="Times New Roman"/>
              </a:rPr>
              <a:t>(x,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y)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and f</a:t>
            </a:r>
            <a:r>
              <a:rPr sz="1800" i="1" baseline="-20833" dirty="0">
                <a:latin typeface="Times New Roman"/>
                <a:cs typeface="Times New Roman"/>
              </a:rPr>
              <a:t>j</a:t>
            </a:r>
            <a:r>
              <a:rPr sz="1800" i="1" dirty="0">
                <a:latin typeface="Times New Roman"/>
                <a:cs typeface="Times New Roman"/>
              </a:rPr>
              <a:t>(x,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y)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sizes.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7492" y="1951736"/>
            <a:ext cx="62153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latin typeface="Times New Roman"/>
                <a:cs typeface="Times New Roman"/>
              </a:rPr>
              <a:t>Let’s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‘H’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summation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‘</a:t>
            </a:r>
            <a:r>
              <a:rPr sz="2000" spc="-25" dirty="0">
                <a:latin typeface="Times New Roman"/>
                <a:cs typeface="Times New Roman"/>
              </a:rPr>
              <a:t>Σ</a:t>
            </a:r>
            <a:r>
              <a:rPr sz="1800" spc="-25" dirty="0">
                <a:latin typeface="Times New Roman"/>
                <a:cs typeface="Times New Roman"/>
              </a:rPr>
              <a:t>’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382" y="2730971"/>
            <a:ext cx="5736120" cy="15274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619" y="1917319"/>
            <a:ext cx="12433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Given</a:t>
            </a:r>
            <a:r>
              <a:rPr sz="1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that,</a:t>
            </a:r>
            <a:r>
              <a:rPr sz="14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4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spc="-60" baseline="-16666" dirty="0">
                <a:solidFill>
                  <a:srgbClr val="404040"/>
                </a:solidFill>
                <a:latin typeface="Cambria Math"/>
                <a:cs typeface="Cambria Math"/>
              </a:rPr>
              <a:t>1</a:t>
            </a:r>
            <a:r>
              <a:rPr sz="1500" spc="270" baseline="-16666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49245" y="191007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10" h="293369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575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24684" y="191007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10" h="293369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16002" y="28575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6433" y="1821307"/>
            <a:ext cx="401955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28956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0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28956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1094" y="1917319"/>
            <a:ext cx="7124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spc="-37" baseline="-16666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500" spc="225" baseline="-16666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79113" y="191007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10" h="293369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575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54552" y="191007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10" h="293369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16002" y="28575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87826" y="1824355"/>
            <a:ext cx="400685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6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4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7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7439" y="1917319"/>
            <a:ext cx="18180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where,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1</a:t>
            </a:r>
            <a:r>
              <a:rPr sz="1500" spc="337" baseline="-16666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1,</a:t>
            </a:r>
            <a:r>
              <a:rPr sz="14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500" spc="337" baseline="-16666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Cambria Math"/>
                <a:cs typeface="Cambria Math"/>
              </a:rPr>
              <a:t>−1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63717" y="2383789"/>
            <a:ext cx="110489" cy="449580"/>
          </a:xfrm>
          <a:custGeom>
            <a:avLst/>
            <a:gdLst/>
            <a:ahLst/>
            <a:cxnLst/>
            <a:rect l="l" t="t" r="r" b="b"/>
            <a:pathLst>
              <a:path w="110489" h="449580">
                <a:moveTo>
                  <a:pt x="41402" y="77470"/>
                </a:moveTo>
                <a:lnTo>
                  <a:pt x="0" y="77470"/>
                </a:lnTo>
                <a:lnTo>
                  <a:pt x="0" y="85090"/>
                </a:lnTo>
                <a:lnTo>
                  <a:pt x="25273" y="85090"/>
                </a:lnTo>
                <a:lnTo>
                  <a:pt x="25273" y="361950"/>
                </a:lnTo>
                <a:lnTo>
                  <a:pt x="0" y="361950"/>
                </a:lnTo>
                <a:lnTo>
                  <a:pt x="0" y="369570"/>
                </a:lnTo>
                <a:lnTo>
                  <a:pt x="41402" y="369570"/>
                </a:lnTo>
                <a:lnTo>
                  <a:pt x="41402" y="361950"/>
                </a:lnTo>
                <a:lnTo>
                  <a:pt x="41402" y="85090"/>
                </a:lnTo>
                <a:lnTo>
                  <a:pt x="41402" y="77470"/>
                </a:lnTo>
                <a:close/>
              </a:path>
              <a:path w="110489" h="449580">
                <a:moveTo>
                  <a:pt x="110236" y="0"/>
                </a:moveTo>
                <a:lnTo>
                  <a:pt x="65532" y="0"/>
                </a:lnTo>
                <a:lnTo>
                  <a:pt x="65532" y="7620"/>
                </a:lnTo>
                <a:lnTo>
                  <a:pt x="93345" y="7620"/>
                </a:lnTo>
                <a:lnTo>
                  <a:pt x="93345" y="441960"/>
                </a:lnTo>
                <a:lnTo>
                  <a:pt x="65532" y="441960"/>
                </a:lnTo>
                <a:lnTo>
                  <a:pt x="65532" y="449580"/>
                </a:lnTo>
                <a:lnTo>
                  <a:pt x="110236" y="449580"/>
                </a:lnTo>
                <a:lnTo>
                  <a:pt x="110236" y="441960"/>
                </a:lnTo>
                <a:lnTo>
                  <a:pt x="110236" y="7620"/>
                </a:lnTo>
                <a:lnTo>
                  <a:pt x="11023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48100" y="2383789"/>
            <a:ext cx="45085" cy="449580"/>
          </a:xfrm>
          <a:custGeom>
            <a:avLst/>
            <a:gdLst/>
            <a:ahLst/>
            <a:cxnLst/>
            <a:rect l="l" t="t" r="r" b="b"/>
            <a:pathLst>
              <a:path w="45085" h="449580">
                <a:moveTo>
                  <a:pt x="44704" y="0"/>
                </a:moveTo>
                <a:lnTo>
                  <a:pt x="0" y="0"/>
                </a:lnTo>
                <a:lnTo>
                  <a:pt x="0" y="7620"/>
                </a:lnTo>
                <a:lnTo>
                  <a:pt x="0" y="441960"/>
                </a:lnTo>
                <a:lnTo>
                  <a:pt x="0" y="449580"/>
                </a:lnTo>
                <a:lnTo>
                  <a:pt x="44704" y="449580"/>
                </a:lnTo>
                <a:lnTo>
                  <a:pt x="44704" y="441960"/>
                </a:lnTo>
                <a:lnTo>
                  <a:pt x="16891" y="441960"/>
                </a:lnTo>
                <a:lnTo>
                  <a:pt x="16891" y="7620"/>
                </a:lnTo>
                <a:lnTo>
                  <a:pt x="44704" y="7620"/>
                </a:lnTo>
                <a:lnTo>
                  <a:pt x="447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50619" y="2467737"/>
            <a:ext cx="3008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Now,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[𝑎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(𝑥,</a:t>
            </a:r>
            <a:r>
              <a:rPr sz="1400" spc="-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𝑦)</a:t>
            </a:r>
            <a:r>
              <a:rPr sz="1400" spc="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1400" spc="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(𝑥,</a:t>
            </a:r>
            <a:r>
              <a:rPr sz="1400" spc="-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𝑦)]</a:t>
            </a:r>
            <a:r>
              <a:rPr sz="1400" spc="3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2100" spc="142" baseline="1984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1</a:t>
            </a:r>
            <a:r>
              <a:rPr sz="1400" spc="-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∗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03369" y="246125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448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78808" y="246125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16002" y="28448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12463" y="2371725"/>
            <a:ext cx="40005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0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90896" y="2526157"/>
            <a:ext cx="349250" cy="165100"/>
          </a:xfrm>
          <a:custGeom>
            <a:avLst/>
            <a:gdLst/>
            <a:ahLst/>
            <a:cxnLst/>
            <a:rect l="l" t="t" r="r" b="b"/>
            <a:pathLst>
              <a:path w="349250" h="165100">
                <a:moveTo>
                  <a:pt x="296417" y="0"/>
                </a:moveTo>
                <a:lnTo>
                  <a:pt x="294004" y="6603"/>
                </a:lnTo>
                <a:lnTo>
                  <a:pt x="303549" y="10800"/>
                </a:lnTo>
                <a:lnTo>
                  <a:pt x="311785" y="16557"/>
                </a:lnTo>
                <a:lnTo>
                  <a:pt x="331549" y="54800"/>
                </a:lnTo>
                <a:lnTo>
                  <a:pt x="333363" y="67407"/>
                </a:lnTo>
                <a:lnTo>
                  <a:pt x="333392" y="67611"/>
                </a:lnTo>
                <a:lnTo>
                  <a:pt x="334010" y="81660"/>
                </a:lnTo>
                <a:lnTo>
                  <a:pt x="333392" y="96234"/>
                </a:lnTo>
                <a:lnTo>
                  <a:pt x="331549" y="109473"/>
                </a:lnTo>
                <a:lnTo>
                  <a:pt x="311816" y="148447"/>
                </a:lnTo>
                <a:lnTo>
                  <a:pt x="294258" y="158368"/>
                </a:lnTo>
                <a:lnTo>
                  <a:pt x="296417" y="165100"/>
                </a:lnTo>
                <a:lnTo>
                  <a:pt x="335406" y="136270"/>
                </a:lnTo>
                <a:lnTo>
                  <a:pt x="348158" y="97766"/>
                </a:lnTo>
                <a:lnTo>
                  <a:pt x="348995" y="82550"/>
                </a:lnTo>
                <a:lnTo>
                  <a:pt x="348169" y="67611"/>
                </a:lnTo>
                <a:lnTo>
                  <a:pt x="348158" y="67407"/>
                </a:lnTo>
                <a:lnTo>
                  <a:pt x="335406" y="28955"/>
                </a:lnTo>
                <a:lnTo>
                  <a:pt x="308367" y="4310"/>
                </a:lnTo>
                <a:lnTo>
                  <a:pt x="296417" y="0"/>
                </a:lnTo>
                <a:close/>
              </a:path>
              <a:path w="349250" h="165100">
                <a:moveTo>
                  <a:pt x="52704" y="0"/>
                </a:moveTo>
                <a:lnTo>
                  <a:pt x="13715" y="28955"/>
                </a:lnTo>
                <a:lnTo>
                  <a:pt x="857" y="67407"/>
                </a:lnTo>
                <a:lnTo>
                  <a:pt x="0" y="82550"/>
                </a:lnTo>
                <a:lnTo>
                  <a:pt x="769" y="96234"/>
                </a:lnTo>
                <a:lnTo>
                  <a:pt x="13588" y="136270"/>
                </a:lnTo>
                <a:lnTo>
                  <a:pt x="52704" y="165100"/>
                </a:lnTo>
                <a:lnTo>
                  <a:pt x="54863" y="158368"/>
                </a:lnTo>
                <a:lnTo>
                  <a:pt x="45430" y="154223"/>
                </a:lnTo>
                <a:lnTo>
                  <a:pt x="37306" y="148447"/>
                </a:lnTo>
                <a:lnTo>
                  <a:pt x="17573" y="109474"/>
                </a:lnTo>
                <a:lnTo>
                  <a:pt x="15150" y="82550"/>
                </a:lnTo>
                <a:lnTo>
                  <a:pt x="15112" y="81660"/>
                </a:lnTo>
                <a:lnTo>
                  <a:pt x="20631" y="43227"/>
                </a:lnTo>
                <a:lnTo>
                  <a:pt x="45591" y="10800"/>
                </a:lnTo>
                <a:lnTo>
                  <a:pt x="55117" y="6603"/>
                </a:lnTo>
                <a:lnTo>
                  <a:pt x="527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90998" y="2467737"/>
            <a:ext cx="702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1400" spc="130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−1</a:t>
            </a:r>
            <a:r>
              <a:rPr sz="1400" spc="13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∗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39156" y="246125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16002" y="28448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72810" y="2374773"/>
            <a:ext cx="40005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6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4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7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6019" y="3072764"/>
            <a:ext cx="330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3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100" spc="-75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endParaRPr sz="2100" baseline="1984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18409" y="2988309"/>
            <a:ext cx="110489" cy="450850"/>
          </a:xfrm>
          <a:custGeom>
            <a:avLst/>
            <a:gdLst/>
            <a:ahLst/>
            <a:cxnLst/>
            <a:rect l="l" t="t" r="r" b="b"/>
            <a:pathLst>
              <a:path w="110489" h="450850">
                <a:moveTo>
                  <a:pt x="41402" y="77470"/>
                </a:moveTo>
                <a:lnTo>
                  <a:pt x="0" y="77470"/>
                </a:lnTo>
                <a:lnTo>
                  <a:pt x="0" y="85090"/>
                </a:lnTo>
                <a:lnTo>
                  <a:pt x="25273" y="85090"/>
                </a:lnTo>
                <a:lnTo>
                  <a:pt x="25273" y="361950"/>
                </a:lnTo>
                <a:lnTo>
                  <a:pt x="0" y="361950"/>
                </a:lnTo>
                <a:lnTo>
                  <a:pt x="0" y="369570"/>
                </a:lnTo>
                <a:lnTo>
                  <a:pt x="41402" y="369570"/>
                </a:lnTo>
                <a:lnTo>
                  <a:pt x="41402" y="361950"/>
                </a:lnTo>
                <a:lnTo>
                  <a:pt x="41402" y="85090"/>
                </a:lnTo>
                <a:lnTo>
                  <a:pt x="41402" y="77470"/>
                </a:lnTo>
                <a:close/>
              </a:path>
              <a:path w="110489" h="450850">
                <a:moveTo>
                  <a:pt x="110236" y="0"/>
                </a:moveTo>
                <a:lnTo>
                  <a:pt x="65532" y="0"/>
                </a:lnTo>
                <a:lnTo>
                  <a:pt x="65532" y="8890"/>
                </a:lnTo>
                <a:lnTo>
                  <a:pt x="93345" y="8890"/>
                </a:lnTo>
                <a:lnTo>
                  <a:pt x="93345" y="441960"/>
                </a:lnTo>
                <a:lnTo>
                  <a:pt x="65532" y="441960"/>
                </a:lnTo>
                <a:lnTo>
                  <a:pt x="65532" y="450850"/>
                </a:lnTo>
                <a:lnTo>
                  <a:pt x="110236" y="450850"/>
                </a:lnTo>
                <a:lnTo>
                  <a:pt x="110236" y="441960"/>
                </a:lnTo>
                <a:lnTo>
                  <a:pt x="110236" y="8890"/>
                </a:lnTo>
                <a:lnTo>
                  <a:pt x="11023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42288" y="2988309"/>
            <a:ext cx="110489" cy="450850"/>
          </a:xfrm>
          <a:custGeom>
            <a:avLst/>
            <a:gdLst/>
            <a:ahLst/>
            <a:cxnLst/>
            <a:rect l="l" t="t" r="r" b="b"/>
            <a:pathLst>
              <a:path w="110489" h="450850">
                <a:moveTo>
                  <a:pt x="44704" y="0"/>
                </a:moveTo>
                <a:lnTo>
                  <a:pt x="0" y="0"/>
                </a:lnTo>
                <a:lnTo>
                  <a:pt x="0" y="8890"/>
                </a:lnTo>
                <a:lnTo>
                  <a:pt x="0" y="441960"/>
                </a:lnTo>
                <a:lnTo>
                  <a:pt x="0" y="450850"/>
                </a:lnTo>
                <a:lnTo>
                  <a:pt x="44704" y="450850"/>
                </a:lnTo>
                <a:lnTo>
                  <a:pt x="44704" y="441960"/>
                </a:lnTo>
                <a:lnTo>
                  <a:pt x="16891" y="441960"/>
                </a:lnTo>
                <a:lnTo>
                  <a:pt x="16891" y="8890"/>
                </a:lnTo>
                <a:lnTo>
                  <a:pt x="44704" y="8890"/>
                </a:lnTo>
                <a:lnTo>
                  <a:pt x="44704" y="0"/>
                </a:lnTo>
                <a:close/>
              </a:path>
              <a:path w="110489" h="450850">
                <a:moveTo>
                  <a:pt x="109982" y="77470"/>
                </a:moveTo>
                <a:lnTo>
                  <a:pt x="68580" y="77470"/>
                </a:lnTo>
                <a:lnTo>
                  <a:pt x="68580" y="85090"/>
                </a:lnTo>
                <a:lnTo>
                  <a:pt x="68580" y="361950"/>
                </a:lnTo>
                <a:lnTo>
                  <a:pt x="68580" y="369570"/>
                </a:lnTo>
                <a:lnTo>
                  <a:pt x="109982" y="369570"/>
                </a:lnTo>
                <a:lnTo>
                  <a:pt x="109982" y="361950"/>
                </a:lnTo>
                <a:lnTo>
                  <a:pt x="84582" y="361950"/>
                </a:lnTo>
                <a:lnTo>
                  <a:pt x="84582" y="85090"/>
                </a:lnTo>
                <a:lnTo>
                  <a:pt x="109982" y="85090"/>
                </a:lnTo>
                <a:lnTo>
                  <a:pt x="109982" y="7747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33905" y="30657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448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42617" y="2976752"/>
            <a:ext cx="40005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0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288290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22677" y="3072764"/>
            <a:ext cx="1587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27148" y="30657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16002" y="28448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60422" y="2979801"/>
            <a:ext cx="66675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  <a:tabLst>
                <a:tab pos="421005" algn="l"/>
              </a:tabLst>
            </a:pP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−6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−5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60"/>
              </a:lnSpc>
              <a:tabLst>
                <a:tab pos="421005" algn="l"/>
              </a:tabLst>
            </a:pP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−4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−7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76019" y="3678173"/>
            <a:ext cx="2971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= </a:t>
            </a:r>
            <a:r>
              <a:rPr sz="2100" spc="-75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endParaRPr sz="2100" baseline="1984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68601" y="3594100"/>
            <a:ext cx="110489" cy="449580"/>
          </a:xfrm>
          <a:custGeom>
            <a:avLst/>
            <a:gdLst/>
            <a:ahLst/>
            <a:cxnLst/>
            <a:rect l="l" t="t" r="r" b="b"/>
            <a:pathLst>
              <a:path w="110489" h="449579">
                <a:moveTo>
                  <a:pt x="41402" y="76200"/>
                </a:moveTo>
                <a:lnTo>
                  <a:pt x="0" y="76200"/>
                </a:lnTo>
                <a:lnTo>
                  <a:pt x="0" y="83820"/>
                </a:lnTo>
                <a:lnTo>
                  <a:pt x="25273" y="83820"/>
                </a:lnTo>
                <a:lnTo>
                  <a:pt x="25273" y="361950"/>
                </a:lnTo>
                <a:lnTo>
                  <a:pt x="0" y="361950"/>
                </a:lnTo>
                <a:lnTo>
                  <a:pt x="0" y="369570"/>
                </a:lnTo>
                <a:lnTo>
                  <a:pt x="41402" y="369570"/>
                </a:lnTo>
                <a:lnTo>
                  <a:pt x="41402" y="361950"/>
                </a:lnTo>
                <a:lnTo>
                  <a:pt x="41402" y="83820"/>
                </a:lnTo>
                <a:lnTo>
                  <a:pt x="41402" y="76200"/>
                </a:lnTo>
                <a:close/>
              </a:path>
              <a:path w="110489" h="449579">
                <a:moveTo>
                  <a:pt x="110236" y="0"/>
                </a:moveTo>
                <a:lnTo>
                  <a:pt x="65532" y="0"/>
                </a:lnTo>
                <a:lnTo>
                  <a:pt x="65532" y="7620"/>
                </a:lnTo>
                <a:lnTo>
                  <a:pt x="93345" y="7620"/>
                </a:lnTo>
                <a:lnTo>
                  <a:pt x="93345" y="440690"/>
                </a:lnTo>
                <a:lnTo>
                  <a:pt x="65532" y="440690"/>
                </a:lnTo>
                <a:lnTo>
                  <a:pt x="65532" y="449580"/>
                </a:lnTo>
                <a:lnTo>
                  <a:pt x="110236" y="449580"/>
                </a:lnTo>
                <a:lnTo>
                  <a:pt x="110236" y="440690"/>
                </a:lnTo>
                <a:lnTo>
                  <a:pt x="110236" y="7620"/>
                </a:lnTo>
                <a:lnTo>
                  <a:pt x="11023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08760" y="3594100"/>
            <a:ext cx="110489" cy="449580"/>
          </a:xfrm>
          <a:custGeom>
            <a:avLst/>
            <a:gdLst/>
            <a:ahLst/>
            <a:cxnLst/>
            <a:rect l="l" t="t" r="r" b="b"/>
            <a:pathLst>
              <a:path w="110490" h="449579">
                <a:moveTo>
                  <a:pt x="44704" y="0"/>
                </a:moveTo>
                <a:lnTo>
                  <a:pt x="0" y="0"/>
                </a:lnTo>
                <a:lnTo>
                  <a:pt x="0" y="7620"/>
                </a:lnTo>
                <a:lnTo>
                  <a:pt x="0" y="440690"/>
                </a:lnTo>
                <a:lnTo>
                  <a:pt x="0" y="449580"/>
                </a:lnTo>
                <a:lnTo>
                  <a:pt x="44704" y="449580"/>
                </a:lnTo>
                <a:lnTo>
                  <a:pt x="44704" y="440690"/>
                </a:lnTo>
                <a:lnTo>
                  <a:pt x="16891" y="440690"/>
                </a:lnTo>
                <a:lnTo>
                  <a:pt x="16891" y="7620"/>
                </a:lnTo>
                <a:lnTo>
                  <a:pt x="44704" y="7620"/>
                </a:lnTo>
                <a:lnTo>
                  <a:pt x="44704" y="0"/>
                </a:lnTo>
                <a:close/>
              </a:path>
              <a:path w="110490" h="449579">
                <a:moveTo>
                  <a:pt x="109982" y="76200"/>
                </a:moveTo>
                <a:lnTo>
                  <a:pt x="68580" y="76200"/>
                </a:lnTo>
                <a:lnTo>
                  <a:pt x="68580" y="83820"/>
                </a:lnTo>
                <a:lnTo>
                  <a:pt x="68580" y="361950"/>
                </a:lnTo>
                <a:lnTo>
                  <a:pt x="68580" y="369570"/>
                </a:lnTo>
                <a:lnTo>
                  <a:pt x="109982" y="369570"/>
                </a:lnTo>
                <a:lnTo>
                  <a:pt x="109982" y="361950"/>
                </a:lnTo>
                <a:lnTo>
                  <a:pt x="84582" y="361950"/>
                </a:lnTo>
                <a:lnTo>
                  <a:pt x="84582" y="83820"/>
                </a:lnTo>
                <a:lnTo>
                  <a:pt x="109982" y="83820"/>
                </a:lnTo>
                <a:lnTo>
                  <a:pt x="109982" y="7620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09089" y="3583685"/>
            <a:ext cx="668655" cy="44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105"/>
              </a:spcBef>
              <a:tabLst>
                <a:tab pos="422275" algn="l"/>
              </a:tabLst>
            </a:pP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−6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−3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655"/>
              </a:lnSpc>
              <a:tabLst>
                <a:tab pos="422275" algn="l"/>
              </a:tabLst>
            </a:pP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−2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37919" y="4168902"/>
            <a:ext cx="256286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−15</a:t>
            </a:r>
            <a:endParaRPr sz="1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250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Again, </a:t>
            </a:r>
            <a:r>
              <a:rPr sz="2100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2100" spc="-104" baseline="198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(𝑥,</a:t>
            </a:r>
            <a:r>
              <a:rPr sz="1400" spc="-7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𝑦)</a:t>
            </a:r>
            <a:r>
              <a:rPr sz="1400" spc="1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1400" spc="5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100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2100" spc="-104" baseline="198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500" baseline="-16666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(𝑥,</a:t>
            </a:r>
            <a:r>
              <a:rPr sz="1400" spc="-7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𝑦)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71421" y="49834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448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46860" y="49834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09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16002" y="28448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150619" y="4990591"/>
            <a:ext cx="579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7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100" baseline="1984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2100" spc="637" baseline="198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100" spc="-75" baseline="29761" dirty="0">
                <a:solidFill>
                  <a:srgbClr val="404040"/>
                </a:solidFill>
                <a:latin typeface="Cambria Math"/>
                <a:cs typeface="Cambria Math"/>
              </a:rPr>
              <a:t>0</a:t>
            </a:r>
            <a:endParaRPr sz="2100" baseline="29761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09849" y="49834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448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20112" y="4983479"/>
            <a:ext cx="41910" cy="292100"/>
          </a:xfrm>
          <a:custGeom>
            <a:avLst/>
            <a:gdLst/>
            <a:ahLst/>
            <a:cxnLst/>
            <a:rect l="l" t="t" r="r" b="b"/>
            <a:pathLst>
              <a:path w="41910" h="29210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4480"/>
                </a:lnTo>
                <a:lnTo>
                  <a:pt x="0" y="292100"/>
                </a:lnTo>
                <a:lnTo>
                  <a:pt x="41402" y="292100"/>
                </a:lnTo>
                <a:lnTo>
                  <a:pt x="41402" y="284480"/>
                </a:lnTo>
                <a:lnTo>
                  <a:pt x="16002" y="28448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80133" y="5106416"/>
            <a:ext cx="1130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8290" algn="l"/>
                <a:tab pos="883919" algn="l"/>
              </a:tabLst>
            </a:pP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1" name="object 41"/>
          <p:cNvSpPr txBox="1"/>
          <p:nvPr/>
        </p:nvSpPr>
        <p:spPr>
          <a:xfrm>
            <a:off x="1817877" y="4897627"/>
            <a:ext cx="132651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660"/>
              </a:lnSpc>
              <a:spcBef>
                <a:spcPts val="100"/>
              </a:spcBef>
              <a:tabLst>
                <a:tab pos="1056005" algn="l"/>
              </a:tabLst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400" spc="9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2100" baseline="-29761" dirty="0">
                <a:solidFill>
                  <a:srgbClr val="404040"/>
                </a:solidFill>
                <a:latin typeface="Cambria Math"/>
                <a:cs typeface="Cambria Math"/>
              </a:rPr>
              <a:t>+ </a:t>
            </a:r>
            <a:r>
              <a:rPr sz="2100" baseline="-27777" dirty="0">
                <a:solidFill>
                  <a:srgbClr val="404040"/>
                </a:solidFill>
                <a:latin typeface="Cambria Math"/>
                <a:cs typeface="Cambria Math"/>
              </a:rPr>
              <a:t>∑</a:t>
            </a:r>
            <a:r>
              <a:rPr sz="2100" spc="644" baseline="-27777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−6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−5</a:t>
            </a:r>
            <a:endParaRPr sz="1400">
              <a:latin typeface="Cambria Math"/>
              <a:cs typeface="Cambria Math"/>
            </a:endParaRPr>
          </a:p>
          <a:p>
            <a:pPr marR="30480" algn="r">
              <a:lnSpc>
                <a:spcPts val="1660"/>
              </a:lnSpc>
            </a:pP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−7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76019" y="5424932"/>
            <a:ext cx="635635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7</a:t>
            </a:r>
            <a:r>
              <a:rPr sz="1400" spc="-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1400" spc="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22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mbria Math"/>
                <a:cs typeface="Cambria Math"/>
              </a:rPr>
              <a:t>−15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452876" y="2325369"/>
            <a:ext cx="507365" cy="245110"/>
          </a:xfrm>
          <a:custGeom>
            <a:avLst/>
            <a:gdLst/>
            <a:ahLst/>
            <a:cxnLst/>
            <a:rect l="l" t="t" r="r" b="b"/>
            <a:pathLst>
              <a:path w="507364" h="245110">
                <a:moveTo>
                  <a:pt x="62611" y="37211"/>
                </a:moveTo>
                <a:lnTo>
                  <a:pt x="59944" y="29591"/>
                </a:lnTo>
                <a:lnTo>
                  <a:pt x="46316" y="34518"/>
                </a:lnTo>
                <a:lnTo>
                  <a:pt x="34378" y="41656"/>
                </a:lnTo>
                <a:lnTo>
                  <a:pt x="8724" y="75806"/>
                </a:lnTo>
                <a:lnTo>
                  <a:pt x="50" y="122555"/>
                </a:lnTo>
                <a:lnTo>
                  <a:pt x="0" y="123571"/>
                </a:lnTo>
                <a:lnTo>
                  <a:pt x="876" y="139128"/>
                </a:lnTo>
                <a:lnTo>
                  <a:pt x="965" y="140817"/>
                </a:lnTo>
                <a:lnTo>
                  <a:pt x="15494" y="184531"/>
                </a:lnTo>
                <a:lnTo>
                  <a:pt x="46291" y="212509"/>
                </a:lnTo>
                <a:lnTo>
                  <a:pt x="59944" y="217424"/>
                </a:lnTo>
                <a:lnTo>
                  <a:pt x="62230" y="209804"/>
                </a:lnTo>
                <a:lnTo>
                  <a:pt x="51536" y="205066"/>
                </a:lnTo>
                <a:lnTo>
                  <a:pt x="42316" y="198475"/>
                </a:lnTo>
                <a:lnTo>
                  <a:pt x="19913" y="154178"/>
                </a:lnTo>
                <a:lnTo>
                  <a:pt x="17145" y="122555"/>
                </a:lnTo>
                <a:lnTo>
                  <a:pt x="17830" y="106527"/>
                </a:lnTo>
                <a:lnTo>
                  <a:pt x="28321" y="66929"/>
                </a:lnTo>
                <a:lnTo>
                  <a:pt x="51752" y="41935"/>
                </a:lnTo>
                <a:lnTo>
                  <a:pt x="62611" y="37211"/>
                </a:lnTo>
                <a:close/>
              </a:path>
              <a:path w="507364" h="245110">
                <a:moveTo>
                  <a:pt x="438658" y="123571"/>
                </a:moveTo>
                <a:lnTo>
                  <a:pt x="429920" y="75806"/>
                </a:lnTo>
                <a:lnTo>
                  <a:pt x="404329" y="41656"/>
                </a:lnTo>
                <a:lnTo>
                  <a:pt x="378841" y="29591"/>
                </a:lnTo>
                <a:lnTo>
                  <a:pt x="376174" y="37211"/>
                </a:lnTo>
                <a:lnTo>
                  <a:pt x="387019" y="41935"/>
                </a:lnTo>
                <a:lnTo>
                  <a:pt x="396367" y="48450"/>
                </a:lnTo>
                <a:lnTo>
                  <a:pt x="418744" y="91935"/>
                </a:lnTo>
                <a:lnTo>
                  <a:pt x="421513" y="122555"/>
                </a:lnTo>
                <a:lnTo>
                  <a:pt x="420814" y="139128"/>
                </a:lnTo>
                <a:lnTo>
                  <a:pt x="410464" y="179705"/>
                </a:lnTo>
                <a:lnTo>
                  <a:pt x="376428" y="209804"/>
                </a:lnTo>
                <a:lnTo>
                  <a:pt x="378841" y="217424"/>
                </a:lnTo>
                <a:lnTo>
                  <a:pt x="414718" y="196037"/>
                </a:lnTo>
                <a:lnTo>
                  <a:pt x="434822" y="156718"/>
                </a:lnTo>
                <a:lnTo>
                  <a:pt x="437692" y="140817"/>
                </a:lnTo>
                <a:lnTo>
                  <a:pt x="438658" y="123571"/>
                </a:lnTo>
                <a:close/>
              </a:path>
              <a:path w="507364" h="245110">
                <a:moveTo>
                  <a:pt x="507238" y="0"/>
                </a:moveTo>
                <a:lnTo>
                  <a:pt x="462153" y="0"/>
                </a:lnTo>
                <a:lnTo>
                  <a:pt x="462153" y="7620"/>
                </a:lnTo>
                <a:lnTo>
                  <a:pt x="488823" y="7620"/>
                </a:lnTo>
                <a:lnTo>
                  <a:pt x="488823" y="236220"/>
                </a:lnTo>
                <a:lnTo>
                  <a:pt x="462153" y="236220"/>
                </a:lnTo>
                <a:lnTo>
                  <a:pt x="462153" y="245110"/>
                </a:lnTo>
                <a:lnTo>
                  <a:pt x="507238" y="245110"/>
                </a:lnTo>
                <a:lnTo>
                  <a:pt x="507238" y="236220"/>
                </a:lnTo>
                <a:lnTo>
                  <a:pt x="507238" y="7620"/>
                </a:lnTo>
                <a:lnTo>
                  <a:pt x="50723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66518" y="2325369"/>
            <a:ext cx="45085" cy="245110"/>
          </a:xfrm>
          <a:custGeom>
            <a:avLst/>
            <a:gdLst/>
            <a:ahLst/>
            <a:cxnLst/>
            <a:rect l="l" t="t" r="r" b="b"/>
            <a:pathLst>
              <a:path w="45085" h="245110">
                <a:moveTo>
                  <a:pt x="45085" y="0"/>
                </a:moveTo>
                <a:lnTo>
                  <a:pt x="0" y="0"/>
                </a:lnTo>
                <a:lnTo>
                  <a:pt x="0" y="7620"/>
                </a:lnTo>
                <a:lnTo>
                  <a:pt x="0" y="236220"/>
                </a:lnTo>
                <a:lnTo>
                  <a:pt x="0" y="245110"/>
                </a:lnTo>
                <a:lnTo>
                  <a:pt x="45085" y="245110"/>
                </a:lnTo>
                <a:lnTo>
                  <a:pt x="45085" y="236220"/>
                </a:lnTo>
                <a:lnTo>
                  <a:pt x="18415" y="236220"/>
                </a:lnTo>
                <a:lnTo>
                  <a:pt x="18415" y="7620"/>
                </a:lnTo>
                <a:lnTo>
                  <a:pt x="45085" y="7620"/>
                </a:lnTo>
                <a:lnTo>
                  <a:pt x="4508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79623" y="2354960"/>
            <a:ext cx="438784" cy="187960"/>
          </a:xfrm>
          <a:custGeom>
            <a:avLst/>
            <a:gdLst/>
            <a:ahLst/>
            <a:cxnLst/>
            <a:rect l="l" t="t" r="r" b="b"/>
            <a:pathLst>
              <a:path w="438785" h="187960">
                <a:moveTo>
                  <a:pt x="378840" y="0"/>
                </a:moveTo>
                <a:lnTo>
                  <a:pt x="376174" y="7619"/>
                </a:lnTo>
                <a:lnTo>
                  <a:pt x="387032" y="12334"/>
                </a:lnTo>
                <a:lnTo>
                  <a:pt x="396366" y="18859"/>
                </a:lnTo>
                <a:lnTo>
                  <a:pt x="418750" y="62341"/>
                </a:lnTo>
                <a:lnTo>
                  <a:pt x="421513" y="92963"/>
                </a:lnTo>
                <a:lnTo>
                  <a:pt x="420822" y="109537"/>
                </a:lnTo>
                <a:lnTo>
                  <a:pt x="410463" y="150113"/>
                </a:lnTo>
                <a:lnTo>
                  <a:pt x="376427" y="180212"/>
                </a:lnTo>
                <a:lnTo>
                  <a:pt x="378840" y="187833"/>
                </a:lnTo>
                <a:lnTo>
                  <a:pt x="414720" y="166437"/>
                </a:lnTo>
                <a:lnTo>
                  <a:pt x="434832" y="127126"/>
                </a:lnTo>
                <a:lnTo>
                  <a:pt x="438657" y="93979"/>
                </a:lnTo>
                <a:lnTo>
                  <a:pt x="437694" y="76932"/>
                </a:lnTo>
                <a:lnTo>
                  <a:pt x="437683" y="76737"/>
                </a:lnTo>
                <a:lnTo>
                  <a:pt x="423163" y="32892"/>
                </a:lnTo>
                <a:lnTo>
                  <a:pt x="392410" y="4925"/>
                </a:lnTo>
                <a:lnTo>
                  <a:pt x="378840" y="0"/>
                </a:lnTo>
                <a:close/>
              </a:path>
              <a:path w="438785" h="187960">
                <a:moveTo>
                  <a:pt x="59943" y="0"/>
                </a:moveTo>
                <a:lnTo>
                  <a:pt x="24118" y="21395"/>
                </a:lnTo>
                <a:lnTo>
                  <a:pt x="3889" y="60817"/>
                </a:lnTo>
                <a:lnTo>
                  <a:pt x="0" y="93979"/>
                </a:lnTo>
                <a:lnTo>
                  <a:pt x="879" y="109537"/>
                </a:lnTo>
                <a:lnTo>
                  <a:pt x="974" y="111220"/>
                </a:lnTo>
                <a:lnTo>
                  <a:pt x="15493" y="154939"/>
                </a:lnTo>
                <a:lnTo>
                  <a:pt x="46301" y="182907"/>
                </a:lnTo>
                <a:lnTo>
                  <a:pt x="59943" y="187833"/>
                </a:lnTo>
                <a:lnTo>
                  <a:pt x="62230" y="180212"/>
                </a:lnTo>
                <a:lnTo>
                  <a:pt x="51538" y="175474"/>
                </a:lnTo>
                <a:lnTo>
                  <a:pt x="42322" y="168878"/>
                </a:lnTo>
                <a:lnTo>
                  <a:pt x="19923" y="124587"/>
                </a:lnTo>
                <a:lnTo>
                  <a:pt x="17144" y="92963"/>
                </a:lnTo>
                <a:lnTo>
                  <a:pt x="17837" y="76932"/>
                </a:lnTo>
                <a:lnTo>
                  <a:pt x="28320" y="37337"/>
                </a:lnTo>
                <a:lnTo>
                  <a:pt x="62611" y="7619"/>
                </a:lnTo>
                <a:lnTo>
                  <a:pt x="59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35500" y="2353309"/>
            <a:ext cx="506095" cy="189865"/>
          </a:xfrm>
          <a:custGeom>
            <a:avLst/>
            <a:gdLst/>
            <a:ahLst/>
            <a:cxnLst/>
            <a:rect l="l" t="t" r="r" b="b"/>
            <a:pathLst>
              <a:path w="506095" h="189864">
                <a:moveTo>
                  <a:pt x="62611" y="9271"/>
                </a:moveTo>
                <a:lnTo>
                  <a:pt x="59944" y="1651"/>
                </a:lnTo>
                <a:lnTo>
                  <a:pt x="46316" y="6578"/>
                </a:lnTo>
                <a:lnTo>
                  <a:pt x="34378" y="13716"/>
                </a:lnTo>
                <a:lnTo>
                  <a:pt x="8724" y="47866"/>
                </a:lnTo>
                <a:lnTo>
                  <a:pt x="50" y="94615"/>
                </a:lnTo>
                <a:lnTo>
                  <a:pt x="0" y="95631"/>
                </a:lnTo>
                <a:lnTo>
                  <a:pt x="876" y="111188"/>
                </a:lnTo>
                <a:lnTo>
                  <a:pt x="965" y="112877"/>
                </a:lnTo>
                <a:lnTo>
                  <a:pt x="15494" y="156591"/>
                </a:lnTo>
                <a:lnTo>
                  <a:pt x="46291" y="184569"/>
                </a:lnTo>
                <a:lnTo>
                  <a:pt x="59944" y="189484"/>
                </a:lnTo>
                <a:lnTo>
                  <a:pt x="62230" y="181864"/>
                </a:lnTo>
                <a:lnTo>
                  <a:pt x="51536" y="177126"/>
                </a:lnTo>
                <a:lnTo>
                  <a:pt x="42316" y="170535"/>
                </a:lnTo>
                <a:lnTo>
                  <a:pt x="19913" y="126238"/>
                </a:lnTo>
                <a:lnTo>
                  <a:pt x="17145" y="94615"/>
                </a:lnTo>
                <a:lnTo>
                  <a:pt x="17830" y="78587"/>
                </a:lnTo>
                <a:lnTo>
                  <a:pt x="28321" y="38989"/>
                </a:lnTo>
                <a:lnTo>
                  <a:pt x="51752" y="13995"/>
                </a:lnTo>
                <a:lnTo>
                  <a:pt x="62611" y="9271"/>
                </a:lnTo>
                <a:close/>
              </a:path>
              <a:path w="506095" h="189864">
                <a:moveTo>
                  <a:pt x="438658" y="95631"/>
                </a:moveTo>
                <a:lnTo>
                  <a:pt x="429920" y="47866"/>
                </a:lnTo>
                <a:lnTo>
                  <a:pt x="404329" y="13716"/>
                </a:lnTo>
                <a:lnTo>
                  <a:pt x="378841" y="1651"/>
                </a:lnTo>
                <a:lnTo>
                  <a:pt x="376174" y="9271"/>
                </a:lnTo>
                <a:lnTo>
                  <a:pt x="387019" y="13995"/>
                </a:lnTo>
                <a:lnTo>
                  <a:pt x="396367" y="20510"/>
                </a:lnTo>
                <a:lnTo>
                  <a:pt x="418744" y="63995"/>
                </a:lnTo>
                <a:lnTo>
                  <a:pt x="421513" y="94615"/>
                </a:lnTo>
                <a:lnTo>
                  <a:pt x="420814" y="111188"/>
                </a:lnTo>
                <a:lnTo>
                  <a:pt x="410464" y="151765"/>
                </a:lnTo>
                <a:lnTo>
                  <a:pt x="376428" y="181864"/>
                </a:lnTo>
                <a:lnTo>
                  <a:pt x="378841" y="189484"/>
                </a:lnTo>
                <a:lnTo>
                  <a:pt x="414718" y="168097"/>
                </a:lnTo>
                <a:lnTo>
                  <a:pt x="434822" y="128778"/>
                </a:lnTo>
                <a:lnTo>
                  <a:pt x="437692" y="112877"/>
                </a:lnTo>
                <a:lnTo>
                  <a:pt x="438658" y="95631"/>
                </a:lnTo>
                <a:close/>
              </a:path>
              <a:path w="506095" h="189864">
                <a:moveTo>
                  <a:pt x="506095" y="0"/>
                </a:moveTo>
                <a:lnTo>
                  <a:pt x="462026" y="0"/>
                </a:lnTo>
                <a:lnTo>
                  <a:pt x="462026" y="7620"/>
                </a:lnTo>
                <a:lnTo>
                  <a:pt x="489712" y="7620"/>
                </a:lnTo>
                <a:lnTo>
                  <a:pt x="489712" y="180340"/>
                </a:lnTo>
                <a:lnTo>
                  <a:pt x="462026" y="180340"/>
                </a:lnTo>
                <a:lnTo>
                  <a:pt x="462026" y="187960"/>
                </a:lnTo>
                <a:lnTo>
                  <a:pt x="506095" y="187960"/>
                </a:lnTo>
                <a:lnTo>
                  <a:pt x="506095" y="180340"/>
                </a:lnTo>
                <a:lnTo>
                  <a:pt x="506095" y="7620"/>
                </a:lnTo>
                <a:lnTo>
                  <a:pt x="50609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23918" y="2353309"/>
            <a:ext cx="44450" cy="187960"/>
          </a:xfrm>
          <a:custGeom>
            <a:avLst/>
            <a:gdLst/>
            <a:ahLst/>
            <a:cxnLst/>
            <a:rect l="l" t="t" r="r" b="b"/>
            <a:pathLst>
              <a:path w="44450" h="187960">
                <a:moveTo>
                  <a:pt x="44069" y="0"/>
                </a:moveTo>
                <a:lnTo>
                  <a:pt x="0" y="0"/>
                </a:lnTo>
                <a:lnTo>
                  <a:pt x="0" y="7620"/>
                </a:lnTo>
                <a:lnTo>
                  <a:pt x="0" y="180340"/>
                </a:lnTo>
                <a:lnTo>
                  <a:pt x="0" y="187960"/>
                </a:lnTo>
                <a:lnTo>
                  <a:pt x="44069" y="187960"/>
                </a:lnTo>
                <a:lnTo>
                  <a:pt x="44069" y="180340"/>
                </a:lnTo>
                <a:lnTo>
                  <a:pt x="16383" y="180340"/>
                </a:lnTo>
                <a:lnTo>
                  <a:pt x="16383" y="7620"/>
                </a:lnTo>
                <a:lnTo>
                  <a:pt x="44069" y="7620"/>
                </a:lnTo>
                <a:lnTo>
                  <a:pt x="4406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07456" y="2325369"/>
            <a:ext cx="506095" cy="245110"/>
          </a:xfrm>
          <a:custGeom>
            <a:avLst/>
            <a:gdLst/>
            <a:ahLst/>
            <a:cxnLst/>
            <a:rect l="l" t="t" r="r" b="b"/>
            <a:pathLst>
              <a:path w="506095" h="245110">
                <a:moveTo>
                  <a:pt x="62611" y="37211"/>
                </a:moveTo>
                <a:lnTo>
                  <a:pt x="59944" y="29591"/>
                </a:lnTo>
                <a:lnTo>
                  <a:pt x="46316" y="34518"/>
                </a:lnTo>
                <a:lnTo>
                  <a:pt x="34378" y="41656"/>
                </a:lnTo>
                <a:lnTo>
                  <a:pt x="8724" y="75806"/>
                </a:lnTo>
                <a:lnTo>
                  <a:pt x="50" y="122555"/>
                </a:lnTo>
                <a:lnTo>
                  <a:pt x="0" y="123571"/>
                </a:lnTo>
                <a:lnTo>
                  <a:pt x="876" y="139128"/>
                </a:lnTo>
                <a:lnTo>
                  <a:pt x="965" y="140817"/>
                </a:lnTo>
                <a:lnTo>
                  <a:pt x="15494" y="184531"/>
                </a:lnTo>
                <a:lnTo>
                  <a:pt x="46291" y="212509"/>
                </a:lnTo>
                <a:lnTo>
                  <a:pt x="59944" y="217424"/>
                </a:lnTo>
                <a:lnTo>
                  <a:pt x="62230" y="209804"/>
                </a:lnTo>
                <a:lnTo>
                  <a:pt x="51536" y="205066"/>
                </a:lnTo>
                <a:lnTo>
                  <a:pt x="42316" y="198475"/>
                </a:lnTo>
                <a:lnTo>
                  <a:pt x="19913" y="154178"/>
                </a:lnTo>
                <a:lnTo>
                  <a:pt x="17145" y="122555"/>
                </a:lnTo>
                <a:lnTo>
                  <a:pt x="17830" y="106527"/>
                </a:lnTo>
                <a:lnTo>
                  <a:pt x="28321" y="66929"/>
                </a:lnTo>
                <a:lnTo>
                  <a:pt x="51752" y="41935"/>
                </a:lnTo>
                <a:lnTo>
                  <a:pt x="62611" y="37211"/>
                </a:lnTo>
                <a:close/>
              </a:path>
              <a:path w="506095" h="245110">
                <a:moveTo>
                  <a:pt x="437134" y="123571"/>
                </a:moveTo>
                <a:lnTo>
                  <a:pt x="428396" y="75806"/>
                </a:lnTo>
                <a:lnTo>
                  <a:pt x="402805" y="41656"/>
                </a:lnTo>
                <a:lnTo>
                  <a:pt x="377317" y="29591"/>
                </a:lnTo>
                <a:lnTo>
                  <a:pt x="374650" y="37211"/>
                </a:lnTo>
                <a:lnTo>
                  <a:pt x="385508" y="41935"/>
                </a:lnTo>
                <a:lnTo>
                  <a:pt x="394843" y="48450"/>
                </a:lnTo>
                <a:lnTo>
                  <a:pt x="417220" y="91935"/>
                </a:lnTo>
                <a:lnTo>
                  <a:pt x="419989" y="122555"/>
                </a:lnTo>
                <a:lnTo>
                  <a:pt x="419290" y="139128"/>
                </a:lnTo>
                <a:lnTo>
                  <a:pt x="408940" y="179705"/>
                </a:lnTo>
                <a:lnTo>
                  <a:pt x="374904" y="209804"/>
                </a:lnTo>
                <a:lnTo>
                  <a:pt x="377317" y="217424"/>
                </a:lnTo>
                <a:lnTo>
                  <a:pt x="413194" y="196037"/>
                </a:lnTo>
                <a:lnTo>
                  <a:pt x="433298" y="156718"/>
                </a:lnTo>
                <a:lnTo>
                  <a:pt x="436168" y="140817"/>
                </a:lnTo>
                <a:lnTo>
                  <a:pt x="437134" y="123571"/>
                </a:lnTo>
                <a:close/>
              </a:path>
              <a:path w="506095" h="245110">
                <a:moveTo>
                  <a:pt x="505714" y="0"/>
                </a:moveTo>
                <a:lnTo>
                  <a:pt x="460629" y="0"/>
                </a:lnTo>
                <a:lnTo>
                  <a:pt x="460629" y="7620"/>
                </a:lnTo>
                <a:lnTo>
                  <a:pt x="487299" y="7620"/>
                </a:lnTo>
                <a:lnTo>
                  <a:pt x="487299" y="236220"/>
                </a:lnTo>
                <a:lnTo>
                  <a:pt x="460629" y="236220"/>
                </a:lnTo>
                <a:lnTo>
                  <a:pt x="460629" y="245110"/>
                </a:lnTo>
                <a:lnTo>
                  <a:pt x="505714" y="245110"/>
                </a:lnTo>
                <a:lnTo>
                  <a:pt x="505714" y="236220"/>
                </a:lnTo>
                <a:lnTo>
                  <a:pt x="505714" y="7620"/>
                </a:lnTo>
                <a:lnTo>
                  <a:pt x="50571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83682" y="2325369"/>
            <a:ext cx="45085" cy="245110"/>
          </a:xfrm>
          <a:custGeom>
            <a:avLst/>
            <a:gdLst/>
            <a:ahLst/>
            <a:cxnLst/>
            <a:rect l="l" t="t" r="r" b="b"/>
            <a:pathLst>
              <a:path w="45085" h="245110">
                <a:moveTo>
                  <a:pt x="45085" y="0"/>
                </a:moveTo>
                <a:lnTo>
                  <a:pt x="0" y="0"/>
                </a:lnTo>
                <a:lnTo>
                  <a:pt x="0" y="7620"/>
                </a:lnTo>
                <a:lnTo>
                  <a:pt x="0" y="236220"/>
                </a:lnTo>
                <a:lnTo>
                  <a:pt x="0" y="245110"/>
                </a:lnTo>
                <a:lnTo>
                  <a:pt x="45085" y="245110"/>
                </a:lnTo>
                <a:lnTo>
                  <a:pt x="45085" y="236220"/>
                </a:lnTo>
                <a:lnTo>
                  <a:pt x="18415" y="236220"/>
                </a:lnTo>
                <a:lnTo>
                  <a:pt x="18415" y="7620"/>
                </a:lnTo>
                <a:lnTo>
                  <a:pt x="45085" y="7620"/>
                </a:lnTo>
                <a:lnTo>
                  <a:pt x="4508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73090" y="2290952"/>
            <a:ext cx="1042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𝐻</a:t>
            </a:r>
            <a:r>
              <a:rPr sz="1600" spc="21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725" spc="660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600" spc="-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27680" y="2766059"/>
            <a:ext cx="508000" cy="189865"/>
          </a:xfrm>
          <a:custGeom>
            <a:avLst/>
            <a:gdLst/>
            <a:ahLst/>
            <a:cxnLst/>
            <a:rect l="l" t="t" r="r" b="b"/>
            <a:pathLst>
              <a:path w="508000" h="189864">
                <a:moveTo>
                  <a:pt x="62611" y="9525"/>
                </a:moveTo>
                <a:lnTo>
                  <a:pt x="59944" y="1905"/>
                </a:lnTo>
                <a:lnTo>
                  <a:pt x="46316" y="6832"/>
                </a:lnTo>
                <a:lnTo>
                  <a:pt x="34378" y="13982"/>
                </a:lnTo>
                <a:lnTo>
                  <a:pt x="8724" y="48120"/>
                </a:lnTo>
                <a:lnTo>
                  <a:pt x="50" y="94869"/>
                </a:lnTo>
                <a:lnTo>
                  <a:pt x="0" y="95885"/>
                </a:lnTo>
                <a:lnTo>
                  <a:pt x="876" y="111442"/>
                </a:lnTo>
                <a:lnTo>
                  <a:pt x="965" y="113131"/>
                </a:lnTo>
                <a:lnTo>
                  <a:pt x="15494" y="156845"/>
                </a:lnTo>
                <a:lnTo>
                  <a:pt x="46291" y="184823"/>
                </a:lnTo>
                <a:lnTo>
                  <a:pt x="59944" y="189738"/>
                </a:lnTo>
                <a:lnTo>
                  <a:pt x="62230" y="182118"/>
                </a:lnTo>
                <a:lnTo>
                  <a:pt x="51536" y="177380"/>
                </a:lnTo>
                <a:lnTo>
                  <a:pt x="42316" y="170789"/>
                </a:lnTo>
                <a:lnTo>
                  <a:pt x="19913" y="126492"/>
                </a:lnTo>
                <a:lnTo>
                  <a:pt x="17145" y="94869"/>
                </a:lnTo>
                <a:lnTo>
                  <a:pt x="17830" y="78841"/>
                </a:lnTo>
                <a:lnTo>
                  <a:pt x="28321" y="39243"/>
                </a:lnTo>
                <a:lnTo>
                  <a:pt x="51752" y="14249"/>
                </a:lnTo>
                <a:lnTo>
                  <a:pt x="62611" y="9525"/>
                </a:lnTo>
                <a:close/>
              </a:path>
              <a:path w="508000" h="189864">
                <a:moveTo>
                  <a:pt x="438658" y="95885"/>
                </a:moveTo>
                <a:lnTo>
                  <a:pt x="429920" y="48120"/>
                </a:lnTo>
                <a:lnTo>
                  <a:pt x="404329" y="13970"/>
                </a:lnTo>
                <a:lnTo>
                  <a:pt x="378841" y="1905"/>
                </a:lnTo>
                <a:lnTo>
                  <a:pt x="376174" y="9525"/>
                </a:lnTo>
                <a:lnTo>
                  <a:pt x="387032" y="14249"/>
                </a:lnTo>
                <a:lnTo>
                  <a:pt x="396367" y="20764"/>
                </a:lnTo>
                <a:lnTo>
                  <a:pt x="418744" y="64249"/>
                </a:lnTo>
                <a:lnTo>
                  <a:pt x="421513" y="94869"/>
                </a:lnTo>
                <a:lnTo>
                  <a:pt x="420814" y="111442"/>
                </a:lnTo>
                <a:lnTo>
                  <a:pt x="410464" y="152019"/>
                </a:lnTo>
                <a:lnTo>
                  <a:pt x="376428" y="182118"/>
                </a:lnTo>
                <a:lnTo>
                  <a:pt x="378841" y="189738"/>
                </a:lnTo>
                <a:lnTo>
                  <a:pt x="414718" y="168351"/>
                </a:lnTo>
                <a:lnTo>
                  <a:pt x="434822" y="129044"/>
                </a:lnTo>
                <a:lnTo>
                  <a:pt x="437692" y="113131"/>
                </a:lnTo>
                <a:lnTo>
                  <a:pt x="438658" y="95885"/>
                </a:lnTo>
                <a:close/>
              </a:path>
              <a:path w="508000" h="189864">
                <a:moveTo>
                  <a:pt x="507619" y="0"/>
                </a:moveTo>
                <a:lnTo>
                  <a:pt x="463550" y="0"/>
                </a:lnTo>
                <a:lnTo>
                  <a:pt x="463550" y="7620"/>
                </a:lnTo>
                <a:lnTo>
                  <a:pt x="491236" y="7620"/>
                </a:lnTo>
                <a:lnTo>
                  <a:pt x="491236" y="181610"/>
                </a:lnTo>
                <a:lnTo>
                  <a:pt x="463550" y="181610"/>
                </a:lnTo>
                <a:lnTo>
                  <a:pt x="463550" y="189230"/>
                </a:lnTo>
                <a:lnTo>
                  <a:pt x="507619" y="189230"/>
                </a:lnTo>
                <a:lnTo>
                  <a:pt x="507619" y="181610"/>
                </a:lnTo>
                <a:lnTo>
                  <a:pt x="507619" y="7620"/>
                </a:lnTo>
                <a:lnTo>
                  <a:pt x="50761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37790" y="2766059"/>
            <a:ext cx="44450" cy="189230"/>
          </a:xfrm>
          <a:custGeom>
            <a:avLst/>
            <a:gdLst/>
            <a:ahLst/>
            <a:cxnLst/>
            <a:rect l="l" t="t" r="r" b="b"/>
            <a:pathLst>
              <a:path w="44450" h="189230">
                <a:moveTo>
                  <a:pt x="44069" y="0"/>
                </a:moveTo>
                <a:lnTo>
                  <a:pt x="0" y="0"/>
                </a:lnTo>
                <a:lnTo>
                  <a:pt x="0" y="7620"/>
                </a:lnTo>
                <a:lnTo>
                  <a:pt x="0" y="181610"/>
                </a:lnTo>
                <a:lnTo>
                  <a:pt x="0" y="189230"/>
                </a:lnTo>
                <a:lnTo>
                  <a:pt x="44069" y="189230"/>
                </a:lnTo>
                <a:lnTo>
                  <a:pt x="44069" y="181610"/>
                </a:lnTo>
                <a:lnTo>
                  <a:pt x="16383" y="181610"/>
                </a:lnTo>
                <a:lnTo>
                  <a:pt x="16383" y="7620"/>
                </a:lnTo>
                <a:lnTo>
                  <a:pt x="44069" y="7620"/>
                </a:lnTo>
                <a:lnTo>
                  <a:pt x="4406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12519" y="1844166"/>
            <a:ext cx="3970020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Properties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Linear</a:t>
            </a:r>
            <a:r>
              <a:rPr sz="18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Operation:</a:t>
            </a:r>
            <a:endParaRPr sz="18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355"/>
              </a:spcBef>
              <a:tabLst>
                <a:tab pos="1970405" algn="l"/>
                <a:tab pos="2926080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Additivity:</a:t>
            </a:r>
            <a:r>
              <a:rPr sz="16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𝐻</a:t>
            </a:r>
            <a:r>
              <a:rPr sz="1600" spc="20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725" spc="622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600" spc="-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	+</a:t>
            </a:r>
            <a:r>
              <a:rPr sz="1600" spc="-7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𝑗</a:t>
            </a:r>
            <a:r>
              <a:rPr sz="1725" spc="637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600" spc="-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	=</a:t>
            </a:r>
            <a:r>
              <a:rPr sz="1600" spc="4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𝐻</a:t>
            </a:r>
            <a:r>
              <a:rPr sz="1600" spc="1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725" spc="660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600" spc="-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1330"/>
              </a:spcBef>
              <a:tabLst>
                <a:tab pos="2500630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Homogeneity: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𝐻</a:t>
            </a:r>
            <a:r>
              <a:rPr sz="1600" spc="21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2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725" spc="682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600" spc="-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	=</a:t>
            </a:r>
            <a:r>
              <a:rPr sz="1600" spc="1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mbria Math"/>
                <a:cs typeface="Cambria Math"/>
              </a:rPr>
              <a:t>𝑎</a:t>
            </a:r>
            <a:r>
              <a:rPr sz="1725" spc="-1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600" spc="-10" dirty="0">
                <a:solidFill>
                  <a:srgbClr val="404040"/>
                </a:solidFill>
                <a:latin typeface="Cambria Math"/>
                <a:cs typeface="Cambria Math"/>
              </a:rPr>
              <a:t>𝐻[𝑓</a:t>
            </a:r>
            <a:r>
              <a:rPr sz="1725" spc="-15" baseline="-14492" dirty="0">
                <a:solidFill>
                  <a:srgbClr val="404040"/>
                </a:solidFill>
                <a:latin typeface="Cambria Math"/>
                <a:cs typeface="Cambria Math"/>
              </a:rPr>
              <a:t>𝑖</a:t>
            </a:r>
            <a:r>
              <a:rPr sz="1725" spc="-195" baseline="-14492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(𝑥,</a:t>
            </a:r>
            <a:r>
              <a:rPr sz="1600" spc="-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ambria Math"/>
                <a:cs typeface="Cambria Math"/>
              </a:rPr>
              <a:t>𝑦)]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115060" y="3079749"/>
            <a:ext cx="996632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Equation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indicates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equation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sum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performing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summing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results.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addition,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equation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constant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multiplied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constant.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0561" y="1875282"/>
            <a:ext cx="7617459" cy="1761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485" indent="-286385">
              <a:lnSpc>
                <a:spcPts val="1670"/>
              </a:lnSpc>
              <a:spcBef>
                <a:spcPts val="105"/>
              </a:spcBef>
              <a:buFont typeface="Wingdings"/>
              <a:buChar char=""/>
              <a:tabLst>
                <a:tab pos="324485" algn="l"/>
              </a:tabLst>
            </a:pPr>
            <a:r>
              <a:rPr sz="1400" dirty="0">
                <a:latin typeface="Times New Roman"/>
                <a:cs typeface="Times New Roman"/>
              </a:rPr>
              <a:t>Example: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Non-</a:t>
            </a:r>
            <a:r>
              <a:rPr sz="1400" b="1" dirty="0">
                <a:latin typeface="Times New Roman"/>
                <a:cs typeface="Times New Roman"/>
              </a:rPr>
              <a:t>Linear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Operation</a:t>
            </a:r>
            <a:endParaRPr sz="1400">
              <a:latin typeface="Times New Roman"/>
              <a:cs typeface="Times New Roman"/>
            </a:endParaRPr>
          </a:p>
          <a:p>
            <a:pPr marL="324485" indent="-286385">
              <a:lnSpc>
                <a:spcPts val="2150"/>
              </a:lnSpc>
              <a:buFont typeface="Wingdings"/>
              <a:buChar char=""/>
              <a:tabLst>
                <a:tab pos="324485" algn="l"/>
              </a:tabLst>
            </a:pPr>
            <a:r>
              <a:rPr sz="1400" dirty="0">
                <a:latin typeface="Times New Roman"/>
                <a:cs typeface="Times New Roman"/>
              </a:rPr>
              <a:t>Consider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max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operation,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whose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function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maximum value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pixels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</a:t>
            </a:r>
            <a:r>
              <a:rPr sz="1800" spc="-10" dirty="0"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00">
              <a:latin typeface="Times New Roman"/>
              <a:cs typeface="Times New Roman"/>
            </a:endParaRPr>
          </a:p>
          <a:p>
            <a:pPr marR="49530" algn="r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latin typeface="Times New Roman"/>
                <a:cs typeface="Times New Roman"/>
              </a:rPr>
              <a:t>max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[a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575" b="1" i="1" spc="330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f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800" b="1" i="1" dirty="0">
                <a:latin typeface="Times New Roman"/>
                <a:cs typeface="Times New Roman"/>
              </a:rPr>
              <a:t>(x,y)</a:t>
            </a:r>
            <a:r>
              <a:rPr sz="1800" b="1" i="1" spc="-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i="1" spc="75" dirty="0">
                <a:latin typeface="Times New Roman"/>
                <a:cs typeface="Times New Roman"/>
              </a:rPr>
              <a:t>a</a:t>
            </a:r>
            <a:r>
              <a:rPr sz="1575" b="1" i="1" spc="112" baseline="-23809" dirty="0">
                <a:latin typeface="Times New Roman"/>
                <a:cs typeface="Times New Roman"/>
              </a:rPr>
              <a:t>j</a:t>
            </a:r>
            <a:r>
              <a:rPr sz="1575" b="1" i="1" spc="352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f</a:t>
            </a:r>
            <a:r>
              <a:rPr sz="1800" b="1" i="1" spc="175" dirty="0">
                <a:latin typeface="Times New Roman"/>
                <a:cs typeface="Times New Roman"/>
              </a:rPr>
              <a:t> </a:t>
            </a:r>
            <a:r>
              <a:rPr sz="1575" b="1" i="1" baseline="-23809" dirty="0">
                <a:latin typeface="Times New Roman"/>
                <a:cs typeface="Times New Roman"/>
              </a:rPr>
              <a:t>j</a:t>
            </a:r>
            <a:r>
              <a:rPr sz="1800" b="1" i="1" dirty="0">
                <a:latin typeface="Times New Roman"/>
                <a:cs typeface="Times New Roman"/>
              </a:rPr>
              <a:t>(x,y)]</a:t>
            </a:r>
            <a:r>
              <a:rPr sz="1800" b="1" i="1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max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[a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575" b="1" i="1" spc="337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f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800" b="1" i="1" dirty="0">
                <a:latin typeface="Times New Roman"/>
                <a:cs typeface="Times New Roman"/>
              </a:rPr>
              <a:t>(x,y)]</a:t>
            </a:r>
            <a:r>
              <a:rPr sz="1800" b="1" i="1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max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b="1" i="1" spc="50" dirty="0">
                <a:latin typeface="Times New Roman"/>
                <a:cs typeface="Times New Roman"/>
              </a:rPr>
              <a:t>[a</a:t>
            </a:r>
            <a:r>
              <a:rPr sz="1575" b="1" i="1" spc="75" baseline="-23809" dirty="0">
                <a:latin typeface="Times New Roman"/>
                <a:cs typeface="Times New Roman"/>
              </a:rPr>
              <a:t>j</a:t>
            </a:r>
            <a:r>
              <a:rPr sz="1575" b="1" i="1" spc="359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f</a:t>
            </a:r>
            <a:r>
              <a:rPr sz="1800" b="1" i="1" spc="-250" dirty="0">
                <a:latin typeface="Times New Roman"/>
                <a:cs typeface="Times New Roman"/>
              </a:rPr>
              <a:t> </a:t>
            </a:r>
            <a:r>
              <a:rPr sz="1575" b="1" i="1" spc="-15" baseline="-23809" dirty="0">
                <a:latin typeface="Times New Roman"/>
                <a:cs typeface="Times New Roman"/>
              </a:rPr>
              <a:t>j</a:t>
            </a:r>
            <a:r>
              <a:rPr sz="1800" b="1" i="1" spc="-10" dirty="0">
                <a:latin typeface="Times New Roman"/>
                <a:cs typeface="Times New Roman"/>
              </a:rPr>
              <a:t>(x,y)]</a:t>
            </a:r>
            <a:endParaRPr sz="18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latin typeface="Symbol"/>
                <a:cs typeface="Symbol"/>
              </a:rPr>
              <a:t>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a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575" b="1" i="1" spc="315" baseline="-2380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max</a:t>
            </a:r>
            <a:r>
              <a:rPr sz="1800" i="1" spc="-16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[f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800" b="1" i="1" dirty="0">
                <a:latin typeface="Times New Roman"/>
                <a:cs typeface="Times New Roman"/>
              </a:rPr>
              <a:t>(x,y)]</a:t>
            </a:r>
            <a:r>
              <a:rPr sz="1800" b="1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i="1" spc="75" dirty="0">
                <a:latin typeface="Times New Roman"/>
                <a:cs typeface="Times New Roman"/>
              </a:rPr>
              <a:t>a</a:t>
            </a:r>
            <a:r>
              <a:rPr sz="1575" b="1" i="1" spc="112" baseline="-23809" dirty="0">
                <a:latin typeface="Times New Roman"/>
                <a:cs typeface="Times New Roman"/>
              </a:rPr>
              <a:t>j</a:t>
            </a:r>
            <a:r>
              <a:rPr sz="1575" b="1" i="1" spc="330" baseline="-2380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max</a:t>
            </a:r>
            <a:r>
              <a:rPr sz="1800" i="1" spc="-165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[f</a:t>
            </a:r>
            <a:r>
              <a:rPr sz="1800" b="1" i="1" spc="-204" dirty="0">
                <a:latin typeface="Times New Roman"/>
                <a:cs typeface="Times New Roman"/>
              </a:rPr>
              <a:t> </a:t>
            </a:r>
            <a:r>
              <a:rPr sz="1575" b="1" i="1" spc="-15" baseline="-23809" dirty="0">
                <a:latin typeface="Times New Roman"/>
                <a:cs typeface="Times New Roman"/>
              </a:rPr>
              <a:t>j</a:t>
            </a:r>
            <a:r>
              <a:rPr sz="1800" b="1" i="1" spc="-10" dirty="0">
                <a:latin typeface="Times New Roman"/>
                <a:cs typeface="Times New Roman"/>
              </a:rPr>
              <a:t>(x,y)]</a:t>
            </a:r>
            <a:endParaRPr sz="1800">
              <a:latin typeface="Times New Roman"/>
              <a:cs typeface="Times New Roman"/>
            </a:endParaRPr>
          </a:p>
          <a:p>
            <a:pPr marL="4425315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latin typeface="Symbol"/>
                <a:cs typeface="Symbol"/>
              </a:rPr>
              <a:t>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a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575" b="1" i="1" spc="-44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</a:t>
            </a:r>
            <a:r>
              <a:rPr sz="1575" b="1" i="1" baseline="-23809" dirty="0">
                <a:latin typeface="Times New Roman"/>
                <a:cs typeface="Times New Roman"/>
              </a:rPr>
              <a:t>i</a:t>
            </a:r>
            <a:r>
              <a:rPr sz="1575" b="1" i="1" spc="-187" baseline="-2380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( </a:t>
            </a:r>
            <a:r>
              <a:rPr sz="1800" b="1" i="1" spc="75" dirty="0">
                <a:latin typeface="Times New Roman"/>
                <a:cs typeface="Times New Roman"/>
              </a:rPr>
              <a:t>x</a:t>
            </a:r>
            <a:r>
              <a:rPr sz="1800" i="1" spc="75" dirty="0">
                <a:latin typeface="Times New Roman"/>
                <a:cs typeface="Times New Roman"/>
              </a:rPr>
              <a:t>,</a:t>
            </a:r>
            <a:r>
              <a:rPr sz="1800" i="1" spc="-19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y</a:t>
            </a:r>
            <a:r>
              <a:rPr sz="1800" b="1" i="1" spc="-1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)</a:t>
            </a:r>
            <a:r>
              <a:rPr sz="1800" i="1" spc="-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b="1" i="1" spc="75" dirty="0">
                <a:latin typeface="Times New Roman"/>
                <a:cs typeface="Times New Roman"/>
              </a:rPr>
              <a:t>a</a:t>
            </a:r>
            <a:r>
              <a:rPr sz="1575" b="1" i="1" spc="112" baseline="-23809" dirty="0">
                <a:latin typeface="Times New Roman"/>
                <a:cs typeface="Times New Roman"/>
              </a:rPr>
              <a:t>j</a:t>
            </a:r>
            <a:r>
              <a:rPr sz="1575" b="1" i="1" spc="-30" baseline="-23809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</a:t>
            </a:r>
            <a:r>
              <a:rPr sz="1800" b="1" i="1" spc="-245" dirty="0">
                <a:latin typeface="Times New Roman"/>
                <a:cs typeface="Times New Roman"/>
              </a:rPr>
              <a:t> </a:t>
            </a:r>
            <a:r>
              <a:rPr sz="1575" b="1" i="1" baseline="-23809" dirty="0">
                <a:latin typeface="Times New Roman"/>
                <a:cs typeface="Times New Roman"/>
              </a:rPr>
              <a:t>j</a:t>
            </a:r>
            <a:r>
              <a:rPr sz="1575" b="1" i="1" spc="-165" baseline="-2380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( </a:t>
            </a:r>
            <a:r>
              <a:rPr sz="1800" b="1" i="1" spc="75" dirty="0">
                <a:latin typeface="Times New Roman"/>
                <a:cs typeface="Times New Roman"/>
              </a:rPr>
              <a:t>x</a:t>
            </a:r>
            <a:r>
              <a:rPr sz="1800" i="1" spc="75" dirty="0">
                <a:latin typeface="Times New Roman"/>
                <a:cs typeface="Times New Roman"/>
              </a:rPr>
              <a:t>,</a:t>
            </a:r>
            <a:r>
              <a:rPr sz="1800" i="1" spc="-19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y</a:t>
            </a:r>
            <a:r>
              <a:rPr sz="1800" b="1" i="1" spc="-160" dirty="0"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2252" y="3985085"/>
            <a:ext cx="5729064" cy="221296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27547" y="3366515"/>
            <a:ext cx="227329" cy="318770"/>
            <a:chOff x="5527547" y="3366515"/>
            <a:chExt cx="227329" cy="3187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7547" y="3366515"/>
              <a:ext cx="227075" cy="3185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61837" y="3394709"/>
              <a:ext cx="123825" cy="219075"/>
            </a:xfrm>
            <a:custGeom>
              <a:avLst/>
              <a:gdLst/>
              <a:ahLst/>
              <a:cxnLst/>
              <a:rect l="l" t="t" r="r" b="b"/>
              <a:pathLst>
                <a:path w="123825" h="219075">
                  <a:moveTo>
                    <a:pt x="123825" y="0"/>
                  </a:moveTo>
                  <a:lnTo>
                    <a:pt x="0" y="219075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507735" y="2621279"/>
            <a:ext cx="262255" cy="670560"/>
            <a:chOff x="5507735" y="2621279"/>
            <a:chExt cx="262255" cy="6705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621279"/>
              <a:ext cx="227075" cy="31851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42025" y="2649473"/>
              <a:ext cx="123825" cy="219075"/>
            </a:xfrm>
            <a:custGeom>
              <a:avLst/>
              <a:gdLst/>
              <a:ahLst/>
              <a:cxnLst/>
              <a:rect l="l" t="t" r="r" b="b"/>
              <a:pathLst>
                <a:path w="123825" h="219075">
                  <a:moveTo>
                    <a:pt x="123825" y="0"/>
                  </a:moveTo>
                  <a:lnTo>
                    <a:pt x="0" y="219075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787" y="2973323"/>
              <a:ext cx="227075" cy="3185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77077" y="3001517"/>
              <a:ext cx="123825" cy="219075"/>
            </a:xfrm>
            <a:custGeom>
              <a:avLst/>
              <a:gdLst/>
              <a:ahLst/>
              <a:cxnLst/>
              <a:rect l="l" t="t" r="r" b="b"/>
              <a:pathLst>
                <a:path w="123825" h="219075">
                  <a:moveTo>
                    <a:pt x="123825" y="0"/>
                  </a:moveTo>
                  <a:lnTo>
                    <a:pt x="0" y="219075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0696" y="1837516"/>
            <a:ext cx="9828530" cy="20847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exceptionally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body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theoretical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practical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processing.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nearly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understood,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scope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10" dirty="0">
                <a:latin typeface="Times New Roman"/>
                <a:cs typeface="Times New Roman"/>
              </a:rPr>
              <a:t> limited.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But,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several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whose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far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exceeds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achievable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counterparts.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Linear</a:t>
            </a:r>
            <a:r>
              <a:rPr spc="-260" dirty="0"/>
              <a:t> </a:t>
            </a:r>
            <a:r>
              <a:rPr spc="-25" dirty="0"/>
              <a:t>versus</a:t>
            </a:r>
            <a:r>
              <a:rPr spc="-204" dirty="0"/>
              <a:t> </a:t>
            </a:r>
            <a:r>
              <a:rPr spc="-50" dirty="0"/>
              <a:t>Nonlinear</a:t>
            </a:r>
            <a:r>
              <a:rPr spc="-250" dirty="0"/>
              <a:t> </a:t>
            </a:r>
            <a:r>
              <a:rPr spc="-20" dirty="0"/>
              <a:t>Operation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/>
                <a:cs typeface="Times New Roman"/>
              </a:rPr>
              <a:t>Arithmetic</a:t>
            </a:r>
            <a:r>
              <a:rPr b="0" spc="-204" dirty="0">
                <a:latin typeface="Times New Roman"/>
                <a:cs typeface="Times New Roman"/>
              </a:rPr>
              <a:t> </a:t>
            </a:r>
            <a:r>
              <a:rPr b="0" spc="-30" dirty="0">
                <a:latin typeface="Times New Roman"/>
                <a:cs typeface="Times New Roman"/>
              </a:rPr>
              <a:t>Operations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040629" y="2611882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2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6" y="99187"/>
                </a:lnTo>
                <a:lnTo>
                  <a:pt x="447297" y="116855"/>
                </a:lnTo>
                <a:lnTo>
                  <a:pt x="436118" y="160146"/>
                </a:lnTo>
                <a:lnTo>
                  <a:pt x="399796" y="192277"/>
                </a:lnTo>
                <a:lnTo>
                  <a:pt x="402336" y="200405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7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1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1" y="200405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2" y="8127"/>
                </a:lnTo>
                <a:lnTo>
                  <a:pt x="6388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51982" y="2611882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5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36117" y="160146"/>
                </a:lnTo>
                <a:lnTo>
                  <a:pt x="399795" y="192277"/>
                </a:lnTo>
                <a:lnTo>
                  <a:pt x="402335" y="200405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6" y="35051"/>
                </a:lnTo>
                <a:lnTo>
                  <a:pt x="416863" y="5208"/>
                </a:lnTo>
                <a:lnTo>
                  <a:pt x="402335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09" y="165353"/>
                </a:lnTo>
                <a:lnTo>
                  <a:pt x="49335" y="195143"/>
                </a:lnTo>
                <a:lnTo>
                  <a:pt x="63880" y="200405"/>
                </a:lnTo>
                <a:lnTo>
                  <a:pt x="66420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1142" y="2611882"/>
            <a:ext cx="464820" cy="200660"/>
          </a:xfrm>
          <a:custGeom>
            <a:avLst/>
            <a:gdLst/>
            <a:ahLst/>
            <a:cxnLst/>
            <a:rect l="l" t="t" r="r" b="b"/>
            <a:pathLst>
              <a:path w="464820" h="200660">
                <a:moveTo>
                  <a:pt x="400811" y="0"/>
                </a:moveTo>
                <a:lnTo>
                  <a:pt x="398017" y="8127"/>
                </a:lnTo>
                <a:lnTo>
                  <a:pt x="409590" y="13124"/>
                </a:lnTo>
                <a:lnTo>
                  <a:pt x="419544" y="20097"/>
                </a:lnTo>
                <a:lnTo>
                  <a:pt x="439781" y="52449"/>
                </a:lnTo>
                <a:lnTo>
                  <a:pt x="445734" y="81843"/>
                </a:lnTo>
                <a:lnTo>
                  <a:pt x="445773" y="82115"/>
                </a:lnTo>
                <a:lnTo>
                  <a:pt x="446531" y="99187"/>
                </a:lnTo>
                <a:lnTo>
                  <a:pt x="445773" y="116855"/>
                </a:lnTo>
                <a:lnTo>
                  <a:pt x="443515" y="132905"/>
                </a:lnTo>
                <a:lnTo>
                  <a:pt x="427882" y="171150"/>
                </a:lnTo>
                <a:lnTo>
                  <a:pt x="398272" y="192277"/>
                </a:lnTo>
                <a:lnTo>
                  <a:pt x="400811" y="200405"/>
                </a:lnTo>
                <a:lnTo>
                  <a:pt x="439138" y="177617"/>
                </a:lnTo>
                <a:lnTo>
                  <a:pt x="460597" y="135636"/>
                </a:lnTo>
                <a:lnTo>
                  <a:pt x="464692" y="100202"/>
                </a:lnTo>
                <a:lnTo>
                  <a:pt x="463682" y="82115"/>
                </a:lnTo>
                <a:lnTo>
                  <a:pt x="448182" y="35051"/>
                </a:lnTo>
                <a:lnTo>
                  <a:pt x="415339" y="5208"/>
                </a:lnTo>
                <a:lnTo>
                  <a:pt x="400811" y="0"/>
                </a:lnTo>
                <a:close/>
              </a:path>
              <a:path w="464820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56" y="99187"/>
                </a:lnTo>
                <a:lnTo>
                  <a:pt x="0" y="100202"/>
                </a:lnTo>
                <a:lnTo>
                  <a:pt x="9269" y="151209"/>
                </a:lnTo>
                <a:lnTo>
                  <a:pt x="36575" y="187547"/>
                </a:lnTo>
                <a:lnTo>
                  <a:pt x="63880" y="200405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19026" y="82115"/>
                </a:lnTo>
                <a:lnTo>
                  <a:pt x="30099" y="3987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68061" y="31391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36117" y="160147"/>
                </a:lnTo>
                <a:lnTo>
                  <a:pt x="399796" y="192277"/>
                </a:lnTo>
                <a:lnTo>
                  <a:pt x="402336" y="200405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0" y="200405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80938" y="31391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6" y="99187"/>
                </a:lnTo>
                <a:lnTo>
                  <a:pt x="447297" y="116855"/>
                </a:lnTo>
                <a:lnTo>
                  <a:pt x="436117" y="160147"/>
                </a:lnTo>
                <a:lnTo>
                  <a:pt x="399796" y="192277"/>
                </a:lnTo>
                <a:lnTo>
                  <a:pt x="402336" y="200405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1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1" y="200405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78573" y="31391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5" y="0"/>
                </a:moveTo>
                <a:lnTo>
                  <a:pt x="399542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7258" y="81843"/>
                </a:lnTo>
                <a:lnTo>
                  <a:pt x="447297" y="82115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45039" y="132905"/>
                </a:lnTo>
                <a:lnTo>
                  <a:pt x="429406" y="171150"/>
                </a:lnTo>
                <a:lnTo>
                  <a:pt x="399796" y="192277"/>
                </a:lnTo>
                <a:lnTo>
                  <a:pt x="402335" y="200405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7" y="100202"/>
                </a:lnTo>
                <a:lnTo>
                  <a:pt x="465206" y="82115"/>
                </a:lnTo>
                <a:lnTo>
                  <a:pt x="449706" y="35051"/>
                </a:lnTo>
                <a:lnTo>
                  <a:pt x="416863" y="5208"/>
                </a:lnTo>
                <a:lnTo>
                  <a:pt x="402335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56" y="99187"/>
                </a:lnTo>
                <a:lnTo>
                  <a:pt x="0" y="100202"/>
                </a:lnTo>
                <a:lnTo>
                  <a:pt x="9269" y="151209"/>
                </a:lnTo>
                <a:lnTo>
                  <a:pt x="36575" y="187547"/>
                </a:lnTo>
                <a:lnTo>
                  <a:pt x="63880" y="200405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19026" y="82115"/>
                </a:lnTo>
                <a:lnTo>
                  <a:pt x="30099" y="3987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69585" y="3654297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36117" y="160146"/>
                </a:lnTo>
                <a:lnTo>
                  <a:pt x="399796" y="192277"/>
                </a:lnTo>
                <a:lnTo>
                  <a:pt x="402336" y="200406"/>
                </a:lnTo>
                <a:lnTo>
                  <a:pt x="440662" y="177617"/>
                </a:lnTo>
                <a:lnTo>
                  <a:pt x="462121" y="135635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6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0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80938" y="3654297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6" y="99187"/>
                </a:lnTo>
                <a:lnTo>
                  <a:pt x="447297" y="116855"/>
                </a:lnTo>
                <a:lnTo>
                  <a:pt x="436117" y="160146"/>
                </a:lnTo>
                <a:lnTo>
                  <a:pt x="399796" y="192277"/>
                </a:lnTo>
                <a:lnTo>
                  <a:pt x="402336" y="200406"/>
                </a:lnTo>
                <a:lnTo>
                  <a:pt x="440662" y="177617"/>
                </a:lnTo>
                <a:lnTo>
                  <a:pt x="462121" y="135635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1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1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22185" y="3654297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2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7258" y="81843"/>
                </a:lnTo>
                <a:lnTo>
                  <a:pt x="447297" y="82115"/>
                </a:lnTo>
                <a:lnTo>
                  <a:pt x="448056" y="99187"/>
                </a:lnTo>
                <a:lnTo>
                  <a:pt x="447297" y="116855"/>
                </a:lnTo>
                <a:lnTo>
                  <a:pt x="445039" y="132905"/>
                </a:lnTo>
                <a:lnTo>
                  <a:pt x="429406" y="171150"/>
                </a:lnTo>
                <a:lnTo>
                  <a:pt x="399796" y="192277"/>
                </a:lnTo>
                <a:lnTo>
                  <a:pt x="402336" y="200406"/>
                </a:lnTo>
                <a:lnTo>
                  <a:pt x="440662" y="177617"/>
                </a:lnTo>
                <a:lnTo>
                  <a:pt x="462121" y="135635"/>
                </a:lnTo>
                <a:lnTo>
                  <a:pt x="466217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1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56" y="99187"/>
                </a:lnTo>
                <a:lnTo>
                  <a:pt x="0" y="100202"/>
                </a:lnTo>
                <a:lnTo>
                  <a:pt x="9269" y="151209"/>
                </a:lnTo>
                <a:lnTo>
                  <a:pt x="36575" y="187547"/>
                </a:lnTo>
                <a:lnTo>
                  <a:pt x="63881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8" y="99187"/>
                </a:lnTo>
                <a:lnTo>
                  <a:pt x="19026" y="82115"/>
                </a:lnTo>
                <a:lnTo>
                  <a:pt x="30099" y="39877"/>
                </a:lnTo>
                <a:lnTo>
                  <a:pt x="66802" y="8127"/>
                </a:lnTo>
                <a:lnTo>
                  <a:pt x="6388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44261" y="41678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7258" y="81843"/>
                </a:lnTo>
                <a:lnTo>
                  <a:pt x="447297" y="82115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45039" y="132905"/>
                </a:lnTo>
                <a:lnTo>
                  <a:pt x="429406" y="171150"/>
                </a:lnTo>
                <a:lnTo>
                  <a:pt x="399796" y="192277"/>
                </a:lnTo>
                <a:lnTo>
                  <a:pt x="402336" y="200406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0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57138" y="41678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6" y="0"/>
                </a:moveTo>
                <a:lnTo>
                  <a:pt x="399541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6" y="99187"/>
                </a:lnTo>
                <a:lnTo>
                  <a:pt x="447297" y="116855"/>
                </a:lnTo>
                <a:lnTo>
                  <a:pt x="436117" y="160146"/>
                </a:lnTo>
                <a:lnTo>
                  <a:pt x="399796" y="192277"/>
                </a:lnTo>
                <a:lnTo>
                  <a:pt x="402336" y="200406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6" y="100202"/>
                </a:lnTo>
                <a:lnTo>
                  <a:pt x="465206" y="82115"/>
                </a:lnTo>
                <a:lnTo>
                  <a:pt x="449707" y="35051"/>
                </a:lnTo>
                <a:lnTo>
                  <a:pt x="416863" y="5208"/>
                </a:lnTo>
                <a:lnTo>
                  <a:pt x="402336" y="0"/>
                </a:lnTo>
                <a:close/>
              </a:path>
              <a:path w="466725" h="200660">
                <a:moveTo>
                  <a:pt x="63881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0" y="100202"/>
                </a:lnTo>
                <a:lnTo>
                  <a:pt x="926" y="116855"/>
                </a:lnTo>
                <a:lnTo>
                  <a:pt x="16510" y="165353"/>
                </a:lnTo>
                <a:lnTo>
                  <a:pt x="49335" y="195143"/>
                </a:lnTo>
                <a:lnTo>
                  <a:pt x="63881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24931" y="52449"/>
                </a:lnTo>
                <a:lnTo>
                  <a:pt x="45259" y="20097"/>
                </a:lnTo>
                <a:lnTo>
                  <a:pt x="66801" y="8127"/>
                </a:lnTo>
                <a:lnTo>
                  <a:pt x="6388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03897" y="4167885"/>
            <a:ext cx="466725" cy="200660"/>
          </a:xfrm>
          <a:custGeom>
            <a:avLst/>
            <a:gdLst/>
            <a:ahLst/>
            <a:cxnLst/>
            <a:rect l="l" t="t" r="r" b="b"/>
            <a:pathLst>
              <a:path w="466725" h="200660">
                <a:moveTo>
                  <a:pt x="402335" y="0"/>
                </a:moveTo>
                <a:lnTo>
                  <a:pt x="399542" y="8127"/>
                </a:lnTo>
                <a:lnTo>
                  <a:pt x="411114" y="13124"/>
                </a:lnTo>
                <a:lnTo>
                  <a:pt x="421068" y="20097"/>
                </a:lnTo>
                <a:lnTo>
                  <a:pt x="441305" y="52449"/>
                </a:lnTo>
                <a:lnTo>
                  <a:pt x="448055" y="99187"/>
                </a:lnTo>
                <a:lnTo>
                  <a:pt x="447297" y="116855"/>
                </a:lnTo>
                <a:lnTo>
                  <a:pt x="436118" y="160146"/>
                </a:lnTo>
                <a:lnTo>
                  <a:pt x="399796" y="192277"/>
                </a:lnTo>
                <a:lnTo>
                  <a:pt x="402335" y="200406"/>
                </a:lnTo>
                <a:lnTo>
                  <a:pt x="440662" y="177617"/>
                </a:lnTo>
                <a:lnTo>
                  <a:pt x="462121" y="135636"/>
                </a:lnTo>
                <a:lnTo>
                  <a:pt x="466217" y="100202"/>
                </a:lnTo>
                <a:lnTo>
                  <a:pt x="465206" y="82115"/>
                </a:lnTo>
                <a:lnTo>
                  <a:pt x="449706" y="35051"/>
                </a:lnTo>
                <a:lnTo>
                  <a:pt x="416863" y="5208"/>
                </a:lnTo>
                <a:lnTo>
                  <a:pt x="402335" y="0"/>
                </a:lnTo>
                <a:close/>
              </a:path>
              <a:path w="466725" h="200660">
                <a:moveTo>
                  <a:pt x="63880" y="0"/>
                </a:moveTo>
                <a:lnTo>
                  <a:pt x="25679" y="22770"/>
                </a:lnTo>
                <a:lnTo>
                  <a:pt x="4111" y="64865"/>
                </a:lnTo>
                <a:lnTo>
                  <a:pt x="56" y="99187"/>
                </a:lnTo>
                <a:lnTo>
                  <a:pt x="0" y="100202"/>
                </a:lnTo>
                <a:lnTo>
                  <a:pt x="9269" y="151209"/>
                </a:lnTo>
                <a:lnTo>
                  <a:pt x="36575" y="187547"/>
                </a:lnTo>
                <a:lnTo>
                  <a:pt x="63880" y="200406"/>
                </a:lnTo>
                <a:lnTo>
                  <a:pt x="66421" y="192277"/>
                </a:lnTo>
                <a:lnTo>
                  <a:pt x="55012" y="187203"/>
                </a:lnTo>
                <a:lnTo>
                  <a:pt x="45164" y="180165"/>
                </a:lnTo>
                <a:lnTo>
                  <a:pt x="24931" y="147335"/>
                </a:lnTo>
                <a:lnTo>
                  <a:pt x="18330" y="100202"/>
                </a:lnTo>
                <a:lnTo>
                  <a:pt x="18287" y="99187"/>
                </a:lnTo>
                <a:lnTo>
                  <a:pt x="19026" y="82115"/>
                </a:lnTo>
                <a:lnTo>
                  <a:pt x="30099" y="39877"/>
                </a:lnTo>
                <a:lnTo>
                  <a:pt x="66801" y="8127"/>
                </a:lnTo>
                <a:lnTo>
                  <a:pt x="638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4580" y="1730476"/>
            <a:ext cx="10086975" cy="384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93345">
              <a:lnSpc>
                <a:spcPct val="130000"/>
              </a:lnSpc>
              <a:spcBef>
                <a:spcPts val="100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3505" algn="l"/>
                <a:tab pos="203835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	Arithmetic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which,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means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arithmetic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carried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corresponding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pairs.</a:t>
            </a:r>
            <a:endParaRPr sz="1700">
              <a:latin typeface="Times New Roman"/>
              <a:cs typeface="Times New Roman"/>
            </a:endParaRPr>
          </a:p>
          <a:p>
            <a:pPr marL="3832225" algn="just">
              <a:lnSpc>
                <a:spcPct val="100000"/>
              </a:lnSpc>
              <a:spcBef>
                <a:spcPts val="1115"/>
              </a:spcBef>
            </a:pP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𝑠</a:t>
            </a:r>
            <a:r>
              <a:rPr sz="1700" spc="38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22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7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00" spc="3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18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1700" spc="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𝑔</a:t>
            </a:r>
            <a:r>
              <a:rPr sz="1700" spc="36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endParaRPr sz="1700">
              <a:latin typeface="Cambria Math"/>
              <a:cs typeface="Cambria Math"/>
            </a:endParaRPr>
          </a:p>
          <a:p>
            <a:pPr marL="3858260" marR="3890645" indent="-1905" algn="just">
              <a:lnSpc>
                <a:spcPct val="1986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sz="17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23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700" spc="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00" spc="40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180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1700" spc="1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𝑔</a:t>
            </a:r>
            <a:r>
              <a:rPr sz="1700" spc="3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Cambria Math"/>
                <a:cs typeface="Cambria Math"/>
              </a:rPr>
              <a:t>𝑦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7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229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700" spc="10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00" spc="3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18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∗</a:t>
            </a:r>
            <a:r>
              <a:rPr sz="1700" spc="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𝑔</a:t>
            </a:r>
            <a:r>
              <a:rPr sz="1700" spc="3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Cambria Math"/>
                <a:cs typeface="Cambria Math"/>
              </a:rPr>
              <a:t>𝑦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17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235" dirty="0">
                <a:solidFill>
                  <a:srgbClr val="404040"/>
                </a:solidFill>
                <a:latin typeface="Cambria Math"/>
                <a:cs typeface="Cambria Math"/>
              </a:rPr>
              <a:t> 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700" spc="10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𝑓</a:t>
            </a:r>
            <a:r>
              <a:rPr sz="1700" spc="40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r>
              <a:rPr sz="1700" spc="36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/𝑔</a:t>
            </a:r>
            <a:r>
              <a:rPr sz="1700" spc="3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𝑥,</a:t>
            </a:r>
            <a:r>
              <a:rPr sz="1700" spc="-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Cambria Math"/>
                <a:cs typeface="Cambria Math"/>
              </a:rPr>
              <a:t>𝑦</a:t>
            </a:r>
            <a:endParaRPr sz="1700">
              <a:latin typeface="Cambria Math"/>
              <a:cs typeface="Cambria Math"/>
            </a:endParaRPr>
          </a:p>
          <a:p>
            <a:pPr marL="103505" marR="40640" indent="-93345">
              <a:lnSpc>
                <a:spcPct val="130000"/>
              </a:lnSpc>
              <a:spcBef>
                <a:spcPts val="140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3505" algn="l"/>
                <a:tab pos="203835" algn="l"/>
              </a:tabLst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	It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understood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that,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performed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corresponding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pairs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x=0,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1,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2……..M-1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y=0,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1,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2…….N-1.</a:t>
            </a:r>
            <a:r>
              <a:rPr sz="17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Where,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rows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columns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images.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Clearly,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s,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d,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v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 images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also.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/>
                <a:cs typeface="Times New Roman"/>
              </a:rPr>
              <a:t>Arithmetic</a:t>
            </a:r>
            <a:r>
              <a:rPr b="0" spc="-204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Operation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92123"/>
            <a:ext cx="7334884" cy="228790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Few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important</a:t>
            </a:r>
            <a:r>
              <a:rPr sz="20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considerations:-</a:t>
            </a:r>
            <a:endParaRPr sz="200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floating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point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number,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round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off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it’s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spcBef>
                <a:spcPts val="115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above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range,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select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maximum range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12090" indent="-20193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below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range,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select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minimum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spcBef>
                <a:spcPts val="117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infinity,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write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zero.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/>
                <a:cs typeface="Times New Roman"/>
              </a:rPr>
              <a:t>Arithmetic</a:t>
            </a:r>
            <a:r>
              <a:rPr b="0" spc="-204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Operation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57501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1287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35" y="10160"/>
                </a:lnTo>
                <a:lnTo>
                  <a:pt x="5383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57701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98750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80760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21809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04439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6" y="10160"/>
                </a:lnTo>
                <a:lnTo>
                  <a:pt x="60706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4170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82" y="10160"/>
                </a:lnTo>
                <a:lnTo>
                  <a:pt x="6078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05808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88995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3" y="10160"/>
                </a:lnTo>
                <a:lnTo>
                  <a:pt x="60833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52084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16271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78141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31965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23477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66050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46536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389109" y="29260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211287" y="2307536"/>
          <a:ext cx="9487528" cy="680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5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5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41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41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R="46355" algn="ctr">
                        <a:lnSpc>
                          <a:spcPts val="156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60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560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58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56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60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560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58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ts val="158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255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58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46355" algn="ctr">
                        <a:lnSpc>
                          <a:spcPts val="172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4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72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5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65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6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74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72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4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72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∗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650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745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R="46355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6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639"/>
                        </a:lnSpc>
                      </a:pPr>
                      <a:r>
                        <a:rPr sz="16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2357501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11287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35" y="10160"/>
                </a:lnTo>
                <a:lnTo>
                  <a:pt x="5383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57701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98750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80760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21809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78141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31965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23477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6050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46536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389109" y="2334260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25080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34759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42628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25816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660888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751568" y="466597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1214170" y="3499838"/>
          <a:ext cx="9495786" cy="1235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1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71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812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ts val="1739"/>
                        </a:lnSpc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34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A-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A/B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10209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356235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R="51435"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970"/>
                        </a:lnSpc>
                        <a:tabLst>
                          <a:tab pos="410209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970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/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ts val="19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ts val="1945"/>
                        </a:lnSpc>
                        <a:tabLst>
                          <a:tab pos="356235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R="5143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870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ts val="1870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70"/>
                        </a:lnSpc>
                        <a:tabLst>
                          <a:tab pos="410209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870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ts val="1870"/>
                        </a:lnSpc>
                      </a:pPr>
                      <a:r>
                        <a:rPr sz="1800" spc="-25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ts val="1870"/>
                        </a:lnSpc>
                        <a:tabLst>
                          <a:tab pos="356235" algn="l"/>
                        </a:tabLst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solidFill>
                            <a:srgbClr val="40404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40404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2504439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6" y="10160"/>
                </a:lnTo>
                <a:lnTo>
                  <a:pt x="60706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14170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82" y="10160"/>
                </a:lnTo>
                <a:lnTo>
                  <a:pt x="6078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305808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88995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3" y="10160"/>
                </a:lnTo>
                <a:lnTo>
                  <a:pt x="60833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52084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16271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625080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34759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342628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25816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660888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705" y="10160"/>
                </a:lnTo>
                <a:lnTo>
                  <a:pt x="6070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751568" y="399922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59" h="10160">
                <a:moveTo>
                  <a:pt x="0" y="10160"/>
                </a:moveTo>
                <a:lnTo>
                  <a:pt x="60832" y="10160"/>
                </a:lnTo>
                <a:lnTo>
                  <a:pt x="6083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676780" y="1873123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4" name="object 54"/>
          <p:cNvSpPr txBox="1"/>
          <p:nvPr/>
        </p:nvSpPr>
        <p:spPr>
          <a:xfrm>
            <a:off x="3276727" y="1910587"/>
            <a:ext cx="1898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87805" algn="l"/>
              </a:tabLst>
            </a:pPr>
            <a:r>
              <a:rPr sz="2400" b="1" spc="-75" baseline="1736" dirty="0">
                <a:latin typeface="Times New Roman"/>
                <a:cs typeface="Times New Roman"/>
              </a:rPr>
              <a:t>B</a:t>
            </a:r>
            <a:r>
              <a:rPr sz="2400" b="1" baseline="1736" dirty="0">
                <a:latin typeface="Times New Roman"/>
                <a:cs typeface="Times New Roman"/>
              </a:rPr>
              <a:t>	</a:t>
            </a:r>
            <a:r>
              <a:rPr sz="1600" b="1" spc="-25" dirty="0">
                <a:latin typeface="Times New Roman"/>
                <a:cs typeface="Times New Roman"/>
              </a:rPr>
              <a:t>A+B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8261" y="1873123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67827" y="1903222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804272" y="1910587"/>
            <a:ext cx="408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A*B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95446" y="5440476"/>
            <a:ext cx="4457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Here,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considered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gray</a:t>
            </a:r>
            <a:r>
              <a:rPr sz="1800" spc="-10" dirty="0">
                <a:latin typeface="Times New Roman"/>
                <a:cs typeface="Times New Roman"/>
              </a:rPr>
              <a:t> level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intensity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0…….255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4289" y="1884273"/>
            <a:ext cx="9775825" cy="39687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Example: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(averaging)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 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reduction.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enhancement.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averaging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field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astronomy.</a:t>
            </a:r>
            <a:endParaRPr sz="20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3600"/>
              </a:lnSpc>
              <a:spcBef>
                <a:spcPts val="32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g(x,y)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denote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corrupted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formed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η(x,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y)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noiseless </a:t>
            </a:r>
            <a:r>
              <a:rPr sz="2000" dirty="0">
                <a:latin typeface="Times New Roman"/>
                <a:cs typeface="Times New Roman"/>
              </a:rPr>
              <a:t>image f(x,y);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is,</a:t>
            </a:r>
            <a:endParaRPr sz="2000" dirty="0">
              <a:latin typeface="Times New Roman"/>
              <a:cs typeface="Times New Roman"/>
            </a:endParaRPr>
          </a:p>
          <a:p>
            <a:pPr marR="94615" algn="ctr">
              <a:lnSpc>
                <a:spcPct val="100000"/>
              </a:lnSpc>
              <a:spcBef>
                <a:spcPts val="825"/>
              </a:spcBef>
            </a:pPr>
            <a:r>
              <a:rPr sz="2150" b="1" i="1" dirty="0">
                <a:latin typeface="Times New Roman"/>
                <a:cs typeface="Times New Roman"/>
              </a:rPr>
              <a:t>g</a:t>
            </a:r>
            <a:r>
              <a:rPr sz="2150" i="1" dirty="0">
                <a:latin typeface="Times New Roman"/>
                <a:cs typeface="Times New Roman"/>
              </a:rPr>
              <a:t>(</a:t>
            </a:r>
            <a:r>
              <a:rPr sz="2150" i="1" spc="-5" dirty="0">
                <a:latin typeface="Times New Roman"/>
                <a:cs typeface="Times New Roman"/>
              </a:rPr>
              <a:t> </a:t>
            </a:r>
            <a:r>
              <a:rPr sz="2150" b="1" i="1" spc="90" dirty="0">
                <a:latin typeface="Times New Roman"/>
                <a:cs typeface="Times New Roman"/>
              </a:rPr>
              <a:t>x</a:t>
            </a:r>
            <a:r>
              <a:rPr sz="2150" i="1" spc="90" dirty="0">
                <a:latin typeface="Times New Roman"/>
                <a:cs typeface="Times New Roman"/>
              </a:rPr>
              <a:t>,</a:t>
            </a:r>
            <a:r>
              <a:rPr sz="2150" i="1" spc="-225" dirty="0">
                <a:latin typeface="Times New Roman"/>
                <a:cs typeface="Times New Roman"/>
              </a:rPr>
              <a:t> </a:t>
            </a:r>
            <a:r>
              <a:rPr sz="2150" b="1" i="1" dirty="0">
                <a:latin typeface="Times New Roman"/>
                <a:cs typeface="Times New Roman"/>
              </a:rPr>
              <a:t>y</a:t>
            </a:r>
            <a:r>
              <a:rPr sz="2150" b="1" i="1" spc="-21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)</a:t>
            </a:r>
            <a:r>
              <a:rPr sz="2150" i="1" spc="-9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434" dirty="0">
                <a:latin typeface="Times New Roman"/>
                <a:cs typeface="Times New Roman"/>
              </a:rPr>
              <a:t> </a:t>
            </a:r>
            <a:r>
              <a:rPr sz="2150" b="1" i="1" dirty="0">
                <a:latin typeface="Times New Roman"/>
                <a:cs typeface="Times New Roman"/>
              </a:rPr>
              <a:t>f</a:t>
            </a:r>
            <a:r>
              <a:rPr sz="2150" b="1" i="1" spc="-204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( </a:t>
            </a:r>
            <a:r>
              <a:rPr sz="2150" b="1" i="1" spc="85" dirty="0">
                <a:latin typeface="Times New Roman"/>
                <a:cs typeface="Times New Roman"/>
              </a:rPr>
              <a:t>x</a:t>
            </a:r>
            <a:r>
              <a:rPr sz="2150" i="1" spc="85" dirty="0">
                <a:latin typeface="Times New Roman"/>
                <a:cs typeface="Times New Roman"/>
              </a:rPr>
              <a:t>,</a:t>
            </a:r>
            <a:r>
              <a:rPr sz="2150" i="1" spc="-225" dirty="0">
                <a:latin typeface="Times New Roman"/>
                <a:cs typeface="Times New Roman"/>
              </a:rPr>
              <a:t> </a:t>
            </a:r>
            <a:r>
              <a:rPr sz="2150" b="1" i="1" dirty="0">
                <a:latin typeface="Times New Roman"/>
                <a:cs typeface="Times New Roman"/>
              </a:rPr>
              <a:t>y</a:t>
            </a:r>
            <a:r>
              <a:rPr sz="2150" b="1" i="1" spc="-21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)</a:t>
            </a:r>
            <a:r>
              <a:rPr sz="2150" i="1" spc="-210" dirty="0">
                <a:latin typeface="Times New Roman"/>
                <a:cs typeface="Times New Roman"/>
              </a:rPr>
              <a:t> </a:t>
            </a:r>
            <a:r>
              <a:rPr sz="2150" spc="60" dirty="0">
                <a:latin typeface="Symbol"/>
                <a:cs typeface="Symbol"/>
              </a:rPr>
              <a:t></a:t>
            </a:r>
            <a:r>
              <a:rPr sz="2300" spc="60" dirty="0">
                <a:latin typeface="Symbol"/>
                <a:cs typeface="Symbol"/>
              </a:rPr>
              <a:t></a:t>
            </a:r>
            <a:r>
              <a:rPr sz="2150" i="1" spc="60" dirty="0">
                <a:latin typeface="Times New Roman"/>
                <a:cs typeface="Times New Roman"/>
              </a:rPr>
              <a:t>(</a:t>
            </a:r>
            <a:r>
              <a:rPr sz="2150" i="1" spc="-5" dirty="0">
                <a:latin typeface="Times New Roman"/>
                <a:cs typeface="Times New Roman"/>
              </a:rPr>
              <a:t> </a:t>
            </a:r>
            <a:r>
              <a:rPr sz="2150" b="1" i="1" spc="90" dirty="0">
                <a:latin typeface="Times New Roman"/>
                <a:cs typeface="Times New Roman"/>
              </a:rPr>
              <a:t>x</a:t>
            </a:r>
            <a:r>
              <a:rPr sz="2150" i="1" spc="90" dirty="0">
                <a:latin typeface="Times New Roman"/>
                <a:cs typeface="Times New Roman"/>
              </a:rPr>
              <a:t>,</a:t>
            </a:r>
            <a:r>
              <a:rPr sz="2150" i="1" spc="-225" dirty="0">
                <a:latin typeface="Times New Roman"/>
                <a:cs typeface="Times New Roman"/>
              </a:rPr>
              <a:t> </a:t>
            </a:r>
            <a:r>
              <a:rPr sz="2150" b="1" i="1" dirty="0">
                <a:latin typeface="Times New Roman"/>
                <a:cs typeface="Times New Roman"/>
              </a:rPr>
              <a:t>y</a:t>
            </a:r>
            <a:r>
              <a:rPr sz="2150" b="1" i="1" spc="-210" dirty="0">
                <a:latin typeface="Times New Roman"/>
                <a:cs typeface="Times New Roman"/>
              </a:rPr>
              <a:t> </a:t>
            </a:r>
            <a:r>
              <a:rPr sz="2150" i="1" spc="-50" dirty="0">
                <a:latin typeface="Times New Roman"/>
                <a:cs typeface="Times New Roman"/>
              </a:rPr>
              <a:t>)</a:t>
            </a:r>
            <a:endParaRPr sz="2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326390" marR="163830" indent="-285750">
              <a:lnSpc>
                <a:spcPct val="150000"/>
              </a:lnSpc>
              <a:buFont typeface="Wingdings"/>
              <a:buChar char=""/>
              <a:tabLst>
                <a:tab pos="32766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following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procedure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noise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content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 	</a:t>
            </a:r>
            <a:r>
              <a:rPr sz="1800" dirty="0">
                <a:latin typeface="Times New Roman"/>
                <a:cs typeface="Times New Roman"/>
              </a:rPr>
              <a:t>adding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noisy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images,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technique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frequently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enhancement.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35" dirty="0"/>
              <a:t> </a:t>
            </a:r>
            <a:r>
              <a:rPr spc="-45" dirty="0"/>
              <a:t>Operation</a:t>
            </a:r>
            <a:r>
              <a:rPr spc="-229" dirty="0"/>
              <a:t> </a:t>
            </a:r>
            <a:r>
              <a:rPr spc="-20" dirty="0"/>
              <a:t>(Addition)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35" dirty="0"/>
              <a:t> </a:t>
            </a:r>
            <a:r>
              <a:rPr spc="-45" dirty="0"/>
              <a:t>Operation</a:t>
            </a:r>
            <a:r>
              <a:rPr spc="-229" dirty="0"/>
              <a:t> </a:t>
            </a:r>
            <a:r>
              <a:rPr spc="-20" dirty="0"/>
              <a:t>(Addition)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183" y="1845564"/>
            <a:ext cx="8485632" cy="381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39264" y="5794349"/>
            <a:ext cx="8870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Figure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1: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Sombrero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Galaxy.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(b)-</a:t>
            </a:r>
            <a:r>
              <a:rPr sz="1200" dirty="0">
                <a:latin typeface="Times New Roman"/>
                <a:cs typeface="Times New Roman"/>
              </a:rPr>
              <a:t>(f)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50,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500,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1,000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respectively.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images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pixels,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scaled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intensities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span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full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[0,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255]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intensity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scale.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4289" y="1940433"/>
            <a:ext cx="225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sample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45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4" name="object 4"/>
          <p:cNvSpPr/>
          <p:nvPr/>
        </p:nvSpPr>
        <p:spPr>
          <a:xfrm>
            <a:off x="5273483" y="2842187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916" y="0"/>
                </a:lnTo>
              </a:path>
            </a:pathLst>
          </a:custGeom>
          <a:ln w="9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81456" y="2325157"/>
            <a:ext cx="10413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5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668553" y="2409487"/>
            <a:ext cx="59499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latin typeface="Symbol"/>
                <a:cs typeface="Symbol"/>
              </a:rPr>
              <a:t></a:t>
            </a:r>
            <a:r>
              <a:rPr sz="2800" spc="-345" dirty="0">
                <a:latin typeface="Times New Roman"/>
                <a:cs typeface="Times New Roman"/>
              </a:rPr>
              <a:t> </a:t>
            </a:r>
            <a:r>
              <a:rPr sz="2775" b="1" i="1" spc="89" baseline="13513" dirty="0">
                <a:latin typeface="Times New Roman"/>
                <a:cs typeface="Times New Roman"/>
              </a:rPr>
              <a:t>X</a:t>
            </a:r>
            <a:r>
              <a:rPr sz="1100" b="1" i="1" spc="60" dirty="0">
                <a:latin typeface="Times New Roman"/>
                <a:cs typeface="Times New Roman"/>
              </a:rPr>
              <a:t>i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0449" y="2699631"/>
            <a:ext cx="1090930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052195" algn="l"/>
              </a:tabLst>
            </a:pPr>
            <a:r>
              <a:rPr sz="2775" b="1" i="1" baseline="-21021" dirty="0">
                <a:latin typeface="Times New Roman"/>
                <a:cs typeface="Times New Roman"/>
              </a:rPr>
              <a:t>X</a:t>
            </a:r>
            <a:r>
              <a:rPr sz="2775" b="1" i="1" spc="367" baseline="-21021" dirty="0">
                <a:latin typeface="Times New Roman"/>
                <a:cs typeface="Times New Roman"/>
              </a:rPr>
              <a:t> </a:t>
            </a:r>
            <a:r>
              <a:rPr sz="2775" baseline="-21021" dirty="0">
                <a:latin typeface="Symbol"/>
                <a:cs typeface="Symbol"/>
              </a:rPr>
              <a:t></a:t>
            </a:r>
            <a:r>
              <a:rPr sz="2775" spc="44" baseline="-21021" dirty="0">
                <a:latin typeface="Times New Roman"/>
                <a:cs typeface="Times New Roman"/>
              </a:rPr>
              <a:t> </a:t>
            </a:r>
            <a:r>
              <a:rPr sz="1100" b="1" i="1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6116" y="2970877"/>
            <a:ext cx="6837045" cy="902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74955" algn="ctr">
              <a:lnSpc>
                <a:spcPct val="100000"/>
              </a:lnSpc>
              <a:spcBef>
                <a:spcPts val="135"/>
              </a:spcBef>
            </a:pPr>
            <a:r>
              <a:rPr sz="1850" b="1" i="1" spc="-50" dirty="0">
                <a:latin typeface="Times New Roman"/>
                <a:cs typeface="Times New Roman"/>
              </a:rPr>
              <a:t>n</a:t>
            </a: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Mean</a:t>
            </a:r>
            <a:r>
              <a:rPr sz="1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does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not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tell</a:t>
            </a:r>
            <a:r>
              <a:rPr sz="1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us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lot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about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data</a:t>
            </a:r>
            <a:r>
              <a:rPr sz="1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except</a:t>
            </a:r>
            <a:r>
              <a:rPr sz="1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sort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middle</a:t>
            </a:r>
            <a:r>
              <a:rPr sz="1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Times New Roman"/>
                <a:cs typeface="Times New Roman"/>
              </a:rPr>
              <a:t>point.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5144" y="4402835"/>
            <a:ext cx="3458210" cy="64643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57150" algn="ctr">
              <a:lnSpc>
                <a:spcPct val="100000"/>
              </a:lnSpc>
              <a:spcBef>
                <a:spcPts val="309"/>
              </a:spcBef>
            </a:pP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[0 8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20]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8900" y="4402835"/>
            <a:ext cx="3458210" cy="64643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50800" algn="ctr">
              <a:lnSpc>
                <a:spcPct val="100000"/>
              </a:lnSpc>
              <a:spcBef>
                <a:spcPts val="309"/>
              </a:spcBef>
            </a:pP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[8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11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12]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7784" y="5353811"/>
            <a:ext cx="3456940" cy="3708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about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sets?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1912111"/>
            <a:ext cx="35039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sample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45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4" name="object 4"/>
          <p:cNvSpPr/>
          <p:nvPr/>
        </p:nvSpPr>
        <p:spPr>
          <a:xfrm>
            <a:off x="7675047" y="2599658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0" y="0"/>
                </a:moveTo>
                <a:lnTo>
                  <a:pt x="158330" y="0"/>
                </a:lnTo>
              </a:path>
            </a:pathLst>
          </a:custGeom>
          <a:ln w="96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574789" y="2394440"/>
            <a:ext cx="1508125" cy="926465"/>
            <a:chOff x="6574789" y="2394440"/>
            <a:chExt cx="1508125" cy="926465"/>
          </a:xfrm>
        </p:grpSpPr>
        <p:sp>
          <p:nvSpPr>
            <p:cNvPr id="6" name="object 6"/>
            <p:cNvSpPr/>
            <p:nvPr/>
          </p:nvSpPr>
          <p:spPr>
            <a:xfrm>
              <a:off x="6579649" y="2960239"/>
              <a:ext cx="31115" cy="17780"/>
            </a:xfrm>
            <a:custGeom>
              <a:avLst/>
              <a:gdLst/>
              <a:ahLst/>
              <a:cxnLst/>
              <a:rect l="l" t="t" r="r" b="b"/>
              <a:pathLst>
                <a:path w="31115" h="17780">
                  <a:moveTo>
                    <a:pt x="0" y="17374"/>
                  </a:moveTo>
                  <a:lnTo>
                    <a:pt x="30791" y="0"/>
                  </a:lnTo>
                </a:path>
              </a:pathLst>
            </a:custGeom>
            <a:ln w="9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10441" y="2965074"/>
              <a:ext cx="44450" cy="346075"/>
            </a:xfrm>
            <a:custGeom>
              <a:avLst/>
              <a:gdLst/>
              <a:ahLst/>
              <a:cxnLst/>
              <a:rect l="l" t="t" r="r" b="b"/>
              <a:pathLst>
                <a:path w="44450" h="346075">
                  <a:moveTo>
                    <a:pt x="0" y="0"/>
                  </a:moveTo>
                  <a:lnTo>
                    <a:pt x="44102" y="345600"/>
                  </a:lnTo>
                </a:path>
              </a:pathLst>
            </a:custGeom>
            <a:ln w="20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59509" y="2399340"/>
              <a:ext cx="1423670" cy="911860"/>
            </a:xfrm>
            <a:custGeom>
              <a:avLst/>
              <a:gdLst/>
              <a:ahLst/>
              <a:cxnLst/>
              <a:rect l="l" t="t" r="r" b="b"/>
              <a:pathLst>
                <a:path w="1423670" h="911860">
                  <a:moveTo>
                    <a:pt x="0" y="911335"/>
                  </a:moveTo>
                  <a:lnTo>
                    <a:pt x="58603" y="0"/>
                  </a:lnTo>
                </a:path>
                <a:path w="1423670" h="911860">
                  <a:moveTo>
                    <a:pt x="58603" y="0"/>
                  </a:moveTo>
                  <a:lnTo>
                    <a:pt x="1423182" y="0"/>
                  </a:lnTo>
                </a:path>
              </a:pathLst>
            </a:custGeom>
            <a:ln w="97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14380" y="2421821"/>
            <a:ext cx="1355090" cy="459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37870" algn="l"/>
              </a:tabLst>
            </a:pPr>
            <a:r>
              <a:rPr sz="4275" baseline="-8771" dirty="0">
                <a:latin typeface="Symbol"/>
                <a:cs typeface="Symbol"/>
              </a:rPr>
              <a:t></a:t>
            </a:r>
            <a:r>
              <a:rPr sz="1900" i="1" dirty="0">
                <a:latin typeface="Times New Roman"/>
                <a:cs typeface="Times New Roman"/>
              </a:rPr>
              <a:t>(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b="1" i="1" spc="-50" dirty="0">
                <a:latin typeface="Times New Roman"/>
                <a:cs typeface="Times New Roman"/>
              </a:rPr>
              <a:t>X</a:t>
            </a:r>
            <a:r>
              <a:rPr sz="1900" b="1" i="1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b="1" i="1" dirty="0">
                <a:latin typeface="Times New Roman"/>
                <a:cs typeface="Times New Roman"/>
              </a:rPr>
              <a:t>X</a:t>
            </a:r>
            <a:r>
              <a:rPr sz="1900" b="1" i="1" spc="6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)</a:t>
            </a:r>
            <a:r>
              <a:rPr sz="1650" i="1" spc="-37" baseline="42929" dirty="0">
                <a:latin typeface="Times New Roman"/>
                <a:cs typeface="Times New Roman"/>
              </a:rPr>
              <a:t>2</a:t>
            </a:r>
            <a:endParaRPr sz="1650" baseline="4292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085831" y="2845425"/>
            <a:ext cx="2440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latin typeface="Times New Roman"/>
                <a:cs typeface="Times New Roman"/>
              </a:rPr>
              <a:t>Standard</a:t>
            </a:r>
            <a:r>
              <a:rPr sz="1900" b="1" spc="-165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deviation,</a:t>
            </a:r>
            <a:r>
              <a:rPr sz="1900" b="1" spc="-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7984" y="2397153"/>
            <a:ext cx="10477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spc="-5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4087" y="2872614"/>
            <a:ext cx="1351280" cy="4864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1325245" algn="l"/>
              </a:tabLst>
            </a:pPr>
            <a:r>
              <a:rPr sz="1100" b="1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  <a:spcBef>
                <a:spcPts val="20"/>
              </a:spcBef>
            </a:pPr>
            <a:r>
              <a:rPr sz="1900" b="1" i="1" dirty="0">
                <a:latin typeface="Times New Roman"/>
                <a:cs typeface="Times New Roman"/>
              </a:rPr>
              <a:t>n</a:t>
            </a:r>
            <a:r>
              <a:rPr sz="1900" b="1" i="1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0191" y="2702230"/>
            <a:ext cx="654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2197" y="3655567"/>
            <a:ext cx="3054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Why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sz="1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using</a:t>
            </a:r>
            <a:r>
              <a:rPr sz="18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Times New Roman"/>
                <a:cs typeface="Times New Roman"/>
              </a:rPr>
              <a:t>n-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1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not</a:t>
            </a:r>
            <a:r>
              <a:rPr sz="1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n?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1448" y="4908803"/>
            <a:ext cx="7983220" cy="92392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1440" marR="80645" algn="just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Because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take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subset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real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world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this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value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represents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closer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standard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deviation.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If</a:t>
            </a:r>
            <a:r>
              <a:rPr sz="1800" b="1" spc="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can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take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full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sample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then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can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instead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n-</a:t>
            </a:r>
            <a:r>
              <a:rPr sz="1800" b="1" spc="-25" dirty="0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45" dirty="0"/>
              <a:t> </a:t>
            </a:r>
            <a:r>
              <a:rPr spc="-30" dirty="0"/>
              <a:t>Operation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171700" y="2447544"/>
            <a:ext cx="3458210" cy="925194"/>
          </a:xfrm>
          <a:custGeom>
            <a:avLst/>
            <a:gdLst/>
            <a:ahLst/>
            <a:cxnLst/>
            <a:rect l="l" t="t" r="r" b="b"/>
            <a:pathLst>
              <a:path w="3458210" h="925195">
                <a:moveTo>
                  <a:pt x="0" y="925067"/>
                </a:moveTo>
                <a:lnTo>
                  <a:pt x="3457955" y="925067"/>
                </a:lnTo>
                <a:lnTo>
                  <a:pt x="3457955" y="0"/>
                </a:lnTo>
                <a:lnTo>
                  <a:pt x="0" y="0"/>
                </a:lnTo>
                <a:lnTo>
                  <a:pt x="0" y="925067"/>
                </a:lnTo>
                <a:close/>
              </a:path>
            </a:pathLst>
          </a:custGeom>
          <a:ln w="15240">
            <a:solidFill>
              <a:srgbClr val="939F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82620" y="2473528"/>
            <a:ext cx="243649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65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X = [0 8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 </a:t>
            </a:r>
            <a:r>
              <a:rPr sz="1800" spc="-25" dirty="0">
                <a:latin typeface="Times New Roman"/>
                <a:cs typeface="Times New Roman"/>
              </a:rPr>
              <a:t>20]</a:t>
            </a:r>
            <a:endParaRPr sz="1800">
              <a:latin typeface="Times New Roman"/>
              <a:cs typeface="Times New Roman"/>
            </a:endParaRPr>
          </a:p>
          <a:p>
            <a:pPr marL="12700" marR="5080" indent="7162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 </a:t>
            </a:r>
            <a:r>
              <a:rPr sz="1800" dirty="0">
                <a:latin typeface="Times New Roman"/>
                <a:cs typeface="Times New Roman"/>
              </a:rPr>
              <a:t>Standard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~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8.33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255" y="2447544"/>
            <a:ext cx="3458210" cy="925194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[8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12]</a:t>
            </a:r>
            <a:endParaRPr sz="1800">
              <a:latin typeface="Times New Roman"/>
              <a:cs typeface="Times New Roman"/>
            </a:endParaRPr>
          </a:p>
          <a:p>
            <a:pPr marL="523240" marR="514984" indent="7162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 </a:t>
            </a:r>
            <a:r>
              <a:rPr sz="1800" dirty="0">
                <a:latin typeface="Times New Roman"/>
                <a:cs typeface="Times New Roman"/>
              </a:rPr>
              <a:t>Standard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~</a:t>
            </a:r>
            <a:r>
              <a:rPr sz="1800" spc="-20" dirty="0">
                <a:latin typeface="Times New Roman"/>
                <a:cs typeface="Times New Roman"/>
              </a:rPr>
              <a:t> 1.83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7011" y="1914144"/>
            <a:ext cx="3456940" cy="3708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about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sets?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46327" y="3484799"/>
            <a:ext cx="4507865" cy="1930400"/>
            <a:chOff x="3846327" y="3484799"/>
            <a:chExt cx="4507865" cy="1930400"/>
          </a:xfrm>
        </p:grpSpPr>
        <p:sp>
          <p:nvSpPr>
            <p:cNvPr id="8" name="object 8"/>
            <p:cNvSpPr/>
            <p:nvPr/>
          </p:nvSpPr>
          <p:spPr>
            <a:xfrm>
              <a:off x="3853947" y="3492419"/>
              <a:ext cx="4492625" cy="1666875"/>
            </a:xfrm>
            <a:custGeom>
              <a:avLst/>
              <a:gdLst/>
              <a:ahLst/>
              <a:cxnLst/>
              <a:rect l="l" t="t" r="r" b="b"/>
              <a:pathLst>
                <a:path w="4492625" h="1666875">
                  <a:moveTo>
                    <a:pt x="408299" y="548593"/>
                  </a:moveTo>
                  <a:lnTo>
                    <a:pt x="402537" y="516437"/>
                  </a:lnTo>
                  <a:lnTo>
                    <a:pt x="402508" y="484706"/>
                  </a:lnTo>
                  <a:lnTo>
                    <a:pt x="408001" y="453542"/>
                  </a:lnTo>
                  <a:lnTo>
                    <a:pt x="434702" y="393474"/>
                  </a:lnTo>
                  <a:lnTo>
                    <a:pt x="480944" y="337359"/>
                  </a:lnTo>
                  <a:lnTo>
                    <a:pt x="510863" y="311135"/>
                  </a:lnTo>
                  <a:lnTo>
                    <a:pt x="545030" y="286322"/>
                  </a:lnTo>
                  <a:lnTo>
                    <a:pt x="583235" y="263060"/>
                  </a:lnTo>
                  <a:lnTo>
                    <a:pt x="625264" y="241489"/>
                  </a:lnTo>
                  <a:lnTo>
                    <a:pt x="670907" y="221751"/>
                  </a:lnTo>
                  <a:lnTo>
                    <a:pt x="719950" y="203986"/>
                  </a:lnTo>
                  <a:lnTo>
                    <a:pt x="772181" y="188335"/>
                  </a:lnTo>
                  <a:lnTo>
                    <a:pt x="827390" y="174939"/>
                  </a:lnTo>
                  <a:lnTo>
                    <a:pt x="885363" y="163938"/>
                  </a:lnTo>
                  <a:lnTo>
                    <a:pt x="945889" y="155474"/>
                  </a:lnTo>
                  <a:lnTo>
                    <a:pt x="1008755" y="149686"/>
                  </a:lnTo>
                  <a:lnTo>
                    <a:pt x="1060673" y="147114"/>
                  </a:lnTo>
                  <a:lnTo>
                    <a:pt x="1112570" y="146496"/>
                  </a:lnTo>
                  <a:lnTo>
                    <a:pt x="1164240" y="147809"/>
                  </a:lnTo>
                  <a:lnTo>
                    <a:pt x="1215475" y="151032"/>
                  </a:lnTo>
                  <a:lnTo>
                    <a:pt x="1266065" y="156143"/>
                  </a:lnTo>
                  <a:lnTo>
                    <a:pt x="1315803" y="163119"/>
                  </a:lnTo>
                  <a:lnTo>
                    <a:pt x="1364482" y="171940"/>
                  </a:lnTo>
                  <a:lnTo>
                    <a:pt x="1411892" y="182582"/>
                  </a:lnTo>
                  <a:lnTo>
                    <a:pt x="1457827" y="195025"/>
                  </a:lnTo>
                  <a:lnTo>
                    <a:pt x="1486920" y="170405"/>
                  </a:lnTo>
                  <a:lnTo>
                    <a:pt x="1520131" y="147829"/>
                  </a:lnTo>
                  <a:lnTo>
                    <a:pt x="1557084" y="127355"/>
                  </a:lnTo>
                  <a:lnTo>
                    <a:pt x="1597404" y="109042"/>
                  </a:lnTo>
                  <a:lnTo>
                    <a:pt x="1640713" y="92947"/>
                  </a:lnTo>
                  <a:lnTo>
                    <a:pt x="1686637" y="79131"/>
                  </a:lnTo>
                  <a:lnTo>
                    <a:pt x="1734798" y="67650"/>
                  </a:lnTo>
                  <a:lnTo>
                    <a:pt x="1784820" y="58563"/>
                  </a:lnTo>
                  <a:lnTo>
                    <a:pt x="1836328" y="51929"/>
                  </a:lnTo>
                  <a:lnTo>
                    <a:pt x="1888945" y="47806"/>
                  </a:lnTo>
                  <a:lnTo>
                    <a:pt x="1942295" y="46253"/>
                  </a:lnTo>
                  <a:lnTo>
                    <a:pt x="1996001" y="47328"/>
                  </a:lnTo>
                  <a:lnTo>
                    <a:pt x="2049689" y="51089"/>
                  </a:lnTo>
                  <a:lnTo>
                    <a:pt x="2102980" y="57594"/>
                  </a:lnTo>
                  <a:lnTo>
                    <a:pt x="2155500" y="66903"/>
                  </a:lnTo>
                  <a:lnTo>
                    <a:pt x="2206873" y="79074"/>
                  </a:lnTo>
                  <a:lnTo>
                    <a:pt x="2274580" y="100616"/>
                  </a:lnTo>
                  <a:lnTo>
                    <a:pt x="2335524" y="126826"/>
                  </a:lnTo>
                  <a:lnTo>
                    <a:pt x="2364069" y="101894"/>
                  </a:lnTo>
                  <a:lnTo>
                    <a:pt x="2397743" y="79448"/>
                  </a:lnTo>
                  <a:lnTo>
                    <a:pt x="2435977" y="59584"/>
                  </a:lnTo>
                  <a:lnTo>
                    <a:pt x="2478198" y="42398"/>
                  </a:lnTo>
                  <a:lnTo>
                    <a:pt x="2523839" y="27986"/>
                  </a:lnTo>
                  <a:lnTo>
                    <a:pt x="2572327" y="16444"/>
                  </a:lnTo>
                  <a:lnTo>
                    <a:pt x="2623094" y="7868"/>
                  </a:lnTo>
                  <a:lnTo>
                    <a:pt x="2675568" y="2355"/>
                  </a:lnTo>
                  <a:lnTo>
                    <a:pt x="2729180" y="0"/>
                  </a:lnTo>
                  <a:lnTo>
                    <a:pt x="2783359" y="899"/>
                  </a:lnTo>
                  <a:lnTo>
                    <a:pt x="2837536" y="5148"/>
                  </a:lnTo>
                  <a:lnTo>
                    <a:pt x="2891139" y="12844"/>
                  </a:lnTo>
                  <a:lnTo>
                    <a:pt x="2943600" y="24083"/>
                  </a:lnTo>
                  <a:lnTo>
                    <a:pt x="2988540" y="37080"/>
                  </a:lnTo>
                  <a:lnTo>
                    <a:pt x="3030134" y="52531"/>
                  </a:lnTo>
                  <a:lnTo>
                    <a:pt x="3067990" y="70267"/>
                  </a:lnTo>
                  <a:lnTo>
                    <a:pt x="3101715" y="90123"/>
                  </a:lnTo>
                  <a:lnTo>
                    <a:pt x="3139504" y="69963"/>
                  </a:lnTo>
                  <a:lnTo>
                    <a:pt x="3180546" y="52322"/>
                  </a:lnTo>
                  <a:lnTo>
                    <a:pt x="3224409" y="37217"/>
                  </a:lnTo>
                  <a:lnTo>
                    <a:pt x="3270657" y="24666"/>
                  </a:lnTo>
                  <a:lnTo>
                    <a:pt x="3318857" y="14689"/>
                  </a:lnTo>
                  <a:lnTo>
                    <a:pt x="3368573" y="7304"/>
                  </a:lnTo>
                  <a:lnTo>
                    <a:pt x="3419373" y="2530"/>
                  </a:lnTo>
                  <a:lnTo>
                    <a:pt x="3470822" y="384"/>
                  </a:lnTo>
                  <a:lnTo>
                    <a:pt x="3522485" y="886"/>
                  </a:lnTo>
                  <a:lnTo>
                    <a:pt x="3573929" y="4054"/>
                  </a:lnTo>
                  <a:lnTo>
                    <a:pt x="3624719" y="9907"/>
                  </a:lnTo>
                  <a:lnTo>
                    <a:pt x="3674422" y="18462"/>
                  </a:lnTo>
                  <a:lnTo>
                    <a:pt x="3722602" y="29739"/>
                  </a:lnTo>
                  <a:lnTo>
                    <a:pt x="3768827" y="43756"/>
                  </a:lnTo>
                  <a:lnTo>
                    <a:pt x="3812661" y="60532"/>
                  </a:lnTo>
                  <a:lnTo>
                    <a:pt x="3862657" y="85132"/>
                  </a:lnTo>
                  <a:lnTo>
                    <a:pt x="3905180" y="112768"/>
                  </a:lnTo>
                  <a:lnTo>
                    <a:pt x="3939735" y="143001"/>
                  </a:lnTo>
                  <a:lnTo>
                    <a:pt x="3965829" y="175393"/>
                  </a:lnTo>
                  <a:lnTo>
                    <a:pt x="3982968" y="209503"/>
                  </a:lnTo>
                  <a:lnTo>
                    <a:pt x="4044313" y="219906"/>
                  </a:lnTo>
                  <a:lnTo>
                    <a:pt x="4101661" y="233526"/>
                  </a:lnTo>
                  <a:lnTo>
                    <a:pt x="4154720" y="250105"/>
                  </a:lnTo>
                  <a:lnTo>
                    <a:pt x="4203198" y="269384"/>
                  </a:lnTo>
                  <a:lnTo>
                    <a:pt x="4246804" y="291105"/>
                  </a:lnTo>
                  <a:lnTo>
                    <a:pt x="4285246" y="315009"/>
                  </a:lnTo>
                  <a:lnTo>
                    <a:pt x="4318232" y="340837"/>
                  </a:lnTo>
                  <a:lnTo>
                    <a:pt x="4345469" y="368330"/>
                  </a:lnTo>
                  <a:lnTo>
                    <a:pt x="4381533" y="427282"/>
                  </a:lnTo>
                  <a:lnTo>
                    <a:pt x="4391102" y="489794"/>
                  </a:lnTo>
                  <a:lnTo>
                    <a:pt x="4385222" y="521740"/>
                  </a:lnTo>
                  <a:lnTo>
                    <a:pt x="4366462" y="563180"/>
                  </a:lnTo>
                  <a:lnTo>
                    <a:pt x="4346442" y="590630"/>
                  </a:lnTo>
                  <a:lnTo>
                    <a:pt x="4385168" y="618772"/>
                  </a:lnTo>
                  <a:lnTo>
                    <a:pt x="4417831" y="648105"/>
                  </a:lnTo>
                  <a:lnTo>
                    <a:pt x="4444485" y="678421"/>
                  </a:lnTo>
                  <a:lnTo>
                    <a:pt x="4479983" y="741166"/>
                  </a:lnTo>
                  <a:lnTo>
                    <a:pt x="4492096" y="805335"/>
                  </a:lnTo>
                  <a:lnTo>
                    <a:pt x="4489518" y="837432"/>
                  </a:lnTo>
                  <a:lnTo>
                    <a:pt x="4467364" y="900608"/>
                  </a:lnTo>
                  <a:lnTo>
                    <a:pt x="4422907" y="961033"/>
                  </a:lnTo>
                  <a:lnTo>
                    <a:pt x="4392450" y="989693"/>
                  </a:lnTo>
                  <a:lnTo>
                    <a:pt x="4356579" y="1017038"/>
                  </a:lnTo>
                  <a:lnTo>
                    <a:pt x="4315350" y="1042861"/>
                  </a:lnTo>
                  <a:lnTo>
                    <a:pt x="4268815" y="1066953"/>
                  </a:lnTo>
                  <a:lnTo>
                    <a:pt x="4217029" y="1089105"/>
                  </a:lnTo>
                  <a:lnTo>
                    <a:pt x="4174895" y="1104244"/>
                  </a:lnTo>
                  <a:lnTo>
                    <a:pt x="4130810" y="1117740"/>
                  </a:lnTo>
                  <a:lnTo>
                    <a:pt x="4084971" y="1129550"/>
                  </a:lnTo>
                  <a:lnTo>
                    <a:pt x="4037571" y="1139631"/>
                  </a:lnTo>
                  <a:lnTo>
                    <a:pt x="3988808" y="1147941"/>
                  </a:lnTo>
                  <a:lnTo>
                    <a:pt x="3938877" y="1154439"/>
                  </a:lnTo>
                  <a:lnTo>
                    <a:pt x="3887972" y="1159082"/>
                  </a:lnTo>
                  <a:lnTo>
                    <a:pt x="3884376" y="1190081"/>
                  </a:lnTo>
                  <a:lnTo>
                    <a:pt x="3859526" y="1249171"/>
                  </a:lnTo>
                  <a:lnTo>
                    <a:pt x="3813160" y="1303371"/>
                  </a:lnTo>
                  <a:lnTo>
                    <a:pt x="3782671" y="1328259"/>
                  </a:lnTo>
                  <a:lnTo>
                    <a:pt x="3747716" y="1351471"/>
                  </a:lnTo>
                  <a:lnTo>
                    <a:pt x="3708600" y="1372854"/>
                  </a:lnTo>
                  <a:lnTo>
                    <a:pt x="3665628" y="1392259"/>
                  </a:lnTo>
                  <a:lnTo>
                    <a:pt x="3619105" y="1409532"/>
                  </a:lnTo>
                  <a:lnTo>
                    <a:pt x="3569335" y="1424523"/>
                  </a:lnTo>
                  <a:lnTo>
                    <a:pt x="3516622" y="1437081"/>
                  </a:lnTo>
                  <a:lnTo>
                    <a:pt x="3461271" y="1447053"/>
                  </a:lnTo>
                  <a:lnTo>
                    <a:pt x="3403587" y="1454289"/>
                  </a:lnTo>
                  <a:lnTo>
                    <a:pt x="3343873" y="1458636"/>
                  </a:lnTo>
                  <a:lnTo>
                    <a:pt x="3282436" y="1459945"/>
                  </a:lnTo>
                  <a:lnTo>
                    <a:pt x="3227257" y="1458462"/>
                  </a:lnTo>
                  <a:lnTo>
                    <a:pt x="3172811" y="1454432"/>
                  </a:lnTo>
                  <a:lnTo>
                    <a:pt x="3119431" y="1447911"/>
                  </a:lnTo>
                  <a:lnTo>
                    <a:pt x="3067448" y="1438957"/>
                  </a:lnTo>
                  <a:lnTo>
                    <a:pt x="3017194" y="1427624"/>
                  </a:lnTo>
                  <a:lnTo>
                    <a:pt x="2969000" y="1413971"/>
                  </a:lnTo>
                  <a:lnTo>
                    <a:pt x="2950121" y="1441523"/>
                  </a:lnTo>
                  <a:lnTo>
                    <a:pt x="2900691" y="1492709"/>
                  </a:lnTo>
                  <a:lnTo>
                    <a:pt x="2870590" y="1516220"/>
                  </a:lnTo>
                  <a:lnTo>
                    <a:pt x="2837200" y="1538262"/>
                  </a:lnTo>
                  <a:lnTo>
                    <a:pt x="2800744" y="1558774"/>
                  </a:lnTo>
                  <a:lnTo>
                    <a:pt x="2761450" y="1577695"/>
                  </a:lnTo>
                  <a:lnTo>
                    <a:pt x="2719541" y="1594963"/>
                  </a:lnTo>
                  <a:lnTo>
                    <a:pt x="2675244" y="1610518"/>
                  </a:lnTo>
                  <a:lnTo>
                    <a:pt x="2628783" y="1624299"/>
                  </a:lnTo>
                  <a:lnTo>
                    <a:pt x="2580383" y="1636244"/>
                  </a:lnTo>
                  <a:lnTo>
                    <a:pt x="2530271" y="1646292"/>
                  </a:lnTo>
                  <a:lnTo>
                    <a:pt x="2478670" y="1654383"/>
                  </a:lnTo>
                  <a:lnTo>
                    <a:pt x="2425807" y="1660456"/>
                  </a:lnTo>
                  <a:lnTo>
                    <a:pt x="2371907" y="1664448"/>
                  </a:lnTo>
                  <a:lnTo>
                    <a:pt x="2317195" y="1666300"/>
                  </a:lnTo>
                  <a:lnTo>
                    <a:pt x="2261896" y="1665951"/>
                  </a:lnTo>
                  <a:lnTo>
                    <a:pt x="2206236" y="1663338"/>
                  </a:lnTo>
                  <a:lnTo>
                    <a:pt x="2150439" y="1658401"/>
                  </a:lnTo>
                  <a:lnTo>
                    <a:pt x="2094732" y="1651080"/>
                  </a:lnTo>
                  <a:lnTo>
                    <a:pt x="2037483" y="1640899"/>
                  </a:lnTo>
                  <a:lnTo>
                    <a:pt x="1982498" y="1628331"/>
                  </a:lnTo>
                  <a:lnTo>
                    <a:pt x="1930039" y="1613477"/>
                  </a:lnTo>
                  <a:lnTo>
                    <a:pt x="1880372" y="1596438"/>
                  </a:lnTo>
                  <a:lnTo>
                    <a:pt x="1833758" y="1577315"/>
                  </a:lnTo>
                  <a:lnTo>
                    <a:pt x="1790462" y="1556211"/>
                  </a:lnTo>
                  <a:lnTo>
                    <a:pt x="1750746" y="1533225"/>
                  </a:lnTo>
                  <a:lnTo>
                    <a:pt x="1714875" y="1508459"/>
                  </a:lnTo>
                  <a:lnTo>
                    <a:pt x="1664767" y="1522544"/>
                  </a:lnTo>
                  <a:lnTo>
                    <a:pt x="1613562" y="1534636"/>
                  </a:lnTo>
                  <a:lnTo>
                    <a:pt x="1561447" y="1544756"/>
                  </a:lnTo>
                  <a:lnTo>
                    <a:pt x="1508606" y="1552929"/>
                  </a:lnTo>
                  <a:lnTo>
                    <a:pt x="1455228" y="1559178"/>
                  </a:lnTo>
                  <a:lnTo>
                    <a:pt x="1401497" y="1563527"/>
                  </a:lnTo>
                  <a:lnTo>
                    <a:pt x="1347600" y="1565998"/>
                  </a:lnTo>
                  <a:lnTo>
                    <a:pt x="1293724" y="1566617"/>
                  </a:lnTo>
                  <a:lnTo>
                    <a:pt x="1240054" y="1565406"/>
                  </a:lnTo>
                  <a:lnTo>
                    <a:pt x="1186777" y="1562389"/>
                  </a:lnTo>
                  <a:lnTo>
                    <a:pt x="1134079" y="1557589"/>
                  </a:lnTo>
                  <a:lnTo>
                    <a:pt x="1082146" y="1551030"/>
                  </a:lnTo>
                  <a:lnTo>
                    <a:pt x="1031166" y="1542736"/>
                  </a:lnTo>
                  <a:lnTo>
                    <a:pt x="981323" y="1532729"/>
                  </a:lnTo>
                  <a:lnTo>
                    <a:pt x="932804" y="1521035"/>
                  </a:lnTo>
                  <a:lnTo>
                    <a:pt x="885795" y="1507675"/>
                  </a:lnTo>
                  <a:lnTo>
                    <a:pt x="840484" y="1492674"/>
                  </a:lnTo>
                  <a:lnTo>
                    <a:pt x="797055" y="1476056"/>
                  </a:lnTo>
                  <a:lnTo>
                    <a:pt x="755695" y="1457843"/>
                  </a:lnTo>
                  <a:lnTo>
                    <a:pt x="716591" y="1438060"/>
                  </a:lnTo>
                  <a:lnTo>
                    <a:pt x="679929" y="1416729"/>
                  </a:lnTo>
                  <a:lnTo>
                    <a:pt x="645894" y="1393875"/>
                  </a:lnTo>
                  <a:lnTo>
                    <a:pt x="614674" y="1369521"/>
                  </a:lnTo>
                  <a:lnTo>
                    <a:pt x="608959" y="1364568"/>
                  </a:lnTo>
                  <a:lnTo>
                    <a:pt x="606165" y="1362155"/>
                  </a:lnTo>
                  <a:lnTo>
                    <a:pt x="544651" y="1363705"/>
                  </a:lnTo>
                  <a:lnTo>
                    <a:pt x="484714" y="1361149"/>
                  </a:lnTo>
                  <a:lnTo>
                    <a:pt x="426952" y="1354725"/>
                  </a:lnTo>
                  <a:lnTo>
                    <a:pt x="371963" y="1344671"/>
                  </a:lnTo>
                  <a:lnTo>
                    <a:pt x="320344" y="1331225"/>
                  </a:lnTo>
                  <a:lnTo>
                    <a:pt x="272695" y="1314625"/>
                  </a:lnTo>
                  <a:lnTo>
                    <a:pt x="229612" y="1295109"/>
                  </a:lnTo>
                  <a:lnTo>
                    <a:pt x="191693" y="1272916"/>
                  </a:lnTo>
                  <a:lnTo>
                    <a:pt x="159538" y="1248283"/>
                  </a:lnTo>
                  <a:lnTo>
                    <a:pt x="114906" y="1192652"/>
                  </a:lnTo>
                  <a:lnTo>
                    <a:pt x="101324" y="1122253"/>
                  </a:lnTo>
                  <a:lnTo>
                    <a:pt x="112640" y="1083205"/>
                  </a:lnTo>
                  <a:lnTo>
                    <a:pt x="137020" y="1045845"/>
                  </a:lnTo>
                  <a:lnTo>
                    <a:pt x="173909" y="1011034"/>
                  </a:lnTo>
                  <a:lnTo>
                    <a:pt x="222752" y="979631"/>
                  </a:lnTo>
                  <a:lnTo>
                    <a:pt x="167693" y="960359"/>
                  </a:lnTo>
                  <a:lnTo>
                    <a:pt x="119963" y="937782"/>
                  </a:lnTo>
                  <a:lnTo>
                    <a:pt x="79812" y="912385"/>
                  </a:lnTo>
                  <a:lnTo>
                    <a:pt x="47490" y="884653"/>
                  </a:lnTo>
                  <a:lnTo>
                    <a:pt x="23247" y="855072"/>
                  </a:lnTo>
                  <a:lnTo>
                    <a:pt x="0" y="792305"/>
                  </a:lnTo>
                  <a:lnTo>
                    <a:pt x="1495" y="760089"/>
                  </a:lnTo>
                  <a:lnTo>
                    <a:pt x="31976" y="696422"/>
                  </a:lnTo>
                  <a:lnTo>
                    <a:pt x="61462" y="665941"/>
                  </a:lnTo>
                  <a:lnTo>
                    <a:pt x="95832" y="640288"/>
                  </a:lnTo>
                  <a:lnTo>
                    <a:pt x="136224" y="617472"/>
                  </a:lnTo>
                  <a:lnTo>
                    <a:pt x="181953" y="597717"/>
                  </a:lnTo>
                  <a:lnTo>
                    <a:pt x="232339" y="581248"/>
                  </a:lnTo>
                  <a:lnTo>
                    <a:pt x="286700" y="568290"/>
                  </a:lnTo>
                  <a:lnTo>
                    <a:pt x="344353" y="559065"/>
                  </a:lnTo>
                  <a:lnTo>
                    <a:pt x="404616" y="553800"/>
                  </a:lnTo>
                  <a:lnTo>
                    <a:pt x="408299" y="548593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2003" y="5200014"/>
              <a:ext cx="208534" cy="2147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1525" y="3577208"/>
              <a:ext cx="4116704" cy="1732280"/>
            </a:xfrm>
            <a:custGeom>
              <a:avLst/>
              <a:gdLst/>
              <a:ahLst/>
              <a:cxnLst/>
              <a:rect l="l" t="t" r="r" b="b"/>
              <a:pathLst>
                <a:path w="4116704" h="1732279">
                  <a:moveTo>
                    <a:pt x="1393952" y="1593341"/>
                  </a:moveTo>
                  <a:lnTo>
                    <a:pt x="1386879" y="1637234"/>
                  </a:lnTo>
                  <a:lnTo>
                    <a:pt x="1367182" y="1675341"/>
                  </a:lnTo>
                  <a:lnTo>
                    <a:pt x="1337140" y="1705383"/>
                  </a:lnTo>
                  <a:lnTo>
                    <a:pt x="1299033" y="1725080"/>
                  </a:lnTo>
                  <a:lnTo>
                    <a:pt x="1255140" y="1732152"/>
                  </a:lnTo>
                  <a:lnTo>
                    <a:pt x="1211248" y="1725080"/>
                  </a:lnTo>
                  <a:lnTo>
                    <a:pt x="1173141" y="1705383"/>
                  </a:lnTo>
                  <a:lnTo>
                    <a:pt x="1143099" y="1675341"/>
                  </a:lnTo>
                  <a:lnTo>
                    <a:pt x="1123402" y="1637234"/>
                  </a:lnTo>
                  <a:lnTo>
                    <a:pt x="1116329" y="1593341"/>
                  </a:lnTo>
                  <a:lnTo>
                    <a:pt x="1123402" y="1549498"/>
                  </a:lnTo>
                  <a:lnTo>
                    <a:pt x="1143099" y="1511397"/>
                  </a:lnTo>
                  <a:lnTo>
                    <a:pt x="1173141" y="1481337"/>
                  </a:lnTo>
                  <a:lnTo>
                    <a:pt x="1211248" y="1461615"/>
                  </a:lnTo>
                  <a:lnTo>
                    <a:pt x="1255140" y="1454530"/>
                  </a:lnTo>
                  <a:lnTo>
                    <a:pt x="1299033" y="1461615"/>
                  </a:lnTo>
                  <a:lnTo>
                    <a:pt x="1337140" y="1481337"/>
                  </a:lnTo>
                  <a:lnTo>
                    <a:pt x="1367182" y="1511397"/>
                  </a:lnTo>
                  <a:lnTo>
                    <a:pt x="1386879" y="1549498"/>
                  </a:lnTo>
                  <a:lnTo>
                    <a:pt x="1393952" y="1593341"/>
                  </a:lnTo>
                  <a:close/>
                </a:path>
                <a:path w="4116704" h="1732279">
                  <a:moveTo>
                    <a:pt x="263144" y="919098"/>
                  </a:moveTo>
                  <a:lnTo>
                    <a:pt x="208149" y="919535"/>
                  </a:lnTo>
                  <a:lnTo>
                    <a:pt x="153747" y="916619"/>
                  </a:lnTo>
                  <a:lnTo>
                    <a:pt x="100527" y="910412"/>
                  </a:lnTo>
                  <a:lnTo>
                    <a:pt x="49080" y="900973"/>
                  </a:lnTo>
                  <a:lnTo>
                    <a:pt x="0" y="888364"/>
                  </a:lnTo>
                </a:path>
                <a:path w="4116704" h="1732279">
                  <a:moveTo>
                    <a:pt x="495300" y="1255395"/>
                  </a:moveTo>
                  <a:lnTo>
                    <a:pt x="467264" y="1260465"/>
                  </a:lnTo>
                  <a:lnTo>
                    <a:pt x="438658" y="1264618"/>
                  </a:lnTo>
                  <a:lnTo>
                    <a:pt x="409575" y="1267842"/>
                  </a:lnTo>
                  <a:lnTo>
                    <a:pt x="380111" y="1270127"/>
                  </a:lnTo>
                </a:path>
                <a:path w="4116704" h="1732279">
                  <a:moveTo>
                    <a:pt x="1487043" y="1416939"/>
                  </a:moveTo>
                  <a:lnTo>
                    <a:pt x="1467117" y="1400871"/>
                  </a:lnTo>
                  <a:lnTo>
                    <a:pt x="1448895" y="1384315"/>
                  </a:lnTo>
                  <a:lnTo>
                    <a:pt x="1432411" y="1367307"/>
                  </a:lnTo>
                  <a:lnTo>
                    <a:pt x="1417701" y="1349883"/>
                  </a:lnTo>
                </a:path>
                <a:path w="4116704" h="1732279">
                  <a:moveTo>
                    <a:pt x="2769616" y="1249679"/>
                  </a:moveTo>
                  <a:lnTo>
                    <a:pt x="2765593" y="1268313"/>
                  </a:lnTo>
                  <a:lnTo>
                    <a:pt x="2759630" y="1286827"/>
                  </a:lnTo>
                  <a:lnTo>
                    <a:pt x="2751738" y="1305151"/>
                  </a:lnTo>
                  <a:lnTo>
                    <a:pt x="2741929" y="1323213"/>
                  </a:lnTo>
                </a:path>
                <a:path w="4116704" h="1732279">
                  <a:moveTo>
                    <a:pt x="3320288" y="794765"/>
                  </a:moveTo>
                  <a:lnTo>
                    <a:pt x="3380372" y="811750"/>
                  </a:lnTo>
                  <a:lnTo>
                    <a:pt x="3435509" y="831812"/>
                  </a:lnTo>
                  <a:lnTo>
                    <a:pt x="3485361" y="854675"/>
                  </a:lnTo>
                  <a:lnTo>
                    <a:pt x="3529590" y="880063"/>
                  </a:lnTo>
                  <a:lnTo>
                    <a:pt x="3567858" y="907700"/>
                  </a:lnTo>
                  <a:lnTo>
                    <a:pt x="3599829" y="937311"/>
                  </a:lnTo>
                  <a:lnTo>
                    <a:pt x="3625164" y="968620"/>
                  </a:lnTo>
                  <a:lnTo>
                    <a:pt x="3654577" y="1035228"/>
                  </a:lnTo>
                  <a:lnTo>
                    <a:pt x="3657980" y="1069974"/>
                  </a:lnTo>
                </a:path>
                <a:path w="4116704" h="1732279">
                  <a:moveTo>
                    <a:pt x="4116704" y="501776"/>
                  </a:moveTo>
                  <a:lnTo>
                    <a:pt x="4088193" y="530713"/>
                  </a:lnTo>
                  <a:lnTo>
                    <a:pt x="4053395" y="557720"/>
                  </a:lnTo>
                  <a:lnTo>
                    <a:pt x="4012692" y="582537"/>
                  </a:lnTo>
                  <a:lnTo>
                    <a:pt x="3966464" y="604901"/>
                  </a:lnTo>
                </a:path>
                <a:path w="4116704" h="1732279">
                  <a:moveTo>
                    <a:pt x="3756025" y="118871"/>
                  </a:moveTo>
                  <a:lnTo>
                    <a:pt x="3759737" y="130992"/>
                  </a:lnTo>
                  <a:lnTo>
                    <a:pt x="3762295" y="143160"/>
                  </a:lnTo>
                  <a:lnTo>
                    <a:pt x="3763686" y="155376"/>
                  </a:lnTo>
                  <a:lnTo>
                    <a:pt x="3763899" y="167639"/>
                  </a:lnTo>
                </a:path>
                <a:path w="4116704" h="1732279">
                  <a:moveTo>
                    <a:pt x="2795651" y="62102"/>
                  </a:moveTo>
                  <a:lnTo>
                    <a:pt x="2811571" y="45541"/>
                  </a:lnTo>
                  <a:lnTo>
                    <a:pt x="2829766" y="29622"/>
                  </a:lnTo>
                  <a:lnTo>
                    <a:pt x="2850175" y="14418"/>
                  </a:lnTo>
                  <a:lnTo>
                    <a:pt x="2872740" y="0"/>
                  </a:lnTo>
                </a:path>
                <a:path w="4116704" h="1732279">
                  <a:moveTo>
                    <a:pt x="2075179" y="91693"/>
                  </a:moveTo>
                  <a:lnTo>
                    <a:pt x="2082032" y="77890"/>
                  </a:lnTo>
                  <a:lnTo>
                    <a:pt x="2090562" y="64325"/>
                  </a:lnTo>
                  <a:lnTo>
                    <a:pt x="2100736" y="51046"/>
                  </a:lnTo>
                  <a:lnTo>
                    <a:pt x="2112518" y="38099"/>
                  </a:lnTo>
                </a:path>
                <a:path w="4116704" h="1732279">
                  <a:moveTo>
                    <a:pt x="1229740" y="109854"/>
                  </a:moveTo>
                  <a:lnTo>
                    <a:pt x="1265801" y="121330"/>
                  </a:lnTo>
                  <a:lnTo>
                    <a:pt x="1300384" y="133842"/>
                  </a:lnTo>
                  <a:lnTo>
                    <a:pt x="1333396" y="147377"/>
                  </a:lnTo>
                  <a:lnTo>
                    <a:pt x="1364741" y="161924"/>
                  </a:lnTo>
                </a:path>
                <a:path w="4116704" h="1732279">
                  <a:moveTo>
                    <a:pt x="204343" y="518540"/>
                  </a:moveTo>
                  <a:lnTo>
                    <a:pt x="196865" y="505041"/>
                  </a:lnTo>
                  <a:lnTo>
                    <a:pt x="190436" y="491410"/>
                  </a:lnTo>
                  <a:lnTo>
                    <a:pt x="185054" y="477660"/>
                  </a:lnTo>
                  <a:lnTo>
                    <a:pt x="180721" y="463803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65597" y="3947922"/>
            <a:ext cx="154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imes New Roman"/>
                <a:cs typeface="Times New Roman"/>
              </a:rPr>
              <a:t>Result?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66872" y="3261359"/>
            <a:ext cx="1978660" cy="2499360"/>
            <a:chOff x="3166872" y="3261359"/>
            <a:chExt cx="1978660" cy="24993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6872" y="3261359"/>
              <a:ext cx="1978152" cy="24993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88086" y="3397757"/>
              <a:ext cx="1898650" cy="2305050"/>
            </a:xfrm>
            <a:custGeom>
              <a:avLst/>
              <a:gdLst/>
              <a:ahLst/>
              <a:cxnLst/>
              <a:rect l="l" t="t" r="r" b="b"/>
              <a:pathLst>
                <a:path w="1898650" h="2305050">
                  <a:moveTo>
                    <a:pt x="137212" y="49997"/>
                  </a:moveTo>
                  <a:lnTo>
                    <a:pt x="120059" y="68173"/>
                  </a:lnTo>
                  <a:lnTo>
                    <a:pt x="119882" y="68961"/>
                  </a:lnTo>
                  <a:lnTo>
                    <a:pt x="117723" y="79628"/>
                  </a:lnTo>
                  <a:lnTo>
                    <a:pt x="115183" y="91058"/>
                  </a:lnTo>
                  <a:lnTo>
                    <a:pt x="109976" y="115569"/>
                  </a:lnTo>
                  <a:lnTo>
                    <a:pt x="107055" y="128777"/>
                  </a:lnTo>
                  <a:lnTo>
                    <a:pt x="101213" y="156717"/>
                  </a:lnTo>
                  <a:lnTo>
                    <a:pt x="88767" y="218566"/>
                  </a:lnTo>
                  <a:lnTo>
                    <a:pt x="75559" y="287019"/>
                  </a:lnTo>
                  <a:lnTo>
                    <a:pt x="62097" y="360806"/>
                  </a:lnTo>
                  <a:lnTo>
                    <a:pt x="55366" y="399287"/>
                  </a:lnTo>
                  <a:lnTo>
                    <a:pt x="48762" y="438530"/>
                  </a:lnTo>
                  <a:lnTo>
                    <a:pt x="42412" y="478281"/>
                  </a:lnTo>
                  <a:lnTo>
                    <a:pt x="36189" y="518667"/>
                  </a:lnTo>
                  <a:lnTo>
                    <a:pt x="24632" y="599947"/>
                  </a:lnTo>
                  <a:lnTo>
                    <a:pt x="14980" y="680973"/>
                  </a:lnTo>
                  <a:lnTo>
                    <a:pt x="10789" y="720851"/>
                  </a:lnTo>
                  <a:lnTo>
                    <a:pt x="7233" y="760221"/>
                  </a:lnTo>
                  <a:lnTo>
                    <a:pt x="4312" y="798829"/>
                  </a:lnTo>
                  <a:lnTo>
                    <a:pt x="756" y="873124"/>
                  </a:lnTo>
                  <a:lnTo>
                    <a:pt x="0" y="908176"/>
                  </a:lnTo>
                  <a:lnTo>
                    <a:pt x="364" y="941323"/>
                  </a:lnTo>
                  <a:lnTo>
                    <a:pt x="375" y="942339"/>
                  </a:lnTo>
                  <a:lnTo>
                    <a:pt x="1468" y="972946"/>
                  </a:lnTo>
                  <a:lnTo>
                    <a:pt x="1518" y="974343"/>
                  </a:lnTo>
                  <a:lnTo>
                    <a:pt x="5582" y="1037970"/>
                  </a:lnTo>
                  <a:lnTo>
                    <a:pt x="10662" y="1103883"/>
                  </a:lnTo>
                  <a:lnTo>
                    <a:pt x="17012" y="1171702"/>
                  </a:lnTo>
                  <a:lnTo>
                    <a:pt x="24759" y="1241043"/>
                  </a:lnTo>
                  <a:lnTo>
                    <a:pt x="33776" y="1311274"/>
                  </a:lnTo>
                  <a:lnTo>
                    <a:pt x="44317" y="1381759"/>
                  </a:lnTo>
                  <a:lnTo>
                    <a:pt x="56382" y="1451864"/>
                  </a:lnTo>
                  <a:lnTo>
                    <a:pt x="70098" y="1521459"/>
                  </a:lnTo>
                  <a:lnTo>
                    <a:pt x="85338" y="1589658"/>
                  </a:lnTo>
                  <a:lnTo>
                    <a:pt x="102483" y="1656206"/>
                  </a:lnTo>
                  <a:lnTo>
                    <a:pt x="121406" y="1720468"/>
                  </a:lnTo>
                  <a:lnTo>
                    <a:pt x="142361" y="1781809"/>
                  </a:lnTo>
                  <a:lnTo>
                    <a:pt x="165348" y="1839848"/>
                  </a:lnTo>
                  <a:lnTo>
                    <a:pt x="190494" y="1894077"/>
                  </a:lnTo>
                  <a:lnTo>
                    <a:pt x="217799" y="1943861"/>
                  </a:lnTo>
                  <a:lnTo>
                    <a:pt x="247517" y="1988692"/>
                  </a:lnTo>
                  <a:lnTo>
                    <a:pt x="279902" y="2029205"/>
                  </a:lnTo>
                  <a:lnTo>
                    <a:pt x="314954" y="2066289"/>
                  </a:lnTo>
                  <a:lnTo>
                    <a:pt x="352673" y="2100453"/>
                  </a:lnTo>
                  <a:lnTo>
                    <a:pt x="392678" y="2131441"/>
                  </a:lnTo>
                  <a:lnTo>
                    <a:pt x="434842" y="2159635"/>
                  </a:lnTo>
                  <a:lnTo>
                    <a:pt x="479038" y="2184907"/>
                  </a:lnTo>
                  <a:lnTo>
                    <a:pt x="524758" y="2207463"/>
                  </a:lnTo>
                  <a:lnTo>
                    <a:pt x="572129" y="2227465"/>
                  </a:lnTo>
                  <a:lnTo>
                    <a:pt x="620643" y="2244813"/>
                  </a:lnTo>
                  <a:lnTo>
                    <a:pt x="670300" y="2259850"/>
                  </a:lnTo>
                  <a:lnTo>
                    <a:pt x="720973" y="2272499"/>
                  </a:lnTo>
                  <a:lnTo>
                    <a:pt x="772154" y="2282977"/>
                  </a:lnTo>
                  <a:lnTo>
                    <a:pt x="823716" y="2291245"/>
                  </a:lnTo>
                  <a:lnTo>
                    <a:pt x="875532" y="2297480"/>
                  </a:lnTo>
                  <a:lnTo>
                    <a:pt x="927475" y="2301798"/>
                  </a:lnTo>
                  <a:lnTo>
                    <a:pt x="979037" y="2304288"/>
                  </a:lnTo>
                  <a:lnTo>
                    <a:pt x="1005199" y="2304668"/>
                  </a:lnTo>
                  <a:lnTo>
                    <a:pt x="1025519" y="2304288"/>
                  </a:lnTo>
                  <a:lnTo>
                    <a:pt x="1028990" y="2304288"/>
                  </a:lnTo>
                  <a:lnTo>
                    <a:pt x="1084955" y="2300985"/>
                  </a:lnTo>
                  <a:lnTo>
                    <a:pt x="1139311" y="2294724"/>
                  </a:lnTo>
                  <a:lnTo>
                    <a:pt x="1194556" y="2285847"/>
                  </a:lnTo>
                  <a:lnTo>
                    <a:pt x="1230047" y="2278760"/>
                  </a:lnTo>
                  <a:lnTo>
                    <a:pt x="1004818" y="2278760"/>
                  </a:lnTo>
                  <a:lnTo>
                    <a:pt x="979545" y="2278379"/>
                  </a:lnTo>
                  <a:lnTo>
                    <a:pt x="928618" y="2275916"/>
                  </a:lnTo>
                  <a:lnTo>
                    <a:pt x="877691" y="2271661"/>
                  </a:lnTo>
                  <a:lnTo>
                    <a:pt x="826764" y="2265514"/>
                  </a:lnTo>
                  <a:lnTo>
                    <a:pt x="776218" y="2257399"/>
                  </a:lnTo>
                  <a:lnTo>
                    <a:pt x="726180" y="2247112"/>
                  </a:lnTo>
                  <a:lnTo>
                    <a:pt x="676904" y="2234806"/>
                  </a:lnTo>
                  <a:lnTo>
                    <a:pt x="628517" y="2220112"/>
                  </a:lnTo>
                  <a:lnTo>
                    <a:pt x="581146" y="2203183"/>
                  </a:lnTo>
                  <a:lnTo>
                    <a:pt x="535172" y="2183765"/>
                  </a:lnTo>
                  <a:lnTo>
                    <a:pt x="490849" y="2161920"/>
                  </a:lnTo>
                  <a:lnTo>
                    <a:pt x="448177" y="2137282"/>
                  </a:lnTo>
                  <a:lnTo>
                    <a:pt x="407410" y="2110231"/>
                  </a:lnTo>
                  <a:lnTo>
                    <a:pt x="368929" y="2080259"/>
                  </a:lnTo>
                  <a:lnTo>
                    <a:pt x="332734" y="2047493"/>
                  </a:lnTo>
                  <a:lnTo>
                    <a:pt x="299079" y="2011679"/>
                  </a:lnTo>
                  <a:lnTo>
                    <a:pt x="268218" y="1972944"/>
                  </a:lnTo>
                  <a:lnTo>
                    <a:pt x="239770" y="1930018"/>
                  </a:lnTo>
                  <a:lnTo>
                    <a:pt x="213481" y="1882013"/>
                  </a:lnTo>
                  <a:lnTo>
                    <a:pt x="188970" y="1829308"/>
                  </a:lnTo>
                  <a:lnTo>
                    <a:pt x="166618" y="1772539"/>
                  </a:lnTo>
                  <a:lnTo>
                    <a:pt x="146044" y="1712340"/>
                  </a:lnTo>
                  <a:lnTo>
                    <a:pt x="127502" y="1649094"/>
                  </a:lnTo>
                  <a:lnTo>
                    <a:pt x="110484" y="1583435"/>
                  </a:lnTo>
                  <a:lnTo>
                    <a:pt x="95371" y="1515871"/>
                  </a:lnTo>
                  <a:lnTo>
                    <a:pt x="81782" y="1446910"/>
                  </a:lnTo>
                  <a:lnTo>
                    <a:pt x="69844" y="1377314"/>
                  </a:lnTo>
                  <a:lnTo>
                    <a:pt x="59430" y="1307337"/>
                  </a:lnTo>
                  <a:lnTo>
                    <a:pt x="50413" y="1237741"/>
                  </a:lnTo>
                  <a:lnTo>
                    <a:pt x="42793" y="1168908"/>
                  </a:lnTo>
                  <a:lnTo>
                    <a:pt x="36443" y="1101470"/>
                  </a:lnTo>
                  <a:lnTo>
                    <a:pt x="31363" y="1036065"/>
                  </a:lnTo>
                  <a:lnTo>
                    <a:pt x="29324" y="1005839"/>
                  </a:lnTo>
                  <a:lnTo>
                    <a:pt x="29204" y="1004061"/>
                  </a:lnTo>
                  <a:lnTo>
                    <a:pt x="27506" y="974343"/>
                  </a:lnTo>
                  <a:lnTo>
                    <a:pt x="27426" y="972946"/>
                  </a:lnTo>
                  <a:lnTo>
                    <a:pt x="26197" y="942339"/>
                  </a:lnTo>
                  <a:lnTo>
                    <a:pt x="26156" y="941323"/>
                  </a:lnTo>
                  <a:lnTo>
                    <a:pt x="25904" y="908430"/>
                  </a:lnTo>
                  <a:lnTo>
                    <a:pt x="26537" y="873632"/>
                  </a:lnTo>
                  <a:lnTo>
                    <a:pt x="30220" y="800353"/>
                  </a:lnTo>
                  <a:lnTo>
                    <a:pt x="33014" y="762253"/>
                  </a:lnTo>
                  <a:lnTo>
                    <a:pt x="36570" y="723137"/>
                  </a:lnTo>
                  <a:lnTo>
                    <a:pt x="40761" y="683640"/>
                  </a:lnTo>
                  <a:lnTo>
                    <a:pt x="50413" y="602995"/>
                  </a:lnTo>
                  <a:lnTo>
                    <a:pt x="61843" y="522350"/>
                  </a:lnTo>
                  <a:lnTo>
                    <a:pt x="67939" y="482218"/>
                  </a:lnTo>
                  <a:lnTo>
                    <a:pt x="74289" y="442594"/>
                  </a:lnTo>
                  <a:lnTo>
                    <a:pt x="80893" y="403478"/>
                  </a:lnTo>
                  <a:lnTo>
                    <a:pt x="87497" y="365251"/>
                  </a:lnTo>
                  <a:lnTo>
                    <a:pt x="101086" y="291718"/>
                  </a:lnTo>
                  <a:lnTo>
                    <a:pt x="114167" y="223392"/>
                  </a:lnTo>
                  <a:lnTo>
                    <a:pt x="126613" y="161925"/>
                  </a:lnTo>
                  <a:lnTo>
                    <a:pt x="135113" y="121665"/>
                  </a:lnTo>
                  <a:lnTo>
                    <a:pt x="140456" y="96392"/>
                  </a:lnTo>
                  <a:lnTo>
                    <a:pt x="142996" y="85216"/>
                  </a:lnTo>
                  <a:lnTo>
                    <a:pt x="145052" y="75393"/>
                  </a:lnTo>
                  <a:lnTo>
                    <a:pt x="137212" y="49997"/>
                  </a:lnTo>
                  <a:close/>
                </a:path>
                <a:path w="1898650" h="2305050">
                  <a:moveTo>
                    <a:pt x="1888738" y="2019300"/>
                  </a:moveTo>
                  <a:lnTo>
                    <a:pt x="1768469" y="2069338"/>
                  </a:lnTo>
                  <a:lnTo>
                    <a:pt x="1649089" y="2117725"/>
                  </a:lnTo>
                  <a:lnTo>
                    <a:pt x="1589780" y="2140711"/>
                  </a:lnTo>
                  <a:lnTo>
                    <a:pt x="1530725" y="2162555"/>
                  </a:lnTo>
                  <a:lnTo>
                    <a:pt x="1472305" y="2183256"/>
                  </a:lnTo>
                  <a:lnTo>
                    <a:pt x="1414393" y="2202459"/>
                  </a:lnTo>
                  <a:lnTo>
                    <a:pt x="1357116" y="2219985"/>
                  </a:lnTo>
                  <a:lnTo>
                    <a:pt x="1300474" y="2235606"/>
                  </a:lnTo>
                  <a:lnTo>
                    <a:pt x="1244594" y="2249195"/>
                  </a:lnTo>
                  <a:lnTo>
                    <a:pt x="1189603" y="2260434"/>
                  </a:lnTo>
                  <a:lnTo>
                    <a:pt x="1135501" y="2269083"/>
                  </a:lnTo>
                  <a:lnTo>
                    <a:pt x="1082415" y="2275204"/>
                  </a:lnTo>
                  <a:lnTo>
                    <a:pt x="1028421" y="2278379"/>
                  </a:lnTo>
                  <a:lnTo>
                    <a:pt x="1025619" y="2278379"/>
                  </a:lnTo>
                  <a:lnTo>
                    <a:pt x="1004818" y="2278760"/>
                  </a:lnTo>
                  <a:lnTo>
                    <a:pt x="1230047" y="2278760"/>
                  </a:lnTo>
                  <a:lnTo>
                    <a:pt x="1250563" y="2274417"/>
                  </a:lnTo>
                  <a:lnTo>
                    <a:pt x="1307332" y="2260574"/>
                  </a:lnTo>
                  <a:lnTo>
                    <a:pt x="1364425" y="2244813"/>
                  </a:lnTo>
                  <a:lnTo>
                    <a:pt x="1422521" y="2227046"/>
                  </a:lnTo>
                  <a:lnTo>
                    <a:pt x="1480941" y="2207717"/>
                  </a:lnTo>
                  <a:lnTo>
                    <a:pt x="1539742" y="2186940"/>
                  </a:lnTo>
                  <a:lnTo>
                    <a:pt x="1599051" y="2164841"/>
                  </a:lnTo>
                  <a:lnTo>
                    <a:pt x="1658614" y="2141728"/>
                  </a:lnTo>
                  <a:lnTo>
                    <a:pt x="1778502" y="2093214"/>
                  </a:lnTo>
                  <a:lnTo>
                    <a:pt x="1898644" y="2043176"/>
                  </a:lnTo>
                  <a:lnTo>
                    <a:pt x="1888738" y="2019300"/>
                  </a:lnTo>
                  <a:close/>
                </a:path>
                <a:path w="1898650" h="2305050">
                  <a:moveTo>
                    <a:pt x="155640" y="21970"/>
                  </a:moveTo>
                  <a:lnTo>
                    <a:pt x="130423" y="21970"/>
                  </a:lnTo>
                  <a:lnTo>
                    <a:pt x="155569" y="27939"/>
                  </a:lnTo>
                  <a:lnTo>
                    <a:pt x="154934" y="31114"/>
                  </a:lnTo>
                  <a:lnTo>
                    <a:pt x="153283" y="38353"/>
                  </a:lnTo>
                  <a:lnTo>
                    <a:pt x="149600" y="54990"/>
                  </a:lnTo>
                  <a:lnTo>
                    <a:pt x="147441" y="64262"/>
                  </a:lnTo>
                  <a:lnTo>
                    <a:pt x="145052" y="75393"/>
                  </a:lnTo>
                  <a:lnTo>
                    <a:pt x="157220" y="114807"/>
                  </a:lnTo>
                  <a:lnTo>
                    <a:pt x="159379" y="121665"/>
                  </a:lnTo>
                  <a:lnTo>
                    <a:pt x="166618" y="125475"/>
                  </a:lnTo>
                  <a:lnTo>
                    <a:pt x="180334" y="121157"/>
                  </a:lnTo>
                  <a:lnTo>
                    <a:pt x="184144" y="113918"/>
                  </a:lnTo>
                  <a:lnTo>
                    <a:pt x="181277" y="104775"/>
                  </a:lnTo>
                  <a:lnTo>
                    <a:pt x="155640" y="21970"/>
                  </a:lnTo>
                  <a:close/>
                </a:path>
                <a:path w="1898650" h="2305050">
                  <a:moveTo>
                    <a:pt x="148838" y="0"/>
                  </a:moveTo>
                  <a:lnTo>
                    <a:pt x="66923" y="86740"/>
                  </a:lnTo>
                  <a:lnTo>
                    <a:pt x="67056" y="91058"/>
                  </a:lnTo>
                  <a:lnTo>
                    <a:pt x="67177" y="94995"/>
                  </a:lnTo>
                  <a:lnTo>
                    <a:pt x="72384" y="99821"/>
                  </a:lnTo>
                  <a:lnTo>
                    <a:pt x="77591" y="104775"/>
                  </a:lnTo>
                  <a:lnTo>
                    <a:pt x="85846" y="104520"/>
                  </a:lnTo>
                  <a:lnTo>
                    <a:pt x="90672" y="99313"/>
                  </a:lnTo>
                  <a:lnTo>
                    <a:pt x="120059" y="68173"/>
                  </a:lnTo>
                  <a:lnTo>
                    <a:pt x="122168" y="58800"/>
                  </a:lnTo>
                  <a:lnTo>
                    <a:pt x="124200" y="49402"/>
                  </a:lnTo>
                  <a:lnTo>
                    <a:pt x="126105" y="40766"/>
                  </a:lnTo>
                  <a:lnTo>
                    <a:pt x="128010" y="32638"/>
                  </a:lnTo>
                  <a:lnTo>
                    <a:pt x="129534" y="25400"/>
                  </a:lnTo>
                  <a:lnTo>
                    <a:pt x="130423" y="21970"/>
                  </a:lnTo>
                  <a:lnTo>
                    <a:pt x="155640" y="21970"/>
                  </a:lnTo>
                  <a:lnTo>
                    <a:pt x="148838" y="0"/>
                  </a:lnTo>
                  <a:close/>
                </a:path>
                <a:path w="1898650" h="2305050">
                  <a:moveTo>
                    <a:pt x="155391" y="28828"/>
                  </a:moveTo>
                  <a:lnTo>
                    <a:pt x="130677" y="28828"/>
                  </a:lnTo>
                  <a:lnTo>
                    <a:pt x="152394" y="33908"/>
                  </a:lnTo>
                  <a:lnTo>
                    <a:pt x="137212" y="49997"/>
                  </a:lnTo>
                  <a:lnTo>
                    <a:pt x="145052" y="75393"/>
                  </a:lnTo>
                  <a:lnTo>
                    <a:pt x="147441" y="64262"/>
                  </a:lnTo>
                  <a:lnTo>
                    <a:pt x="149600" y="54990"/>
                  </a:lnTo>
                  <a:lnTo>
                    <a:pt x="153283" y="38353"/>
                  </a:lnTo>
                  <a:lnTo>
                    <a:pt x="154934" y="31114"/>
                  </a:lnTo>
                  <a:lnTo>
                    <a:pt x="155391" y="28828"/>
                  </a:lnTo>
                  <a:close/>
                </a:path>
                <a:path w="1898650" h="2305050">
                  <a:moveTo>
                    <a:pt x="130423" y="21970"/>
                  </a:moveTo>
                  <a:lnTo>
                    <a:pt x="129534" y="25400"/>
                  </a:lnTo>
                  <a:lnTo>
                    <a:pt x="128010" y="32638"/>
                  </a:lnTo>
                  <a:lnTo>
                    <a:pt x="126105" y="40766"/>
                  </a:lnTo>
                  <a:lnTo>
                    <a:pt x="124200" y="49402"/>
                  </a:lnTo>
                  <a:lnTo>
                    <a:pt x="122168" y="58800"/>
                  </a:lnTo>
                  <a:lnTo>
                    <a:pt x="120059" y="68173"/>
                  </a:lnTo>
                  <a:lnTo>
                    <a:pt x="137212" y="49997"/>
                  </a:lnTo>
                  <a:lnTo>
                    <a:pt x="130677" y="28828"/>
                  </a:lnTo>
                  <a:lnTo>
                    <a:pt x="155391" y="28828"/>
                  </a:lnTo>
                  <a:lnTo>
                    <a:pt x="155569" y="27939"/>
                  </a:lnTo>
                  <a:lnTo>
                    <a:pt x="130423" y="21970"/>
                  </a:lnTo>
                  <a:close/>
                </a:path>
                <a:path w="1898650" h="2305050">
                  <a:moveTo>
                    <a:pt x="130677" y="28828"/>
                  </a:moveTo>
                  <a:lnTo>
                    <a:pt x="137212" y="49997"/>
                  </a:lnTo>
                  <a:lnTo>
                    <a:pt x="152394" y="33908"/>
                  </a:lnTo>
                  <a:lnTo>
                    <a:pt x="130677" y="28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01111" y="4867655"/>
            <a:ext cx="838200" cy="368935"/>
          </a:xfrm>
          <a:prstGeom prst="rect">
            <a:avLst/>
          </a:prstGeom>
          <a:solidFill>
            <a:srgbClr val="000000"/>
          </a:solidFill>
          <a:ln w="1524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096" y="1714627"/>
            <a:ext cx="9821545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frequent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25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subtraction</a:t>
            </a:r>
            <a:r>
              <a:rPr sz="1800" b="1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enhancement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including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correcting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uneven 	</a:t>
            </a:r>
            <a:r>
              <a:rPr sz="1800" dirty="0">
                <a:latin typeface="Times New Roman"/>
                <a:cs typeface="Times New Roman"/>
              </a:rPr>
              <a:t>illuminance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comparing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images.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Mask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radiography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medical</a:t>
            </a:r>
            <a:r>
              <a:rPr sz="1800" spc="-10" dirty="0">
                <a:latin typeface="Times New Roman"/>
                <a:cs typeface="Times New Roman"/>
              </a:rPr>
              <a:t> imaging.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35" dirty="0"/>
              <a:t> </a:t>
            </a:r>
            <a:r>
              <a:rPr spc="-45" dirty="0"/>
              <a:t>Operation</a:t>
            </a:r>
            <a:r>
              <a:rPr spc="-229" dirty="0"/>
              <a:t> </a:t>
            </a:r>
            <a:r>
              <a:rPr spc="-30" dirty="0"/>
              <a:t>(Subtraction)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35" dirty="0"/>
              <a:t> </a:t>
            </a:r>
            <a:r>
              <a:rPr spc="-45" dirty="0"/>
              <a:t>Operation</a:t>
            </a:r>
            <a:r>
              <a:rPr spc="-229" dirty="0"/>
              <a:t> </a:t>
            </a:r>
            <a:r>
              <a:rPr spc="-30" dirty="0"/>
              <a:t>(Subtraction)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632" y="1888235"/>
            <a:ext cx="2281427" cy="39999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5923" y="1888235"/>
            <a:ext cx="2462783" cy="402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0311" y="1888235"/>
            <a:ext cx="2580131" cy="40614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47261" y="5940958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Figure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(b)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Image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(c)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Difference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[0,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255]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clarity.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35" dirty="0"/>
              <a:t> </a:t>
            </a:r>
            <a:r>
              <a:rPr spc="-45" dirty="0"/>
              <a:t>Operation</a:t>
            </a:r>
            <a:r>
              <a:rPr spc="-229" dirty="0"/>
              <a:t> </a:t>
            </a:r>
            <a:r>
              <a:rPr spc="-30" dirty="0"/>
              <a:t>(Subtraction)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957832"/>
            <a:ext cx="9902825" cy="3611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31470" algn="l"/>
              </a:tabLst>
            </a:pP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subtraction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medical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called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mask</a:t>
            </a:r>
            <a:r>
              <a:rPr sz="1800" b="1" i="1" spc="-4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mode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radiography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Wingdings"/>
              <a:buChar char=""/>
            </a:pPr>
            <a:endParaRPr sz="1800" dirty="0">
              <a:latin typeface="Times New Roman"/>
              <a:cs typeface="Times New Roman"/>
            </a:endParaRPr>
          </a:p>
          <a:p>
            <a:pPr marL="3886835">
              <a:lnSpc>
                <a:spcPct val="100000"/>
              </a:lnSpc>
            </a:pPr>
            <a:r>
              <a:rPr sz="2050" b="1" i="1" dirty="0">
                <a:latin typeface="Times New Roman"/>
                <a:cs typeface="Times New Roman"/>
              </a:rPr>
              <a:t>g</a:t>
            </a:r>
            <a:r>
              <a:rPr sz="2050" i="1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 </a:t>
            </a:r>
            <a:r>
              <a:rPr sz="2050" b="1" i="1" spc="95" dirty="0">
                <a:latin typeface="Times New Roman"/>
                <a:cs typeface="Times New Roman"/>
              </a:rPr>
              <a:t>x</a:t>
            </a:r>
            <a:r>
              <a:rPr sz="2050" i="1" spc="95" dirty="0">
                <a:latin typeface="Times New Roman"/>
                <a:cs typeface="Times New Roman"/>
              </a:rPr>
              <a:t>,</a:t>
            </a:r>
            <a:r>
              <a:rPr sz="2050" i="1" spc="-220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Times New Roman"/>
                <a:cs typeface="Times New Roman"/>
              </a:rPr>
              <a:t>y</a:t>
            </a:r>
            <a:r>
              <a:rPr sz="2050" b="1" i="1" spc="-204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)</a:t>
            </a:r>
            <a:r>
              <a:rPr sz="2050" i="1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395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Times New Roman"/>
                <a:cs typeface="Times New Roman"/>
              </a:rPr>
              <a:t>f</a:t>
            </a:r>
            <a:r>
              <a:rPr sz="2050" b="1" i="1" spc="-204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(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b="1" i="1" spc="90" dirty="0">
                <a:latin typeface="Times New Roman"/>
                <a:cs typeface="Times New Roman"/>
              </a:rPr>
              <a:t>x</a:t>
            </a:r>
            <a:r>
              <a:rPr sz="2050" i="1" spc="90" dirty="0">
                <a:latin typeface="Times New Roman"/>
                <a:cs typeface="Times New Roman"/>
              </a:rPr>
              <a:t>,</a:t>
            </a:r>
            <a:r>
              <a:rPr sz="2050" i="1" spc="-225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Times New Roman"/>
                <a:cs typeface="Times New Roman"/>
              </a:rPr>
              <a:t>y</a:t>
            </a:r>
            <a:r>
              <a:rPr sz="2050" b="1" i="1" spc="-204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)</a:t>
            </a:r>
            <a:r>
              <a:rPr sz="2050" i="1" spc="-20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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b="1" i="1" spc="-20" dirty="0">
                <a:latin typeface="Times New Roman"/>
                <a:cs typeface="Times New Roman"/>
              </a:rPr>
              <a:t>h</a:t>
            </a:r>
            <a:r>
              <a:rPr sz="2050" i="1" spc="-20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 </a:t>
            </a:r>
            <a:r>
              <a:rPr sz="2050" b="1" i="1" spc="90" dirty="0">
                <a:latin typeface="Times New Roman"/>
                <a:cs typeface="Times New Roman"/>
              </a:rPr>
              <a:t>x</a:t>
            </a:r>
            <a:r>
              <a:rPr sz="2050" i="1" spc="90" dirty="0">
                <a:latin typeface="Times New Roman"/>
                <a:cs typeface="Times New Roman"/>
              </a:rPr>
              <a:t>,</a:t>
            </a:r>
            <a:r>
              <a:rPr sz="2050" i="1" spc="-220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Times New Roman"/>
                <a:cs typeface="Times New Roman"/>
              </a:rPr>
              <a:t>y</a:t>
            </a:r>
            <a:r>
              <a:rPr sz="2050" b="1" i="1" spc="-200" dirty="0">
                <a:latin typeface="Times New Roman"/>
                <a:cs typeface="Times New Roman"/>
              </a:rPr>
              <a:t> </a:t>
            </a:r>
            <a:r>
              <a:rPr sz="2050" i="1" spc="-50" dirty="0">
                <a:latin typeface="Times New Roman"/>
                <a:cs typeface="Times New Roman"/>
              </a:rPr>
              <a:t>)</a:t>
            </a:r>
            <a:endParaRPr sz="205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7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h(x,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),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mask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X-</a:t>
            </a:r>
            <a:r>
              <a:rPr sz="1600" dirty="0">
                <a:latin typeface="Times New Roman"/>
                <a:cs typeface="Times New Roman"/>
              </a:rPr>
              <a:t>ray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patient’s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body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captured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intensified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TV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camera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(instead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traditional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X-</a:t>
            </a:r>
            <a:r>
              <a:rPr sz="1600" dirty="0">
                <a:latin typeface="Times New Roman"/>
                <a:cs typeface="Times New Roman"/>
              </a:rPr>
              <a:t>ray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film)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located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opposite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X-</a:t>
            </a:r>
            <a:r>
              <a:rPr sz="1600" dirty="0">
                <a:latin typeface="Times New Roman"/>
                <a:cs typeface="Times New Roman"/>
              </a:rPr>
              <a:t>ray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source.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procedure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consists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injecting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X-</a:t>
            </a:r>
            <a:r>
              <a:rPr sz="1600" dirty="0">
                <a:latin typeface="Times New Roman"/>
                <a:cs typeface="Times New Roman"/>
              </a:rPr>
              <a:t>ray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contrast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material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patient’s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bloodstream,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taking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live</a:t>
            </a:r>
            <a:r>
              <a:rPr sz="1600" b="1" i="1" spc="50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images,</a:t>
            </a:r>
            <a:r>
              <a:rPr sz="1600" b="1" i="1" spc="55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f(x,</a:t>
            </a:r>
            <a:r>
              <a:rPr sz="1600" b="1" i="1" spc="50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y),</a:t>
            </a:r>
            <a:r>
              <a:rPr sz="1600" b="1" i="1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)]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anatomical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region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y</a:t>
            </a:r>
            <a:r>
              <a:rPr sz="1600" spc="-25" dirty="0">
                <a:latin typeface="Times New Roman"/>
                <a:cs typeface="Times New Roman"/>
              </a:rPr>
              <a:t>),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subtracting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mask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incoming live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injection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contrast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material.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effect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subtracting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mask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 each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live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areas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y</a:t>
            </a:r>
            <a:r>
              <a:rPr sz="1600" spc="-25" dirty="0">
                <a:latin typeface="Times New Roman"/>
                <a:cs typeface="Times New Roman"/>
              </a:rPr>
              <a:t>)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appear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output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g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),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detail.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Arithmetic</a:t>
            </a:r>
            <a:r>
              <a:rPr spc="-215" dirty="0"/>
              <a:t> </a:t>
            </a:r>
            <a:r>
              <a:rPr spc="-50" dirty="0"/>
              <a:t>Operation</a:t>
            </a:r>
            <a:r>
              <a:rPr spc="-245" dirty="0"/>
              <a:t> </a:t>
            </a:r>
            <a:r>
              <a:rPr spc="-30" dirty="0"/>
              <a:t>(</a:t>
            </a:r>
            <a:r>
              <a:rPr b="0" spc="-30" dirty="0">
                <a:latin typeface="Times New Roman"/>
                <a:cs typeface="Times New Roman"/>
              </a:rPr>
              <a:t>Subtraction</a:t>
            </a:r>
            <a:r>
              <a:rPr spc="-3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8140" y="1801367"/>
            <a:ext cx="3988506" cy="402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1233" y="1823466"/>
            <a:ext cx="391063" cy="4286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3005" y="5853785"/>
            <a:ext cx="57397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680" marR="5080" indent="-6019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subtraction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angiography.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Mask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(c) </a:t>
            </a:r>
            <a:r>
              <a:rPr sz="1400" dirty="0">
                <a:latin typeface="Times New Roman"/>
                <a:cs typeface="Times New Roman"/>
              </a:rPr>
              <a:t>Difference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(d)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Enhanced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difference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6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/>
              <a:t>Arithmetic</a:t>
            </a:r>
            <a:r>
              <a:rPr sz="3600" spc="-140" dirty="0"/>
              <a:t> </a:t>
            </a:r>
            <a:r>
              <a:rPr sz="3600" spc="-50" dirty="0"/>
              <a:t>Operation</a:t>
            </a:r>
            <a:r>
              <a:rPr sz="3600" spc="-170" dirty="0"/>
              <a:t> </a:t>
            </a:r>
            <a:r>
              <a:rPr sz="3600" spc="-55" dirty="0"/>
              <a:t>(Multiplication</a:t>
            </a:r>
            <a:r>
              <a:rPr sz="3600" spc="-140" dirty="0"/>
              <a:t> </a:t>
            </a:r>
            <a:r>
              <a:rPr sz="3600" dirty="0"/>
              <a:t>and</a:t>
            </a:r>
            <a:r>
              <a:rPr sz="3600" spc="-140" dirty="0"/>
              <a:t> </a:t>
            </a:r>
            <a:r>
              <a:rPr sz="3600" spc="-10" dirty="0"/>
              <a:t>Division)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68349" y="1844167"/>
            <a:ext cx="8397240" cy="22987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multiplication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(and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division)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shading</a:t>
            </a:r>
            <a:r>
              <a:rPr sz="1800" b="1" i="1" spc="-20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correction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Suppose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g(x,y),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766820">
              <a:lnSpc>
                <a:spcPct val="100000"/>
              </a:lnSpc>
              <a:spcBef>
                <a:spcPts val="5"/>
              </a:spcBef>
            </a:pPr>
            <a:r>
              <a:rPr sz="1950" b="1" i="1" dirty="0">
                <a:latin typeface="Times New Roman"/>
                <a:cs typeface="Times New Roman"/>
              </a:rPr>
              <a:t>g</a:t>
            </a:r>
            <a:r>
              <a:rPr sz="1950" i="1" dirty="0">
                <a:latin typeface="Times New Roman"/>
                <a:cs typeface="Times New Roman"/>
              </a:rPr>
              <a:t>(</a:t>
            </a:r>
            <a:r>
              <a:rPr sz="1950" i="1" spc="-15" dirty="0">
                <a:latin typeface="Times New Roman"/>
                <a:cs typeface="Times New Roman"/>
              </a:rPr>
              <a:t> </a:t>
            </a:r>
            <a:r>
              <a:rPr sz="1950" b="1" i="1" spc="80" dirty="0">
                <a:latin typeface="Times New Roman"/>
                <a:cs typeface="Times New Roman"/>
              </a:rPr>
              <a:t>x</a:t>
            </a:r>
            <a:r>
              <a:rPr sz="1950" i="1" spc="80" dirty="0">
                <a:latin typeface="Times New Roman"/>
                <a:cs typeface="Times New Roman"/>
              </a:rPr>
              <a:t>,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b="1" i="1" dirty="0">
                <a:latin typeface="Times New Roman"/>
                <a:cs typeface="Times New Roman"/>
              </a:rPr>
              <a:t>y</a:t>
            </a:r>
            <a:r>
              <a:rPr sz="1950" b="1" i="1" spc="-19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)</a:t>
            </a:r>
            <a:r>
              <a:rPr sz="1950" i="1" spc="-9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365" dirty="0">
                <a:latin typeface="Times New Roman"/>
                <a:cs typeface="Times New Roman"/>
              </a:rPr>
              <a:t> </a:t>
            </a:r>
            <a:r>
              <a:rPr sz="1950" b="1" i="1" dirty="0">
                <a:latin typeface="Times New Roman"/>
                <a:cs typeface="Times New Roman"/>
              </a:rPr>
              <a:t>f</a:t>
            </a:r>
            <a:r>
              <a:rPr sz="1950" b="1" i="1" spc="-19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(</a:t>
            </a:r>
            <a:r>
              <a:rPr sz="1950" i="1" spc="-10" dirty="0">
                <a:latin typeface="Times New Roman"/>
                <a:cs typeface="Times New Roman"/>
              </a:rPr>
              <a:t> </a:t>
            </a:r>
            <a:r>
              <a:rPr sz="1950" b="1" i="1" spc="80" dirty="0">
                <a:latin typeface="Times New Roman"/>
                <a:cs typeface="Times New Roman"/>
              </a:rPr>
              <a:t>x</a:t>
            </a:r>
            <a:r>
              <a:rPr sz="1950" i="1" spc="80" dirty="0">
                <a:latin typeface="Times New Roman"/>
                <a:cs typeface="Times New Roman"/>
              </a:rPr>
              <a:t>,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b="1" i="1" dirty="0">
                <a:latin typeface="Times New Roman"/>
                <a:cs typeface="Times New Roman"/>
              </a:rPr>
              <a:t>y</a:t>
            </a:r>
            <a:r>
              <a:rPr sz="1950" b="1" i="1" spc="-190" dirty="0">
                <a:latin typeface="Times New Roman"/>
                <a:cs typeface="Times New Roman"/>
              </a:rPr>
              <a:t> </a:t>
            </a:r>
            <a:r>
              <a:rPr sz="1950" i="1" spc="-30" dirty="0">
                <a:latin typeface="Times New Roman"/>
                <a:cs typeface="Times New Roman"/>
              </a:rPr>
              <a:t>)</a:t>
            </a:r>
            <a:r>
              <a:rPr sz="1950" b="1" i="1" spc="-30" dirty="0">
                <a:latin typeface="Times New Roman"/>
                <a:cs typeface="Times New Roman"/>
              </a:rPr>
              <a:t>h</a:t>
            </a:r>
            <a:r>
              <a:rPr sz="1950" i="1" spc="-30" dirty="0">
                <a:latin typeface="Times New Roman"/>
                <a:cs typeface="Times New Roman"/>
              </a:rPr>
              <a:t>(</a:t>
            </a:r>
            <a:r>
              <a:rPr sz="1950" i="1" spc="-15" dirty="0">
                <a:latin typeface="Times New Roman"/>
                <a:cs typeface="Times New Roman"/>
              </a:rPr>
              <a:t> </a:t>
            </a:r>
            <a:r>
              <a:rPr sz="1950" b="1" i="1" spc="80" dirty="0">
                <a:latin typeface="Times New Roman"/>
                <a:cs typeface="Times New Roman"/>
              </a:rPr>
              <a:t>x</a:t>
            </a:r>
            <a:r>
              <a:rPr sz="1950" i="1" spc="80" dirty="0">
                <a:latin typeface="Times New Roman"/>
                <a:cs typeface="Times New Roman"/>
              </a:rPr>
              <a:t>,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b="1" i="1" dirty="0">
                <a:latin typeface="Times New Roman"/>
                <a:cs typeface="Times New Roman"/>
              </a:rPr>
              <a:t>y</a:t>
            </a:r>
            <a:r>
              <a:rPr sz="1950" b="1" i="1" spc="-195" dirty="0">
                <a:latin typeface="Times New Roman"/>
                <a:cs typeface="Times New Roman"/>
              </a:rPr>
              <a:t> </a:t>
            </a:r>
            <a:r>
              <a:rPr sz="1950" i="1" spc="-50" dirty="0">
                <a:latin typeface="Times New Roman"/>
                <a:cs typeface="Times New Roman"/>
              </a:rPr>
              <a:t>)</a:t>
            </a:r>
            <a:endParaRPr sz="1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b="1" i="1" dirty="0">
                <a:latin typeface="Times New Roman"/>
                <a:cs typeface="Times New Roman"/>
              </a:rPr>
              <a:t>f(x,y)</a:t>
            </a:r>
            <a:r>
              <a:rPr sz="1800" b="1" i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indicates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perfect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image</a:t>
            </a:r>
            <a:endParaRPr sz="1800" dirty="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b="1" i="1" dirty="0">
                <a:latin typeface="Times New Roman"/>
                <a:cs typeface="Times New Roman"/>
              </a:rPr>
              <a:t>h(x,y)</a:t>
            </a:r>
            <a:r>
              <a:rPr sz="1800" b="1" i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indicates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shading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function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6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/>
              <a:t>Arithmetic</a:t>
            </a:r>
            <a:r>
              <a:rPr sz="3600" spc="-140" dirty="0"/>
              <a:t> </a:t>
            </a:r>
            <a:r>
              <a:rPr sz="3600" spc="-50" dirty="0"/>
              <a:t>Operation</a:t>
            </a:r>
            <a:r>
              <a:rPr sz="3600" spc="-170" dirty="0"/>
              <a:t> </a:t>
            </a:r>
            <a:r>
              <a:rPr sz="3600" spc="-55" dirty="0"/>
              <a:t>(Multiplication</a:t>
            </a:r>
            <a:r>
              <a:rPr sz="3600" spc="-140" dirty="0"/>
              <a:t> </a:t>
            </a:r>
            <a:r>
              <a:rPr sz="3600" dirty="0"/>
              <a:t>and</a:t>
            </a:r>
            <a:r>
              <a:rPr sz="3600" spc="-140" dirty="0"/>
              <a:t> </a:t>
            </a:r>
            <a:r>
              <a:rPr sz="3600" spc="-10" dirty="0"/>
              <a:t>Division)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829811" y="2057400"/>
            <a:ext cx="4711065" cy="1158240"/>
            <a:chOff x="3829811" y="2057400"/>
            <a:chExt cx="4711065" cy="1158240"/>
          </a:xfrm>
        </p:grpSpPr>
        <p:sp>
          <p:nvSpPr>
            <p:cNvPr id="4" name="object 4"/>
            <p:cNvSpPr/>
            <p:nvPr/>
          </p:nvSpPr>
          <p:spPr>
            <a:xfrm>
              <a:off x="3908932" y="2065020"/>
              <a:ext cx="4624070" cy="285750"/>
            </a:xfrm>
            <a:custGeom>
              <a:avLst/>
              <a:gdLst/>
              <a:ahLst/>
              <a:cxnLst/>
              <a:rect l="l" t="t" r="r" b="b"/>
              <a:pathLst>
                <a:path w="4624070" h="285750">
                  <a:moveTo>
                    <a:pt x="35687" y="178562"/>
                  </a:moveTo>
                  <a:lnTo>
                    <a:pt x="21752" y="181371"/>
                  </a:lnTo>
                  <a:lnTo>
                    <a:pt x="10413" y="189039"/>
                  </a:lnTo>
                  <a:lnTo>
                    <a:pt x="2790" y="200421"/>
                  </a:lnTo>
                  <a:lnTo>
                    <a:pt x="0" y="214375"/>
                  </a:lnTo>
                  <a:lnTo>
                    <a:pt x="0" y="285750"/>
                  </a:lnTo>
                  <a:lnTo>
                    <a:pt x="27761" y="280134"/>
                  </a:lnTo>
                  <a:lnTo>
                    <a:pt x="50450" y="264826"/>
                  </a:lnTo>
                  <a:lnTo>
                    <a:pt x="65758" y="242137"/>
                  </a:lnTo>
                  <a:lnTo>
                    <a:pt x="71374" y="214375"/>
                  </a:lnTo>
                  <a:lnTo>
                    <a:pt x="68566" y="200421"/>
                  </a:lnTo>
                  <a:lnTo>
                    <a:pt x="60912" y="189039"/>
                  </a:lnTo>
                  <a:lnTo>
                    <a:pt x="49567" y="181371"/>
                  </a:lnTo>
                  <a:lnTo>
                    <a:pt x="35687" y="178562"/>
                  </a:lnTo>
                  <a:close/>
                </a:path>
                <a:path w="4624070" h="285750">
                  <a:moveTo>
                    <a:pt x="4623943" y="71500"/>
                  </a:moveTo>
                  <a:lnTo>
                    <a:pt x="4552442" y="71500"/>
                  </a:lnTo>
                  <a:lnTo>
                    <a:pt x="4552442" y="142875"/>
                  </a:lnTo>
                  <a:lnTo>
                    <a:pt x="4580276" y="137259"/>
                  </a:lnTo>
                  <a:lnTo>
                    <a:pt x="4603003" y="121951"/>
                  </a:lnTo>
                  <a:lnTo>
                    <a:pt x="4618325" y="99262"/>
                  </a:lnTo>
                  <a:lnTo>
                    <a:pt x="4623943" y="71500"/>
                  </a:lnTo>
                  <a:close/>
                </a:path>
                <a:path w="4624070" h="285750">
                  <a:moveTo>
                    <a:pt x="4552442" y="0"/>
                  </a:moveTo>
                  <a:lnTo>
                    <a:pt x="4524680" y="5617"/>
                  </a:lnTo>
                  <a:lnTo>
                    <a:pt x="4501991" y="20939"/>
                  </a:lnTo>
                  <a:lnTo>
                    <a:pt x="4486683" y="43666"/>
                  </a:lnTo>
                  <a:lnTo>
                    <a:pt x="4481068" y="71500"/>
                  </a:lnTo>
                  <a:lnTo>
                    <a:pt x="4483875" y="85381"/>
                  </a:lnTo>
                  <a:lnTo>
                    <a:pt x="4491529" y="96726"/>
                  </a:lnTo>
                  <a:lnTo>
                    <a:pt x="4502874" y="104380"/>
                  </a:lnTo>
                  <a:lnTo>
                    <a:pt x="4516755" y="107187"/>
                  </a:lnTo>
                  <a:lnTo>
                    <a:pt x="4530689" y="104380"/>
                  </a:lnTo>
                  <a:lnTo>
                    <a:pt x="4542028" y="96726"/>
                  </a:lnTo>
                  <a:lnTo>
                    <a:pt x="4549651" y="85381"/>
                  </a:lnTo>
                  <a:lnTo>
                    <a:pt x="4552442" y="71500"/>
                  </a:lnTo>
                  <a:lnTo>
                    <a:pt x="4623943" y="71500"/>
                  </a:lnTo>
                  <a:lnTo>
                    <a:pt x="4618325" y="43666"/>
                  </a:lnTo>
                  <a:lnTo>
                    <a:pt x="4603003" y="20939"/>
                  </a:lnTo>
                  <a:lnTo>
                    <a:pt x="4580276" y="5617"/>
                  </a:lnTo>
                  <a:lnTo>
                    <a:pt x="4552442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7431" y="2065020"/>
              <a:ext cx="4695825" cy="1143000"/>
            </a:xfrm>
            <a:custGeom>
              <a:avLst/>
              <a:gdLst/>
              <a:ahLst/>
              <a:cxnLst/>
              <a:rect l="l" t="t" r="r" b="b"/>
              <a:pathLst>
                <a:path w="4695825" h="1143000">
                  <a:moveTo>
                    <a:pt x="0" y="214375"/>
                  </a:moveTo>
                  <a:lnTo>
                    <a:pt x="5617" y="186541"/>
                  </a:lnTo>
                  <a:lnTo>
                    <a:pt x="20939" y="163814"/>
                  </a:lnTo>
                  <a:lnTo>
                    <a:pt x="43666" y="148492"/>
                  </a:lnTo>
                  <a:lnTo>
                    <a:pt x="71500" y="142875"/>
                  </a:lnTo>
                  <a:lnTo>
                    <a:pt x="4552569" y="142875"/>
                  </a:lnTo>
                  <a:lnTo>
                    <a:pt x="4552569" y="71500"/>
                  </a:lnTo>
                  <a:lnTo>
                    <a:pt x="4558184" y="43666"/>
                  </a:lnTo>
                  <a:lnTo>
                    <a:pt x="4573492" y="20939"/>
                  </a:lnTo>
                  <a:lnTo>
                    <a:pt x="4596181" y="5617"/>
                  </a:lnTo>
                  <a:lnTo>
                    <a:pt x="4623943" y="0"/>
                  </a:lnTo>
                  <a:lnTo>
                    <a:pt x="4651777" y="5617"/>
                  </a:lnTo>
                  <a:lnTo>
                    <a:pt x="4674504" y="20939"/>
                  </a:lnTo>
                  <a:lnTo>
                    <a:pt x="4689826" y="43666"/>
                  </a:lnTo>
                  <a:lnTo>
                    <a:pt x="4695444" y="71500"/>
                  </a:lnTo>
                  <a:lnTo>
                    <a:pt x="4695444" y="928624"/>
                  </a:lnTo>
                  <a:lnTo>
                    <a:pt x="4689826" y="956458"/>
                  </a:lnTo>
                  <a:lnTo>
                    <a:pt x="4674504" y="979185"/>
                  </a:lnTo>
                  <a:lnTo>
                    <a:pt x="4651777" y="994507"/>
                  </a:lnTo>
                  <a:lnTo>
                    <a:pt x="4623943" y="1000125"/>
                  </a:lnTo>
                  <a:lnTo>
                    <a:pt x="142875" y="1000125"/>
                  </a:lnTo>
                  <a:lnTo>
                    <a:pt x="142875" y="1071499"/>
                  </a:lnTo>
                  <a:lnTo>
                    <a:pt x="137259" y="1099333"/>
                  </a:lnTo>
                  <a:lnTo>
                    <a:pt x="121951" y="1122060"/>
                  </a:lnTo>
                  <a:lnTo>
                    <a:pt x="99262" y="1137382"/>
                  </a:lnTo>
                  <a:lnTo>
                    <a:pt x="71500" y="1143000"/>
                  </a:lnTo>
                  <a:lnTo>
                    <a:pt x="43666" y="1137382"/>
                  </a:lnTo>
                  <a:lnTo>
                    <a:pt x="20939" y="1122060"/>
                  </a:lnTo>
                  <a:lnTo>
                    <a:pt x="5617" y="1099333"/>
                  </a:lnTo>
                  <a:lnTo>
                    <a:pt x="0" y="1071499"/>
                  </a:lnTo>
                  <a:lnTo>
                    <a:pt x="0" y="214375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380" y="2128901"/>
              <a:ext cx="158115" cy="866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9811" y="2235962"/>
              <a:ext cx="158115" cy="1224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80306" y="2279395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h="786130">
                  <a:moveTo>
                    <a:pt x="0" y="0"/>
                  </a:moveTo>
                  <a:lnTo>
                    <a:pt x="0" y="785749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17821" y="2366848"/>
            <a:ext cx="3816350" cy="1345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If h(x,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y) is </a:t>
            </a:r>
            <a:r>
              <a:rPr sz="3200" spc="-10" dirty="0">
                <a:latin typeface="Times New Roman"/>
                <a:cs typeface="Times New Roman"/>
              </a:rPr>
              <a:t>known!!!!</a:t>
            </a:r>
            <a:endParaRPr sz="32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3419"/>
              </a:spcBef>
            </a:pPr>
            <a:r>
              <a:rPr sz="2600" b="1" i="1" dirty="0">
                <a:latin typeface="Times New Roman"/>
                <a:cs typeface="Times New Roman"/>
              </a:rPr>
              <a:t>f</a:t>
            </a:r>
            <a:r>
              <a:rPr sz="2600" b="1" i="1" spc="-254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(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b="1" i="1" spc="120" dirty="0">
                <a:latin typeface="Times New Roman"/>
                <a:cs typeface="Times New Roman"/>
              </a:rPr>
              <a:t>x</a:t>
            </a:r>
            <a:r>
              <a:rPr sz="2600" i="1" spc="120" dirty="0">
                <a:latin typeface="Times New Roman"/>
                <a:cs typeface="Times New Roman"/>
              </a:rPr>
              <a:t>,</a:t>
            </a:r>
            <a:r>
              <a:rPr sz="2600" i="1" spc="-28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y</a:t>
            </a:r>
            <a:r>
              <a:rPr sz="2600" b="1" i="1" spc="-26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)</a:t>
            </a:r>
            <a:r>
              <a:rPr sz="2600" i="1" spc="-12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Symbol"/>
                <a:cs typeface="Symbol"/>
              </a:rPr>
              <a:t>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g</a:t>
            </a:r>
            <a:r>
              <a:rPr sz="2600" i="1" dirty="0">
                <a:latin typeface="Times New Roman"/>
                <a:cs typeface="Times New Roman"/>
              </a:rPr>
              <a:t>(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b="1" i="1" spc="114" dirty="0">
                <a:latin typeface="Times New Roman"/>
                <a:cs typeface="Times New Roman"/>
              </a:rPr>
              <a:t>x</a:t>
            </a:r>
            <a:r>
              <a:rPr sz="2600" i="1" spc="114" dirty="0">
                <a:latin typeface="Times New Roman"/>
                <a:cs typeface="Times New Roman"/>
              </a:rPr>
              <a:t>,</a:t>
            </a:r>
            <a:r>
              <a:rPr sz="2600" i="1" spc="-28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y</a:t>
            </a:r>
            <a:r>
              <a:rPr sz="2600" b="1" i="1" spc="-26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)</a:t>
            </a:r>
            <a:r>
              <a:rPr sz="2600" i="1" spc="-26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Symbol"/>
                <a:cs typeface="Symbol"/>
              </a:rPr>
              <a:t>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h</a:t>
            </a:r>
            <a:r>
              <a:rPr sz="2600" i="1" spc="-10" dirty="0">
                <a:latin typeface="Times New Roman"/>
                <a:cs typeface="Times New Roman"/>
              </a:rPr>
              <a:t>( </a:t>
            </a:r>
            <a:r>
              <a:rPr sz="2600" b="1" i="1" spc="114" dirty="0">
                <a:latin typeface="Times New Roman"/>
                <a:cs typeface="Times New Roman"/>
              </a:rPr>
              <a:t>x</a:t>
            </a:r>
            <a:r>
              <a:rPr sz="2600" i="1" spc="114" dirty="0">
                <a:latin typeface="Times New Roman"/>
                <a:cs typeface="Times New Roman"/>
              </a:rPr>
              <a:t>,</a:t>
            </a:r>
            <a:r>
              <a:rPr sz="2600" i="1" spc="-28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y</a:t>
            </a:r>
            <a:r>
              <a:rPr sz="2600" b="1" i="1" spc="-260" dirty="0">
                <a:latin typeface="Times New Roman"/>
                <a:cs typeface="Times New Roman"/>
              </a:rPr>
              <a:t> </a:t>
            </a:r>
            <a:r>
              <a:rPr sz="2600" i="1" spc="-5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3308096" y="4063110"/>
            <a:ext cx="5808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multiplying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g(x,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inverse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h(x,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y)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6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/>
              <a:t>Arithmetic</a:t>
            </a:r>
            <a:r>
              <a:rPr sz="3600" spc="-140" dirty="0"/>
              <a:t> </a:t>
            </a:r>
            <a:r>
              <a:rPr sz="3600" spc="-50" dirty="0"/>
              <a:t>Operation</a:t>
            </a:r>
            <a:r>
              <a:rPr sz="3600" spc="-170" dirty="0"/>
              <a:t> </a:t>
            </a:r>
            <a:r>
              <a:rPr sz="3600" spc="-55" dirty="0"/>
              <a:t>(Multiplication</a:t>
            </a:r>
            <a:r>
              <a:rPr sz="3600" spc="-140" dirty="0"/>
              <a:t> </a:t>
            </a:r>
            <a:r>
              <a:rPr sz="3600" dirty="0"/>
              <a:t>and</a:t>
            </a:r>
            <a:r>
              <a:rPr sz="3600" spc="-140" dirty="0"/>
              <a:t> </a:t>
            </a:r>
            <a:r>
              <a:rPr sz="3600" spc="-10" dirty="0"/>
              <a:t>Division)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974" y="2092451"/>
            <a:ext cx="8685670" cy="2971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1422" y="5168646"/>
            <a:ext cx="6023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Shading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correction.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Shaded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pattern.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Estimated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shading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pattern.</a:t>
            </a:r>
            <a:endParaRPr sz="14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(c)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Product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reciprocal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(b).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6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/>
              <a:t>Arithmetic</a:t>
            </a:r>
            <a:r>
              <a:rPr sz="3600" spc="-140" dirty="0"/>
              <a:t> </a:t>
            </a:r>
            <a:r>
              <a:rPr sz="3600" spc="-50" dirty="0"/>
              <a:t>Operation</a:t>
            </a:r>
            <a:r>
              <a:rPr sz="3600" spc="-170" dirty="0"/>
              <a:t> </a:t>
            </a:r>
            <a:r>
              <a:rPr sz="3600" spc="-55" dirty="0"/>
              <a:t>(Multiplication</a:t>
            </a:r>
            <a:r>
              <a:rPr sz="3600" spc="-140" dirty="0"/>
              <a:t> </a:t>
            </a:r>
            <a:r>
              <a:rPr sz="3600" dirty="0"/>
              <a:t>and</a:t>
            </a:r>
            <a:r>
              <a:rPr sz="3600" spc="-140" dirty="0"/>
              <a:t> </a:t>
            </a:r>
            <a:r>
              <a:rPr sz="3600" spc="-10" dirty="0"/>
              <a:t>Division)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33043" y="1706251"/>
            <a:ext cx="927989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multiplication 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masking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region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interest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(ROI)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operations.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Multiplying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mask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has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1’s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ROI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0’s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elsewhere.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074" y="2785872"/>
            <a:ext cx="8609470" cy="2438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05302" y="5179822"/>
            <a:ext cx="563880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5: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dental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X-ray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ROI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mask 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isolating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teeth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fillings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(white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corresponds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black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corresponds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0).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(c)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Product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(b).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245" dirty="0"/>
              <a:t> </a:t>
            </a:r>
            <a:r>
              <a:rPr spc="-4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9623" y="1952610"/>
            <a:ext cx="5001331" cy="39430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926033"/>
            <a:ext cx="42252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Image</a:t>
            </a:r>
            <a:r>
              <a:rPr spc="-260" dirty="0"/>
              <a:t> </a:t>
            </a:r>
            <a:r>
              <a:rPr spc="-30" dirty="0"/>
              <a:t>Negatives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72437"/>
            <a:ext cx="9952990" cy="75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Set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involving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intensities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6385">
              <a:lnSpc>
                <a:spcPts val="1914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Let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grayscale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represented by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600" i="1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whose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triplets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z</a:t>
            </a:r>
            <a:r>
              <a:rPr sz="1600" dirty="0">
                <a:latin typeface="Times New Roman"/>
                <a:cs typeface="Times New Roman"/>
              </a:rPr>
              <a:t>),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where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ts val="1914"/>
              </a:lnSpc>
            </a:pP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i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spatial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z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intensity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values.</a:t>
            </a:r>
            <a:r>
              <a:rPr sz="1600" spc="-50" dirty="0">
                <a:latin typeface="Times New Roman"/>
                <a:cs typeface="Times New Roman"/>
              </a:rPr>
              <a:t> We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i="1" dirty="0">
                <a:latin typeface="Times New Roman"/>
                <a:cs typeface="Times New Roman"/>
              </a:rPr>
              <a:t>complement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600" i="1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set,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5837" y="2775491"/>
            <a:ext cx="1860579" cy="34759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5561" y="4080764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35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1059" y="3836255"/>
            <a:ext cx="3060700" cy="7372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855"/>
              </a:spcBef>
            </a:pPr>
            <a:r>
              <a:rPr sz="1700" b="1" i="1" dirty="0">
                <a:latin typeface="Times New Roman"/>
                <a:cs typeface="Times New Roman"/>
              </a:rPr>
              <a:t>A</a:t>
            </a:r>
            <a:r>
              <a:rPr sz="1500" b="1" i="1" baseline="41666" dirty="0">
                <a:latin typeface="Times New Roman"/>
                <a:cs typeface="Times New Roman"/>
              </a:rPr>
              <a:t>c</a:t>
            </a:r>
            <a:r>
              <a:rPr sz="1500" b="1" i="1" spc="585" baseline="4166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{(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b="1" i="1" spc="75" dirty="0">
                <a:latin typeface="Times New Roman"/>
                <a:cs typeface="Times New Roman"/>
              </a:rPr>
              <a:t>x</a:t>
            </a:r>
            <a:r>
              <a:rPr sz="1700" i="1" spc="75" dirty="0">
                <a:latin typeface="Times New Roman"/>
                <a:cs typeface="Times New Roman"/>
              </a:rPr>
              <a:t>,</a:t>
            </a:r>
            <a:r>
              <a:rPr sz="1700" i="1" spc="-170" dirty="0">
                <a:latin typeface="Times New Roman"/>
                <a:cs typeface="Times New Roman"/>
              </a:rPr>
              <a:t> </a:t>
            </a:r>
            <a:r>
              <a:rPr sz="1700" b="1" i="1" spc="80" dirty="0">
                <a:latin typeface="Times New Roman"/>
                <a:cs typeface="Times New Roman"/>
              </a:rPr>
              <a:t>y</a:t>
            </a:r>
            <a:r>
              <a:rPr sz="1700" i="1" spc="80" dirty="0">
                <a:latin typeface="Times New Roman"/>
                <a:cs typeface="Times New Roman"/>
              </a:rPr>
              <a:t>,</a:t>
            </a:r>
            <a:r>
              <a:rPr sz="1700" b="1" i="1" spc="80" dirty="0">
                <a:latin typeface="Times New Roman"/>
                <a:cs typeface="Times New Roman"/>
              </a:rPr>
              <a:t>K</a:t>
            </a:r>
            <a:r>
              <a:rPr sz="1700" b="1" i="1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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i="1" dirty="0">
                <a:latin typeface="Times New Roman"/>
                <a:cs typeface="Times New Roman"/>
              </a:rPr>
              <a:t>z</a:t>
            </a:r>
            <a:r>
              <a:rPr sz="1700" b="1" i="1" spc="-8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)</a:t>
            </a:r>
            <a:r>
              <a:rPr sz="1700" i="1" spc="-260" dirty="0">
                <a:latin typeface="Times New Roman"/>
                <a:cs typeface="Times New Roman"/>
              </a:rPr>
              <a:t> </a:t>
            </a:r>
            <a:r>
              <a:rPr sz="1700" i="1" spc="85" dirty="0">
                <a:latin typeface="Times New Roman"/>
                <a:cs typeface="Times New Roman"/>
              </a:rPr>
              <a:t>|(</a:t>
            </a:r>
            <a:r>
              <a:rPr sz="1700" i="1" spc="15" dirty="0">
                <a:latin typeface="Times New Roman"/>
                <a:cs typeface="Times New Roman"/>
              </a:rPr>
              <a:t> </a:t>
            </a:r>
            <a:r>
              <a:rPr sz="1700" b="1" i="1" spc="75" dirty="0">
                <a:latin typeface="Times New Roman"/>
                <a:cs typeface="Times New Roman"/>
              </a:rPr>
              <a:t>x</a:t>
            </a:r>
            <a:r>
              <a:rPr sz="1700" i="1" spc="75" dirty="0">
                <a:latin typeface="Times New Roman"/>
                <a:cs typeface="Times New Roman"/>
              </a:rPr>
              <a:t>,</a:t>
            </a:r>
            <a:r>
              <a:rPr sz="1700" i="1" spc="-170" dirty="0">
                <a:latin typeface="Times New Roman"/>
                <a:cs typeface="Times New Roman"/>
              </a:rPr>
              <a:t> </a:t>
            </a:r>
            <a:r>
              <a:rPr sz="1700" b="1" i="1" spc="70" dirty="0">
                <a:latin typeface="Times New Roman"/>
                <a:cs typeface="Times New Roman"/>
              </a:rPr>
              <a:t>y</a:t>
            </a:r>
            <a:r>
              <a:rPr sz="1700" i="1" spc="70" dirty="0">
                <a:latin typeface="Times New Roman"/>
                <a:cs typeface="Times New Roman"/>
              </a:rPr>
              <a:t>,</a:t>
            </a:r>
            <a:r>
              <a:rPr sz="1700" b="1" i="1" spc="70" dirty="0">
                <a:latin typeface="Times New Roman"/>
                <a:cs typeface="Times New Roman"/>
              </a:rPr>
              <a:t>z</a:t>
            </a:r>
            <a:r>
              <a:rPr sz="1700" b="1" i="1" spc="-9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)</a:t>
            </a:r>
            <a:r>
              <a:rPr sz="1700" i="1" spc="-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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i="1" dirty="0">
                <a:latin typeface="Times New Roman"/>
                <a:cs typeface="Times New Roman"/>
              </a:rPr>
              <a:t>A</a:t>
            </a:r>
            <a:r>
              <a:rPr sz="1700" b="1" i="1" spc="-229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}</a:t>
            </a:r>
            <a:endParaRPr sz="17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760"/>
              </a:spcBef>
              <a:tabLst>
                <a:tab pos="1183640" algn="l"/>
              </a:tabLst>
            </a:pPr>
            <a:r>
              <a:rPr sz="1700" b="1" i="1" dirty="0">
                <a:latin typeface="Times New Roman"/>
                <a:cs typeface="Times New Roman"/>
              </a:rPr>
              <a:t>K</a:t>
            </a:r>
            <a:r>
              <a:rPr sz="1700" b="1" i="1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2</a:t>
            </a:r>
            <a:r>
              <a:rPr sz="1500" b="1" i="1" baseline="41666" dirty="0">
                <a:latin typeface="Times New Roman"/>
                <a:cs typeface="Times New Roman"/>
              </a:rPr>
              <a:t>k</a:t>
            </a:r>
            <a:r>
              <a:rPr sz="1500" b="1" i="1" spc="465" baseline="4166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</a:t>
            </a:r>
            <a:r>
              <a:rPr sz="1700" spc="-160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1</a:t>
            </a:r>
            <a:r>
              <a:rPr sz="1700" b="1" spc="-25" dirty="0">
                <a:latin typeface="Times New Roman"/>
                <a:cs typeface="Times New Roman"/>
              </a:rPr>
              <a:t>,</a:t>
            </a:r>
            <a:r>
              <a:rPr sz="1700" b="1" dirty="0">
                <a:latin typeface="Times New Roman"/>
                <a:cs typeface="Times New Roman"/>
              </a:rPr>
              <a:t>	</a:t>
            </a:r>
            <a:r>
              <a:rPr sz="1700" b="1" i="1" dirty="0">
                <a:latin typeface="Times New Roman"/>
                <a:cs typeface="Times New Roman"/>
              </a:rPr>
              <a:t>k-</a:t>
            </a:r>
            <a:r>
              <a:rPr sz="1700" b="1" i="1" spc="55" dirty="0">
                <a:latin typeface="Times New Roman"/>
                <a:cs typeface="Times New Roman"/>
              </a:rPr>
              <a:t> numberof</a:t>
            </a:r>
            <a:r>
              <a:rPr sz="1700" b="1" i="1" spc="60" dirty="0">
                <a:latin typeface="Times New Roman"/>
                <a:cs typeface="Times New Roman"/>
              </a:rPr>
              <a:t> </a:t>
            </a:r>
            <a:r>
              <a:rPr sz="1700" b="1" i="1" spc="-20" dirty="0">
                <a:latin typeface="Times New Roman"/>
                <a:cs typeface="Times New Roman"/>
              </a:rPr>
              <a:t>bits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1527" y="2827020"/>
            <a:ext cx="1641787" cy="33941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71508" y="4342841"/>
            <a:ext cx="492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baseline="25462" dirty="0">
                <a:latin typeface="Trebuchet MS"/>
                <a:cs typeface="Trebuchet MS"/>
              </a:rPr>
              <a:t>c</a:t>
            </a:r>
            <a:r>
              <a:rPr sz="1800" spc="277" baseline="25462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Logical</a:t>
            </a:r>
            <a:r>
              <a:rPr spc="-265" dirty="0"/>
              <a:t> </a:t>
            </a:r>
            <a:r>
              <a:rPr spc="-4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77492" y="1802028"/>
            <a:ext cx="980249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6985" indent="-285750" algn="just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Logical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deal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(typically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1)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FALSE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(typically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denoted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0)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variables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	</a:t>
            </a:r>
            <a:r>
              <a:rPr sz="1600" spc="-10" dirty="0">
                <a:latin typeface="Times New Roman"/>
                <a:cs typeface="Times New Roman"/>
              </a:rPr>
              <a:t>expressions.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dealing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images,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think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foreground</a:t>
            </a:r>
            <a:r>
              <a:rPr sz="1600" b="1" spc="21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(1-</a:t>
            </a:r>
            <a:r>
              <a:rPr sz="1600" b="1" dirty="0">
                <a:latin typeface="Times New Roman"/>
                <a:cs typeface="Times New Roman"/>
              </a:rPr>
              <a:t>valued)</a:t>
            </a:r>
            <a:r>
              <a:rPr sz="1600" b="1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background</a:t>
            </a:r>
            <a:r>
              <a:rPr sz="1600" b="1" spc="204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(0-</a:t>
            </a:r>
            <a:r>
              <a:rPr sz="1600" b="1" dirty="0">
                <a:latin typeface="Times New Roman"/>
                <a:cs typeface="Times New Roman"/>
              </a:rPr>
              <a:t>valued)</a:t>
            </a:r>
            <a:r>
              <a:rPr sz="1600" b="1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sets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pixels.</a:t>
            </a:r>
            <a:endParaRPr sz="1600" dirty="0">
              <a:latin typeface="Times New Roman"/>
              <a:cs typeface="Times New Roman"/>
            </a:endParaRPr>
          </a:p>
          <a:p>
            <a:pPr marL="297815" marR="5080" indent="-285750" algn="just">
              <a:lnSpc>
                <a:spcPct val="15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logical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operators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basic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approaches: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(1)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	</a:t>
            </a:r>
            <a:r>
              <a:rPr sz="1600" i="1" dirty="0">
                <a:latin typeface="Times New Roman"/>
                <a:cs typeface="Times New Roman"/>
              </a:rPr>
              <a:t>coordinates</a:t>
            </a:r>
            <a:r>
              <a:rPr sz="1600" i="1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individual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regions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foreground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pixels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sets,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(2)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or 	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corresponding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pixels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arrays.</a:t>
            </a:r>
            <a:endParaRPr sz="1600" dirty="0">
              <a:latin typeface="Times New Roman"/>
              <a:cs typeface="Times New Roman"/>
            </a:endParaRPr>
          </a:p>
          <a:p>
            <a:pPr marL="297815" marR="5715" indent="-285750" algn="just">
              <a:lnSpc>
                <a:spcPct val="15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dealing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images,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common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practice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refer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union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intersection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complement</a:t>
            </a:r>
            <a:r>
              <a:rPr sz="1600" b="1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	</a:t>
            </a:r>
            <a:r>
              <a:rPr sz="1600" b="1" dirty="0">
                <a:latin typeface="Times New Roman"/>
                <a:cs typeface="Times New Roman"/>
              </a:rPr>
              <a:t>OR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NOT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logical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operations,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“logical”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arises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theory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	</a:t>
            </a:r>
            <a:r>
              <a:rPr sz="1600" dirty="0">
                <a:latin typeface="Times New Roman"/>
                <a:cs typeface="Times New Roman"/>
              </a:rPr>
              <a:t>false,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respectively.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Logical</a:t>
            </a:r>
            <a:r>
              <a:rPr spc="-265" dirty="0"/>
              <a:t> </a:t>
            </a:r>
            <a:r>
              <a:rPr spc="-4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168" y="1912402"/>
            <a:ext cx="5169429" cy="43088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617" y="1799289"/>
            <a:ext cx="6926580" cy="20847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Spatial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performed directly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given </a:t>
            </a:r>
            <a:r>
              <a:rPr sz="1800" spc="-10" dirty="0"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Classifications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spatial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operations: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Single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pixel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operations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Neighborhood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operations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transformations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785620"/>
            <a:ext cx="5042535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Single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Pixel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Operations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Alter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intensity.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Finding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negative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Example: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operation.</a:t>
            </a:r>
            <a:endParaRPr sz="18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1872" y="4035425"/>
          <a:ext cx="2669539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969508" y="4538471"/>
            <a:ext cx="661670" cy="861060"/>
            <a:chOff x="5969508" y="4538471"/>
            <a:chExt cx="661670" cy="861060"/>
          </a:xfrm>
        </p:grpSpPr>
        <p:sp>
          <p:nvSpPr>
            <p:cNvPr id="6" name="object 6"/>
            <p:cNvSpPr/>
            <p:nvPr/>
          </p:nvSpPr>
          <p:spPr>
            <a:xfrm>
              <a:off x="5977128" y="4546091"/>
              <a:ext cx="646430" cy="845819"/>
            </a:xfrm>
            <a:custGeom>
              <a:avLst/>
              <a:gdLst/>
              <a:ahLst/>
              <a:cxnLst/>
              <a:rect l="l" t="t" r="r" b="b"/>
              <a:pathLst>
                <a:path w="646429" h="845820">
                  <a:moveTo>
                    <a:pt x="323088" y="0"/>
                  </a:moveTo>
                  <a:lnTo>
                    <a:pt x="323088" y="211454"/>
                  </a:lnTo>
                  <a:lnTo>
                    <a:pt x="0" y="211454"/>
                  </a:lnTo>
                  <a:lnTo>
                    <a:pt x="0" y="634364"/>
                  </a:lnTo>
                  <a:lnTo>
                    <a:pt x="323088" y="634364"/>
                  </a:lnTo>
                  <a:lnTo>
                    <a:pt x="323088" y="845819"/>
                  </a:lnTo>
                  <a:lnTo>
                    <a:pt x="646176" y="422909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7128" y="4546091"/>
              <a:ext cx="646430" cy="845819"/>
            </a:xfrm>
            <a:custGeom>
              <a:avLst/>
              <a:gdLst/>
              <a:ahLst/>
              <a:cxnLst/>
              <a:rect l="l" t="t" r="r" b="b"/>
              <a:pathLst>
                <a:path w="646429" h="845820">
                  <a:moveTo>
                    <a:pt x="0" y="211454"/>
                  </a:moveTo>
                  <a:lnTo>
                    <a:pt x="323088" y="211454"/>
                  </a:lnTo>
                  <a:lnTo>
                    <a:pt x="323088" y="0"/>
                  </a:lnTo>
                  <a:lnTo>
                    <a:pt x="646176" y="422909"/>
                  </a:lnTo>
                  <a:lnTo>
                    <a:pt x="323088" y="845819"/>
                  </a:lnTo>
                  <a:lnTo>
                    <a:pt x="323088" y="634364"/>
                  </a:lnTo>
                  <a:lnTo>
                    <a:pt x="0" y="634364"/>
                  </a:lnTo>
                  <a:lnTo>
                    <a:pt x="0" y="211454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19619" y="4035425"/>
          <a:ext cx="2669539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44421"/>
            <a:ext cx="2598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Single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Pixel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Operations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4516" y="2255520"/>
            <a:ext cx="6982968" cy="35539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0338" y="5967476"/>
            <a:ext cx="1965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6: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Negatives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912746"/>
            <a:ext cx="287464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Neighborhood</a:t>
            </a:r>
            <a:r>
              <a:rPr sz="1800" b="1" spc="-10" dirty="0">
                <a:latin typeface="Times New Roman"/>
                <a:cs typeface="Times New Roman"/>
              </a:rPr>
              <a:t> Operations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800">
              <a:latin typeface="Times New Roman"/>
              <a:cs typeface="Times New Roman"/>
            </a:endParaRPr>
          </a:p>
          <a:p>
            <a:pPr marL="291465" marR="5080" algn="just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net</a:t>
            </a:r>
            <a:r>
              <a:rPr sz="1800" spc="3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effect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perform</a:t>
            </a:r>
            <a:r>
              <a:rPr sz="1800" spc="4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local</a:t>
            </a:r>
            <a:r>
              <a:rPr sz="1800" b="1" spc="48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blurring</a:t>
            </a:r>
            <a:r>
              <a:rPr sz="1800" b="1" spc="25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979" y="1805939"/>
            <a:ext cx="5117591" cy="37300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98719" y="5590133"/>
            <a:ext cx="532638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6: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Local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averaging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neighborhood processing.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procedure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illustrated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rectangular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neighborhood.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(c)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aortic </a:t>
            </a:r>
            <a:r>
              <a:rPr sz="1400" dirty="0">
                <a:latin typeface="Times New Roman"/>
                <a:cs typeface="Times New Roman"/>
              </a:rPr>
              <a:t>angiogram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(d)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neighborhood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operations.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41856" y="1825904"/>
            <a:ext cx="9484360" cy="11226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Neighborhood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operations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select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center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pixel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it’s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3x3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neighbors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calculate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average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neighbor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pixels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center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pixel.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30550" y="3190875"/>
          <a:ext cx="6094094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349" y="1869185"/>
            <a:ext cx="98088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Neighborhood</a:t>
            </a:r>
            <a:r>
              <a:rPr sz="1800" b="1" spc="-10" dirty="0">
                <a:latin typeface="Times New Roman"/>
                <a:cs typeface="Times New Roman"/>
              </a:rPr>
              <a:t> operations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border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center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it’s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3x3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neighbors,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zero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padding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needed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calculate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average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neighbor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center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pixel.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30550" y="3043301"/>
          <a:ext cx="5920739" cy="3046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146" y="1735049"/>
            <a:ext cx="8994775" cy="31197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5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transformations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Spatial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transformation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geometric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transformation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Times New Roman"/>
              <a:cs typeface="Times New Roman"/>
            </a:endParaRPr>
          </a:p>
          <a:p>
            <a:pPr marL="4048125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v</a:t>
            </a:r>
            <a:r>
              <a:rPr sz="2350" dirty="0">
                <a:latin typeface="Times New Roman"/>
                <a:cs typeface="Times New Roman"/>
              </a:rPr>
              <a:t>,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w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T</a:t>
            </a:r>
            <a:r>
              <a:rPr sz="2350" spc="85" dirty="0">
                <a:latin typeface="Times New Roman"/>
                <a:cs typeface="Times New Roman"/>
              </a:rPr>
              <a:t>{(</a:t>
            </a:r>
            <a:r>
              <a:rPr sz="2350" i="1" spc="85" dirty="0">
                <a:latin typeface="Times New Roman"/>
                <a:cs typeface="Times New Roman"/>
              </a:rPr>
              <a:t>x</a:t>
            </a:r>
            <a:r>
              <a:rPr sz="2350" spc="85" dirty="0">
                <a:latin typeface="Times New Roman"/>
                <a:cs typeface="Times New Roman"/>
              </a:rPr>
              <a:t>,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350" spc="30" dirty="0">
                <a:latin typeface="Times New Roman"/>
                <a:cs typeface="Times New Roman"/>
              </a:rPr>
              <a:t>)}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Where,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(x,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original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(v,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corresponding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68551"/>
            <a:ext cx="367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transformations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1448" y="2316479"/>
            <a:ext cx="7313676" cy="38511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608" y="2639567"/>
            <a:ext cx="6432803" cy="25603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4" name="object 4"/>
          <p:cNvSpPr/>
          <p:nvPr/>
        </p:nvSpPr>
        <p:spPr>
          <a:xfrm>
            <a:off x="1253165" y="3009900"/>
            <a:ext cx="538480" cy="215900"/>
          </a:xfrm>
          <a:custGeom>
            <a:avLst/>
            <a:gdLst/>
            <a:ahLst/>
            <a:cxnLst/>
            <a:rect l="l" t="t" r="r" b="b"/>
            <a:pathLst>
              <a:path w="538480" h="215900">
                <a:moveTo>
                  <a:pt x="481400" y="0"/>
                </a:moveTo>
                <a:lnTo>
                  <a:pt x="479241" y="7112"/>
                </a:lnTo>
                <a:lnTo>
                  <a:pt x="489097" y="12279"/>
                </a:lnTo>
                <a:lnTo>
                  <a:pt x="497703" y="19780"/>
                </a:lnTo>
                <a:lnTo>
                  <a:pt x="515858" y="55852"/>
                </a:lnTo>
                <a:lnTo>
                  <a:pt x="521913" y="107823"/>
                </a:lnTo>
                <a:lnTo>
                  <a:pt x="521244" y="126730"/>
                </a:lnTo>
                <a:lnTo>
                  <a:pt x="511118" y="173736"/>
                </a:lnTo>
                <a:lnTo>
                  <a:pt x="479241" y="208279"/>
                </a:lnTo>
                <a:lnTo>
                  <a:pt x="481400" y="215391"/>
                </a:lnTo>
                <a:lnTo>
                  <a:pt x="515065" y="191960"/>
                </a:lnTo>
                <a:lnTo>
                  <a:pt x="534264" y="145827"/>
                </a:lnTo>
                <a:lnTo>
                  <a:pt x="537909" y="107823"/>
                </a:lnTo>
                <a:lnTo>
                  <a:pt x="537048" y="88896"/>
                </a:lnTo>
                <a:lnTo>
                  <a:pt x="523183" y="37084"/>
                </a:lnTo>
                <a:lnTo>
                  <a:pt x="494161" y="5026"/>
                </a:lnTo>
                <a:lnTo>
                  <a:pt x="481400" y="0"/>
                </a:lnTo>
                <a:close/>
              </a:path>
              <a:path w="538480" h="215900">
                <a:moveTo>
                  <a:pt x="56585" y="0"/>
                </a:moveTo>
                <a:lnTo>
                  <a:pt x="22806" y="23556"/>
                </a:lnTo>
                <a:lnTo>
                  <a:pt x="3670" y="69627"/>
                </a:lnTo>
                <a:lnTo>
                  <a:pt x="0" y="107823"/>
                </a:lnTo>
                <a:lnTo>
                  <a:pt x="879" y="126730"/>
                </a:lnTo>
                <a:lnTo>
                  <a:pt x="14700" y="178435"/>
                </a:lnTo>
                <a:lnTo>
                  <a:pt x="43750" y="210438"/>
                </a:lnTo>
                <a:lnTo>
                  <a:pt x="56585" y="215391"/>
                </a:lnTo>
                <a:lnTo>
                  <a:pt x="58744" y="208279"/>
                </a:lnTo>
                <a:lnTo>
                  <a:pt x="48887" y="203186"/>
                </a:lnTo>
                <a:lnTo>
                  <a:pt x="40281" y="195722"/>
                </a:lnTo>
                <a:lnTo>
                  <a:pt x="22116" y="159686"/>
                </a:lnTo>
                <a:lnTo>
                  <a:pt x="16008" y="107823"/>
                </a:lnTo>
                <a:lnTo>
                  <a:pt x="16687" y="88896"/>
                </a:lnTo>
                <a:lnTo>
                  <a:pt x="26867" y="41783"/>
                </a:lnTo>
                <a:lnTo>
                  <a:pt x="58744" y="7112"/>
                </a:lnTo>
                <a:lnTo>
                  <a:pt x="56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90340" y="384428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706" y="0"/>
                </a:moveTo>
                <a:lnTo>
                  <a:pt x="0" y="0"/>
                </a:lnTo>
                <a:lnTo>
                  <a:pt x="0" y="10160"/>
                </a:lnTo>
                <a:lnTo>
                  <a:pt x="37719" y="10160"/>
                </a:lnTo>
                <a:lnTo>
                  <a:pt x="37719" y="666750"/>
                </a:lnTo>
                <a:lnTo>
                  <a:pt x="0" y="666750"/>
                </a:lnTo>
                <a:lnTo>
                  <a:pt x="0" y="676910"/>
                </a:lnTo>
                <a:lnTo>
                  <a:pt x="60706" y="676910"/>
                </a:lnTo>
                <a:lnTo>
                  <a:pt x="60706" y="666750"/>
                </a:lnTo>
                <a:lnTo>
                  <a:pt x="60706" y="10160"/>
                </a:lnTo>
                <a:lnTo>
                  <a:pt x="607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00248" y="384428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833" y="0"/>
                </a:moveTo>
                <a:lnTo>
                  <a:pt x="0" y="0"/>
                </a:lnTo>
                <a:lnTo>
                  <a:pt x="0" y="10160"/>
                </a:lnTo>
                <a:lnTo>
                  <a:pt x="0" y="666750"/>
                </a:lnTo>
                <a:lnTo>
                  <a:pt x="0" y="676910"/>
                </a:lnTo>
                <a:lnTo>
                  <a:pt x="60833" y="676910"/>
                </a:lnTo>
                <a:lnTo>
                  <a:pt x="60833" y="666750"/>
                </a:lnTo>
                <a:lnTo>
                  <a:pt x="22987" y="666750"/>
                </a:lnTo>
                <a:lnTo>
                  <a:pt x="22987" y="10160"/>
                </a:lnTo>
                <a:lnTo>
                  <a:pt x="60833" y="1016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8380" y="1851787"/>
            <a:ext cx="3622040" cy="275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015" indent="-16065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2857"/>
              <a:buFont typeface="Wingdings"/>
              <a:buChar char=""/>
              <a:tabLst>
                <a:tab pos="247015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Geometric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sz="1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(Translation)</a:t>
            </a:r>
            <a:endParaRPr sz="1400">
              <a:latin typeface="Times New Roman"/>
              <a:cs typeface="Times New Roman"/>
            </a:endParaRPr>
          </a:p>
          <a:p>
            <a:pPr marL="228600" indent="-142875">
              <a:lnSpc>
                <a:spcPct val="100000"/>
              </a:lnSpc>
              <a:spcBef>
                <a:spcPts val="1225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22860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 shifting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object’s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location.</a:t>
            </a:r>
            <a:endParaRPr sz="1400">
              <a:latin typeface="Times New Roman"/>
              <a:cs typeface="Times New Roman"/>
            </a:endParaRPr>
          </a:p>
          <a:p>
            <a:pPr marL="228600" indent="-142875">
              <a:lnSpc>
                <a:spcPct val="100000"/>
              </a:lnSpc>
              <a:spcBef>
                <a:spcPts val="1235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228600" algn="l"/>
              </a:tabLst>
            </a:pPr>
            <a:r>
              <a:rPr sz="1400" dirty="0">
                <a:latin typeface="Times New Roman"/>
                <a:cs typeface="Times New Roman"/>
              </a:rPr>
              <a:t>Here,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(x,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y)=(0,0)</a:t>
            </a:r>
            <a:endParaRPr sz="1400">
              <a:latin typeface="Times New Roman"/>
              <a:cs typeface="Times New Roman"/>
            </a:endParaRPr>
          </a:p>
          <a:p>
            <a:pPr marL="309245" indent="-220345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309245" algn="l"/>
                <a:tab pos="847725" algn="l"/>
              </a:tabLst>
            </a:pPr>
            <a:r>
              <a:rPr sz="1400" dirty="0">
                <a:latin typeface="Cambria Math"/>
                <a:cs typeface="Cambria Math"/>
              </a:rPr>
              <a:t>𝑡</a:t>
            </a:r>
            <a:r>
              <a:rPr sz="1500" baseline="-16666" dirty="0">
                <a:latin typeface="Cambria Math"/>
                <a:cs typeface="Cambria Math"/>
              </a:rPr>
              <a:t>𝑥</a:t>
            </a:r>
            <a:r>
              <a:rPr sz="1400" dirty="0">
                <a:latin typeface="Cambria Math"/>
                <a:cs typeface="Cambria Math"/>
              </a:rPr>
              <a:t>,</a:t>
            </a:r>
            <a:r>
              <a:rPr sz="1400" spc="2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𝑡</a:t>
            </a:r>
            <a:r>
              <a:rPr sz="1500" spc="-37" baseline="-16666" dirty="0">
                <a:latin typeface="Cambria Math"/>
                <a:cs typeface="Cambria Math"/>
              </a:rPr>
              <a:t>𝑦</a:t>
            </a:r>
            <a:r>
              <a:rPr sz="1500" baseline="-16666" dirty="0">
                <a:latin typeface="Cambria Math"/>
                <a:cs typeface="Cambria Math"/>
              </a:rPr>
              <a:t>	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(15,</a:t>
            </a:r>
            <a:r>
              <a:rPr sz="1400" spc="-8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13)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400">
              <a:latin typeface="Cambria Math"/>
              <a:cs typeface="Cambria Math"/>
            </a:endParaRPr>
          </a:p>
          <a:p>
            <a:pPr marL="179705">
              <a:lnSpc>
                <a:spcPts val="2030"/>
              </a:lnSpc>
            </a:pPr>
            <a:r>
              <a:rPr sz="1800" spc="-10" dirty="0">
                <a:latin typeface="Cambria Math"/>
                <a:cs typeface="Cambria Math"/>
              </a:rPr>
              <a:t>Here,</a:t>
            </a:r>
            <a:endParaRPr sz="1800">
              <a:latin typeface="Cambria Math"/>
              <a:cs typeface="Cambria Math"/>
            </a:endParaRPr>
          </a:p>
          <a:p>
            <a:pPr marR="654685" algn="r">
              <a:lnSpc>
                <a:spcPts val="2030"/>
              </a:lnSpc>
              <a:tabLst>
                <a:tab pos="354965" algn="l"/>
                <a:tab pos="714375" algn="l"/>
              </a:tabLst>
            </a:pPr>
            <a:r>
              <a:rPr sz="1800" spc="-50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𝑡</a:t>
            </a:r>
            <a:r>
              <a:rPr sz="1950" spc="-37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  <a:p>
            <a:pPr marR="650875" algn="r">
              <a:lnSpc>
                <a:spcPct val="100000"/>
              </a:lnSpc>
              <a:spcBef>
                <a:spcPts val="40"/>
              </a:spcBef>
              <a:tabLst>
                <a:tab pos="591185" algn="l"/>
                <a:tab pos="946150" algn="l"/>
                <a:tab pos="1302385" algn="l"/>
              </a:tabLst>
            </a:pPr>
            <a:r>
              <a:rPr sz="1800" dirty="0">
                <a:latin typeface="Cambria Math"/>
                <a:cs typeface="Cambria Math"/>
              </a:rPr>
              <a:t>𝑀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spc="-75" baseline="1543" dirty="0">
                <a:latin typeface="Cambria Math"/>
                <a:cs typeface="Cambria Math"/>
              </a:rPr>
              <a:t>0</a:t>
            </a:r>
            <a:r>
              <a:rPr sz="2700" baseline="1543" dirty="0">
                <a:latin typeface="Cambria Math"/>
                <a:cs typeface="Cambria Math"/>
              </a:rPr>
              <a:t>	</a:t>
            </a:r>
            <a:r>
              <a:rPr sz="2700" spc="-75" baseline="1543" dirty="0">
                <a:latin typeface="Cambria Math"/>
                <a:cs typeface="Cambria Math"/>
              </a:rPr>
              <a:t>1</a:t>
            </a:r>
            <a:r>
              <a:rPr sz="2700" baseline="1543" dirty="0">
                <a:latin typeface="Cambria Math"/>
                <a:cs typeface="Cambria Math"/>
              </a:rPr>
              <a:t>	</a:t>
            </a:r>
            <a:r>
              <a:rPr sz="2700" spc="-37" baseline="1543" dirty="0">
                <a:latin typeface="Cambria Math"/>
                <a:cs typeface="Cambria Math"/>
              </a:rPr>
              <a:t>𝑡</a:t>
            </a:r>
            <a:r>
              <a:rPr sz="1950" spc="-37" baseline="-14957" dirty="0">
                <a:latin typeface="Cambria Math"/>
                <a:cs typeface="Cambria Math"/>
              </a:rPr>
              <a:t>𝑦</a:t>
            </a:r>
            <a:endParaRPr sz="1950" baseline="-14957">
              <a:latin typeface="Cambria Math"/>
              <a:cs typeface="Cambria Math"/>
            </a:endParaRPr>
          </a:p>
          <a:p>
            <a:pPr marR="677545" algn="r">
              <a:lnSpc>
                <a:spcPct val="100000"/>
              </a:lnSpc>
              <a:spcBef>
                <a:spcPts val="215"/>
              </a:spcBef>
              <a:tabLst>
                <a:tab pos="354965" algn="l"/>
                <a:tab pos="751205" algn="l"/>
              </a:tabLst>
            </a:pP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4410" y="4905197"/>
            <a:ext cx="1568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𝑢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6772" y="488822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706" y="0"/>
                </a:moveTo>
                <a:lnTo>
                  <a:pt x="0" y="0"/>
                </a:lnTo>
                <a:lnTo>
                  <a:pt x="0" y="10160"/>
                </a:lnTo>
                <a:lnTo>
                  <a:pt x="37719" y="10160"/>
                </a:lnTo>
                <a:lnTo>
                  <a:pt x="37719" y="666750"/>
                </a:lnTo>
                <a:lnTo>
                  <a:pt x="0" y="666750"/>
                </a:lnTo>
                <a:lnTo>
                  <a:pt x="0" y="676910"/>
                </a:lnTo>
                <a:lnTo>
                  <a:pt x="60706" y="676910"/>
                </a:lnTo>
                <a:lnTo>
                  <a:pt x="60706" y="666750"/>
                </a:lnTo>
                <a:lnTo>
                  <a:pt x="60706" y="10160"/>
                </a:lnTo>
                <a:lnTo>
                  <a:pt x="607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48204" y="488822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833" y="0"/>
                </a:moveTo>
                <a:lnTo>
                  <a:pt x="0" y="0"/>
                </a:lnTo>
                <a:lnTo>
                  <a:pt x="0" y="10160"/>
                </a:lnTo>
                <a:lnTo>
                  <a:pt x="0" y="666750"/>
                </a:lnTo>
                <a:lnTo>
                  <a:pt x="0" y="676910"/>
                </a:lnTo>
                <a:lnTo>
                  <a:pt x="60833" y="676910"/>
                </a:lnTo>
                <a:lnTo>
                  <a:pt x="60833" y="666750"/>
                </a:lnTo>
                <a:lnTo>
                  <a:pt x="22987" y="666750"/>
                </a:lnTo>
                <a:lnTo>
                  <a:pt x="22987" y="10160"/>
                </a:lnTo>
                <a:lnTo>
                  <a:pt x="60833" y="1016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59761" y="5051501"/>
            <a:ext cx="720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[</a:t>
            </a:r>
            <a:r>
              <a:rPr sz="2700" baseline="-29320" dirty="0">
                <a:latin typeface="Cambria Math"/>
                <a:cs typeface="Cambria Math"/>
              </a:rPr>
              <a:t>𝑣</a:t>
            </a:r>
            <a:r>
              <a:rPr sz="1800" dirty="0">
                <a:latin typeface="Cambria Math"/>
                <a:cs typeface="Cambria Math"/>
              </a:rPr>
              <a:t>]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2700" spc="-75" baseline="1543" dirty="0">
                <a:latin typeface="Cambria Math"/>
                <a:cs typeface="Cambria Math"/>
              </a:rPr>
              <a:t>0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0998" y="4772914"/>
            <a:ext cx="133604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418465" algn="l"/>
                <a:tab pos="777875" algn="l"/>
              </a:tabLst>
            </a:pPr>
            <a:r>
              <a:rPr sz="1800" spc="-50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𝑡</a:t>
            </a:r>
            <a:r>
              <a:rPr sz="1950" spc="-37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  <a:p>
            <a:pPr marL="418465">
              <a:lnSpc>
                <a:spcPct val="100000"/>
              </a:lnSpc>
              <a:spcBef>
                <a:spcPts val="35"/>
              </a:spcBef>
              <a:tabLst>
                <a:tab pos="773430" algn="l"/>
                <a:tab pos="1174115" algn="l"/>
              </a:tabLst>
            </a:pPr>
            <a:r>
              <a:rPr sz="2700" spc="-75" baseline="1543" dirty="0">
                <a:latin typeface="Cambria Math"/>
                <a:cs typeface="Cambria Math"/>
              </a:rPr>
              <a:t>1</a:t>
            </a:r>
            <a:r>
              <a:rPr sz="2700" baseline="1543" dirty="0">
                <a:latin typeface="Cambria Math"/>
                <a:cs typeface="Cambria Math"/>
              </a:rPr>
              <a:t>	</a:t>
            </a:r>
            <a:r>
              <a:rPr sz="2700" spc="-37" baseline="1543" dirty="0">
                <a:latin typeface="Cambria Math"/>
                <a:cs typeface="Cambria Math"/>
              </a:rPr>
              <a:t>𝑡</a:t>
            </a:r>
            <a:r>
              <a:rPr sz="1950" spc="-37" baseline="-14957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219"/>
              </a:spcBef>
              <a:tabLst>
                <a:tab pos="418465" algn="l"/>
                <a:tab pos="814705" algn="l"/>
              </a:tabLst>
            </a:pP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66184" y="488822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706" y="0"/>
                </a:moveTo>
                <a:lnTo>
                  <a:pt x="0" y="0"/>
                </a:lnTo>
                <a:lnTo>
                  <a:pt x="0" y="10160"/>
                </a:lnTo>
                <a:lnTo>
                  <a:pt x="37719" y="10160"/>
                </a:lnTo>
                <a:lnTo>
                  <a:pt x="37719" y="666750"/>
                </a:lnTo>
                <a:lnTo>
                  <a:pt x="0" y="666750"/>
                </a:lnTo>
                <a:lnTo>
                  <a:pt x="0" y="676910"/>
                </a:lnTo>
                <a:lnTo>
                  <a:pt x="60706" y="676910"/>
                </a:lnTo>
                <a:lnTo>
                  <a:pt x="60706" y="666750"/>
                </a:lnTo>
                <a:lnTo>
                  <a:pt x="60706" y="10160"/>
                </a:lnTo>
                <a:lnTo>
                  <a:pt x="607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62476" y="4888229"/>
            <a:ext cx="60960" cy="676910"/>
          </a:xfrm>
          <a:custGeom>
            <a:avLst/>
            <a:gdLst/>
            <a:ahLst/>
            <a:cxnLst/>
            <a:rect l="l" t="t" r="r" b="b"/>
            <a:pathLst>
              <a:path w="60960" h="676910">
                <a:moveTo>
                  <a:pt x="60833" y="0"/>
                </a:moveTo>
                <a:lnTo>
                  <a:pt x="0" y="0"/>
                </a:lnTo>
                <a:lnTo>
                  <a:pt x="0" y="10160"/>
                </a:lnTo>
                <a:lnTo>
                  <a:pt x="0" y="666750"/>
                </a:lnTo>
                <a:lnTo>
                  <a:pt x="0" y="676910"/>
                </a:lnTo>
                <a:lnTo>
                  <a:pt x="60833" y="676910"/>
                </a:lnTo>
                <a:lnTo>
                  <a:pt x="60833" y="666750"/>
                </a:lnTo>
                <a:lnTo>
                  <a:pt x="22987" y="666750"/>
                </a:lnTo>
                <a:lnTo>
                  <a:pt x="22987" y="10160"/>
                </a:lnTo>
                <a:lnTo>
                  <a:pt x="60833" y="1016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16451" y="4768342"/>
            <a:ext cx="15557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ts val="2135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36546"/>
            <a:ext cx="4736465" cy="11055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transformations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(Rotation)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40"/>
              </a:spcBef>
              <a:buChar char="-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rotates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angle.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har char="-"/>
              <a:tabLst>
                <a:tab pos="299085" algn="l"/>
              </a:tabLst>
            </a:pPr>
            <a:r>
              <a:rPr sz="1400" spc="-10" dirty="0">
                <a:latin typeface="Times New Roman"/>
                <a:cs typeface="Times New Roman"/>
              </a:rPr>
              <a:t>Here,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3129152"/>
            <a:ext cx="850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ambria Math"/>
                <a:cs typeface="Cambria Math"/>
              </a:rPr>
              <a:t>-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9857" y="312165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10" h="29337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25273" y="7620"/>
                </a:lnTo>
                <a:lnTo>
                  <a:pt x="25273" y="28575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5044" y="3121659"/>
            <a:ext cx="41910" cy="293370"/>
          </a:xfrm>
          <a:custGeom>
            <a:avLst/>
            <a:gdLst/>
            <a:ahLst/>
            <a:cxnLst/>
            <a:rect l="l" t="t" r="r" b="b"/>
            <a:pathLst>
              <a:path w="41909" h="293370">
                <a:moveTo>
                  <a:pt x="41402" y="0"/>
                </a:moveTo>
                <a:lnTo>
                  <a:pt x="0" y="0"/>
                </a:lnTo>
                <a:lnTo>
                  <a:pt x="0" y="7620"/>
                </a:lnTo>
                <a:lnTo>
                  <a:pt x="0" y="285750"/>
                </a:lnTo>
                <a:lnTo>
                  <a:pt x="0" y="293370"/>
                </a:lnTo>
                <a:lnTo>
                  <a:pt x="41402" y="293370"/>
                </a:lnTo>
                <a:lnTo>
                  <a:pt x="41402" y="285750"/>
                </a:lnTo>
                <a:lnTo>
                  <a:pt x="16002" y="285750"/>
                </a:lnTo>
                <a:lnTo>
                  <a:pt x="16002" y="7620"/>
                </a:lnTo>
                <a:lnTo>
                  <a:pt x="41402" y="7620"/>
                </a:lnTo>
                <a:lnTo>
                  <a:pt x="41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26794" y="3014852"/>
            <a:ext cx="12827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</a:pPr>
            <a:r>
              <a:rPr sz="1400" spc="-50" dirty="0">
                <a:latin typeface="Cambria Math"/>
                <a:cs typeface="Cambria Math"/>
              </a:rPr>
              <a:t>𝑢</a:t>
            </a:r>
            <a:endParaRPr sz="1400">
              <a:latin typeface="Cambria Math"/>
              <a:cs typeface="Cambria Math"/>
            </a:endParaRPr>
          </a:p>
          <a:p>
            <a:pPr marL="13970">
              <a:lnSpc>
                <a:spcPts val="1660"/>
              </a:lnSpc>
            </a:pPr>
            <a:r>
              <a:rPr sz="1400" spc="-50" dirty="0">
                <a:latin typeface="Cambria Math"/>
                <a:cs typeface="Cambria Math"/>
              </a:rPr>
              <a:t>𝑣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773" y="3129152"/>
            <a:ext cx="1587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15589" y="3006089"/>
            <a:ext cx="47625" cy="528320"/>
          </a:xfrm>
          <a:custGeom>
            <a:avLst/>
            <a:gdLst/>
            <a:ahLst/>
            <a:cxnLst/>
            <a:rect l="l" t="t" r="r" b="b"/>
            <a:pathLst>
              <a:path w="47625" h="528320">
                <a:moveTo>
                  <a:pt x="47371" y="0"/>
                </a:moveTo>
                <a:lnTo>
                  <a:pt x="0" y="0"/>
                </a:lnTo>
                <a:lnTo>
                  <a:pt x="0" y="7620"/>
                </a:lnTo>
                <a:lnTo>
                  <a:pt x="29464" y="7620"/>
                </a:lnTo>
                <a:lnTo>
                  <a:pt x="29464" y="519430"/>
                </a:lnTo>
                <a:lnTo>
                  <a:pt x="0" y="519430"/>
                </a:lnTo>
                <a:lnTo>
                  <a:pt x="0" y="528320"/>
                </a:lnTo>
                <a:lnTo>
                  <a:pt x="47371" y="528320"/>
                </a:lnTo>
                <a:lnTo>
                  <a:pt x="47371" y="519430"/>
                </a:lnTo>
                <a:lnTo>
                  <a:pt x="47371" y="7620"/>
                </a:lnTo>
                <a:lnTo>
                  <a:pt x="473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62912" y="3006089"/>
            <a:ext cx="47625" cy="528320"/>
          </a:xfrm>
          <a:custGeom>
            <a:avLst/>
            <a:gdLst/>
            <a:ahLst/>
            <a:cxnLst/>
            <a:rect l="l" t="t" r="r" b="b"/>
            <a:pathLst>
              <a:path w="47625" h="528320">
                <a:moveTo>
                  <a:pt x="47371" y="0"/>
                </a:moveTo>
                <a:lnTo>
                  <a:pt x="0" y="0"/>
                </a:lnTo>
                <a:lnTo>
                  <a:pt x="0" y="7620"/>
                </a:lnTo>
                <a:lnTo>
                  <a:pt x="0" y="519430"/>
                </a:lnTo>
                <a:lnTo>
                  <a:pt x="0" y="528320"/>
                </a:lnTo>
                <a:lnTo>
                  <a:pt x="47371" y="528320"/>
                </a:lnTo>
                <a:lnTo>
                  <a:pt x="47371" y="519430"/>
                </a:lnTo>
                <a:lnTo>
                  <a:pt x="18034" y="519430"/>
                </a:lnTo>
                <a:lnTo>
                  <a:pt x="18034" y="7620"/>
                </a:lnTo>
                <a:lnTo>
                  <a:pt x="47371" y="7620"/>
                </a:lnTo>
                <a:lnTo>
                  <a:pt x="473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00757" y="2929508"/>
            <a:ext cx="384810" cy="657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</a:pPr>
            <a:r>
              <a:rPr sz="1400" spc="-20" dirty="0">
                <a:latin typeface="Cambria Math"/>
                <a:cs typeface="Cambria Math"/>
              </a:rPr>
              <a:t>𝑐𝑜𝑠𝜃</a:t>
            </a:r>
            <a:endParaRPr sz="1400">
              <a:latin typeface="Cambria Math"/>
              <a:cs typeface="Cambria Math"/>
            </a:endParaRPr>
          </a:p>
          <a:p>
            <a:pPr marL="146685" marR="13335" indent="-123825">
              <a:lnSpc>
                <a:spcPts val="1639"/>
              </a:lnSpc>
              <a:spcBef>
                <a:spcPts val="70"/>
              </a:spcBef>
            </a:pPr>
            <a:r>
              <a:rPr sz="1400" spc="-20" dirty="0">
                <a:latin typeface="Cambria Math"/>
                <a:cs typeface="Cambria Math"/>
              </a:rPr>
              <a:t>𝑠𝑖𝑛𝜃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4826" y="2929508"/>
            <a:ext cx="779780" cy="657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660"/>
              </a:lnSpc>
              <a:spcBef>
                <a:spcPts val="105"/>
              </a:spcBef>
              <a:tabLst>
                <a:tab pos="654685" algn="l"/>
              </a:tabLst>
            </a:pPr>
            <a:r>
              <a:rPr sz="1400" spc="-10" dirty="0">
                <a:latin typeface="Cambria Math"/>
                <a:cs typeface="Cambria Math"/>
              </a:rPr>
              <a:t>−𝑠𝑖𝑛𝜃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R="5080" algn="r">
              <a:lnSpc>
                <a:spcPts val="1645"/>
              </a:lnSpc>
              <a:tabLst>
                <a:tab pos="598805" algn="l"/>
              </a:tabLst>
            </a:pPr>
            <a:r>
              <a:rPr sz="1400" spc="-20" dirty="0">
                <a:latin typeface="Cambria Math"/>
                <a:cs typeface="Cambria Math"/>
              </a:rPr>
              <a:t>𝑐𝑜𝑠𝜃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R="5080" algn="r">
              <a:lnSpc>
                <a:spcPts val="1660"/>
              </a:lnSpc>
              <a:tabLst>
                <a:tab pos="466090" algn="l"/>
              </a:tabLst>
            </a:pPr>
            <a:r>
              <a:rPr sz="1400" spc="-50" dirty="0">
                <a:latin typeface="Cambria Math"/>
                <a:cs typeface="Cambria Math"/>
              </a:rPr>
              <a:t>0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8558" y="3129152"/>
            <a:ext cx="1117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ambria Math"/>
                <a:cs typeface="Cambria Math"/>
              </a:rPr>
              <a:t>∗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4793" y="3006089"/>
            <a:ext cx="47625" cy="528320"/>
          </a:xfrm>
          <a:custGeom>
            <a:avLst/>
            <a:gdLst/>
            <a:ahLst/>
            <a:cxnLst/>
            <a:rect l="l" t="t" r="r" b="b"/>
            <a:pathLst>
              <a:path w="47625" h="528320">
                <a:moveTo>
                  <a:pt x="47371" y="0"/>
                </a:moveTo>
                <a:lnTo>
                  <a:pt x="0" y="0"/>
                </a:lnTo>
                <a:lnTo>
                  <a:pt x="0" y="7620"/>
                </a:lnTo>
                <a:lnTo>
                  <a:pt x="29464" y="7620"/>
                </a:lnTo>
                <a:lnTo>
                  <a:pt x="29464" y="519430"/>
                </a:lnTo>
                <a:lnTo>
                  <a:pt x="0" y="519430"/>
                </a:lnTo>
                <a:lnTo>
                  <a:pt x="0" y="528320"/>
                </a:lnTo>
                <a:lnTo>
                  <a:pt x="47371" y="528320"/>
                </a:lnTo>
                <a:lnTo>
                  <a:pt x="47371" y="519430"/>
                </a:lnTo>
                <a:lnTo>
                  <a:pt x="47371" y="7620"/>
                </a:lnTo>
                <a:lnTo>
                  <a:pt x="473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46932" y="3006089"/>
            <a:ext cx="47625" cy="528320"/>
          </a:xfrm>
          <a:custGeom>
            <a:avLst/>
            <a:gdLst/>
            <a:ahLst/>
            <a:cxnLst/>
            <a:rect l="l" t="t" r="r" b="b"/>
            <a:pathLst>
              <a:path w="47625" h="528320">
                <a:moveTo>
                  <a:pt x="47371" y="0"/>
                </a:moveTo>
                <a:lnTo>
                  <a:pt x="0" y="0"/>
                </a:lnTo>
                <a:lnTo>
                  <a:pt x="0" y="7620"/>
                </a:lnTo>
                <a:lnTo>
                  <a:pt x="0" y="519430"/>
                </a:lnTo>
                <a:lnTo>
                  <a:pt x="0" y="528320"/>
                </a:lnTo>
                <a:lnTo>
                  <a:pt x="47371" y="528320"/>
                </a:lnTo>
                <a:lnTo>
                  <a:pt x="47371" y="519430"/>
                </a:lnTo>
                <a:lnTo>
                  <a:pt x="18034" y="519430"/>
                </a:lnTo>
                <a:lnTo>
                  <a:pt x="18034" y="7620"/>
                </a:lnTo>
                <a:lnTo>
                  <a:pt x="47371" y="7620"/>
                </a:lnTo>
                <a:lnTo>
                  <a:pt x="473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84778" y="2909697"/>
            <a:ext cx="127635" cy="661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ts val="1655"/>
              </a:lnSpc>
              <a:spcBef>
                <a:spcPts val="105"/>
              </a:spcBef>
            </a:pPr>
            <a:r>
              <a:rPr sz="1400" spc="-50" dirty="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  <a:p>
            <a:pPr marL="15240" marR="5080" indent="-3175">
              <a:lnSpc>
                <a:spcPts val="1689"/>
              </a:lnSpc>
              <a:spcBef>
                <a:spcPts val="20"/>
              </a:spcBef>
            </a:pPr>
            <a:r>
              <a:rPr sz="1400" spc="-50" dirty="0">
                <a:latin typeface="Cambria Math"/>
                <a:cs typeface="Cambria Math"/>
              </a:rPr>
              <a:t>𝑦 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6019" y="3732657"/>
            <a:ext cx="1360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400" spc="-5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	(x,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y)=(20,</a:t>
            </a:r>
            <a:r>
              <a:rPr sz="1400" spc="-25" dirty="0">
                <a:latin typeface="Times New Roman"/>
                <a:cs typeface="Times New Roman"/>
              </a:rPr>
              <a:t> 40)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80" y="4094988"/>
            <a:ext cx="9144000" cy="211226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796581"/>
            <a:ext cx="6913880" cy="13144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0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transformations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(Scaling)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55"/>
              </a:spcBef>
              <a:buChar char="-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Scaling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means resize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 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terms 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scaling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factor.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har char="-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 have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(300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400)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 want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transform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shape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(600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200).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Char char="-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scaling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will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600/300=2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200/400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=1/2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463" y="3160776"/>
            <a:ext cx="9020556" cy="304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756451"/>
            <a:ext cx="9902190" cy="19856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79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transformations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(Shearing)</a:t>
            </a:r>
            <a:endParaRPr sz="1800">
              <a:latin typeface="Times New Roman"/>
              <a:cs typeface="Times New Roman"/>
            </a:endParaRPr>
          </a:p>
          <a:p>
            <a:pPr marL="299085" indent="-286385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Shearing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means shifting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horizontally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vertically.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Basically,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shifts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direction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another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direction. </a:t>
            </a:r>
            <a:r>
              <a:rPr sz="1800" dirty="0">
                <a:latin typeface="Times New Roman"/>
                <a:cs typeface="Times New Roman"/>
              </a:rPr>
              <a:t>Horizontal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shearing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shift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upper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right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lower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Vertical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shearing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shift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upper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right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lower.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248" y="3968496"/>
            <a:ext cx="8592312" cy="23073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880361"/>
            <a:ext cx="9904730" cy="292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transformations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registration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"/>
            </a:pPr>
            <a:endParaRPr sz="1800">
              <a:latin typeface="Times New Roman"/>
              <a:cs typeface="Times New Roman"/>
            </a:endParaRPr>
          </a:p>
          <a:p>
            <a:pPr marL="426084" lvl="1" indent="-285750" algn="just">
              <a:lnSpc>
                <a:spcPct val="100000"/>
              </a:lnSpc>
              <a:buFont typeface="Wingdings"/>
              <a:buChar char=""/>
              <a:tabLst>
                <a:tab pos="426084" algn="l"/>
              </a:tabLst>
            </a:pP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registration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transforming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co-</a:t>
            </a:r>
            <a:r>
              <a:rPr sz="1800" dirty="0">
                <a:latin typeface="Times New Roman"/>
                <a:cs typeface="Times New Roman"/>
              </a:rPr>
              <a:t>ordinate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  <a:p>
            <a:pPr marL="425450" marR="5080" lvl="1" indent="-285750" algn="just">
              <a:lnSpc>
                <a:spcPct val="150000"/>
              </a:lnSpc>
              <a:buFont typeface="Wingdings"/>
              <a:buChar char=""/>
              <a:tabLst>
                <a:tab pos="426720" algn="l"/>
              </a:tabLst>
            </a:pP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registration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align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more 	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scene.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registration,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available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input</a:t>
            </a:r>
            <a:r>
              <a:rPr sz="1800" i="1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reference 	</a:t>
            </a:r>
            <a:r>
              <a:rPr sz="1800" dirty="0">
                <a:latin typeface="Times New Roman"/>
                <a:cs typeface="Times New Roman"/>
              </a:rPr>
              <a:t>image.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transform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geometrically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	</a:t>
            </a:r>
            <a:r>
              <a:rPr sz="1800" dirty="0">
                <a:latin typeface="Times New Roman"/>
                <a:cs typeface="Times New Roman"/>
              </a:rPr>
              <a:t>aligned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(registered)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reference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426084" lvl="1" indent="-285750" algn="just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426084" algn="l"/>
              </a:tabLst>
            </a:pPr>
            <a:r>
              <a:rPr sz="1800" b="1" dirty="0">
                <a:latin typeface="Times New Roman"/>
                <a:cs typeface="Times New Roman"/>
              </a:rPr>
              <a:t>Application: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Fusion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SPECT-</a:t>
            </a:r>
            <a:r>
              <a:rPr sz="1800" dirty="0">
                <a:latin typeface="Times New Roman"/>
                <a:cs typeface="Times New Roman"/>
              </a:rPr>
              <a:t>MRI,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CT-</a:t>
            </a:r>
            <a:r>
              <a:rPr sz="1800" dirty="0">
                <a:latin typeface="Times New Roman"/>
                <a:cs typeface="Times New Roman"/>
              </a:rPr>
              <a:t>MRI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9062" y="3762755"/>
            <a:ext cx="7944597" cy="2380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019" y="1880361"/>
            <a:ext cx="990155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Geometric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transformations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registration</a:t>
            </a:r>
            <a:endParaRPr sz="1800">
              <a:latin typeface="Times New Roman"/>
              <a:cs typeface="Times New Roman"/>
            </a:endParaRPr>
          </a:p>
          <a:p>
            <a:pPr marL="574675" lvl="1" indent="-28638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574675" algn="l"/>
              </a:tabLst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necessary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combine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scene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acquired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sensors</a:t>
            </a:r>
            <a:endParaRPr sz="1600">
              <a:latin typeface="Times New Roman"/>
              <a:cs typeface="Times New Roman"/>
            </a:endParaRPr>
          </a:p>
          <a:p>
            <a:pPr marL="57467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 or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viewpoint.</a:t>
            </a:r>
            <a:endParaRPr sz="1600">
              <a:latin typeface="Times New Roman"/>
              <a:cs typeface="Times New Roman"/>
            </a:endParaRPr>
          </a:p>
          <a:p>
            <a:pPr marL="574675" marR="5080" lvl="1" indent="-287020">
              <a:lnSpc>
                <a:spcPct val="150000"/>
              </a:lnSpc>
              <a:buFont typeface="Arial MT"/>
              <a:buChar char="•"/>
              <a:tabLst>
                <a:tab pos="574675" algn="l"/>
              </a:tabLst>
            </a:pPr>
            <a:r>
              <a:rPr sz="1600" dirty="0">
                <a:latin typeface="Times New Roman"/>
                <a:cs typeface="Times New Roman"/>
              </a:rPr>
              <a:t>Following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figures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indicate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(Single-</a:t>
            </a:r>
            <a:r>
              <a:rPr sz="1600" dirty="0">
                <a:latin typeface="Times New Roman"/>
                <a:cs typeface="Times New Roman"/>
              </a:rPr>
              <a:t>Photon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Emission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Computerized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Tomography)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MRI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spc="-10" dirty="0">
                <a:latin typeface="Times New Roman"/>
                <a:cs typeface="Times New Roman"/>
              </a:rPr>
              <a:t>brain.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5909" y="1860804"/>
            <a:ext cx="8057515" cy="4345305"/>
            <a:chOff x="2165909" y="1860804"/>
            <a:chExt cx="8057515" cy="4345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909" y="1860804"/>
              <a:ext cx="6356298" cy="4344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7448" y="3345180"/>
              <a:ext cx="1685544" cy="18486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0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13478" y="2800934"/>
            <a:ext cx="25330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3600" b="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36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50" dirty="0">
                <a:solidFill>
                  <a:srgbClr val="000000"/>
                </a:solidFill>
                <a:latin typeface="Wingdings"/>
                <a:cs typeface="Wingdings"/>
              </a:rPr>
              <a:t></a:t>
            </a:r>
            <a:endParaRPr sz="3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23</a:t>
            </a:r>
            <a:r>
              <a:rPr spc="-5" dirty="0"/>
              <a:t> </a:t>
            </a:r>
            <a:r>
              <a:rPr dirty="0"/>
              <a:t>May</a:t>
            </a:r>
            <a:r>
              <a:rPr spc="-5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MATHEMATICAL</a:t>
            </a:r>
            <a:r>
              <a:rPr spc="10" dirty="0"/>
              <a:t> </a:t>
            </a:r>
            <a:r>
              <a:rPr dirty="0"/>
              <a:t>TOOLS</a:t>
            </a:r>
            <a:r>
              <a:rPr spc="-1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DIGITAL</a:t>
            </a:r>
            <a:r>
              <a:rPr spc="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3801</Words>
  <Application>Microsoft Office PowerPoint</Application>
  <PresentationFormat>Widescreen</PresentationFormat>
  <Paragraphs>735</Paragraphs>
  <Slides>46</Slides>
  <Notes>2</Notes>
  <HiddenSlides>13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 MT</vt:lpstr>
      <vt:lpstr>Calibri</vt:lpstr>
      <vt:lpstr>Cambria Math</vt:lpstr>
      <vt:lpstr>Symbol</vt:lpstr>
      <vt:lpstr>Times New Roman</vt:lpstr>
      <vt:lpstr>Trebuchet MS</vt:lpstr>
      <vt:lpstr>Wingdings</vt:lpstr>
      <vt:lpstr>Office Theme</vt:lpstr>
      <vt:lpstr>PowerPoint Presentation</vt:lpstr>
      <vt:lpstr>Array versus Matrix Operation</vt:lpstr>
      <vt:lpstr>Array versus Matrix Operation</vt:lpstr>
      <vt:lpstr>Array versus Matrix Operation</vt:lpstr>
      <vt:lpstr>Linear versus Nonlinear Operation</vt:lpstr>
      <vt:lpstr>Linear versus Nonlinear Operation</vt:lpstr>
      <vt:lpstr>Linear versus Nonlinear Operation</vt:lpstr>
      <vt:lpstr>Linear versus Nonlinear Operation</vt:lpstr>
      <vt:lpstr>Linear versus Nonlinear Operation</vt:lpstr>
      <vt:lpstr>Linear versus Nonlinear Operation</vt:lpstr>
      <vt:lpstr>Arithmetic Operations</vt:lpstr>
      <vt:lpstr>Arithmetic Operation</vt:lpstr>
      <vt:lpstr>Arithmetic Operation</vt:lpstr>
      <vt:lpstr>Arithmetic Operation (Addition)</vt:lpstr>
      <vt:lpstr>Arithmetic Operation (Addition)</vt:lpstr>
      <vt:lpstr>Arithmetic Operation</vt:lpstr>
      <vt:lpstr>Arithmetic Operation</vt:lpstr>
      <vt:lpstr>Arithmetic Operation</vt:lpstr>
      <vt:lpstr>Arithmetic Operation (Subtraction)</vt:lpstr>
      <vt:lpstr>Arithmetic Operation (Subtraction)</vt:lpstr>
      <vt:lpstr>Arithmetic Operation (Subtraction)</vt:lpstr>
      <vt:lpstr>Arithmetic Operation (Subtraction)</vt:lpstr>
      <vt:lpstr>Arithmetic Operation (Multiplication and Division)</vt:lpstr>
      <vt:lpstr>Arithmetic Operation (Multiplication and Division)</vt:lpstr>
      <vt:lpstr>Arithmetic Operation (Multiplication and Division)</vt:lpstr>
      <vt:lpstr>Arithmetic Operation (Multiplication and Division)</vt:lpstr>
      <vt:lpstr>Set Operations</vt:lpstr>
      <vt:lpstr>Image Negatives</vt:lpstr>
      <vt:lpstr>Logical Operations</vt:lpstr>
      <vt:lpstr>Logical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Spatial Operations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User</dc:creator>
  <cp:lastModifiedBy>Md Manirujjaman</cp:lastModifiedBy>
  <cp:revision>4</cp:revision>
  <dcterms:created xsi:type="dcterms:W3CDTF">2025-09-30T07:27:21Z</dcterms:created>
  <dcterms:modified xsi:type="dcterms:W3CDTF">2025-10-16T01:01:07Z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